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440" r:id="rId5"/>
    <p:sldId id="329" r:id="rId6"/>
    <p:sldId id="323" r:id="rId7"/>
    <p:sldId id="324" r:id="rId8"/>
    <p:sldId id="327" r:id="rId9"/>
    <p:sldId id="330" r:id="rId10"/>
    <p:sldId id="365" r:id="rId11"/>
    <p:sldId id="366" r:id="rId12"/>
    <p:sldId id="367" r:id="rId13"/>
  </p:sldIdLst>
  <p:sldSz cx="12192000" cy="6858000"/>
  <p:notesSz cx="6645275" cy="9775825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EDB8"/>
    <a:srgbClr val="004050"/>
    <a:srgbClr val="0000C8"/>
    <a:srgbClr val="F91258"/>
    <a:srgbClr val="7E007C"/>
    <a:srgbClr val="28CFF9"/>
    <a:srgbClr val="F3622C"/>
    <a:srgbClr val="31D3AE"/>
    <a:srgbClr val="F3F3F3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86082" autoAdjust="0"/>
  </p:normalViewPr>
  <p:slideViewPr>
    <p:cSldViewPr snapToGrid="0" snapToObjects="1" showGuides="1">
      <p:cViewPr varScale="1">
        <p:scale>
          <a:sx n="96" d="100"/>
          <a:sy n="96" d="100"/>
        </p:scale>
        <p:origin x="1632" y="84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07/04/2022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07/04/2022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9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D9224-9FE4-4723-B36F-16D5703AD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51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140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403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890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2411A-3892-4C63-8E13-B94119DA6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256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552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176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599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720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AngularJs</a:t>
            </a:r>
            <a:br>
              <a:rPr lang="en-GB" dirty="0"/>
            </a:br>
            <a:r>
              <a:rPr lang="en-GB" dirty="0"/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53040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D41B6-EDA8-4A3C-9013-DBA9B401F7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session you'll learn:</a:t>
            </a:r>
          </a:p>
          <a:p>
            <a:pPr marL="342900" lvl="1" indent="-342900">
              <a:buSzPct val="115000"/>
            </a:pPr>
            <a:r>
              <a:rPr lang="en-GB" dirty="0"/>
              <a:t>What events are</a:t>
            </a:r>
          </a:p>
          <a:p>
            <a:pPr marL="342900" lvl="1" indent="-342900">
              <a:buSzPct val="115000"/>
            </a:pPr>
            <a:r>
              <a:rPr lang="en-GB" dirty="0"/>
              <a:t>How to create an event handler</a:t>
            </a:r>
          </a:p>
          <a:p>
            <a:pPr marL="342900" lvl="1" indent="-342900">
              <a:buSzPct val="115000"/>
            </a:pPr>
            <a:r>
              <a:rPr lang="en-GB" dirty="0"/>
              <a:t>How to extract event arguments</a:t>
            </a:r>
          </a:p>
          <a:p>
            <a:pPr marL="342900" lvl="1" indent="-342900">
              <a:buSzPct val="115000"/>
            </a:pPr>
            <a:r>
              <a:rPr lang="en-GB" dirty="0"/>
              <a:t>How to pass data from the view to an event</a:t>
            </a:r>
          </a:p>
          <a:p>
            <a:pPr marL="355600" lvl="1" indent="-266700">
              <a:buBlip>
                <a:blip r:embed="rId3"/>
              </a:buBlip>
            </a:pPr>
            <a:endParaRPr lang="en-GB" dirty="0"/>
          </a:p>
          <a:p>
            <a:pPr marL="355600" lvl="1" indent="-266700">
              <a:buBlip>
                <a:blip r:embed="rId3"/>
              </a:buBlip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B37B0-4F0C-430D-AFDA-BC85EAD924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446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DB1D4-B0D5-4601-AA3E-9DD3C263EA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Events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AE6DD4-335C-46A0-A701-724177C1DB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8623" y="1004228"/>
            <a:ext cx="8477749" cy="1057865"/>
          </a:xfrm>
        </p:spPr>
        <p:txBody>
          <a:bodyPr/>
          <a:lstStyle/>
          <a:p>
            <a:pPr marL="342900" indent="-342900">
              <a:buChar char="•"/>
            </a:pPr>
            <a:r>
              <a:rPr lang="en-GB" b="1" dirty="0"/>
              <a:t>You can attach an event listener to any HTML element </a:t>
            </a:r>
          </a:p>
          <a:p>
            <a:pPr marL="342900" indent="-342900">
              <a:buChar char="•"/>
            </a:pPr>
            <a:r>
              <a:rPr lang="en-GB" b="1" dirty="0"/>
              <a:t>Use one of the following event listener directives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0F5933-60CE-4384-89C7-134E6AB5A11F}"/>
              </a:ext>
            </a:extLst>
          </p:cNvPr>
          <p:cNvSpPr txBox="1">
            <a:spLocks/>
          </p:cNvSpPr>
          <p:nvPr/>
        </p:nvSpPr>
        <p:spPr>
          <a:xfrm>
            <a:off x="8963715" y="2218664"/>
            <a:ext cx="2817164" cy="9057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ng-click</a:t>
            </a:r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dbl</a:t>
            </a:r>
            <a:r>
              <a:rPr lang="en-GB" b="1" dirty="0"/>
              <a:t>-click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153DF05-DAC0-485E-82E4-2B9CF39F1433}"/>
              </a:ext>
            </a:extLst>
          </p:cNvPr>
          <p:cNvSpPr txBox="1">
            <a:spLocks/>
          </p:cNvSpPr>
          <p:nvPr/>
        </p:nvSpPr>
        <p:spPr>
          <a:xfrm>
            <a:off x="6003784" y="2218664"/>
            <a:ext cx="2817164" cy="2654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mousedown</a:t>
            </a:r>
            <a:endParaRPr lang="en-GB" b="1" dirty="0"/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mouseup</a:t>
            </a:r>
            <a:endParaRPr lang="en-GB" b="1" dirty="0"/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mouseenter</a:t>
            </a:r>
            <a:endParaRPr lang="en-GB" b="1" dirty="0"/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mouseleave</a:t>
            </a:r>
            <a:endParaRPr lang="en-GB" b="1" dirty="0"/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mousemove</a:t>
            </a:r>
            <a:endParaRPr lang="en-GB" b="1" dirty="0"/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ng-mouseover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0CB4E3-600C-4FDF-AF7C-C41DFFA04250}"/>
              </a:ext>
            </a:extLst>
          </p:cNvPr>
          <p:cNvSpPr txBox="1">
            <a:spLocks/>
          </p:cNvSpPr>
          <p:nvPr/>
        </p:nvSpPr>
        <p:spPr>
          <a:xfrm>
            <a:off x="8963715" y="3967499"/>
            <a:ext cx="2817164" cy="916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</a:t>
            </a:r>
            <a:r>
              <a:rPr lang="en-GB" b="1" dirty="0" err="1"/>
              <a:t>keyup</a:t>
            </a:r>
            <a:endParaRPr lang="en-GB" b="1" dirty="0"/>
          </a:p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ng-keypress</a:t>
            </a:r>
          </a:p>
          <a:p>
            <a:endParaRPr lang="en-IN" b="1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877AC21-28A4-466D-BCDA-6258AABA623C}"/>
              </a:ext>
            </a:extLst>
          </p:cNvPr>
          <p:cNvSpPr txBox="1">
            <a:spLocks/>
          </p:cNvSpPr>
          <p:nvPr/>
        </p:nvSpPr>
        <p:spPr>
          <a:xfrm>
            <a:off x="8963715" y="3280993"/>
            <a:ext cx="2817164" cy="5573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 typeface="Arial" panose="020B0604020202020204" pitchFamily="34" charset="0"/>
              <a:buChar char="•"/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100" lvl="1" indent="0">
              <a:spcAft>
                <a:spcPts val="650"/>
              </a:spcAft>
              <a:buSzPct val="115000"/>
              <a:buNone/>
            </a:pPr>
            <a:r>
              <a:rPr lang="en-GB" b="1" dirty="0"/>
              <a:t>ng-change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9437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event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276A0-D60F-4F06-B553-3E886F70C3D2}"/>
              </a:ext>
            </a:extLst>
          </p:cNvPr>
          <p:cNvSpPr txBox="1"/>
          <p:nvPr/>
        </p:nvSpPr>
        <p:spPr>
          <a:xfrm>
            <a:off x="900461" y="1367059"/>
            <a:ext cx="9169090" cy="3477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0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($scope) {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scope.doClick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alert(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"clicked"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0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6659B-586E-4D08-A69B-93A3D6A3382B}"/>
              </a:ext>
            </a:extLst>
          </p:cNvPr>
          <p:cNvSpPr txBox="1"/>
          <p:nvPr/>
        </p:nvSpPr>
        <p:spPr>
          <a:xfrm>
            <a:off x="935903" y="4992940"/>
            <a:ext cx="9169090" cy="1508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35F82-C78C-4948-85D4-4AAC7064A22C}"/>
              </a:ext>
            </a:extLst>
          </p:cNvPr>
          <p:cNvSpPr/>
          <p:nvPr/>
        </p:nvSpPr>
        <p:spPr>
          <a:xfrm>
            <a:off x="2423529" y="2509284"/>
            <a:ext cx="4795283" cy="1318437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E6D22-B3BD-4795-9663-82F462E65B9D}"/>
              </a:ext>
            </a:extLst>
          </p:cNvPr>
          <p:cNvSpPr/>
          <p:nvPr/>
        </p:nvSpPr>
        <p:spPr>
          <a:xfrm>
            <a:off x="1481468" y="5489954"/>
            <a:ext cx="6131441" cy="485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ng-click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doClick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Save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9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500" dirty="0"/>
              <a:t>Passing data to event handlers</a:t>
            </a:r>
          </a:p>
        </p:txBody>
      </p:sp>
      <p:sp>
        <p:nvSpPr>
          <p:cNvPr id="4" name="Right Arrow 3"/>
          <p:cNvSpPr/>
          <p:nvPr/>
        </p:nvSpPr>
        <p:spPr>
          <a:xfrm flipH="1">
            <a:off x="6617620" y="2829261"/>
            <a:ext cx="428604" cy="355002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CCA66-13EA-42ED-B5C0-D0962CCA043B}"/>
              </a:ext>
            </a:extLst>
          </p:cNvPr>
          <p:cNvSpPr txBox="1"/>
          <p:nvPr/>
        </p:nvSpPr>
        <p:spPr>
          <a:xfrm>
            <a:off x="400498" y="1174757"/>
            <a:ext cx="10497874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scope.students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{ name: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"Jon"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course: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"Finance"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}, { name: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"Sasha"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course: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"Marketing"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{ name: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"Sean"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course: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"Planning"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}, { name: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"Chris"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course: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"Networking"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}];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scope.doClick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alert(student.name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student.course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41D72-A212-42D7-A313-3668F6BED0D4}"/>
              </a:ext>
            </a:extLst>
          </p:cNvPr>
          <p:cNvSpPr txBox="1"/>
          <p:nvPr/>
        </p:nvSpPr>
        <p:spPr>
          <a:xfrm>
            <a:off x="414402" y="4359606"/>
            <a:ext cx="10497874" cy="24314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myController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ng-repeat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200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stu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6400"/>
                </a:solidFill>
                <a:latin typeface="Consolas" panose="020B0609020204030204" pitchFamily="49" charset="0"/>
              </a:rPr>
              <a:t>in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0080"/>
                </a:solidFill>
                <a:latin typeface="Consolas" panose="020B0609020204030204" pitchFamily="49" charset="0"/>
              </a:rPr>
              <a:t>students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ng-click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20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doClick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stu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2000" b="1" dirty="0">
                <a:solidFill>
                  <a:srgbClr val="800080"/>
                </a:solidFill>
                <a:latin typeface="Consolas" panose="020B0609020204030204" pitchFamily="49" charset="0"/>
              </a:rPr>
              <a:t>stu.name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20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stu.course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4313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2B0F2-1572-44C6-9BDC-4B97DD03E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	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3E013-B99F-4899-9BB8-24E3873AB8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en-GB" b="1" dirty="0"/>
              <a:t>In this session you learned: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What events are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create an event handler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extract event arguments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pass data from the view to an event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87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3BF92-F18E-4172-A609-DF73307231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Please do the lab for this chapter</a:t>
            </a:r>
          </a:p>
          <a:p>
            <a:endParaRPr lang="en-IN" dirty="0"/>
          </a:p>
          <a:p>
            <a:r>
              <a:rPr lang="en-IN" b="1" dirty="0"/>
              <a:t>Duration:</a:t>
            </a:r>
            <a:r>
              <a:rPr lang="en-IN" dirty="0"/>
              <a:t>  	</a:t>
            </a:r>
            <a:r>
              <a:rPr lang="en-IN" i="1" dirty="0"/>
              <a:t>25-30 </a:t>
            </a:r>
            <a:r>
              <a:rPr lang="en-IN" dirty="0"/>
              <a:t>minutes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BA74-0BF3-4AD6-9275-E626311D5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61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event – using a standard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2636" y="1367059"/>
            <a:ext cx="8428008" cy="4708981"/>
          </a:xfrm>
          <a:prstGeom prst="rect">
            <a:avLst/>
          </a:prstGeom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html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title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&lt;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="https://ajax.googleapis.com/ajax/libs/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angularjs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/1.6.4/angular.js"&gt;&lt;/</a:t>
            </a:r>
            <a:r>
              <a:rPr lang="en-GB" sz="1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angular.module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myapp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[])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.controller(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($scope)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scope.save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{};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$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</a:t>
            </a:r>
            <a:r>
              <a:rPr lang="en-GB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.save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.doClick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alert(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"clicked"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 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 </a:t>
            </a:r>
            <a:r>
              <a:rPr lang="en-GB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ng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-app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myapp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</a:t>
            </a:r>
            <a:r>
              <a:rPr lang="en-GB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ng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-controller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ng-click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save.</a:t>
            </a:r>
            <a:r>
              <a:rPr lang="en-GB" sz="1600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doClick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2" name="Rounded Rectangular Callout 1"/>
          <p:cNvSpPr/>
          <p:nvPr/>
        </p:nvSpPr>
        <p:spPr>
          <a:xfrm>
            <a:off x="204395" y="2226846"/>
            <a:ext cx="2334410" cy="1463040"/>
          </a:xfrm>
          <a:prstGeom prst="wedgeRoundRectCallout">
            <a:avLst>
              <a:gd name="adj1" fmla="val 65344"/>
              <a:gd name="adj2" fmla="val -20156"/>
              <a:gd name="adj3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New style of code.</a:t>
            </a:r>
            <a:br>
              <a:rPr lang="en-GB" b="1" dirty="0"/>
            </a:br>
            <a:r>
              <a:rPr lang="en-GB" b="1" dirty="0"/>
              <a:t>Creates and registers a module</a:t>
            </a:r>
          </a:p>
        </p:txBody>
      </p:sp>
    </p:spTree>
    <p:extLst>
      <p:ext uri="{BB962C8B-B14F-4D97-AF65-F5344CB8AC3E}">
        <p14:creationId xmlns:p14="http://schemas.microsoft.com/office/powerpoint/2010/main" val="1599983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event argument properties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3" y="1368256"/>
            <a:ext cx="3131502" cy="45613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Pass the $event argument to get the browser event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7029" y="1433881"/>
            <a:ext cx="8213699" cy="5109091"/>
          </a:xfrm>
          <a:prstGeom prst="rect">
            <a:avLst/>
          </a:prstGeom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angular.module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myapp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[])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.controller(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($scope)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$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scope.save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{};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$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scope.map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{};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$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scope.save.doClick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alert(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"clicked"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$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scope.map.doClick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(event)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	      alert(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"clicked at X and Y of:"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event.clientX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GB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event.clientY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}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});</a:t>
            </a: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ng-controller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ng-click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doClick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ng-click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b="1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map</a:t>
            </a:r>
            <a:r>
              <a:rPr lang="en-GB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b="1" dirty="0" err="1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doClick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8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$event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)"&gt;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Map of the World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/>
          </a:p>
        </p:txBody>
      </p:sp>
      <p:sp>
        <p:nvSpPr>
          <p:cNvPr id="6" name="Down Arrow 5"/>
          <p:cNvSpPr/>
          <p:nvPr/>
        </p:nvSpPr>
        <p:spPr>
          <a:xfrm>
            <a:off x="9028541" y="3065682"/>
            <a:ext cx="327804" cy="362310"/>
          </a:xfrm>
          <a:prstGeom prst="downArrow">
            <a:avLst/>
          </a:prstGeom>
          <a:solidFill>
            <a:srgbClr val="09EDB8"/>
          </a:solidFill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Down Arrow 6"/>
          <p:cNvSpPr/>
          <p:nvPr/>
        </p:nvSpPr>
        <p:spPr>
          <a:xfrm flipV="1">
            <a:off x="7921486" y="5958836"/>
            <a:ext cx="296173" cy="324922"/>
          </a:xfrm>
          <a:prstGeom prst="downArrow">
            <a:avLst/>
          </a:prstGeom>
          <a:solidFill>
            <a:srgbClr val="09EDB8"/>
          </a:solidFill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8555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Props1.xml><?xml version="1.0" encoding="utf-8"?>
<ds:datastoreItem xmlns:ds="http://schemas.openxmlformats.org/officeDocument/2006/customXml" ds:itemID="{EAC14428-9683-477B-9D95-9B715A217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C9BFE5-6F54-4D2E-9EC3-F7C7682A90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5A84EA-AF2A-4CB9-9665-6AD444A19FC2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1510</TotalTime>
  <Words>692</Words>
  <Application>Microsoft Office PowerPoint</Application>
  <PresentationFormat>Widescreen</PresentationFormat>
  <Paragraphs>122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AngularJs Events</vt:lpstr>
      <vt:lpstr>PowerPoint Presentation</vt:lpstr>
      <vt:lpstr>PowerPoint Presentation</vt:lpstr>
      <vt:lpstr>Click event example</vt:lpstr>
      <vt:lpstr>Passing data to event handlers</vt:lpstr>
      <vt:lpstr>PowerPoint Presentation</vt:lpstr>
      <vt:lpstr>PowerPoint Presentation</vt:lpstr>
      <vt:lpstr>Click event – using a standard pattern</vt:lpstr>
      <vt:lpstr>Getting event argument properties 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mike.baradaran@qa.com</cp:lastModifiedBy>
  <cp:revision>156</cp:revision>
  <cp:lastPrinted>2019-07-03T09:46:41Z</cp:lastPrinted>
  <dcterms:created xsi:type="dcterms:W3CDTF">2019-09-05T08:17:12Z</dcterms:created>
  <dcterms:modified xsi:type="dcterms:W3CDTF">2022-04-07T13:09:15Z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