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620" r:id="rId5"/>
    <p:sldId id="621" r:id="rId6"/>
    <p:sldId id="622" r:id="rId7"/>
    <p:sldId id="266" r:id="rId8"/>
    <p:sldId id="280" r:id="rId9"/>
    <p:sldId id="281" r:id="rId10"/>
    <p:sldId id="270" r:id="rId11"/>
  </p:sldIdLst>
  <p:sldSz cx="12192000" cy="6858000"/>
  <p:notesSz cx="6645275" cy="9775825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0000FF"/>
    <a:srgbClr val="000064"/>
    <a:srgbClr val="28CFF9"/>
    <a:srgbClr val="09EDB8"/>
    <a:srgbClr val="F91258"/>
    <a:srgbClr val="7E007C"/>
    <a:srgbClr val="F3622C"/>
    <a:srgbClr val="31D3AE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5840" autoAdjust="0"/>
  </p:normalViewPr>
  <p:slideViewPr>
    <p:cSldViewPr snapToGrid="0" snapToObjects="1" showGuides="1">
      <p:cViewPr varScale="1">
        <p:scale>
          <a:sx n="79" d="100"/>
          <a:sy n="79" d="100"/>
        </p:scale>
        <p:origin x="1037" y="77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06/04/2022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06/04/2022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Short overview of topic…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519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76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As a front-end framework, Angular has to deal with issues such as legacy browsers. The term legacy browser essentially translates to Internet Explorer 6, 7, and 8. Currently,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Angular’s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Travis CI server is configured to run tests against IE9, 10, and 11. Angular dropped support for IE6 and 7 as from version 1.2. Angular 1.3 and later drops support for IE8.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C041A-9BC5-4670-A154-C2AD87E78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5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Angular makes it possible to  bind controls</a:t>
            </a:r>
            <a:r>
              <a:rPr lang="en-GB" baseline="0" dirty="0"/>
              <a:t> and events to your JavaScript code. No more </a:t>
            </a:r>
            <a:r>
              <a:rPr lang="en-GB" baseline="0" dirty="0" err="1"/>
              <a:t>document.getElementById</a:t>
            </a:r>
            <a:r>
              <a:rPr lang="en-GB" baseline="0" dirty="0"/>
              <a:t> or setting up events in HTML which tied up your code with your HTML.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47EE0-2FE5-4FA5-9198-36C7C7C9E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270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GB" dirty="0"/>
              <a:t>The ng-app Auto-bootstraps an AngularJS application. You can place it in the section which you want to use Angular. This is typically your entire page. Therefore,</a:t>
            </a:r>
            <a:r>
              <a:rPr lang="en-GB" baseline="0" dirty="0"/>
              <a:t> it is usually placed in the &lt;body&gt; or even in the &lt;html&gt; tag. Please see the slide for an example.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GB" baseline="0" dirty="0"/>
              <a:t>The CDN you see will not be the latest version of Angular but it will do for this course. You can of course refer to a more up to date version.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A5C32-5590-4E0B-B31D-6D775A049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828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34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28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535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95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9DE3-3256-4B4A-9CDD-FB2B780F5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2915512"/>
            <a:ext cx="4983702" cy="1599338"/>
          </a:xfrm>
        </p:spPr>
        <p:txBody>
          <a:bodyPr/>
          <a:lstStyle/>
          <a:p>
            <a:pPr>
              <a:lnSpc>
                <a:spcPct val="100000"/>
              </a:lnSpc>
            </a:pPr>
            <a:br>
              <a:rPr lang="en-GB" dirty="0"/>
            </a:br>
            <a:r>
              <a:rPr lang="en-US" dirty="0">
                <a:cs typeface="Arial" charset="0"/>
              </a:rPr>
              <a:t>Introduction </a:t>
            </a:r>
            <a:br>
              <a:rPr lang="en-US" dirty="0">
                <a:cs typeface="Arial" charset="0"/>
              </a:rPr>
            </a:br>
            <a:r>
              <a:rPr lang="en-US" dirty="0">
                <a:cs typeface="Arial" charset="0"/>
              </a:rPr>
              <a:t>Building Applications </a:t>
            </a:r>
            <a:br>
              <a:rPr lang="en-US" dirty="0">
                <a:cs typeface="Arial" charset="0"/>
              </a:rPr>
            </a:br>
            <a:r>
              <a:rPr lang="en-US" dirty="0">
                <a:cs typeface="Arial" charset="0"/>
              </a:rPr>
              <a:t>using AngularJS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1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B1BEF-0142-4C89-943B-C5CAA060F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98C33-ABC9-4864-8E6A-7795134B1B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 dirty="0"/>
              <a:t>In this chapter you will learn how to:</a:t>
            </a:r>
          </a:p>
          <a:p>
            <a:pPr marL="342900" lvl="1" indent="-342900">
              <a:buSzPct val="115000"/>
            </a:pPr>
            <a:r>
              <a:rPr lang="en-US" dirty="0"/>
              <a:t>Install and work with AngularJS </a:t>
            </a:r>
          </a:p>
          <a:p>
            <a:pPr marL="342900" lvl="1" indent="-342900">
              <a:buSzPct val="115000"/>
            </a:pPr>
            <a:r>
              <a:rPr lang="en-US" dirty="0"/>
              <a:t>Create and run AngularJs Apps</a:t>
            </a:r>
          </a:p>
          <a:p>
            <a:pPr marL="342900" lvl="1" indent="-342900">
              <a:buSzPct val="115000"/>
            </a:pPr>
            <a:endParaRPr lang="en-US" dirty="0"/>
          </a:p>
          <a:p>
            <a:r>
              <a:rPr lang="en-US" b="1" dirty="0"/>
              <a:t>You will also learn about:</a:t>
            </a:r>
          </a:p>
          <a:p>
            <a:pPr marL="342900" lvl="1" indent="-342900">
              <a:buSzPct val="115000"/>
            </a:pPr>
            <a:r>
              <a:rPr lang="en-US" dirty="0"/>
              <a:t>Single-Page Applications</a:t>
            </a:r>
          </a:p>
          <a:p>
            <a:pPr marL="342900" lvl="1" indent="-342900">
              <a:buSzPct val="115000"/>
            </a:pPr>
            <a:r>
              <a:rPr lang="en-US" dirty="0"/>
              <a:t>Enjoy the many advantages offered </a:t>
            </a:r>
            <a:br>
              <a:rPr lang="en-US" dirty="0"/>
            </a:br>
            <a:r>
              <a:rPr lang="en-US" dirty="0"/>
              <a:t>by AngularJs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4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46B51-AB33-4838-BDF8-D647BEC012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</a:t>
            </a:r>
            <a:br>
              <a:rPr lang="en-US" dirty="0"/>
            </a:br>
            <a:r>
              <a:rPr lang="en-US" dirty="0"/>
              <a:t>AngularJS?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CDA4B5-BC0D-4966-BBFD-48429F1265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Angular JS is a client-side library for single web page applications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US" dirty="0"/>
              <a:t>It provides a recommended way of building data to web apps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US" dirty="0"/>
              <a:t>Suitable when you need a great deal of client-side code. 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US" dirty="0"/>
              <a:t>It uses MVC-like type implementations</a:t>
            </a:r>
          </a:p>
          <a:p>
            <a:endParaRPr lang="en-US" b="1" dirty="0"/>
          </a:p>
          <a:p>
            <a:r>
              <a:rPr lang="en-US" b="1" dirty="0"/>
              <a:t>It has some prescriptive ideas on how apps should be written but it is not a Framework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US" dirty="0"/>
              <a:t>It handles things like app startup, </a:t>
            </a:r>
            <a:br>
              <a:rPr lang="en-US" dirty="0"/>
            </a:br>
            <a:r>
              <a:rPr lang="en-US" dirty="0"/>
              <a:t>and navigation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US" dirty="0"/>
              <a:t>If you implement the pattern of coding, then it produces the right outcome</a:t>
            </a:r>
          </a:p>
          <a:p>
            <a:pPr marL="342900" indent="-342900">
              <a:buChar char="•"/>
            </a:pPr>
            <a:endParaRPr lang="en-US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6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MVVM in Angular JS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012374" y="1573231"/>
            <a:ext cx="2805545" cy="2262572"/>
            <a:chOff x="488373" y="1288473"/>
            <a:chExt cx="2805545" cy="226257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 5"/>
            <p:cNvSpPr/>
            <p:nvPr/>
          </p:nvSpPr>
          <p:spPr>
            <a:xfrm>
              <a:off x="488373" y="1776846"/>
              <a:ext cx="2805545" cy="1774199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8373" y="1288473"/>
              <a:ext cx="2795154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4050"/>
                  </a:solidFill>
                  <a:cs typeface="Courier New" pitchFamily="49" charset="0"/>
                </a:rPr>
                <a:t>app.html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8427" y="1957740"/>
              <a:ext cx="261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4050"/>
                  </a:solidFill>
                  <a:cs typeface="Courier New" pitchFamily="49" charset="0"/>
                </a:rPr>
                <a:t>Name: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8427" y="2521851"/>
              <a:ext cx="261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4050"/>
                  </a:solidFill>
                  <a:cs typeface="Courier New" pitchFamily="49" charset="0"/>
                </a:rPr>
                <a:t>Email: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79418" y="1954292"/>
              <a:ext cx="1600200" cy="383032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79418" y="2511321"/>
              <a:ext cx="1600200" cy="383032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71015" y="2510487"/>
            <a:ext cx="148688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highlight>
                  <a:srgbClr val="FFFF00"/>
                </a:highlight>
                <a:cs typeface="Courier New" pitchFamily="49" charset="0"/>
              </a:rPr>
              <a:t>View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338918" y="1330038"/>
            <a:ext cx="4114800" cy="2796697"/>
            <a:chOff x="4814918" y="1288473"/>
            <a:chExt cx="4114800" cy="27966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TextBox 13"/>
            <p:cNvSpPr txBox="1"/>
            <p:nvPr/>
          </p:nvSpPr>
          <p:spPr>
            <a:xfrm>
              <a:off x="4814919" y="1776846"/>
              <a:ext cx="4114799" cy="230832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$</a:t>
              </a:r>
              <a:r>
                <a:rPr lang="en-GB" sz="1800" b="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scope.user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{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Name: </a:t>
              </a:r>
              <a:r>
                <a:rPr lang="en-GB" sz="1800" b="1" dirty="0">
                  <a:solidFill>
                    <a:srgbClr val="A31515"/>
                  </a:solidFill>
                  <a:latin typeface="Consolas" panose="020B0609020204030204" pitchFamily="49" charset="0"/>
                </a:rPr>
                <a:t>'Dave'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Email: dave@qa.com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}</a:t>
              </a:r>
            </a:p>
            <a:p>
              <a:endParaRPr lang="en-GB" sz="1800" b="1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$</a:t>
              </a:r>
              <a:r>
                <a:rPr lang="en-GB" sz="1800" b="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scope.save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GB" sz="18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function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() {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GB" sz="1800" b="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Users.Save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($</a:t>
              </a:r>
              <a:r>
                <a:rPr lang="en-GB" sz="1800" b="1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scope.user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}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4918" y="1288473"/>
              <a:ext cx="4114799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4050"/>
                  </a:solidFill>
                  <a:cs typeface="Courier New" pitchFamily="49" charset="0"/>
                </a:rPr>
                <a:t>app.js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945481" y="4765966"/>
            <a:ext cx="4114800" cy="1411703"/>
            <a:chOff x="4814918" y="1288473"/>
            <a:chExt cx="4114800" cy="14117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/>
            <p:cNvSpPr txBox="1"/>
            <p:nvPr/>
          </p:nvSpPr>
          <p:spPr>
            <a:xfrm>
              <a:off x="4814919" y="1776846"/>
              <a:ext cx="4114799" cy="92333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save = </a:t>
              </a:r>
              <a:r>
                <a:rPr lang="en-GB" sz="18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function</a:t>
              </a:r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(user) {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GB" sz="1800" b="1" dirty="0">
                  <a:solidFill>
                    <a:srgbClr val="008000"/>
                  </a:solidFill>
                  <a:latin typeface="Consolas" panose="020B0609020204030204" pitchFamily="49" charset="0"/>
                </a:rPr>
                <a:t>//Stuff for saving users</a:t>
              </a:r>
            </a:p>
            <a:p>
              <a:r>
                <a:rPr lang="en-GB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14918" y="1288473"/>
              <a:ext cx="4114799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004050"/>
                  </a:solidFill>
                  <a:cs typeface="Courier New" pitchFamily="49" charset="0"/>
                </a:rPr>
                <a:t>users.js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329131" y="4177977"/>
            <a:ext cx="209276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2000" b="1" dirty="0">
                <a:highlight>
                  <a:srgbClr val="FFFF00"/>
                </a:highlight>
                <a:cs typeface="Courier New" pitchFamily="49" charset="0"/>
              </a:rPr>
              <a:t>View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415" y="5054284"/>
            <a:ext cx="132301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highlight>
                  <a:srgbClr val="FFFF00"/>
                </a:highlight>
                <a:cs typeface="Courier New" pitchFamily="49" charset="0"/>
              </a:rPr>
              <a:t>Model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4804064" y="2378888"/>
            <a:ext cx="1645228" cy="15027"/>
          </a:xfrm>
          <a:prstGeom prst="straightConnector1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83174" y="2052345"/>
            <a:ext cx="948560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cs typeface="Courier New" pitchFamily="49" charset="0"/>
              </a:rPr>
              <a:t>Binding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5864" y="3318934"/>
            <a:ext cx="73775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cs typeface="Courier New" pitchFamily="49" charset="0"/>
              </a:rPr>
              <a:t>Save</a:t>
            </a:r>
          </a:p>
        </p:txBody>
      </p:sp>
      <p:cxnSp>
        <p:nvCxnSpPr>
          <p:cNvPr id="26" name="Straight Arrow Connector 25"/>
          <p:cNvCxnSpPr>
            <a:cxnSpLocks/>
          </p:cNvCxnSpPr>
          <p:nvPr/>
        </p:nvCxnSpPr>
        <p:spPr>
          <a:xfrm flipV="1">
            <a:off x="4714010" y="3383347"/>
            <a:ext cx="1735282" cy="9207"/>
          </a:xfrm>
          <a:prstGeom prst="straightConnector1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37149" y="3098053"/>
            <a:ext cx="1169079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cs typeface="Courier New" pitchFamily="49" charset="0"/>
              </a:rPr>
              <a:t>Command</a:t>
            </a:r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V="1">
            <a:off x="4221804" y="3711650"/>
            <a:ext cx="2249918" cy="1542689"/>
          </a:xfrm>
          <a:prstGeom prst="straightConnector1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19505867">
            <a:off x="4686528" y="4251041"/>
            <a:ext cx="116907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cs typeface="Courier New" pitchFamily="49" charset="0"/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257772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17178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Add the CDN link or download and set a </a:t>
            </a:r>
            <a:r>
              <a:rPr lang="en-GB" b="1" i="1" dirty="0" err="1"/>
              <a:t>rel</a:t>
            </a:r>
            <a:r>
              <a:rPr lang="en-GB" b="1" dirty="0"/>
              <a:t> to the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Add </a:t>
            </a:r>
            <a:r>
              <a:rPr lang="en-GB" b="1" dirty="0">
                <a:solidFill>
                  <a:srgbClr val="0000FF"/>
                </a:solidFill>
              </a:rPr>
              <a:t>ng-app</a:t>
            </a: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b="1" dirty="0"/>
              <a:t>directive to your page</a:t>
            </a:r>
            <a:endParaRPr lang="en-GB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684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Designates where you can start using Angular</a:t>
            </a:r>
          </a:p>
          <a:p>
            <a:pPr marL="684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Typically placed in root elements like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GB" dirty="0"/>
              <a:t>or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979081" y="3199113"/>
            <a:ext cx="10878708" cy="29546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QA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="https://ajax.googleapis.com/ajax/libs/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angularjs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/1.3.14/angular.js"&gt;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D959FE1-6F69-472F-89C4-26C5B9CB6E7C}"/>
              </a:ext>
            </a:extLst>
          </p:cNvPr>
          <p:cNvSpPr/>
          <p:nvPr/>
        </p:nvSpPr>
        <p:spPr>
          <a:xfrm>
            <a:off x="544750" y="4931927"/>
            <a:ext cx="408561" cy="340469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46EF385-C4A2-4D83-8256-3C75FB9202BC}"/>
              </a:ext>
            </a:extLst>
          </p:cNvPr>
          <p:cNvSpPr/>
          <p:nvPr/>
        </p:nvSpPr>
        <p:spPr>
          <a:xfrm>
            <a:off x="969519" y="4053188"/>
            <a:ext cx="408561" cy="340469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86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expression using {{ }} 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8491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 {{ }} notation is used to evaluate expressions and it is also to bind to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92672" y="2361000"/>
            <a:ext cx="11024877" cy="32316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!DOCTYPE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QA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="https://ajax.googleapis.com/ajax/libs/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angularjs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/1.3.14/angular.js"&gt;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5 + 6 =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800080"/>
                </a:solidFill>
                <a:latin typeface="Consolas" panose="020B0609020204030204" pitchFamily="49" charset="0"/>
              </a:rPr>
              <a:t>5+6</a:t>
            </a:r>
            <a:r>
              <a:rPr lang="en-GB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1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5057-ACF1-4446-8575-6915A4CF8E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E9090-A30B-4058-94A5-99C566CC29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Creating your first app</a:t>
            </a:r>
            <a:br>
              <a:rPr lang="en-GB" b="1" dirty="0"/>
            </a:br>
            <a:endParaRPr lang="en-GB" b="1" dirty="0"/>
          </a:p>
          <a:p>
            <a:pPr marL="342900" lvl="1" indent="-342900">
              <a:buSzPct val="115000"/>
            </a:pPr>
            <a:r>
              <a:rPr lang="en-GB" dirty="0"/>
              <a:t>In this lab you’ll create your first app using Visual Studio Code (recommended)</a:t>
            </a:r>
            <a:br>
              <a:rPr lang="en-GB" dirty="0"/>
            </a:b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You can use your own favourite web IDE. However, The labs instructions are based on Visual Studio Code.</a:t>
            </a:r>
          </a:p>
          <a:p>
            <a:pPr marL="355600" lvl="1" indent="-266700">
              <a:buBlip>
                <a:blip r:embed="rId3"/>
              </a:buBlip>
            </a:pPr>
            <a:endParaRPr lang="en-GB" dirty="0"/>
          </a:p>
          <a:p>
            <a:r>
              <a:rPr lang="en-GB" b="1" dirty="0"/>
              <a:t>Duration: </a:t>
            </a:r>
            <a:r>
              <a:rPr lang="en-GB" i="1" dirty="0"/>
              <a:t>5 minutes</a:t>
            </a:r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566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B3CC0B-E263-432C-BB14-FE48975857EC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B42EA499-AA80-4ED5-9ED5-37A17D3EB54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5BB8C8-8FF3-4F5D-A91F-8BEEB2392E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2CA57D-8C79-458E-9449-890AD68188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</TotalTime>
  <Words>656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 Introduction  Building Applications  using AngularJS</vt:lpstr>
      <vt:lpstr>PowerPoint Presentation</vt:lpstr>
      <vt:lpstr>PowerPoint Presentation</vt:lpstr>
      <vt:lpstr>MVVM in Angular JS</vt:lpstr>
      <vt:lpstr>Getting started</vt:lpstr>
      <vt:lpstr>Simple expression using {{ }}  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mike.baradaran@qa.com</cp:lastModifiedBy>
  <cp:revision>154</cp:revision>
  <cp:lastPrinted>2019-07-03T09:46:41Z</cp:lastPrinted>
  <dcterms:created xsi:type="dcterms:W3CDTF">2019-09-05T08:17:12Z</dcterms:created>
  <dcterms:modified xsi:type="dcterms:W3CDTF">2022-04-06T20:59:43Z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