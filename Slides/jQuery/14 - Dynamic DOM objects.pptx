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63" r:id="rId5"/>
    <p:sldId id="561" r:id="rId6"/>
    <p:sldId id="478" r:id="rId7"/>
    <p:sldId id="481" r:id="rId8"/>
    <p:sldId id="562" r:id="rId9"/>
    <p:sldId id="482" r:id="rId10"/>
    <p:sldId id="563" r:id="rId11"/>
  </p:sldIdLst>
  <p:sldSz cx="12192000" cy="6858000"/>
  <p:notesSz cx="6645275" cy="9775825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37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row, Joshua" initials="BJ" lastIdx="30" clrIdx="0">
    <p:extLst>
      <p:ext uri="{19B8F6BF-5375-455C-9EA6-DF929625EA0E}">
        <p15:presenceInfo xmlns:p15="http://schemas.microsoft.com/office/powerpoint/2012/main" userId="S-1-5-21-3476036342-1731177862-1559577602-51474" providerId="AD"/>
      </p:ext>
    </p:extLst>
  </p:cmAuthor>
  <p:cmAuthor id="2" name="Singh, Vaishali" initials="SV" lastIdx="7" clrIdx="1">
    <p:extLst>
      <p:ext uri="{19B8F6BF-5375-455C-9EA6-DF929625EA0E}">
        <p15:presenceInfo xmlns:p15="http://schemas.microsoft.com/office/powerpoint/2012/main" userId="S-1-5-21-3476036342-1731177862-1559577602-155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CFF9"/>
    <a:srgbClr val="004050"/>
    <a:srgbClr val="09EDB8"/>
    <a:srgbClr val="F91258"/>
    <a:srgbClr val="7E007C"/>
    <a:srgbClr val="F3622C"/>
    <a:srgbClr val="31D3AE"/>
    <a:srgbClr val="F3F3F3"/>
    <a:srgbClr val="F4F4F4"/>
    <a:srgbClr val="3D6E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30" autoAdjust="0"/>
    <p:restoredTop sz="88946" autoAdjust="0"/>
  </p:normalViewPr>
  <p:slideViewPr>
    <p:cSldViewPr snapToGrid="0" snapToObjects="1" showGuides="1">
      <p:cViewPr varScale="1">
        <p:scale>
          <a:sx n="74" d="100"/>
          <a:sy n="74" d="100"/>
        </p:scale>
        <p:origin x="1378" y="72"/>
      </p:cViewPr>
      <p:guideLst>
        <p:guide pos="3840"/>
        <p:guide orient="horz" pos="37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82" d="100"/>
          <a:sy n="82" d="100"/>
        </p:scale>
        <p:origin x="315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964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088FE-3E68-47FE-8BA4-634CD34BABBC}" type="datetimeFigureOut">
              <a:rPr lang="en-GB" smtClean="0"/>
              <a:pPr/>
              <a:t>08/09/2022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964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31C5D-0DE0-4486-9782-41885BE5816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0825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19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1D6B66C6-1E92-0F4E-A300-9D4ED1F0C23F}" type="datetimeFigureOut">
              <a:rPr lang="en-GB" smtClean="0"/>
              <a:pPr/>
              <a:t>08/09/2022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0788"/>
            <a:ext cx="5867400" cy="3300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7"/>
            <a:ext cx="5316220" cy="384923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19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548901C6-1DA1-FB44-ABEE-06A0FEB7738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6747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6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7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ADD228-DDD9-4474-8EF5-1A92D85324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7531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45342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2955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95367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26724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3598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/what's next">
    <p:bg>
      <p:bgPr>
        <a:solidFill>
          <a:srgbClr val="EDC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35880" y="0"/>
            <a:ext cx="705612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128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llow us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5020" y="0"/>
            <a:ext cx="631698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86434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on Tips">
    <p:bg>
      <p:bgPr>
        <a:solidFill>
          <a:srgbClr val="EB6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54240" y="0"/>
            <a:ext cx="493776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19887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44640" y="15240"/>
            <a:ext cx="5547360" cy="684276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656105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usekeep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433680"/>
            <a:ext cx="5627171" cy="968987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4784" y="4894524"/>
            <a:ext cx="5627171" cy="1186921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427687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et &amp; Greet 1">
    <p:bg>
      <p:bgPr>
        <a:solidFill>
          <a:srgbClr val="38E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8881" y="-11575"/>
            <a:ext cx="8079261" cy="68753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002556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Meet &amp; Greet</a:t>
            </a:r>
            <a:endParaRPr lang="en-GB" noProof="0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915404"/>
            <a:ext cx="4278655" cy="34015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4045959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3 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27" name="Group 26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  <a:solidFill>
            <a:srgbClr val="004050"/>
          </a:solidFill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2229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00292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4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 sz="2000"/>
            </a:lvl4pPr>
            <a:lvl5pPr marL="180000" indent="-1800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9EDB8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</p:spTree>
    <p:extLst>
      <p:ext uri="{BB962C8B-B14F-4D97-AF65-F5344CB8AC3E}">
        <p14:creationId xmlns:p14="http://schemas.microsoft.com/office/powerpoint/2010/main" val="3589945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09EDB8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370358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00EDB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114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vity 1">
    <p:bg>
      <p:bgPr>
        <a:solidFill>
          <a:srgbClr val="0EEE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887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01 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609" y="0"/>
            <a:ext cx="12192609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rgbClr val="004050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779800"/>
            <a:ext cx="5627171" cy="1682133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05" y="399619"/>
            <a:ext cx="857393" cy="522401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758190" y="769620"/>
            <a:ext cx="379608" cy="11049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144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08688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87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28CFF9"/>
          </a:solidFill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822106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8CFF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725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ctivity 1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28947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03 Section Divider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760859" y="768561"/>
            <a:ext cx="379608" cy="11049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35614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98918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8" name="Group 27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16148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F1612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865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ctivity 1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37711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2 Section Divider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A0DD6AED-2202-DD48-A2D6-60CCC5F07320}"/>
              </a:ext>
            </a:extLst>
          </p:cNvPr>
          <p:cNvSpPr/>
          <p:nvPr userDrawn="1"/>
        </p:nvSpPr>
        <p:spPr>
          <a:xfrm>
            <a:off x="-609" y="2116538"/>
            <a:ext cx="11411496" cy="5526322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F9125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067007"/>
            <a:ext cx="5627171" cy="2353439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96745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E0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33" name="Group 32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  <a:solidFill>
            <a:srgbClr val="F91258"/>
          </a:solidFill>
        </p:grpSpPr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45788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7E007C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596148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7E007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64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ctivity 1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3175680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2588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39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5446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con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059427" y="3673998"/>
            <a:ext cx="212415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0" indent="0">
              <a:buFont typeface="Arial" panose="020B0604020202020204" pitchFamily="34" charset="0"/>
              <a:buNone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639645" y="3673998"/>
            <a:ext cx="2068065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149996" y="3673998"/>
            <a:ext cx="2130523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21"/>
          <p:cNvSpPr>
            <a:spLocks noGrp="1"/>
          </p:cNvSpPr>
          <p:nvPr>
            <p:ph type="pic" sz="quarter" idx="18" hasCustomPrompt="1"/>
          </p:nvPr>
        </p:nvSpPr>
        <p:spPr>
          <a:xfrm>
            <a:off x="1059428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8" name="Picture Placeholder 21"/>
          <p:cNvSpPr>
            <a:spLocks noGrp="1"/>
          </p:cNvSpPr>
          <p:nvPr>
            <p:ph type="pic" sz="quarter" idx="19" hasCustomPrompt="1"/>
          </p:nvPr>
        </p:nvSpPr>
        <p:spPr>
          <a:xfrm>
            <a:off x="3639646" y="1986408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20" hasCustomPrompt="1"/>
          </p:nvPr>
        </p:nvSpPr>
        <p:spPr>
          <a:xfrm>
            <a:off x="6149997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637070" y="3688989"/>
            <a:ext cx="218344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1" name="Picture Placeholder 21"/>
          <p:cNvSpPr>
            <a:spLocks noGrp="1"/>
          </p:cNvSpPr>
          <p:nvPr>
            <p:ph type="pic" sz="quarter" idx="22" hasCustomPrompt="1"/>
          </p:nvPr>
        </p:nvSpPr>
        <p:spPr>
          <a:xfrm>
            <a:off x="8637071" y="2008475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8968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065907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511826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957745" y="1986353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8403664" y="1986352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195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15467" y="1992793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069809" y="1992792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6117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1080209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 sz="1800"/>
            </a:lvl2pPr>
            <a:lvl3pPr marL="0" indent="0">
              <a:buNone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0209" y="2003204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5914" y="2003203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25868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2594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91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ope you enjoyed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3440" y="0"/>
            <a:ext cx="752856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2311970"/>
            <a:ext cx="3138017" cy="1908338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/>
            </a:lvl1pPr>
          </a:lstStyle>
          <a:p>
            <a:r>
              <a:rPr lang="en-US" noProof="0" dirty="0"/>
              <a:t>THANK YOU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1" y="5306004"/>
            <a:ext cx="4269826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 baseline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Hope you enjoyed this learning journey.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698" y="3508800"/>
            <a:ext cx="7016130" cy="2425241"/>
            <a:chOff x="683" y="3508800"/>
            <a:chExt cx="7016130" cy="2425241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683" y="3508800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 userDrawn="1"/>
          </p:nvSpPr>
          <p:spPr>
            <a:xfrm>
              <a:off x="5439970" y="3509181"/>
              <a:ext cx="1576843" cy="2417447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683" y="4907035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87849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A Template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466" y="2130432"/>
            <a:ext cx="11049077" cy="1470025"/>
          </a:xfrm>
        </p:spPr>
        <p:txBody>
          <a:bodyPr>
            <a:normAutofit/>
          </a:bodyPr>
          <a:lstStyle>
            <a:lvl1pPr algn="ctr">
              <a:defRPr sz="3600"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rgbClr val="AAAAAA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8" name="Picture 7" descr="NewSwoop_Footer.jpg"/>
          <p:cNvPicPr>
            <a:picLocks noChangeAspect="1"/>
          </p:cNvPicPr>
          <p:nvPr userDrawn="1"/>
        </p:nvPicPr>
        <p:blipFill>
          <a:blip r:embed="rId2" cstate="print"/>
          <a:srcRect b="6922"/>
          <a:stretch>
            <a:fillRect/>
          </a:stretch>
        </p:blipFill>
        <p:spPr>
          <a:xfrm>
            <a:off x="0" y="5015952"/>
            <a:ext cx="12192000" cy="177596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917" y="785794"/>
            <a:ext cx="956780" cy="69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4535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A Template_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190463" y="928670"/>
            <a:ext cx="11715792" cy="5214974"/>
          </a:xfrm>
        </p:spPr>
        <p:txBody>
          <a:bodyPr/>
          <a:lstStyle>
            <a:lvl1pPr>
              <a:spcBef>
                <a:spcPts val="1200"/>
              </a:spcBef>
              <a:defRPr b="1"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0459" y="357166"/>
            <a:ext cx="11715832" cy="5004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GB" sz="2400" b="1" kern="1200" baseline="0" dirty="0" smtClean="0">
                <a:solidFill>
                  <a:srgbClr val="0070C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342900" lvl="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0958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4" y="6584738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46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798" r:id="rId4"/>
    <p:sldLayoutId id="2147483806" r:id="rId5"/>
    <p:sldLayoutId id="2147483709" r:id="rId6"/>
    <p:sldLayoutId id="2147483822" r:id="rId7"/>
    <p:sldLayoutId id="2147483802" r:id="rId8"/>
    <p:sldLayoutId id="2147483792" r:id="rId9"/>
    <p:sldLayoutId id="2147483810" r:id="rId10"/>
    <p:sldLayoutId id="2147483804" r:id="rId11"/>
    <p:sldLayoutId id="2147483821" r:id="rId12"/>
    <p:sldLayoutId id="2147483824" r:id="rId13"/>
    <p:sldLayoutId id="2147483828" r:id="rId14"/>
    <p:sldLayoutId id="2147483853" r:id="rId15"/>
    <p:sldLayoutId id="2147483899" r:id="rId16"/>
    <p:sldLayoutId id="2147483832" r:id="rId17"/>
    <p:sldLayoutId id="2147483833" r:id="rId18"/>
    <p:sldLayoutId id="2147483836" r:id="rId19"/>
    <p:sldLayoutId id="2147483852" r:id="rId20"/>
    <p:sldLayoutId id="2147483900" r:id="rId21"/>
    <p:sldLayoutId id="2147483820" r:id="rId22"/>
    <p:sldLayoutId id="2147483842" r:id="rId23"/>
    <p:sldLayoutId id="2147483845" r:id="rId24"/>
    <p:sldLayoutId id="2147483851" r:id="rId25"/>
    <p:sldLayoutId id="2147483901" r:id="rId26"/>
    <p:sldLayoutId id="2147483650" r:id="rId27"/>
    <p:sldLayoutId id="2147483734" r:id="rId28"/>
    <p:sldLayoutId id="2147483796" r:id="rId29"/>
    <p:sldLayoutId id="2147483719" r:id="rId30"/>
    <p:sldLayoutId id="2147483721" r:id="rId31"/>
    <p:sldLayoutId id="2147483724" r:id="rId32"/>
    <p:sldLayoutId id="2147483797" r:id="rId33"/>
    <p:sldLayoutId id="2147483814" r:id="rId34"/>
    <p:sldLayoutId id="2147483902" r:id="rId35"/>
    <p:sldLayoutId id="2147483903" r:id="rId36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Krana Fat B" panose="00000B00000000000000" pitchFamily="50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15000"/>
        <a:buFontTx/>
        <a:buNone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8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8"/>
        </a:buBlip>
        <a:tabLst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8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8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" userDrawn="1">
          <p15:clr>
            <a:srgbClr val="F26B43"/>
          </p15:clr>
        </p15:guide>
        <p15:guide id="2" orient="horz" pos="4081" userDrawn="1">
          <p15:clr>
            <a:srgbClr val="F26B43"/>
          </p15:clr>
        </p15:guide>
        <p15:guide id="3" pos="237" userDrawn="1">
          <p15:clr>
            <a:srgbClr val="F26B43"/>
          </p15:clr>
        </p15:guide>
        <p15:guide id="4" pos="732" userDrawn="1">
          <p15:clr>
            <a:srgbClr val="F26B43"/>
          </p15:clr>
        </p15:guide>
        <p15:guide id="5" pos="850" userDrawn="1">
          <p15:clr>
            <a:srgbClr val="F26B43"/>
          </p15:clr>
        </p15:guide>
        <p15:guide id="6" pos="1345" userDrawn="1">
          <p15:clr>
            <a:srgbClr val="F26B43"/>
          </p15:clr>
        </p15:guide>
        <p15:guide id="7" pos="1460" userDrawn="1">
          <p15:clr>
            <a:srgbClr val="F26B43"/>
          </p15:clr>
        </p15:guide>
        <p15:guide id="8" pos="1954" userDrawn="1">
          <p15:clr>
            <a:srgbClr val="F26B43"/>
          </p15:clr>
        </p15:guide>
        <p15:guide id="9" pos="2069" userDrawn="1">
          <p15:clr>
            <a:srgbClr val="F26B43"/>
          </p15:clr>
        </p15:guide>
        <p15:guide id="10" pos="2564" userDrawn="1">
          <p15:clr>
            <a:srgbClr val="F26B43"/>
          </p15:clr>
        </p15:guide>
        <p15:guide id="11" pos="2683" userDrawn="1">
          <p15:clr>
            <a:srgbClr val="F26B43"/>
          </p15:clr>
        </p15:guide>
        <p15:guide id="12" pos="3173" userDrawn="1">
          <p15:clr>
            <a:srgbClr val="F26B43"/>
          </p15:clr>
        </p15:guide>
        <p15:guide id="13" pos="3288" userDrawn="1">
          <p15:clr>
            <a:srgbClr val="F26B43"/>
          </p15:clr>
        </p15:guide>
        <p15:guide id="14" pos="3782" userDrawn="1">
          <p15:clr>
            <a:srgbClr val="F26B43"/>
          </p15:clr>
        </p15:guide>
        <p15:guide id="15" pos="3897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06" userDrawn="1">
          <p15:clr>
            <a:srgbClr val="F26B43"/>
          </p15:clr>
        </p15:guide>
        <p15:guide id="18" pos="5001" userDrawn="1">
          <p15:clr>
            <a:srgbClr val="F26B43"/>
          </p15:clr>
        </p15:guide>
        <p15:guide id="19" pos="5115" userDrawn="1">
          <p15:clr>
            <a:srgbClr val="F26B43"/>
          </p15:clr>
        </p15:guide>
        <p15:guide id="20" pos="5610" userDrawn="1">
          <p15:clr>
            <a:srgbClr val="F26B43"/>
          </p15:clr>
        </p15:guide>
        <p15:guide id="21" pos="5725" userDrawn="1">
          <p15:clr>
            <a:srgbClr val="F26B43"/>
          </p15:clr>
        </p15:guide>
        <p15:guide id="22" pos="6220" userDrawn="1">
          <p15:clr>
            <a:srgbClr val="F26B43"/>
          </p15:clr>
        </p15:guide>
        <p15:guide id="23" pos="6334" userDrawn="1">
          <p15:clr>
            <a:srgbClr val="F26B43"/>
          </p15:clr>
        </p15:guide>
        <p15:guide id="24" pos="6829" userDrawn="1">
          <p15:clr>
            <a:srgbClr val="F26B43"/>
          </p15:clr>
        </p15:guide>
        <p15:guide id="25" pos="6943" userDrawn="1">
          <p15:clr>
            <a:srgbClr val="F26B43"/>
          </p15:clr>
        </p15:guide>
        <p15:guide id="26" pos="7438" userDrawn="1">
          <p15:clr>
            <a:srgbClr val="F26B43"/>
          </p15:clr>
        </p15:guide>
        <p15:guide id="27" pos="3840" userDrawn="1">
          <p15:clr>
            <a:srgbClr val="9FCC3B"/>
          </p15:clr>
        </p15:guide>
        <p15:guide id="28" orient="horz" pos="21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10F91D-7695-44A3-9B84-1B07AE8F0D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N" sz="1200" b="1" dirty="0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Dynamic DOM objects</a:t>
            </a:r>
            <a:endParaRPr lang="en-IN"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6D1B7A-94A8-4C78-899D-DAD1982C35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Objectives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6E9CC21-0493-4A5C-A646-EBE00CBFF4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In this chapter you'll learn how 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dynamically add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remove DOM elements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536822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DOM objects - 1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273" y="1368256"/>
            <a:ext cx="3773527" cy="4955354"/>
          </a:xfrm>
        </p:spPr>
        <p:txBody>
          <a:bodyPr/>
          <a:lstStyle/>
          <a:p>
            <a:r>
              <a:rPr lang="en-US" b="1" dirty="0"/>
              <a:t>Create and append</a:t>
            </a:r>
          </a:p>
          <a:p>
            <a:pPr marL="342900" lvl="1" indent="-342900">
              <a:buSzPct val="115000"/>
              <a:buFont typeface="Arial" panose="020B0604020202020204" pitchFamily="34" charset="0"/>
              <a:buChar char="•"/>
            </a:pPr>
            <a:r>
              <a:rPr lang="en-US" dirty="0"/>
              <a:t>This code creates an element and then adds it to another element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409853" y="1450387"/>
            <a:ext cx="7447936" cy="2062103"/>
          </a:xfrm>
          <a:prstGeom prst="rect">
            <a:avLst/>
          </a:prstGeom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&lt;</a:t>
            </a:r>
            <a:r>
              <a:rPr lang="en-GB" sz="16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ul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="menu"&gt;&lt;/</a:t>
            </a:r>
            <a:r>
              <a:rPr lang="en-GB" sz="16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ul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nn-NO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for</a:t>
            </a:r>
            <a:r>
              <a:rPr lang="nn-NO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n-NO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nn-NO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= 1; i &lt; 10; i++) {</a:t>
            </a:r>
          </a:p>
          <a:p>
            <a:r>
              <a:rPr lang="it-IT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$(</a:t>
            </a:r>
            <a:r>
              <a:rPr lang="it-IT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'&lt;li&gt;Option-'</a:t>
            </a:r>
            <a:r>
              <a:rPr lang="it-IT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i + </a:t>
            </a:r>
            <a:r>
              <a:rPr lang="it-IT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'&lt;/li&gt;'</a:t>
            </a:r>
            <a:r>
              <a:rPr lang="it-IT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).appendTo($(</a:t>
            </a:r>
            <a:r>
              <a:rPr lang="it-IT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'#menu'</a:t>
            </a:r>
            <a:r>
              <a:rPr lang="it-IT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));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409853" y="3755989"/>
            <a:ext cx="2566219" cy="2462213"/>
          </a:xfrm>
          <a:prstGeom prst="rect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4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ul</a:t>
            </a: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="menu"&gt;</a:t>
            </a:r>
            <a:endParaRPr lang="en-GB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Option-1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Option-2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Option-3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Option-4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Option-5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Option-6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Option-7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Option-8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Option-9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4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ul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690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513CC-B27B-4808-B61E-B1E9D3DC36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Dynamic DOM</a:t>
            </a:r>
            <a:br>
              <a:rPr lang="en-US" dirty="0"/>
            </a:br>
            <a:endParaRPr lang="en-US" dirty="0"/>
          </a:p>
          <a:p>
            <a:r>
              <a:rPr lang="en-US" dirty="0"/>
              <a:t>Removing elements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4941522" y="837571"/>
            <a:ext cx="4572000" cy="322887"/>
          </a:xfrm>
          <a:prstGeom prst="rect">
            <a:avLst/>
          </a:prstGeom>
          <a:solidFill>
            <a:schemeClr val="bg2">
              <a:lumMod val="9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txBody>
          <a:bodyPr wrap="square" lIns="132923" tIns="33231" rIns="0" bIns="33231" rtlCol="0">
            <a:spAutoFit/>
          </a:bodyPr>
          <a:lstStyle/>
          <a:p>
            <a:r>
              <a:rPr lang="en-GB" sz="1662" b="1" dirty="0">
                <a:latin typeface="Consolas"/>
              </a:rPr>
              <a:t>$('#</a:t>
            </a:r>
            <a:r>
              <a:rPr lang="en-GB" sz="1662" b="1" dirty="0" err="1">
                <a:latin typeface="Consolas"/>
              </a:rPr>
              <a:t>txtCount</a:t>
            </a:r>
            <a:r>
              <a:rPr lang="en-GB" sz="1662" b="1" dirty="0">
                <a:latin typeface="Consolas"/>
              </a:rPr>
              <a:t>')</a:t>
            </a:r>
            <a:r>
              <a:rPr lang="en-GB" sz="1662" b="1" dirty="0">
                <a:solidFill>
                  <a:srgbClr val="800000"/>
                </a:solidFill>
                <a:latin typeface="Consolas"/>
              </a:rPr>
              <a:t>.remove();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41522" y="1310083"/>
            <a:ext cx="4580965" cy="32288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txBody>
          <a:bodyPr wrap="square" lIns="132923" tIns="33231" rIns="0" bIns="33231" rtlCol="0">
            <a:spAutoFit/>
          </a:bodyPr>
          <a:lstStyle/>
          <a:p>
            <a:r>
              <a:rPr lang="en-GB" sz="1662" b="1" dirty="0">
                <a:latin typeface="Consolas"/>
              </a:rPr>
              <a:t>$('p')</a:t>
            </a:r>
            <a:r>
              <a:rPr lang="en-GB" sz="1662" b="1" dirty="0">
                <a:solidFill>
                  <a:srgbClr val="800000"/>
                </a:solidFill>
                <a:latin typeface="Consolas"/>
              </a:rPr>
              <a:t>.remove();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41522" y="1790926"/>
            <a:ext cx="4572000" cy="322887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txBody>
          <a:bodyPr wrap="square" lIns="132923" tIns="33231" rIns="0" bIns="33231" rtlCol="0">
            <a:spAutoFit/>
          </a:bodyPr>
          <a:lstStyle/>
          <a:p>
            <a:r>
              <a:rPr lang="en-GB" sz="1662" b="1" dirty="0">
                <a:latin typeface="Consolas"/>
              </a:rPr>
              <a:t>$('.bordered')</a:t>
            </a:r>
            <a:r>
              <a:rPr lang="en-GB" sz="1662" b="1" dirty="0">
                <a:solidFill>
                  <a:srgbClr val="800000"/>
                </a:solidFill>
                <a:latin typeface="Consolas"/>
              </a:rPr>
              <a:t>.remove();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0487" y="2337532"/>
            <a:ext cx="4572000" cy="3046988"/>
          </a:xfrm>
          <a:prstGeom prst="rect">
            <a:avLst/>
          </a:prstGeom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ul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="menu"&gt;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Option-A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GB" sz="16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li</a:t>
            </a:r>
            <a:r>
              <a:rPr lang="en-GB" sz="16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Option-B</a:t>
            </a:r>
            <a:r>
              <a:rPr lang="en-GB" sz="16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li</a:t>
            </a:r>
            <a:r>
              <a:rPr lang="en-GB" sz="16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Option-C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Option-D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Option-F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&lt;/</a:t>
            </a:r>
            <a:r>
              <a:rPr lang="en-GB" sz="16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ul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$(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GB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li:nth-child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(2)'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).remove();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944916" y="2715345"/>
            <a:ext cx="1269899" cy="1477328"/>
          </a:xfrm>
          <a:prstGeom prst="rect">
            <a:avLst/>
          </a:prstGeom>
          <a:solidFill>
            <a:schemeClr val="bg1"/>
          </a:solidFill>
          <a:ln w="25400">
            <a:solidFill>
              <a:srgbClr val="28CFF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GB" dirty="0"/>
              <a:t>Option-A</a:t>
            </a:r>
          </a:p>
          <a:p>
            <a:r>
              <a:rPr lang="en-GB" dirty="0"/>
              <a:t>Option-C</a:t>
            </a:r>
          </a:p>
          <a:p>
            <a:r>
              <a:rPr lang="en-GB" dirty="0"/>
              <a:t>Option-D</a:t>
            </a:r>
          </a:p>
          <a:p>
            <a:r>
              <a:rPr lang="en-GB" dirty="0"/>
              <a:t>Option-E</a:t>
            </a:r>
          </a:p>
          <a:p>
            <a:r>
              <a:rPr lang="en-GB" dirty="0"/>
              <a:t>Option-F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504560" y="3429000"/>
            <a:ext cx="368708" cy="324465"/>
          </a:xfrm>
          <a:prstGeom prst="rightArrow">
            <a:avLst/>
          </a:prstGeom>
          <a:solidFill>
            <a:srgbClr val="004050"/>
          </a:solidFill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0808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88934F-FDA5-46C5-938C-94F3536E0E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Objectives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916E7DC-3128-48EC-B6BD-F9FF7723DA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In this chapter you learned how to dynamically add and remove DOM elements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78846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AF5B515-ACC6-41BA-9E32-B0B7754977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Lab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45EA1E3-48E3-46A3-81CA-E7AFAAA3AC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4"/>
            <a:ext cx="6563191" cy="499702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Please do the lab for this chapter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Duration 45 minutes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10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Alternatives at </a:t>
            </a:r>
            <a:r>
              <a:rPr lang="en-GB" dirty="0" err="1"/>
              <a:t>appendTo</a:t>
            </a:r>
            <a:r>
              <a:rPr lang="en-GB" dirty="0"/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748144" y="2095050"/>
            <a:ext cx="9310256" cy="313932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GB" b="1" dirty="0">
                <a:solidFill>
                  <a:srgbClr val="0000FF"/>
                </a:solidFill>
                <a:latin typeface="Consolas"/>
              </a:rPr>
              <a:t>&lt;</a:t>
            </a:r>
            <a:r>
              <a:rPr lang="en-GB" b="1" dirty="0">
                <a:solidFill>
                  <a:srgbClr val="800000"/>
                </a:solidFill>
                <a:latin typeface="Consolas"/>
              </a:rPr>
              <a:t>script</a:t>
            </a:r>
            <a:r>
              <a:rPr lang="en-GB" b="1" dirty="0">
                <a:solidFill>
                  <a:srgbClr val="0000FF"/>
                </a:solidFill>
                <a:latin typeface="Consolas"/>
              </a:rPr>
              <a:t>&gt;</a:t>
            </a:r>
            <a:endParaRPr lang="en-GB" b="1" dirty="0">
              <a:solidFill>
                <a:srgbClr val="000000"/>
              </a:solidFill>
              <a:latin typeface="Consolas"/>
            </a:endParaRPr>
          </a:p>
          <a:p>
            <a:r>
              <a:rPr lang="nn-NO" b="1" dirty="0">
                <a:solidFill>
                  <a:srgbClr val="000000"/>
                </a:solidFill>
                <a:latin typeface="Consolas"/>
              </a:rPr>
              <a:t>        </a:t>
            </a:r>
            <a:r>
              <a:rPr lang="nn-NO" b="1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nn-NO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nn-NO" b="1" dirty="0">
                <a:solidFill>
                  <a:srgbClr val="0000FF"/>
                </a:solidFill>
                <a:latin typeface="Consolas"/>
              </a:rPr>
              <a:t>var</a:t>
            </a:r>
            <a:r>
              <a:rPr lang="nn-NO" b="1" dirty="0">
                <a:solidFill>
                  <a:srgbClr val="000000"/>
                </a:solidFill>
                <a:latin typeface="Consolas"/>
              </a:rPr>
              <a:t> i = 1; i &lt; 10; i++) {</a:t>
            </a:r>
          </a:p>
          <a:p>
            <a:r>
              <a:rPr lang="it-IT" b="1" dirty="0">
                <a:solidFill>
                  <a:srgbClr val="000000"/>
                </a:solidFill>
                <a:latin typeface="Consolas"/>
              </a:rPr>
              <a:t>            </a:t>
            </a:r>
            <a:r>
              <a:rPr lang="it-IT" b="1" dirty="0">
                <a:solidFill>
                  <a:srgbClr val="008000"/>
                </a:solidFill>
                <a:latin typeface="Consolas"/>
              </a:rPr>
              <a:t>//$('&lt;li&gt;Option-' + i + '&lt;/li&gt;').appendTo($('#menu'));</a:t>
            </a:r>
          </a:p>
          <a:p>
            <a:r>
              <a:rPr lang="it-IT" b="1" dirty="0">
                <a:solidFill>
                  <a:srgbClr val="000000"/>
                </a:solidFill>
                <a:latin typeface="Consolas"/>
              </a:rPr>
              <a:t>            $(</a:t>
            </a:r>
            <a:r>
              <a:rPr lang="it-IT" b="1" dirty="0">
                <a:solidFill>
                  <a:srgbClr val="A31515"/>
                </a:solidFill>
                <a:latin typeface="Consolas"/>
              </a:rPr>
              <a:t>'#menu'</a:t>
            </a:r>
            <a:r>
              <a:rPr lang="it-IT" b="1" dirty="0">
                <a:solidFill>
                  <a:srgbClr val="000000"/>
                </a:solidFill>
                <a:latin typeface="Consolas"/>
              </a:rPr>
              <a:t>).append(</a:t>
            </a:r>
            <a:r>
              <a:rPr lang="it-IT" b="1" dirty="0">
                <a:solidFill>
                  <a:srgbClr val="A31515"/>
                </a:solidFill>
                <a:latin typeface="Consolas"/>
              </a:rPr>
              <a:t>'&lt;li&gt;Option-'</a:t>
            </a:r>
            <a:r>
              <a:rPr lang="it-IT" b="1" dirty="0">
                <a:solidFill>
                  <a:srgbClr val="000000"/>
                </a:solidFill>
                <a:latin typeface="Consolas"/>
              </a:rPr>
              <a:t> + i + </a:t>
            </a:r>
            <a:r>
              <a:rPr lang="it-IT" b="1" dirty="0">
                <a:solidFill>
                  <a:srgbClr val="A31515"/>
                </a:solidFill>
                <a:latin typeface="Consolas"/>
              </a:rPr>
              <a:t>'&lt;/li&gt;'</a:t>
            </a:r>
            <a:r>
              <a:rPr lang="it-IT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GB" b="1" dirty="0">
                <a:solidFill>
                  <a:srgbClr val="000000"/>
                </a:solidFill>
                <a:latin typeface="Consolas"/>
              </a:rPr>
              <a:t>        }</a:t>
            </a:r>
          </a:p>
          <a:p>
            <a:endParaRPr lang="en-GB" b="1" dirty="0">
              <a:solidFill>
                <a:srgbClr val="000000"/>
              </a:solidFill>
              <a:latin typeface="Consolas"/>
            </a:endParaRPr>
          </a:p>
          <a:p>
            <a:r>
              <a:rPr lang="en-GB" b="1" dirty="0">
                <a:solidFill>
                  <a:srgbClr val="000000"/>
                </a:solidFill>
                <a:latin typeface="Consolas"/>
              </a:rPr>
              <a:t>        </a:t>
            </a:r>
            <a:r>
              <a:rPr lang="en-GB" b="1" dirty="0">
                <a:solidFill>
                  <a:srgbClr val="0000FF"/>
                </a:solidFill>
                <a:latin typeface="Consolas"/>
              </a:rPr>
              <a:t>function</a:t>
            </a:r>
            <a:r>
              <a:rPr lang="en-GB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GB" b="1" dirty="0" err="1">
                <a:solidFill>
                  <a:srgbClr val="000000"/>
                </a:solidFill>
                <a:latin typeface="Consolas"/>
              </a:rPr>
              <a:t>insertOthers</a:t>
            </a:r>
            <a:r>
              <a:rPr lang="en-GB" b="1" dirty="0">
                <a:solidFill>
                  <a:srgbClr val="000000"/>
                </a:solidFill>
                <a:latin typeface="Consolas"/>
              </a:rPr>
              <a:t>() {</a:t>
            </a:r>
          </a:p>
          <a:p>
            <a:r>
              <a:rPr lang="en-GB" b="1" dirty="0">
                <a:solidFill>
                  <a:srgbClr val="000000"/>
                </a:solidFill>
                <a:latin typeface="Consolas"/>
              </a:rPr>
              <a:t>            $(</a:t>
            </a:r>
            <a:r>
              <a:rPr lang="en-GB" b="1" dirty="0">
                <a:solidFill>
                  <a:srgbClr val="A31515"/>
                </a:solidFill>
                <a:latin typeface="Consolas"/>
              </a:rPr>
              <a:t>'&lt;h3&gt;Before...&lt;/h3&gt;'</a:t>
            </a:r>
            <a:r>
              <a:rPr lang="en-GB" b="1" dirty="0">
                <a:solidFill>
                  <a:srgbClr val="000000"/>
                </a:solidFill>
                <a:latin typeface="Consolas"/>
              </a:rPr>
              <a:t>).</a:t>
            </a:r>
            <a:r>
              <a:rPr lang="en-GB" b="1" dirty="0" err="1">
                <a:solidFill>
                  <a:srgbClr val="000000"/>
                </a:solidFill>
                <a:latin typeface="Consolas"/>
              </a:rPr>
              <a:t>insertBefore</a:t>
            </a:r>
            <a:r>
              <a:rPr lang="en-GB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GB" b="1" dirty="0">
                <a:solidFill>
                  <a:srgbClr val="A31515"/>
                </a:solidFill>
                <a:latin typeface="Consolas"/>
              </a:rPr>
              <a:t>'#menu'</a:t>
            </a:r>
            <a:r>
              <a:rPr lang="en-GB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GB" b="1" dirty="0">
                <a:solidFill>
                  <a:srgbClr val="000000"/>
                </a:solidFill>
                <a:latin typeface="Consolas"/>
              </a:rPr>
              <a:t>            $(</a:t>
            </a:r>
            <a:r>
              <a:rPr lang="en-GB" b="1" dirty="0">
                <a:solidFill>
                  <a:srgbClr val="A31515"/>
                </a:solidFill>
                <a:latin typeface="Consolas"/>
              </a:rPr>
              <a:t>'&lt;h3&gt;After...&lt;/h3&gt;'</a:t>
            </a:r>
            <a:r>
              <a:rPr lang="en-GB" b="1" dirty="0">
                <a:solidFill>
                  <a:srgbClr val="000000"/>
                </a:solidFill>
                <a:latin typeface="Consolas"/>
              </a:rPr>
              <a:t>).</a:t>
            </a:r>
            <a:r>
              <a:rPr lang="en-GB" b="1" dirty="0" err="1">
                <a:solidFill>
                  <a:srgbClr val="000000"/>
                </a:solidFill>
                <a:latin typeface="Consolas"/>
              </a:rPr>
              <a:t>insertAfter</a:t>
            </a:r>
            <a:r>
              <a:rPr lang="en-GB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GB" b="1" dirty="0">
                <a:solidFill>
                  <a:srgbClr val="A31515"/>
                </a:solidFill>
                <a:latin typeface="Consolas"/>
              </a:rPr>
              <a:t>'#menu'</a:t>
            </a:r>
            <a:r>
              <a:rPr lang="en-GB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GB" b="1" dirty="0">
                <a:solidFill>
                  <a:srgbClr val="000000"/>
                </a:solidFill>
                <a:latin typeface="Consolas"/>
              </a:rPr>
              <a:t>        }</a:t>
            </a:r>
          </a:p>
          <a:p>
            <a:r>
              <a:rPr lang="en-GB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GB" b="1" dirty="0">
                <a:solidFill>
                  <a:srgbClr val="0000FF"/>
                </a:solidFill>
                <a:latin typeface="Consolas"/>
              </a:rPr>
              <a:t>&lt;/</a:t>
            </a:r>
            <a:r>
              <a:rPr lang="en-GB" b="1" dirty="0">
                <a:solidFill>
                  <a:srgbClr val="800000"/>
                </a:solidFill>
                <a:latin typeface="Consolas"/>
              </a:rPr>
              <a:t>script</a:t>
            </a:r>
            <a:r>
              <a:rPr lang="en-GB" b="1" dirty="0">
                <a:solidFill>
                  <a:srgbClr val="0000FF"/>
                </a:solidFill>
                <a:latin typeface="Consolas"/>
              </a:rPr>
              <a:t>&gt;</a:t>
            </a:r>
            <a:endParaRPr lang="en-GB" b="1" dirty="0"/>
          </a:p>
        </p:txBody>
      </p:sp>
      <p:sp>
        <p:nvSpPr>
          <p:cNvPr id="6" name="TextBox 5"/>
          <p:cNvSpPr txBox="1"/>
          <p:nvPr/>
        </p:nvSpPr>
        <p:spPr>
          <a:xfrm>
            <a:off x="748144" y="1537849"/>
            <a:ext cx="9310255" cy="457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0" tIns="0" rIns="0" bIns="0" rtlCol="0" anchor="t" anchorCtr="0">
            <a:normAutofit/>
          </a:bodyPr>
          <a:lstStyle/>
          <a:p>
            <a:pPr algn="l"/>
            <a:r>
              <a:rPr lang="en-GB" dirty="0"/>
              <a:t>Using the </a:t>
            </a:r>
            <a:r>
              <a:rPr lang="en-GB" b="1" dirty="0">
                <a:solidFill>
                  <a:srgbClr val="0070C0"/>
                </a:solidFill>
              </a:rPr>
              <a:t>append</a:t>
            </a:r>
            <a:r>
              <a:rPr lang="en-GB" dirty="0"/>
              <a:t>, </a:t>
            </a:r>
            <a:r>
              <a:rPr lang="en-GB" b="1" dirty="0" err="1">
                <a:solidFill>
                  <a:srgbClr val="0070C0"/>
                </a:solidFill>
              </a:rPr>
              <a:t>insertBefore</a:t>
            </a:r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/>
              <a:t>and </a:t>
            </a:r>
            <a:r>
              <a:rPr lang="en-GB" b="1" dirty="0" err="1">
                <a:solidFill>
                  <a:srgbClr val="0070C0"/>
                </a:solidFill>
              </a:rPr>
              <a:t>insertAfter</a:t>
            </a:r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/>
              <a:t>methods</a:t>
            </a:r>
          </a:p>
        </p:txBody>
      </p:sp>
      <p:sp>
        <p:nvSpPr>
          <p:cNvPr id="7" name="Rectangle 6"/>
          <p:cNvSpPr/>
          <p:nvPr/>
        </p:nvSpPr>
        <p:spPr>
          <a:xfrm>
            <a:off x="748144" y="5292356"/>
            <a:ext cx="3005951" cy="400110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0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</a:t>
            </a:r>
            <a:r>
              <a:rPr lang="en-GB" sz="2000" b="1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ul</a:t>
            </a:r>
            <a:r>
              <a:rPr lang="en-GB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GB" sz="20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="menu"&gt;&lt;/</a:t>
            </a:r>
            <a:r>
              <a:rPr lang="en-GB" sz="2000" b="1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ul</a:t>
            </a:r>
            <a:r>
              <a:rPr lang="en-GB" sz="20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2000" b="1" dirty="0"/>
          </a:p>
        </p:txBody>
      </p:sp>
      <p:sp>
        <p:nvSpPr>
          <p:cNvPr id="8" name="Rectangle 7"/>
          <p:cNvSpPr/>
          <p:nvPr/>
        </p:nvSpPr>
        <p:spPr>
          <a:xfrm>
            <a:off x="10219820" y="2095050"/>
            <a:ext cx="1475510" cy="24622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400" b="1" dirty="0"/>
              <a:t>Before...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1400" dirty="0"/>
              <a:t>Option-1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1400" dirty="0"/>
              <a:t>Option-2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1400" dirty="0"/>
              <a:t>Option-3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1400" dirty="0"/>
              <a:t>Option-4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1400" dirty="0"/>
              <a:t>Option-5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1400" dirty="0"/>
              <a:t>Option-6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1400" dirty="0"/>
              <a:t>Option-7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1400" dirty="0"/>
              <a:t>Option-8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1400" dirty="0"/>
              <a:t>Option-9</a:t>
            </a:r>
          </a:p>
          <a:p>
            <a:r>
              <a:rPr lang="en-GB" sz="1400" b="1" dirty="0"/>
              <a:t>After...</a:t>
            </a:r>
          </a:p>
        </p:txBody>
      </p:sp>
    </p:spTree>
    <p:extLst>
      <p:ext uri="{BB962C8B-B14F-4D97-AF65-F5344CB8AC3E}">
        <p14:creationId xmlns:p14="http://schemas.microsoft.com/office/powerpoint/2010/main" val="22266015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861ba5a240904b86632099fc56e12dead204a13"/>
</p:tagLst>
</file>

<file path=ppt/theme/theme1.xml><?xml version="1.0" encoding="utf-8"?>
<a:theme xmlns:a="http://schemas.openxmlformats.org/drawingml/2006/main" name="Master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ookTypeField0 xmlns="B42EA499-AA80-4ED5-9ED5-37A17D3EB549">
      <Terms xmlns="http://schemas.microsoft.com/office/infopath/2007/PartnerControls"/>
    </BookTypeField0>
    <IsBuildFile xmlns="B42EA499-AA80-4ED5-9ED5-37A17D3EB549" xsi:nil="true"/>
    <SequenceNumber xmlns="B42EA499-AA80-4ED5-9ED5-37A17D3EB54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Courseware" ma:contentTypeID="0x010100F0967B7CEE8D417F966757887D9466FB005CB7CECC996A5B448C70C3215DE65491" ma:contentTypeVersion="0" ma:contentTypeDescription="Base content type which represents courseware documents" ma:contentTypeScope="" ma:versionID="633ed7bf8a9769dc10b8af609c2e65e8">
  <xsd:schema xmlns:xsd="http://www.w3.org/2001/XMLSchema" xmlns:xs="http://www.w3.org/2001/XMLSchema" xmlns:p="http://schemas.microsoft.com/office/2006/metadata/properties" xmlns:ns2="B42EA499-AA80-4ED5-9ED5-37A17D3EB549" targetNamespace="http://schemas.microsoft.com/office/2006/metadata/properties" ma:root="true" ma:fieldsID="6641bdc0935a9ffdc34b1682c1e0febc" ns2:_="">
    <xsd:import namespace="B42EA499-AA80-4ED5-9ED5-37A17D3EB549"/>
    <xsd:element name="properties">
      <xsd:complexType>
        <xsd:sequence>
          <xsd:element name="documentManagement">
            <xsd:complexType>
              <xsd:all>
                <xsd:element ref="ns2:BookTypeField0" minOccurs="0"/>
                <xsd:element ref="ns2:SequenceNumber" minOccurs="0"/>
                <xsd:element ref="ns2:IsBuildFi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2EA499-AA80-4ED5-9ED5-37A17D3EB549" elementFormDefault="qualified">
    <xsd:import namespace="http://schemas.microsoft.com/office/2006/documentManagement/types"/>
    <xsd:import namespace="http://schemas.microsoft.com/office/infopath/2007/PartnerControls"/>
    <xsd:element name="BookTypeField0" ma:index="9" nillable="true" ma:taxonomy="true" ma:internalName="BookTypeField0" ma:taxonomyFieldName="BookType" ma:displayName="Book Type" ma:fieldId="{e7c6b654-e04e-4e45-9cfd-676dbef3a3c6}" ma:sspId="63102202-80dd-4165-b1ca-d09cf2756dc1" ma:termSetId="3300959e-7346-4208-831a-90b552f1677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equenceNumber" ma:index="10" nillable="true" ma:displayName="Sequence Number" ma:decimals="0" ma:internalName="SequenceNumber">
      <xsd:simpleType>
        <xsd:restriction base="dms:Number"/>
      </xsd:simpleType>
    </xsd:element>
    <xsd:element name="IsBuildFile" ma:index="11" nillable="true" ma:displayName="Is Build File" ma:hidden="true" ma:internalName="IsBuildFil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28571A3-A93E-4AA0-B39F-6311A07BB77F}">
  <ds:schemaRefs>
    <ds:schemaRef ds:uri="http://schemas.microsoft.com/office/2006/metadata/properties"/>
    <ds:schemaRef ds:uri="http://schemas.microsoft.com/office/infopath/2007/PartnerControls"/>
    <ds:schemaRef ds:uri="B42EA499-AA80-4ED5-9ED5-37A17D3EB549"/>
  </ds:schemaRefs>
</ds:datastoreItem>
</file>

<file path=customXml/itemProps2.xml><?xml version="1.0" encoding="utf-8"?>
<ds:datastoreItem xmlns:ds="http://schemas.openxmlformats.org/officeDocument/2006/customXml" ds:itemID="{1FB59B7D-9434-4F29-9014-35604F00B2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2EA499-AA80-4ED5-9ED5-37A17D3EB5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DDA2525-5CE7-420D-928D-DA121AEAA72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1388</TotalTime>
  <Words>426</Words>
  <Application>Microsoft Office PowerPoint</Application>
  <PresentationFormat>Widescreen</PresentationFormat>
  <Paragraphs>86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Consolas</vt:lpstr>
      <vt:lpstr>Krana Fat B</vt:lpstr>
      <vt:lpstr>Montserrat</vt:lpstr>
      <vt:lpstr>Wingdings</vt:lpstr>
      <vt:lpstr>Master</vt:lpstr>
      <vt:lpstr>Dynamic DOM objects</vt:lpstr>
      <vt:lpstr>PowerPoint Presentation</vt:lpstr>
      <vt:lpstr>Dynamic DOM objects - 1</vt:lpstr>
      <vt:lpstr>PowerPoint Presentation</vt:lpstr>
      <vt:lpstr>PowerPoint Presentation</vt:lpstr>
      <vt:lpstr>PowerPoint Presentation</vt:lpstr>
      <vt:lpstr>Alternatives at appendTo </vt:lpstr>
    </vt:vector>
  </TitlesOfParts>
  <Manager/>
  <Company>QA Ltd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Singh, Vaishali</dc:creator>
  <cp:keywords/>
  <dc:description/>
  <cp:lastModifiedBy>Mike Baradaran</cp:lastModifiedBy>
  <cp:revision>144</cp:revision>
  <cp:lastPrinted>2019-07-03T09:46:41Z</cp:lastPrinted>
  <dcterms:created xsi:type="dcterms:W3CDTF">2019-09-05T08:17:12Z</dcterms:created>
  <dcterms:modified xsi:type="dcterms:W3CDTF">2022-09-08T08:14:07Z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0x010100F0967B7CEE8D417F966757887D9466FB005CB7CECC996A5B448C70C3215DE65491</vt:lpwstr>
  </property>
</Properties>
</file>