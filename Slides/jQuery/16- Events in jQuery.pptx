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63" r:id="rId5"/>
    <p:sldId id="440" r:id="rId6"/>
    <p:sldId id="565" r:id="rId7"/>
    <p:sldId id="497" r:id="rId8"/>
    <p:sldId id="498" r:id="rId9"/>
    <p:sldId id="548" r:id="rId10"/>
    <p:sldId id="567" r:id="rId11"/>
    <p:sldId id="500" r:id="rId12"/>
    <p:sldId id="501" r:id="rId13"/>
    <p:sldId id="507" r:id="rId14"/>
    <p:sldId id="549" r:id="rId15"/>
    <p:sldId id="566" r:id="rId16"/>
    <p:sldId id="508" r:id="rId17"/>
  </p:sldIdLst>
  <p:sldSz cx="12192000" cy="6858000"/>
  <p:notesSz cx="6645275" cy="9775825"/>
  <p:custDataLst>
    <p:tags r:id="rId2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50"/>
    <a:srgbClr val="09EDB8"/>
    <a:srgbClr val="0000C8"/>
    <a:srgbClr val="F91258"/>
    <a:srgbClr val="7E007C"/>
    <a:srgbClr val="28CFF9"/>
    <a:srgbClr val="F3622C"/>
    <a:srgbClr val="31D3AE"/>
    <a:srgbClr val="F3F3F3"/>
    <a:srgbClr val="F4F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7" autoAdjust="0"/>
    <p:restoredTop sz="92950" autoAdjust="0"/>
  </p:normalViewPr>
  <p:slideViewPr>
    <p:cSldViewPr snapToGrid="0" snapToObjects="1" showGuides="1">
      <p:cViewPr varScale="1">
        <p:scale>
          <a:sx n="48" d="100"/>
          <a:sy n="48" d="100"/>
        </p:scale>
        <p:origin x="816" y="36"/>
      </p:cViewPr>
      <p:guideLst>
        <p:guide pos="3840"/>
        <p:guide orient="horz" pos="37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396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82" d="100"/>
          <a:sy n="82" d="100"/>
        </p:scale>
        <p:origin x="3114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63964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pPr/>
              <a:t>21/05/2026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63964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64119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1D6B66C6-1E92-0F4E-A300-9D4ED1F0C23F}" type="datetimeFigureOut">
              <a:rPr lang="en-GB" smtClean="0"/>
              <a:pPr/>
              <a:t>21/05/2026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8938" y="1220788"/>
            <a:ext cx="5867400" cy="3300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4528" y="4704617"/>
            <a:ext cx="5316220" cy="384923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64119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548901C6-1DA1-FB44-ABEE-06A0FEB7738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6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7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92397E-048B-402D-80AA-21CD6A3E8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5316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2922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617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9778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338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993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&lt;html&gt;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&lt;head&gt;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&lt;script src="https://code.jquery.com/jquery-3.7.1.min.js"&gt;&lt;/script&gt;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&lt;script&gt;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$(function ()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$('#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UKimage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').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mousemove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(function (e)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    var X = 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e.pageX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- $(this).offset().left;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    var Y = 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e.pageY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- $(this).offset().top;</a:t>
            </a:r>
          </a:p>
          <a:p>
            <a:endParaRPr lang="en-GB" sz="1200" kern="1200" dirty="0">
              <a:solidFill>
                <a:schemeClr val="tx1"/>
              </a:solidFill>
              <a:latin typeface="Montserrat" panose="00000500000000000000" pitchFamily="2" charset="0"/>
              <a:ea typeface="+mn-ea"/>
              <a:cs typeface="+mn-cs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    $('#div1')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        .text(X + " , " + Y)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        .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css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({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            left: (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e.pageX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+10)+ "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px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",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            top: (e.pageY+10) + "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px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"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        });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});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});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&lt;/script&gt;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&lt;style&gt;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#UKimage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cursor: crosshair;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margin: 50px;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}</a:t>
            </a:r>
          </a:p>
          <a:p>
            <a:endParaRPr lang="en-GB" sz="1200" kern="1200" dirty="0">
              <a:solidFill>
                <a:schemeClr val="tx1"/>
              </a:solidFill>
              <a:latin typeface="Montserrat" panose="00000500000000000000" pitchFamily="2" charset="0"/>
              <a:ea typeface="+mn-ea"/>
              <a:cs typeface="+mn-cs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#div1{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outline:2px solid blue;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background-color:black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color:white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border-radius:5px;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    padding:3px;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    }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&lt;/style&gt;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&lt;/head&gt;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&lt;body&gt;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&lt;div id="div1" style="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position:absolute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"&gt;&lt;/div&gt;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   &lt;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img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 src="https://img.posterlounge.co.uk/images/l/1698693.jpg" alt="UK map" id="</a:t>
            </a:r>
            <a:r>
              <a:rPr lang="en-GB" sz="1200" kern="1200" dirty="0" err="1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UKimage</a:t>
            </a:r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" /&gt;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&lt;/body&gt;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rPr>
              <a:t>&lt;/html&gt;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40836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$("input[age]").change(function ()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var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isValid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= $(this).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val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().match('^[0-9]{1,3}$');</a:t>
            </a:r>
          </a:p>
          <a:p>
            <a:endParaRPr lang="en-GB" sz="1200" kern="1200" dirty="0">
              <a:solidFill>
                <a:schemeClr val="tx1"/>
              </a:solidFill>
              <a:latin typeface="Arial" pitchFamily="-1" charset="0"/>
              <a:ea typeface="ヒラギノ角ゴ Pro W3" pitchFamily="-1" charset="-128"/>
              <a:cs typeface="ヒラギノ角ゴ Pro W3" pitchFamily="-1" charset="-128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var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col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= (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isValid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==null)?'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red':'white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';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$(this).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css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('background-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color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',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col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});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781425" y="9431338"/>
            <a:ext cx="2887663" cy="495300"/>
          </a:xfrm>
          <a:prstGeom prst="rect">
            <a:avLst/>
          </a:prstGeom>
        </p:spPr>
        <p:txBody>
          <a:bodyPr/>
          <a:lstStyle/>
          <a:p>
            <a:fld id="{0A2CDAE7-F989-4C53-9BEB-6107428F8F37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013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64097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610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384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2507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$("input[age]").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keypress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(function (e)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var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isValid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= (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e.which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&gt; 47 &amp;&amp; 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e.which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&lt; 57);</a:t>
            </a:r>
          </a:p>
          <a:p>
            <a:endParaRPr lang="en-GB" sz="1200" kern="1200" dirty="0">
              <a:solidFill>
                <a:schemeClr val="tx1"/>
              </a:solidFill>
              <a:latin typeface="Arial" pitchFamily="-1" charset="0"/>
              <a:ea typeface="ヒラギノ角ゴ Pro W3" pitchFamily="-1" charset="-128"/>
              <a:cs typeface="ヒラギノ角ゴ Pro W3" pitchFamily="-1" charset="-128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if (!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isValid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) {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    $(this).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toggleClass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('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badNumber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', 100);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    $(this).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toggleClass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('</a:t>
            </a:r>
            <a:r>
              <a:rPr lang="en-GB" sz="1200" kern="1200" dirty="0" err="1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badNumber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', 100);</a:t>
            </a:r>
          </a:p>
          <a:p>
            <a:endParaRPr lang="en-GB" sz="1200" kern="1200" dirty="0">
              <a:solidFill>
                <a:schemeClr val="tx1"/>
              </a:solidFill>
              <a:latin typeface="Arial" pitchFamily="-1" charset="0"/>
              <a:ea typeface="ヒラギノ角ゴ Pro W3" pitchFamily="-1" charset="-128"/>
              <a:cs typeface="ヒラギノ角ゴ Pro W3" pitchFamily="-1" charset="-128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    $(this).effect("bounce", {direction: 'left',</a:t>
            </a:r>
            <a:r>
              <a:rPr lang="en-GB" sz="1200" kern="1200" baseline="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</a:t>
            </a:r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times:3}, 1000 );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    return false;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    }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});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781425" y="9431338"/>
            <a:ext cx="2887663" cy="495300"/>
          </a:xfrm>
          <a:prstGeom prst="rect">
            <a:avLst/>
          </a:prstGeom>
        </p:spPr>
        <p:txBody>
          <a:bodyPr/>
          <a:lstStyle/>
          <a:p>
            <a:fld id="{0A2CDAE7-F989-4C53-9BEB-6107428F8F3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662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5020" y="0"/>
            <a:ext cx="631698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54240" y="0"/>
            <a:ext cx="493776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4640" y="15240"/>
            <a:ext cx="5547360" cy="684276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8881" y="-11575"/>
            <a:ext cx="8079261" cy="68753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27" name="Group 26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  <a:solidFill>
            <a:srgbClr val="004050"/>
          </a:solidFill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2229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09EDB8"/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05" y="399619"/>
            <a:ext cx="857393" cy="52240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28CFF9"/>
          </a:solidFill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8" name="Group 27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</p:grpSpPr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  <a:solidFill>
            <a:srgbClr val="F91258"/>
          </a:solidFill>
        </p:grpSpPr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7E007C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3440" y="0"/>
            <a:ext cx="752856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698" y="3508800"/>
            <a:ext cx="7016130" cy="2425241"/>
            <a:chOff x="683" y="3508800"/>
            <a:chExt cx="7016130" cy="2425241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683" y="3508800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 userDrawn="1"/>
          </p:nvSpPr>
          <p:spPr>
            <a:xfrm>
              <a:off x="5439970" y="3509181"/>
              <a:ext cx="1576843" cy="2417447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683" y="4907035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Mai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190463" y="928670"/>
            <a:ext cx="11715792" cy="5214974"/>
          </a:xfrm>
        </p:spPr>
        <p:txBody>
          <a:bodyPr/>
          <a:lstStyle>
            <a:lvl1pPr>
              <a:spcBef>
                <a:spcPts val="1200"/>
              </a:spcBef>
              <a:defRPr b="1"/>
            </a:lvl1pPr>
            <a:lvl2pPr>
              <a:spcBef>
                <a:spcPts val="600"/>
              </a:spcBef>
              <a:defRPr/>
            </a:lvl2pPr>
            <a:lvl3pPr>
              <a:spcBef>
                <a:spcPts val="600"/>
              </a:spcBef>
              <a:defRPr/>
            </a:lvl3pPr>
            <a:lvl4pPr>
              <a:spcBef>
                <a:spcPts val="600"/>
              </a:spcBef>
              <a:defRPr/>
            </a:lvl4pPr>
            <a:lvl5pPr>
              <a:spcBef>
                <a:spcPts val="60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90459" y="357166"/>
            <a:ext cx="11715832" cy="500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 sz="2400" b="1" kern="1200" baseline="0" dirty="0" smtClean="0">
                <a:solidFill>
                  <a:srgbClr val="0070C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 marL="342900" lvl="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None/>
            </a:pPr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7204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798" r:id="rId4"/>
    <p:sldLayoutId id="2147483806" r:id="rId5"/>
    <p:sldLayoutId id="2147483709" r:id="rId6"/>
    <p:sldLayoutId id="2147483822" r:id="rId7"/>
    <p:sldLayoutId id="2147483802" r:id="rId8"/>
    <p:sldLayoutId id="2147483792" r:id="rId9"/>
    <p:sldLayoutId id="2147483810" r:id="rId10"/>
    <p:sldLayoutId id="2147483804" r:id="rId11"/>
    <p:sldLayoutId id="2147483821" r:id="rId12"/>
    <p:sldLayoutId id="2147483824" r:id="rId13"/>
    <p:sldLayoutId id="2147483828" r:id="rId14"/>
    <p:sldLayoutId id="2147483853" r:id="rId15"/>
    <p:sldLayoutId id="2147483899" r:id="rId16"/>
    <p:sldLayoutId id="2147483832" r:id="rId17"/>
    <p:sldLayoutId id="2147483833" r:id="rId18"/>
    <p:sldLayoutId id="2147483836" r:id="rId19"/>
    <p:sldLayoutId id="2147483852" r:id="rId20"/>
    <p:sldLayoutId id="2147483900" r:id="rId21"/>
    <p:sldLayoutId id="2147483820" r:id="rId22"/>
    <p:sldLayoutId id="2147483842" r:id="rId23"/>
    <p:sldLayoutId id="2147483845" r:id="rId24"/>
    <p:sldLayoutId id="2147483851" r:id="rId25"/>
    <p:sldLayoutId id="2147483901" r:id="rId26"/>
    <p:sldLayoutId id="2147483650" r:id="rId27"/>
    <p:sldLayoutId id="2147483734" r:id="rId28"/>
    <p:sldLayoutId id="2147483796" r:id="rId29"/>
    <p:sldLayoutId id="2147483719" r:id="rId30"/>
    <p:sldLayoutId id="2147483721" r:id="rId31"/>
    <p:sldLayoutId id="2147483724" r:id="rId32"/>
    <p:sldLayoutId id="2147483797" r:id="rId33"/>
    <p:sldLayoutId id="2147483814" r:id="rId34"/>
    <p:sldLayoutId id="2147483903" r:id="rId35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7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api.jquery.com/category/event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3781EE-D855-4DF7-B5DD-DA24E3A729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 sz="2000" dirty="0" err="1"/>
              <a:t>JQuery</a:t>
            </a:r>
            <a:endParaRPr lang="en-IN" sz="2000" dirty="0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GB" dirty="0"/>
              <a:t>Web Development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jQuery </a:t>
            </a:r>
            <a:br>
              <a:rPr lang="en-GB" dirty="0"/>
            </a:br>
            <a:r>
              <a:rPr lang="en-GB" dirty="0"/>
              <a:t>Events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EEFFA1A-60C7-46A9-94E9-81317D8F1ADB}"/>
              </a:ext>
            </a:extLst>
          </p:cNvPr>
          <p:cNvSpPr txBox="1">
            <a:spLocks/>
          </p:cNvSpPr>
          <p:nvPr/>
        </p:nvSpPr>
        <p:spPr>
          <a:xfrm>
            <a:off x="376239" y="5608948"/>
            <a:ext cx="6480175" cy="44273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Tx/>
              <a:buNone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5000"/>
              <a:buFontTx/>
              <a:buBlip>
                <a:blip r:embed="rId3"/>
              </a:buBlip>
              <a:tabLst/>
              <a:defRPr sz="2000" b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0000"/>
              <a:buFontTx/>
              <a:buBlip>
                <a:blip r:embed="rId3"/>
              </a:buBlip>
              <a:tabLst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0000"/>
              <a:buFontTx/>
              <a:buBlip>
                <a:blip r:embed="rId3"/>
              </a:buBlip>
              <a:tabLst/>
              <a:defRPr sz="2000" b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5000"/>
              <a:buFontTx/>
              <a:buBlip>
                <a:blip r:embed="rId3"/>
              </a:buBlip>
              <a:tabLst/>
              <a:defRPr sz="2000" b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i="1" dirty="0">
              <a:solidFill>
                <a:srgbClr val="004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4082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AD99E1-2371-4D58-995C-08B5B9FE82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chapter you'll learn</a:t>
            </a:r>
          </a:p>
          <a:p>
            <a:pPr marL="342900" lvl="1" indent="-342900">
              <a:buSzPct val="115000"/>
            </a:pPr>
            <a:r>
              <a:rPr lang="en-GB" dirty="0"/>
              <a:t>What events are</a:t>
            </a:r>
          </a:p>
          <a:p>
            <a:pPr marL="342900" lvl="1" indent="-342900">
              <a:buSzPct val="115000"/>
            </a:pPr>
            <a:r>
              <a:rPr lang="en-GB" dirty="0"/>
              <a:t>Different types of events</a:t>
            </a:r>
          </a:p>
          <a:p>
            <a:pPr marL="342900" lvl="1" indent="-342900">
              <a:buSzPct val="115000"/>
            </a:pPr>
            <a:r>
              <a:rPr lang="en-GB" dirty="0"/>
              <a:t>How to create event handlers</a:t>
            </a:r>
          </a:p>
          <a:p>
            <a:pPr marL="342900" lvl="1" indent="-342900">
              <a:buSzPct val="115000"/>
            </a:pPr>
            <a:r>
              <a:rPr lang="en-GB" dirty="0"/>
              <a:t>How to capture information from events</a:t>
            </a:r>
          </a:p>
          <a:p>
            <a:pPr marL="342900" lvl="1" indent="-342900">
              <a:buSzPct val="115000"/>
            </a:pPr>
            <a:r>
              <a:rPr lang="en-GB" dirty="0"/>
              <a:t>How events bubble up through the DOM hierarchy</a:t>
            </a:r>
          </a:p>
          <a:p>
            <a:pPr marL="342900" indent="-342900">
              <a:buChar char="•"/>
            </a:pP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8ACC4-0C6B-45EC-8FA5-4D1C0F981F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Objectives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2473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36106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There are various ways of adding events</a:t>
            </a:r>
          </a:p>
          <a:p>
            <a:pPr marL="799200" lvl="1" indent="-4572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During design-time</a:t>
            </a:r>
          </a:p>
          <a:p>
            <a:pPr marL="799200" lvl="1" indent="-4572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Dynamically at run-time</a:t>
            </a:r>
          </a:p>
          <a:p>
            <a:pPr marL="88900" lvl="1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The classic JavaScript </a:t>
            </a:r>
            <a:r>
              <a:rPr lang="en-GB" b="1" dirty="0" err="1"/>
              <a:t>addEventListener</a:t>
            </a:r>
            <a:r>
              <a:rPr lang="en-GB" b="1" dirty="0"/>
              <a:t>() method</a:t>
            </a:r>
          </a:p>
          <a:p>
            <a:endParaRPr lang="en-GB" dirty="0"/>
          </a:p>
        </p:txBody>
      </p:sp>
      <p:sp>
        <p:nvSpPr>
          <p:cNvPr id="5" name="TextBox 4"/>
          <p:cNvSpPr txBox="1"/>
          <p:nvPr/>
        </p:nvSpPr>
        <p:spPr>
          <a:xfrm>
            <a:off x="1234246" y="3608847"/>
            <a:ext cx="8685006" cy="171153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132923" tIns="33231" rIns="0" bIns="33231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latin typeface="Consolas"/>
              </a:rPr>
              <a:t>myControl</a:t>
            </a:r>
            <a:r>
              <a:rPr lang="en-GB" sz="2000" b="1" dirty="0">
                <a:latin typeface="Consolas"/>
              </a:rPr>
              <a:t> =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document.getElementById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'footer'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GB" b="1" dirty="0">
              <a:latin typeface="Consolas"/>
            </a:endParaRPr>
          </a:p>
          <a:p>
            <a:pPr>
              <a:lnSpc>
                <a:spcPct val="200000"/>
              </a:lnSpc>
            </a:pPr>
            <a:r>
              <a:rPr lang="en-GB" b="1" dirty="0" err="1">
                <a:latin typeface="Consolas"/>
              </a:rPr>
              <a:t>myControl.addEventListener</a:t>
            </a:r>
            <a:r>
              <a:rPr lang="en-GB" b="1" dirty="0">
                <a:latin typeface="Consolas"/>
              </a:rPr>
              <a:t>(</a:t>
            </a:r>
            <a:r>
              <a:rPr lang="en-GB" b="1" dirty="0">
                <a:solidFill>
                  <a:srgbClr val="800000"/>
                </a:solidFill>
                <a:latin typeface="Consolas"/>
              </a:rPr>
              <a:t>'click', </a:t>
            </a:r>
            <a:r>
              <a:rPr lang="en-GB" b="1" dirty="0">
                <a:solidFill>
                  <a:srgbClr val="0000FF"/>
                </a:solidFill>
                <a:latin typeface="Consolas"/>
              </a:rPr>
              <a:t>function(){    });</a:t>
            </a:r>
          </a:p>
          <a:p>
            <a:pPr>
              <a:lnSpc>
                <a:spcPct val="200000"/>
              </a:lnSpc>
            </a:pPr>
            <a:endParaRPr lang="en-GB" b="1" dirty="0">
              <a:solidFill>
                <a:srgbClr val="0000FF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00482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setup events using jQuery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Simple click event example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See also: </a:t>
            </a:r>
            <a:r>
              <a:rPr lang="en-US" b="1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http://api.jquery.com/category/events/</a:t>
            </a:r>
            <a:endParaRPr lang="en-US" b="1" u="sng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>
              <a:solidFill>
                <a:srgbClr val="09EDB8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93898-E941-4FA3-BE4D-A606345370FA}"/>
              </a:ext>
            </a:extLst>
          </p:cNvPr>
          <p:cNvSpPr txBox="1"/>
          <p:nvPr/>
        </p:nvSpPr>
        <p:spPr>
          <a:xfrm>
            <a:off x="1953040" y="1808921"/>
            <a:ext cx="7588526" cy="327397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$(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lnSpc>
                <a:spcPct val="150000"/>
              </a:lnSpc>
            </a:pP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$(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"#div1"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).click(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(e) {</a:t>
            </a:r>
          </a:p>
          <a:p>
            <a:pPr>
              <a:lnSpc>
                <a:spcPct val="150000"/>
              </a:lnSpc>
            </a:pP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alert(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"Hello!"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});</a:t>
            </a:r>
          </a:p>
          <a:p>
            <a:pPr>
              <a:lnSpc>
                <a:spcPct val="150000"/>
              </a:lnSpc>
            </a:pP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});</a:t>
            </a:r>
          </a:p>
          <a:p>
            <a:pPr>
              <a:lnSpc>
                <a:spcPct val="150000"/>
              </a:lnSpc>
            </a:pP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3005390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to get information from an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76275" y="1368425"/>
            <a:ext cx="11515725" cy="4954588"/>
          </a:xfrm>
        </p:spPr>
        <p:txBody>
          <a:bodyPr/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1752600" y="1427392"/>
            <a:ext cx="8679420" cy="473975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 </a:t>
            </a:r>
            <a:endParaRPr lang="en-GB" sz="16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     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="https://code.jquery.com/jquery-3.3.1.min.js"&gt;&lt;/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$(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$(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"div"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).click(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(e) {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alert($(</a:t>
            </a:r>
            <a:r>
              <a:rPr lang="en-GB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e.target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).text());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GB" b="1" dirty="0">
                <a:solidFill>
                  <a:srgbClr val="008000"/>
                </a:solidFill>
                <a:latin typeface="Consolas" panose="020B0609020204030204" pitchFamily="49" charset="0"/>
              </a:rPr>
              <a:t>// or simply: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alert($(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).text());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});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</a:rPr>
              <a:t>id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="div1"&gt;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Click on this text!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div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b="1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725576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to get information from an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76275" y="1368425"/>
            <a:ext cx="11515725" cy="4954588"/>
          </a:xfrm>
        </p:spPr>
        <p:txBody>
          <a:bodyPr/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676275" y="1417212"/>
            <a:ext cx="10839449" cy="51398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bg1">
                <a:lumMod val="9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="https://code.jquery.com/jquery-3.7.1.min.js"&gt;&lt;/</a:t>
            </a:r>
            <a:r>
              <a:rPr lang="en-GB" sz="16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$(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$(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'#</a:t>
            </a:r>
            <a:r>
              <a:rPr lang="en-GB" sz="16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UKimage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).click(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(e) {</a:t>
            </a: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X =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e.pageX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- $(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).offset().left;</a:t>
            </a: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Y = </a:t>
            </a:r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e.pageY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- $(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).offset().top;</a:t>
            </a: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alert(X +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 , 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+ Y);</a:t>
            </a: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});</a:t>
            </a:r>
          </a:p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});</a:t>
            </a: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600" b="1" dirty="0" err="1">
                <a:solidFill>
                  <a:srgbClr val="800000"/>
                </a:solidFill>
                <a:latin typeface="Consolas" panose="020B0609020204030204" pitchFamily="49" charset="0"/>
              </a:rPr>
              <a:t>img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400" b="1" dirty="0">
                <a:solidFill>
                  <a:srgbClr val="0000FF"/>
                </a:solidFill>
                <a:latin typeface="Consolas" panose="020B0609020204030204" pitchFamily="49" charset="0"/>
              </a:rPr>
              <a:t>https://img.posterlounge.co.uk/images/l/1698693.jpg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alt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="UK map"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id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="</a:t>
            </a:r>
            <a:r>
              <a:rPr lang="en-GB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UKimage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/&gt;</a:t>
            </a:r>
            <a:endParaRPr lang="en-GB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latin typeface="Consolas" panose="020B0609020204030204" pitchFamily="49" charset="0"/>
              </a:rPr>
              <a:t>html</a:t>
            </a:r>
            <a:r>
              <a:rPr lang="en-GB" sz="1600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638037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4441E9-F8C3-40A3-A2FA-9D33A2A0C5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More events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B8BE3D-9597-47F4-BCE1-85C0536245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In this section we will go deeper into event handling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349643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There are lots of other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3" y="1368256"/>
            <a:ext cx="3174087" cy="206074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Hover,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keydown</a:t>
            </a:r>
            <a:r>
              <a:rPr lang="en-GB" dirty="0"/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keyup</a:t>
            </a:r>
            <a:r>
              <a:rPr lang="en-GB" dirty="0"/>
              <a:t>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keypress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focus,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focusin</a:t>
            </a:r>
            <a:r>
              <a:rPr lang="en-GB" dirty="0"/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focusout</a:t>
            </a:r>
            <a:r>
              <a:rPr lang="en-GB" dirty="0"/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mousemove</a:t>
            </a:r>
            <a:r>
              <a:rPr lang="en-GB" dirty="0"/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scroll...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0194" y="1390563"/>
            <a:ext cx="7433179" cy="4770537"/>
          </a:xfrm>
          <a:prstGeom prst="rect">
            <a:avLst/>
          </a:prstGeom>
          <a:ln w="25400">
            <a:solidFill>
              <a:srgbClr val="004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$(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'#image1'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mousemove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</a:t>
            </a:r>
            <a:r>
              <a:rPr lang="en-GB" sz="16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X = 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e.pageX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- $(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this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).offset().left;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</a:t>
            </a:r>
            <a:r>
              <a:rPr lang="en-GB" sz="16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Y = 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e.pageY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- $(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this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).offset().top;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"#div1"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).html(X + 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","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Y);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'#image1'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mouseenter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'Mouse over image detected'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'#image1'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mouseout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'Mouse leaving the image detected'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="div1"&gt;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move mouse over the image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 err="1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img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="image1"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src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="team.jpg"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alt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="Team image"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/&gt;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143375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Events Bubbling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2" y="1307296"/>
            <a:ext cx="11516239" cy="46707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Events bubble up through their containing elements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41439" y="1687086"/>
            <a:ext cx="8133278" cy="5047536"/>
          </a:xfrm>
          <a:prstGeom prst="rect">
            <a:avLst/>
          </a:prstGeom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$(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() {</a:t>
            </a:r>
          </a:p>
          <a:p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"#div1"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).click(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alert($(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e.target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attr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'id'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+ 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 clicked showing in div1"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"#div2"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).click(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alert($(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e.target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attr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'id'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+ 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 clicked showing in div2"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"p"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).click(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alert($(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e.target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attr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'id'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+ </a:t>
            </a:r>
            <a:r>
              <a:rPr lang="en-GB" sz="1400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 clicked"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});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head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body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="div1"&gt;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Outer div1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="div2"&gt;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inner div2</a:t>
            </a: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="p1"&gt;</a:t>
            </a:r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Click here first (Paragraph in div2)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400" b="1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400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13B918-E0DF-4AD6-90F7-3AD184690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037" y="3015000"/>
            <a:ext cx="3148806" cy="1793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8016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Events Bubbling – Handling key presses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66374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Following code only allows </a:t>
            </a:r>
            <a:r>
              <a:rPr lang="en-GB" b="1" dirty="0"/>
              <a:t>numbers and '-' </a:t>
            </a:r>
            <a:r>
              <a:rPr lang="en-GB" dirty="0"/>
              <a:t>into any control in the </a:t>
            </a:r>
            <a:r>
              <a:rPr lang="en-GB" b="1" dirty="0"/>
              <a:t>#PhoneDiv</a:t>
            </a:r>
          </a:p>
        </p:txBody>
      </p:sp>
      <p:sp>
        <p:nvSpPr>
          <p:cNvPr id="3" name="Rectangle 2"/>
          <p:cNvSpPr/>
          <p:nvPr/>
        </p:nvSpPr>
        <p:spPr>
          <a:xfrm>
            <a:off x="2275186" y="2011044"/>
            <a:ext cx="8141108" cy="4278094"/>
          </a:xfrm>
          <a:prstGeom prst="rect">
            <a:avLst/>
          </a:prstGeom>
          <a:ln w="25400">
            <a:solidFill>
              <a:srgbClr val="004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$(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() {</a:t>
            </a:r>
          </a:p>
          <a:p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$(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'#</a:t>
            </a:r>
            <a:r>
              <a:rPr lang="en-GB" sz="16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PhoneDiv</a:t>
            </a:r>
            <a:r>
              <a:rPr lang="en-GB" sz="16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'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).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keypress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(e)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((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e.keyCode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 48 || 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e.keyCode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&gt; 57) </a:t>
            </a:r>
            <a:b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	&amp;&amp; </a:t>
            </a:r>
            <a:r>
              <a:rPr lang="en-GB" sz="16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e.keyCode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!= 45) 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{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false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    }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});</a:t>
            </a: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head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body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</a:t>
            </a:r>
            <a:r>
              <a:rPr lang="en-GB" sz="16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PhoneDiv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span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Phone: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span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&gt;&lt;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input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type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="text"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maxlength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="12"</a:t>
            </a:r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/&gt;</a:t>
            </a:r>
            <a:endParaRPr lang="en-GB" sz="16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16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&lt;/</a:t>
            </a:r>
            <a:r>
              <a:rPr lang="en-GB" sz="1600" dirty="0">
                <a:solidFill>
                  <a:srgbClr val="8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div</a:t>
            </a:r>
            <a:r>
              <a:rPr lang="en-GB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GB" sz="1600" dirty="0"/>
          </a:p>
        </p:txBody>
      </p:sp>
      <p:sp>
        <p:nvSpPr>
          <p:cNvPr id="6" name="Rounded Rectangular Callout 5"/>
          <p:cNvSpPr/>
          <p:nvPr/>
        </p:nvSpPr>
        <p:spPr bwMode="auto">
          <a:xfrm>
            <a:off x="6222725" y="4292967"/>
            <a:ext cx="3389915" cy="664689"/>
          </a:xfrm>
          <a:prstGeom prst="wedgeRoundRectCallout">
            <a:avLst>
              <a:gd name="adj1" fmla="val -64018"/>
              <a:gd name="adj2" fmla="val -62502"/>
              <a:gd name="adj3" fmla="val 16667"/>
            </a:avLst>
          </a:prstGeom>
          <a:solidFill>
            <a:schemeClr val="lt1"/>
          </a:solidFill>
          <a:ln w="25400">
            <a:solidFill>
              <a:srgbClr val="09EDB8"/>
            </a:solidFill>
            <a:headEnd type="none" w="med" len="med"/>
            <a:tailEnd type="none" w="med" len="med"/>
          </a:ln>
          <a:effectLst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</a:bodyPr>
          <a:lstStyle/>
          <a:p>
            <a:pPr algn="ctr" defTabSz="844083" eaLnBrk="0" hangingPunct="0"/>
            <a:r>
              <a:rPr lang="en-GB" sz="1477" b="1" dirty="0">
                <a:solidFill>
                  <a:schemeClr val="tx1"/>
                </a:solidFill>
                <a:latin typeface="Arial" pitchFamily="-1" charset="0"/>
                <a:ea typeface="ヒラギノ角ゴ Pro W3" pitchFamily="-1" charset="-128"/>
                <a:cs typeface="ヒラギノ角ゴ Pro W3" pitchFamily="-1" charset="-128"/>
              </a:rPr>
              <a:t>Stop event bubbling and inhibit typing the last character</a:t>
            </a:r>
          </a:p>
        </p:txBody>
      </p:sp>
    </p:spTree>
    <p:extLst>
      <p:ext uri="{BB962C8B-B14F-4D97-AF65-F5344CB8AC3E}">
        <p14:creationId xmlns:p14="http://schemas.microsoft.com/office/powerpoint/2010/main" val="1970742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B9A3B-4671-414B-ABA1-54717E693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Summary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910FC-75F2-4013-8C86-DED609A5556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b="1" dirty="0"/>
              <a:t>In this chapter you learned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What events are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Different types of events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to create event handlers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to capture information from events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events bubble up through the DOM hierarchy</a:t>
            </a:r>
          </a:p>
          <a:p>
            <a:pPr marL="342900" indent="-342900"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0949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6DE7-9125-4425-982C-AD9EF7283B0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Please do the labs for this chapter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Duration 35 minutes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441084-44A7-4C76-9ACE-CDAC680490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Lab – Part 1 &amp; 2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02475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5CB7CECC996A5B448C70C3215DE65491" ma:contentTypeVersion="0" ma:contentTypeDescription="Base content type which represents courseware documents" ma:contentTypeScope="" ma:versionID="633ed7bf8a9769dc10b8af609c2e65e8">
  <xsd:schema xmlns:xsd="http://www.w3.org/2001/XMLSchema" xmlns:xs="http://www.w3.org/2001/XMLSchema" xmlns:p="http://schemas.microsoft.com/office/2006/metadata/properties" xmlns:ns2="B42EA499-AA80-4ED5-9ED5-37A17D3EB549" targetNamespace="http://schemas.microsoft.com/office/2006/metadata/properties" ma:root="true" ma:fieldsID="6641bdc0935a9ffdc34b1682c1e0febc" ns2:_="">
    <xsd:import namespace="B42EA499-AA80-4ED5-9ED5-37A17D3EB549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2EA499-AA80-4ED5-9ED5-37A17D3EB549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ookTypeField0 xmlns="B42EA499-AA80-4ED5-9ED5-37A17D3EB549">
      <Terms xmlns="http://schemas.microsoft.com/office/infopath/2007/PartnerControls"/>
    </BookTypeField0>
    <IsBuildFile xmlns="B42EA499-AA80-4ED5-9ED5-37A17D3EB549" xsi:nil="true"/>
    <SequenceNumber xmlns="B42EA499-AA80-4ED5-9ED5-37A17D3EB549" xsi:nil="true"/>
  </documentManagement>
</p:properties>
</file>

<file path=customXml/itemProps1.xml><?xml version="1.0" encoding="utf-8"?>
<ds:datastoreItem xmlns:ds="http://schemas.openxmlformats.org/officeDocument/2006/customXml" ds:itemID="{54095CE9-ECF8-453B-A3BA-394EBCA563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2EA499-AA80-4ED5-9ED5-37A17D3EB5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89BA19-25A7-4EE5-94FF-35763DB61D6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1AFDEE6-0DD0-4552-9763-2F1314FC5107}">
  <ds:schemaRefs>
    <ds:schemaRef ds:uri="http://schemas.microsoft.com/office/2006/metadata/properties"/>
    <ds:schemaRef ds:uri="http://schemas.microsoft.com/office/infopath/2007/PartnerControls"/>
    <ds:schemaRef ds:uri="B42EA499-AA80-4ED5-9ED5-37A17D3EB549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1306</Words>
  <Application>Microsoft Office PowerPoint</Application>
  <PresentationFormat>Widescreen</PresentationFormat>
  <Paragraphs>232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Consolas</vt:lpstr>
      <vt:lpstr>Krana Fat B</vt:lpstr>
      <vt:lpstr>Montserrat</vt:lpstr>
      <vt:lpstr>Wingdings</vt:lpstr>
      <vt:lpstr>Master</vt:lpstr>
      <vt:lpstr>Web Development</vt:lpstr>
      <vt:lpstr>jQuery  Events</vt:lpstr>
      <vt:lpstr>PowerPoint Presentation</vt:lpstr>
      <vt:lpstr>Events</vt:lpstr>
      <vt:lpstr>How to setup events using jQuery</vt:lpstr>
      <vt:lpstr>How to get information from an event</vt:lpstr>
      <vt:lpstr>How to get information from an event</vt:lpstr>
      <vt:lpstr>PowerPoint Presentation</vt:lpstr>
      <vt:lpstr>There are lots of other events</vt:lpstr>
      <vt:lpstr>Events Bubbling</vt:lpstr>
      <vt:lpstr>Events Bubbling – Handling key presses</vt:lpstr>
      <vt:lpstr>PowerPoint Presentation</vt:lpstr>
      <vt:lpstr>PowerPoint Presentation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160</cp:revision>
  <cp:lastPrinted>2019-07-03T09:46:41Z</cp:lastPrinted>
  <dcterms:created xsi:type="dcterms:W3CDTF">2019-09-05T08:17:12Z</dcterms:created>
  <dcterms:modified xsi:type="dcterms:W3CDTF">2026-05-21T10:47:24Z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0x010100F0967B7CEE8D417F966757887D9466FB005CB7CECC996A5B448C70C3215DE65491</vt:lpwstr>
  </property>
</Properties>
</file>