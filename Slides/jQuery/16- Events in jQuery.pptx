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3" r:id="rId5"/>
    <p:sldId id="440" r:id="rId6"/>
    <p:sldId id="565" r:id="rId7"/>
    <p:sldId id="497" r:id="rId8"/>
    <p:sldId id="498" r:id="rId9"/>
    <p:sldId id="548" r:id="rId10"/>
    <p:sldId id="567" r:id="rId11"/>
    <p:sldId id="500" r:id="rId12"/>
    <p:sldId id="501" r:id="rId13"/>
    <p:sldId id="507" r:id="rId14"/>
    <p:sldId id="549" r:id="rId15"/>
    <p:sldId id="566" r:id="rId16"/>
    <p:sldId id="508" r:id="rId17"/>
  </p:sldIdLst>
  <p:sldSz cx="12192000" cy="6858000"/>
  <p:notesSz cx="6645275" cy="9775825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09EDB8"/>
    <a:srgbClr val="0000C8"/>
    <a:srgbClr val="F91258"/>
    <a:srgbClr val="7E007C"/>
    <a:srgbClr val="28CFF9"/>
    <a:srgbClr val="F3622C"/>
    <a:srgbClr val="31D3AE"/>
    <a:srgbClr val="F3F3F3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2950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392" y="90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1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92397E-048B-402D-80AA-21CD6A3E8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92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61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78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338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993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&lt;html&gt;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&lt;head&gt;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&lt;script src="https://code.jquery.com/jquery-3.7.1.min.js"&gt;&lt;/script&gt;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$(function ()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$('#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UKimage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').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mousemove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(function (e)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var X = 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e.pageX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- $(this).offset().left;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var Y = 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e.pageY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- $(this).offset().top;</a:t>
            </a:r>
          </a:p>
          <a:p>
            <a:endParaRPr lang="en-GB" sz="1200" kern="1200" dirty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$('#div1')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    .text(X + " , " + Y)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    .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css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({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        left: (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e.pageX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+10)+ "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px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",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        top: (e.pageY+10) + "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px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"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        });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});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});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&lt;/script&gt;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&lt;style&gt;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#UKimage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cursor: crosshair;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margin: 50px;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}</a:t>
            </a:r>
          </a:p>
          <a:p>
            <a:endParaRPr lang="en-GB" sz="1200" kern="1200" dirty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#div1{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outline:2px solid blue;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background-color:black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color:white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border-radius:5px;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    padding:3px;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&lt;/style&gt;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&lt;/head&gt;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&lt;body&gt;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&lt;div id="div1" style="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position:absolute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"&gt;&lt;/div&gt;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   &lt;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img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 src="https://img.posterlounge.co.uk/images/l/1698693.jpg" alt="UK map" id="</a:t>
            </a:r>
            <a:r>
              <a:rPr lang="en-GB" sz="1200" kern="1200" dirty="0" err="1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UKimage</a:t>
            </a:r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" /&gt;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&lt;/body&gt;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&lt;/html&gt;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083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$("input[age]").change(function ()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isValid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= $(this).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val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().match('^[0-9]{1,3}$');</a:t>
            </a:r>
          </a:p>
          <a:p>
            <a:endParaRPr lang="en-GB" sz="1200" kern="1200" dirty="0">
              <a:solidFill>
                <a:schemeClr val="tx1"/>
              </a:solidFill>
              <a:latin typeface="Arial" pitchFamily="-1" charset="0"/>
              <a:ea typeface="ヒラギノ角ゴ Pro W3" pitchFamily="-1" charset="-128"/>
              <a:cs typeface="ヒラギノ角ゴ Pro W3" pitchFamily="-1" charset="-128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col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= (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isValid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==null)?'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red':'white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';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$(this).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css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('background-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color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',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col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});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781425" y="9431338"/>
            <a:ext cx="2887663" cy="495300"/>
          </a:xfrm>
          <a:prstGeom prst="rect">
            <a:avLst/>
          </a:prstGeom>
        </p:spPr>
        <p:txBody>
          <a:bodyPr/>
          <a:lstStyle/>
          <a:p>
            <a:fld id="{0A2CDAE7-F989-4C53-9BEB-6107428F8F3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13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409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610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84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250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$("input[age]").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keypress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(function (e)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isValid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= (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e.which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&gt; 47 &amp;&amp; 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e.which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&lt; 57);</a:t>
            </a:r>
          </a:p>
          <a:p>
            <a:endParaRPr lang="en-GB" sz="1200" kern="1200" dirty="0">
              <a:solidFill>
                <a:schemeClr val="tx1"/>
              </a:solidFill>
              <a:latin typeface="Arial" pitchFamily="-1" charset="0"/>
              <a:ea typeface="ヒラギノ角ゴ Pro W3" pitchFamily="-1" charset="-128"/>
              <a:cs typeface="ヒラギノ角ゴ Pro W3" pitchFamily="-1" charset="-128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if (!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isValid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    $(this).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toggleClass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('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badNumber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', 100);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    $(this).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toggleClass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('</a:t>
            </a:r>
            <a:r>
              <a:rPr lang="en-GB" sz="1200" kern="1200" dirty="0" err="1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badNumber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', 100);</a:t>
            </a:r>
          </a:p>
          <a:p>
            <a:endParaRPr lang="en-GB" sz="1200" kern="1200" dirty="0">
              <a:solidFill>
                <a:schemeClr val="tx1"/>
              </a:solidFill>
              <a:latin typeface="Arial" pitchFamily="-1" charset="0"/>
              <a:ea typeface="ヒラギノ角ゴ Pro W3" pitchFamily="-1" charset="-128"/>
              <a:cs typeface="ヒラギノ角ゴ Pro W3" pitchFamily="-1" charset="-128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    $(this).effect("bounce", {direction: 'left',</a:t>
            </a:r>
            <a:r>
              <a:rPr lang="en-GB" sz="1200" kern="1200" baseline="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</a:t>
            </a:r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times:3}, 1000 );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    return false;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});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781425" y="9431338"/>
            <a:ext cx="2887663" cy="495300"/>
          </a:xfrm>
          <a:prstGeom prst="rect">
            <a:avLst/>
          </a:prstGeom>
        </p:spPr>
        <p:txBody>
          <a:bodyPr/>
          <a:lstStyle/>
          <a:p>
            <a:fld id="{0A2CDAE7-F989-4C53-9BEB-6107428F8F3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62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720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pi.jquery.com/category/event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781EE-D855-4DF7-B5DD-DA24E3A72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 err="1"/>
              <a:t>JQuery</a:t>
            </a:r>
            <a:endParaRPr lang="en-IN" sz="20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Web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jQuery </a:t>
            </a:r>
            <a:br>
              <a:rPr lang="en-GB" dirty="0"/>
            </a:br>
            <a:r>
              <a:rPr lang="en-GB" dirty="0"/>
              <a:t>Events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EFFA1A-60C7-46A9-94E9-81317D8F1ADB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>
              <a:solidFill>
                <a:srgbClr val="004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40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AD99E1-2371-4D58-995C-08B5B9FE82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</a:t>
            </a:r>
          </a:p>
          <a:p>
            <a:pPr marL="342900" lvl="1" indent="-342900">
              <a:buSzPct val="115000"/>
            </a:pPr>
            <a:r>
              <a:rPr lang="en-GB" dirty="0"/>
              <a:t>What events are</a:t>
            </a:r>
          </a:p>
          <a:p>
            <a:pPr marL="342900" lvl="1" indent="-342900">
              <a:buSzPct val="115000"/>
            </a:pPr>
            <a:r>
              <a:rPr lang="en-GB" dirty="0"/>
              <a:t>Different types of events</a:t>
            </a:r>
          </a:p>
          <a:p>
            <a:pPr marL="342900" lvl="1" indent="-342900">
              <a:buSzPct val="115000"/>
            </a:pPr>
            <a:r>
              <a:rPr lang="en-GB" dirty="0"/>
              <a:t>How to create event handlers</a:t>
            </a:r>
          </a:p>
          <a:p>
            <a:pPr marL="342900" lvl="1" indent="-342900">
              <a:buSzPct val="115000"/>
            </a:pPr>
            <a:r>
              <a:rPr lang="en-GB" dirty="0"/>
              <a:t>How to capture information from events</a:t>
            </a:r>
          </a:p>
          <a:p>
            <a:pPr marL="342900" lvl="1" indent="-342900">
              <a:buSzPct val="115000"/>
            </a:pPr>
            <a:r>
              <a:rPr lang="en-GB" dirty="0"/>
              <a:t>How events bubble up through the DOM hierarchy</a:t>
            </a:r>
          </a:p>
          <a:p>
            <a:pPr marL="342900" indent="-342900">
              <a:buChar char="•"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8ACC4-0C6B-45EC-8FA5-4D1C0F981F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473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3610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are various ways of adding events</a:t>
            </a:r>
          </a:p>
          <a:p>
            <a:pPr marL="799200" lvl="1" indent="-4572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During design-time</a:t>
            </a:r>
          </a:p>
          <a:p>
            <a:pPr marL="799200" lvl="1" indent="-4572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Dynamically at run-time</a:t>
            </a:r>
          </a:p>
          <a:p>
            <a:pPr marL="88900" lvl="1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 classic JavaScript </a:t>
            </a:r>
            <a:r>
              <a:rPr lang="en-GB" b="1" dirty="0" err="1"/>
              <a:t>addEventListener</a:t>
            </a:r>
            <a:r>
              <a:rPr lang="en-GB" b="1" dirty="0"/>
              <a:t>() method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234246" y="3608847"/>
            <a:ext cx="8685006" cy="1711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132923" tIns="33231" rIns="0" bIns="33231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latin typeface="Consolas"/>
              </a:rPr>
              <a:t>myControl</a:t>
            </a:r>
            <a:r>
              <a:rPr lang="en-GB" sz="2000" b="1" dirty="0">
                <a:latin typeface="Consolas"/>
              </a:rPr>
              <a:t> =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'footer'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GB" b="1" dirty="0">
              <a:latin typeface="Consolas"/>
            </a:endParaRPr>
          </a:p>
          <a:p>
            <a:pPr>
              <a:lnSpc>
                <a:spcPct val="200000"/>
              </a:lnSpc>
            </a:pPr>
            <a:r>
              <a:rPr lang="en-GB" b="1" dirty="0" err="1">
                <a:latin typeface="Consolas"/>
              </a:rPr>
              <a:t>myControl.addEventListener</a:t>
            </a:r>
            <a:r>
              <a:rPr lang="en-GB" b="1" dirty="0">
                <a:latin typeface="Consolas"/>
              </a:rPr>
              <a:t>(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'click',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function(){    });</a:t>
            </a:r>
          </a:p>
          <a:p>
            <a:pPr>
              <a:lnSpc>
                <a:spcPct val="200000"/>
              </a:lnSpc>
            </a:pPr>
            <a:endParaRPr lang="en-GB" b="1" dirty="0">
              <a:solidFill>
                <a:srgbClr val="0000FF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0048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setup events using jQuery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Simple click event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See also: </a:t>
            </a:r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http://api.jquery.com/category/events/</a:t>
            </a:r>
            <a:endParaRPr lang="en-US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09EDB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93898-E941-4FA3-BE4D-A606345370FA}"/>
              </a:ext>
            </a:extLst>
          </p:cNvPr>
          <p:cNvSpPr txBox="1"/>
          <p:nvPr/>
        </p:nvSpPr>
        <p:spPr>
          <a:xfrm>
            <a:off x="1953040" y="1808921"/>
            <a:ext cx="7588526" cy="32739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"#div1"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).click(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(e) {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alert(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"Hello!"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});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00539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to get information from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6275" y="1368425"/>
            <a:ext cx="11515725" cy="495458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752600" y="1427392"/>
            <a:ext cx="8679420" cy="47397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endParaRPr lang="en-GB" sz="16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     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="https://code.jquery.com/jquery-3.3.1.min.js"&gt;&lt;/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"div"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).click(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(e)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alert($(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e.target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).text());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b="1" dirty="0">
                <a:solidFill>
                  <a:srgbClr val="008000"/>
                </a:solidFill>
                <a:latin typeface="Consolas" panose="020B0609020204030204" pitchFamily="49" charset="0"/>
              </a:rPr>
              <a:t>// or simply: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alert($(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).text());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});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="div1"&gt;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Click on this text!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255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to get information from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6275" y="1368425"/>
            <a:ext cx="11515725" cy="495458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676275" y="1417212"/>
            <a:ext cx="10839449" cy="51398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="https://code.jquery.com/jquery-3.7.1.min.js"&gt;&lt;/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$(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'#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UKimage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).click(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(e) {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e.pageX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$(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).offset().left;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Y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e.pageY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$(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).offset().top;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alert(X +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 , 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+ Y);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https://img.posterlounge.co.uk/images/l/1698693.jpg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="UK map"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UKimage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63803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441E9-F8C3-40A3-A2FA-9D33A2A0C5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More events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8BE3D-9597-47F4-BCE1-85C0536245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section we will go deeper into event handling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49643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There are lots of other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3" y="1368256"/>
            <a:ext cx="3174087" cy="20607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Hover,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keydown</a:t>
            </a:r>
            <a:r>
              <a:rPr lang="en-GB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keyup</a:t>
            </a:r>
            <a:r>
              <a:rPr lang="en-GB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keypress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focus,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focusin</a:t>
            </a:r>
            <a:r>
              <a:rPr lang="en-GB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focusout</a:t>
            </a:r>
            <a:r>
              <a:rPr lang="en-GB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mousemove</a:t>
            </a:r>
            <a:r>
              <a:rPr lang="en-GB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scroll...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0194" y="1390563"/>
            <a:ext cx="7433179" cy="4770537"/>
          </a:xfrm>
          <a:prstGeom prst="rect">
            <a:avLst/>
          </a:prstGeom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'#image1'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mousemove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=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e.pageX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-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).offset().left;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 =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e.pageY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-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).offset().top;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"#div1"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).html(X +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Y);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'#image1'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mouseenter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alert(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'Mouse over image detected'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'#image1'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mouseout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alert(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'Mouse leaving the image detected'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="div1"&gt;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 mouse over the image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="image1"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="team.jpg"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="Team image"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4337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Events Bubbling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07296"/>
            <a:ext cx="11516239" cy="4670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Events bubble up through their containing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1439" y="1687086"/>
            <a:ext cx="8133278" cy="5047536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"#div1"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).click(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alert($(</a:t>
            </a:r>
            <a:r>
              <a:rPr lang="en-GB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e.target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attr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'id'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+ 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clicked showing in div1"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"#div2"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).click(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alert($(</a:t>
            </a:r>
            <a:r>
              <a:rPr lang="en-GB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e.target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attr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'id'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+ 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clicked showing in div2"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"p"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).click(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alert($(</a:t>
            </a:r>
            <a:r>
              <a:rPr lang="en-GB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e.target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attr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'id'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+ </a:t>
            </a:r>
            <a:r>
              <a:rPr lang="en-GB" sz="14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clicked"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="div1"&gt;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Outer div1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="div2"&gt;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inner div2</a:t>
            </a: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="p1"&gt;</a:t>
            </a:r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Click here first (Paragraph in div2)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3B918-E0DF-4AD6-90F7-3AD184690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037" y="3015000"/>
            <a:ext cx="3148806" cy="1793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801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Events Bubbling – Handling key presses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6637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Following code only allows </a:t>
            </a:r>
            <a:r>
              <a:rPr lang="en-GB" b="1" dirty="0"/>
              <a:t>numbers and '-' </a:t>
            </a:r>
            <a:r>
              <a:rPr lang="en-GB" dirty="0"/>
              <a:t>into any control in the </a:t>
            </a:r>
            <a:r>
              <a:rPr lang="en-GB" b="1" dirty="0"/>
              <a:t>#PhoneDiv</a:t>
            </a:r>
          </a:p>
        </p:txBody>
      </p:sp>
      <p:sp>
        <p:nvSpPr>
          <p:cNvPr id="3" name="Rectangle 2"/>
          <p:cNvSpPr/>
          <p:nvPr/>
        </p:nvSpPr>
        <p:spPr>
          <a:xfrm>
            <a:off x="2275186" y="2011044"/>
            <a:ext cx="8141108" cy="4278094"/>
          </a:xfrm>
          <a:prstGeom prst="rect">
            <a:avLst/>
          </a:prstGeom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 {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PhoneDiv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keypress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((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e.keyCode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48 ||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e.keyCode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57) </a:t>
            </a:r>
            <a:b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&amp;&amp;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e.keyCode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!= 45) 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PhoneDiv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Phone: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maxlength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="12"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222725" y="4292967"/>
            <a:ext cx="3389915" cy="664689"/>
          </a:xfrm>
          <a:prstGeom prst="wedgeRoundRectCallout">
            <a:avLst>
              <a:gd name="adj1" fmla="val -64018"/>
              <a:gd name="adj2" fmla="val -62502"/>
              <a:gd name="adj3" fmla="val 16667"/>
            </a:avLst>
          </a:prstGeom>
          <a:solidFill>
            <a:schemeClr val="lt1"/>
          </a:solidFill>
          <a:ln w="25400">
            <a:solidFill>
              <a:srgbClr val="09EDB8"/>
            </a:solidFill>
            <a:headEnd type="none" w="med" len="med"/>
            <a:tailEnd type="none" w="med" len="med"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</a:bodyPr>
          <a:lstStyle/>
          <a:p>
            <a:pPr algn="ctr" defTabSz="844083" eaLnBrk="0" hangingPunct="0"/>
            <a:r>
              <a:rPr lang="en-GB" sz="1477" b="1" dirty="0">
                <a:solidFill>
                  <a:schemeClr val="tx1"/>
                </a:solidFill>
                <a:latin typeface="Arial" pitchFamily="-1" charset="0"/>
                <a:ea typeface="ヒラギノ角ゴ Pro W3" pitchFamily="-1" charset="-128"/>
                <a:cs typeface="ヒラギノ角ゴ Pro W3" pitchFamily="-1" charset="-128"/>
              </a:rPr>
              <a:t>Stop event bubbling and inhibit typing the last character</a:t>
            </a:r>
          </a:p>
        </p:txBody>
      </p:sp>
    </p:spTree>
    <p:extLst>
      <p:ext uri="{BB962C8B-B14F-4D97-AF65-F5344CB8AC3E}">
        <p14:creationId xmlns:p14="http://schemas.microsoft.com/office/powerpoint/2010/main" val="1970742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B9A3B-4671-414B-ABA1-54717E693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910FC-75F2-4013-8C86-DED609A55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In this chapter you learned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What events are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Different types of events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create event handlers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capture information from events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events bubble up through the DOM hierarchy</a:t>
            </a:r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949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C6DE7-9125-4425-982C-AD9EF7283B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Please do the labs for this chapter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Duration 35 minutes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1084-44A7-4C76-9ACE-CDAC680490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 – Part 1 &amp;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2475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AFDEE6-0DD0-4552-9763-2F1314FC5107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D989BA19-25A7-4EE5-94FF-35763DB61D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095CE9-ECF8-453B-A3BA-394EBCA563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1306</Words>
  <Application>Microsoft Office PowerPoint</Application>
  <PresentationFormat>Widescreen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Web Development</vt:lpstr>
      <vt:lpstr>jQuery  Events</vt:lpstr>
      <vt:lpstr>PowerPoint Presentation</vt:lpstr>
      <vt:lpstr>Events</vt:lpstr>
      <vt:lpstr>How to setup events using jQuery</vt:lpstr>
      <vt:lpstr>How to get information from an event</vt:lpstr>
      <vt:lpstr>How to get information from an event</vt:lpstr>
      <vt:lpstr>PowerPoint Presentation</vt:lpstr>
      <vt:lpstr>There are lots of other events</vt:lpstr>
      <vt:lpstr>Events Bubbling</vt:lpstr>
      <vt:lpstr>Events Bubbling – Handling key presses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161</cp:revision>
  <cp:lastPrinted>2019-07-03T09:46:41Z</cp:lastPrinted>
  <dcterms:created xsi:type="dcterms:W3CDTF">2019-09-05T08:17:12Z</dcterms:created>
  <dcterms:modified xsi:type="dcterms:W3CDTF">2026-07-17T12:37:20Z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