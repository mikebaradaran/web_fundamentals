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63" r:id="rId5"/>
    <p:sldId id="308" r:id="rId6"/>
    <p:sldId id="440" r:id="rId7"/>
    <p:sldId id="555" r:id="rId8"/>
    <p:sldId id="557" r:id="rId9"/>
    <p:sldId id="442" r:id="rId10"/>
    <p:sldId id="444" r:id="rId11"/>
    <p:sldId id="446" r:id="rId12"/>
    <p:sldId id="559" r:id="rId13"/>
    <p:sldId id="560" r:id="rId14"/>
    <p:sldId id="452" r:id="rId15"/>
    <p:sldId id="453" r:id="rId16"/>
    <p:sldId id="454" r:id="rId17"/>
    <p:sldId id="455" r:id="rId18"/>
    <p:sldId id="563" r:id="rId19"/>
    <p:sldId id="456" r:id="rId20"/>
  </p:sldIdLst>
  <p:sldSz cx="12192000" cy="6858000"/>
  <p:notesSz cx="6645275" cy="9775825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row, Joshua" initials="BJ" lastIdx="30" clrIdx="0">
    <p:extLst>
      <p:ext uri="{19B8F6BF-5375-455C-9EA6-DF929625EA0E}">
        <p15:presenceInfo xmlns:p15="http://schemas.microsoft.com/office/powerpoint/2012/main" userId="S-1-5-21-3476036342-1731177862-1559577602-51474" providerId="AD"/>
      </p:ext>
    </p:extLst>
  </p:cmAuthor>
  <p:cmAuthor id="2" name="Singh, Vaishali" initials="SV" lastIdx="7" clrIdx="1">
    <p:extLst>
      <p:ext uri="{19B8F6BF-5375-455C-9EA6-DF929625EA0E}">
        <p15:presenceInfo xmlns:p15="http://schemas.microsoft.com/office/powerpoint/2012/main" userId="S-1-5-21-3476036342-1731177862-1559577602-155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EDB8"/>
    <a:srgbClr val="0000C8"/>
    <a:srgbClr val="004050"/>
    <a:srgbClr val="F91258"/>
    <a:srgbClr val="7E007C"/>
    <a:srgbClr val="28CFF9"/>
    <a:srgbClr val="F3622C"/>
    <a:srgbClr val="31D3AE"/>
    <a:srgbClr val="F3F3F3"/>
    <a:srgbClr val="F4F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9" autoAdjust="0"/>
    <p:restoredTop sz="90231" autoAdjust="0"/>
  </p:normalViewPr>
  <p:slideViewPr>
    <p:cSldViewPr snapToGrid="0" snapToObjects="1" showGuides="1">
      <p:cViewPr varScale="1">
        <p:scale>
          <a:sx n="67" d="100"/>
          <a:sy n="67" d="100"/>
        </p:scale>
        <p:origin x="78" y="138"/>
      </p:cViewPr>
      <p:guideLst>
        <p:guide pos="3840"/>
        <p:guide orient="horz" pos="37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82" d="100"/>
          <a:sy n="82" d="100"/>
        </p:scale>
        <p:origin x="315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964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088FE-3E68-47FE-8BA4-634CD34BABBC}" type="datetimeFigureOut">
              <a:rPr lang="en-GB" smtClean="0"/>
              <a:pPr/>
              <a:t>13/02/2025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964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31C5D-0DE0-4486-9782-41885BE581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0825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19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1D6B66C6-1E92-0F4E-A300-9D4ED1F0C23F}" type="datetimeFigureOut">
              <a:rPr lang="en-GB" smtClean="0"/>
              <a:pPr/>
              <a:t>13/02/2025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0788"/>
            <a:ext cx="5867400" cy="3300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7"/>
            <a:ext cx="5316220" cy="38492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19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548901C6-1DA1-FB44-ABEE-06A0FEB773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6747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6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7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92397E-048B-402D-80AA-21CD6A3E8F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531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7522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2922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5959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6615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09400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02336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99829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80640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8784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1FF19-D278-4689-9652-9D0ED0A31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4510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29846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32580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85195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76267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827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/what's next">
    <p:bg>
      <p:bgPr>
        <a:solidFill>
          <a:srgbClr val="EDC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35880" y="0"/>
            <a:ext cx="705612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12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low us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5020" y="0"/>
            <a:ext cx="631698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86434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on Tips">
    <p:bg>
      <p:bgPr>
        <a:solidFill>
          <a:srgbClr val="EB6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54240" y="0"/>
            <a:ext cx="493776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1988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44640" y="15240"/>
            <a:ext cx="5547360" cy="684276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656105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433680"/>
            <a:ext cx="5627171" cy="968987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4784" y="4894524"/>
            <a:ext cx="5627171" cy="1186921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427687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&amp; Greet 1">
    <p:bg>
      <p:bgPr>
        <a:solidFill>
          <a:srgbClr val="38E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8881" y="-11575"/>
            <a:ext cx="8079261" cy="68753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002556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Meet &amp; Greet</a:t>
            </a:r>
            <a:endParaRPr lang="en-GB" noProof="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278655" cy="34015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4045959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27" name="Group 26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  <a:solidFill>
            <a:srgbClr val="004050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2229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0292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4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 sz="2000"/>
            </a:lvl4pPr>
            <a:lvl5pPr marL="180000" indent="-1800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9EDB8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</p:spTree>
    <p:extLst>
      <p:ext uri="{BB962C8B-B14F-4D97-AF65-F5344CB8AC3E}">
        <p14:creationId xmlns:p14="http://schemas.microsoft.com/office/powerpoint/2010/main" val="3589945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09EDB8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70358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00EDB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1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1">
    <p:bg>
      <p:bgPr>
        <a:solidFill>
          <a:srgbClr val="0EE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87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609" y="0"/>
            <a:ext cx="12192609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rgbClr val="004050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779800"/>
            <a:ext cx="5627171" cy="1682133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05" y="399619"/>
            <a:ext cx="857393" cy="522401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144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87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28CFF9"/>
          </a:solidFill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22106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FF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725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tivity 1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28947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03 Section Divider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760859" y="768561"/>
            <a:ext cx="379608" cy="11049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3561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98918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16148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F1612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86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ctivity 1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37711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2 Section Divider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 userDrawn="1"/>
        </p:nvSpPr>
        <p:spPr>
          <a:xfrm>
            <a:off x="-609" y="2116538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F9125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067007"/>
            <a:ext cx="5627171" cy="2353439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9674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33" name="Group 32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  <a:solidFill>
            <a:srgbClr val="F91258"/>
          </a:solidFill>
        </p:grpSpPr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4578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7E007C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596148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7E007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64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ctivity 1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3175680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258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39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544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059427" y="3673998"/>
            <a:ext cx="212415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0" indent="0">
              <a:buFont typeface="Arial" panose="020B0604020202020204" pitchFamily="34" charset="0"/>
              <a:buNone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39645" y="3673998"/>
            <a:ext cx="2068065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149996" y="3673998"/>
            <a:ext cx="2130523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1059428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8" name="Picture Placeholder 21"/>
          <p:cNvSpPr>
            <a:spLocks noGrp="1"/>
          </p:cNvSpPr>
          <p:nvPr>
            <p:ph type="pic" sz="quarter" idx="19" hasCustomPrompt="1"/>
          </p:nvPr>
        </p:nvSpPr>
        <p:spPr>
          <a:xfrm>
            <a:off x="3639646" y="1986408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20" hasCustomPrompt="1"/>
          </p:nvPr>
        </p:nvSpPr>
        <p:spPr>
          <a:xfrm>
            <a:off x="6149997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637070" y="3688989"/>
            <a:ext cx="218344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22" hasCustomPrompt="1"/>
          </p:nvPr>
        </p:nvSpPr>
        <p:spPr>
          <a:xfrm>
            <a:off x="8637071" y="2008475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8968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065907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511826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957745" y="1986353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403664" y="1986352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195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15467" y="1992793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069809" y="1992792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117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1080209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 sz="1800"/>
            </a:lvl2pPr>
            <a:lvl3pPr marL="0" indent="0">
              <a:buNone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0209" y="2003204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14" y="2003203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25868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2594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91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pe you enjoyed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3440" y="0"/>
            <a:ext cx="75285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2311970"/>
            <a:ext cx="3138017" cy="1908338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/>
            </a:lvl1pPr>
          </a:lstStyle>
          <a:p>
            <a:r>
              <a:rPr lang="en-US" noProof="0" dirty="0"/>
              <a:t>THANK YOU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1" y="5306004"/>
            <a:ext cx="4269826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 baseline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Hope you enjoyed this learning journey.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698" y="3508800"/>
            <a:ext cx="7016130" cy="2425241"/>
            <a:chOff x="683" y="3508800"/>
            <a:chExt cx="7016130" cy="2425241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683" y="3508800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 userDrawn="1"/>
          </p:nvSpPr>
          <p:spPr>
            <a:xfrm>
              <a:off x="5439970" y="3509181"/>
              <a:ext cx="1576843" cy="2417447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683" y="4907035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87849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A Template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466" y="2130432"/>
            <a:ext cx="11049077" cy="1470025"/>
          </a:xfrm>
        </p:spPr>
        <p:txBody>
          <a:bodyPr>
            <a:normAutofit/>
          </a:bodyPr>
          <a:lstStyle>
            <a:lvl1pPr algn="ctr">
              <a:defRPr sz="3600"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rgbClr val="AAAAAA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8" name="Picture 7" descr="NewSwoop_Footer.jpg"/>
          <p:cNvPicPr>
            <a:picLocks noChangeAspect="1"/>
          </p:cNvPicPr>
          <p:nvPr userDrawn="1"/>
        </p:nvPicPr>
        <p:blipFill>
          <a:blip r:embed="rId2" cstate="print"/>
          <a:srcRect b="6922"/>
          <a:stretch>
            <a:fillRect/>
          </a:stretch>
        </p:blipFill>
        <p:spPr>
          <a:xfrm>
            <a:off x="0" y="5015952"/>
            <a:ext cx="12192000" cy="177596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917" y="785794"/>
            <a:ext cx="956780" cy="69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556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A Template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190463" y="928670"/>
            <a:ext cx="11715792" cy="5214974"/>
          </a:xfrm>
        </p:spPr>
        <p:txBody>
          <a:bodyPr/>
          <a:lstStyle>
            <a:lvl1pPr>
              <a:spcBef>
                <a:spcPts val="1200"/>
              </a:spcBef>
              <a:defRPr b="1"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0459" y="357166"/>
            <a:ext cx="11715832" cy="500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GB" sz="2400" b="1" kern="1200" baseline="0" dirty="0" smtClean="0">
                <a:solidFill>
                  <a:srgbClr val="0070C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7204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4" y="6584738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798" r:id="rId4"/>
    <p:sldLayoutId id="2147483806" r:id="rId5"/>
    <p:sldLayoutId id="2147483709" r:id="rId6"/>
    <p:sldLayoutId id="2147483822" r:id="rId7"/>
    <p:sldLayoutId id="2147483802" r:id="rId8"/>
    <p:sldLayoutId id="2147483792" r:id="rId9"/>
    <p:sldLayoutId id="2147483810" r:id="rId10"/>
    <p:sldLayoutId id="2147483804" r:id="rId11"/>
    <p:sldLayoutId id="2147483821" r:id="rId12"/>
    <p:sldLayoutId id="2147483824" r:id="rId13"/>
    <p:sldLayoutId id="2147483828" r:id="rId14"/>
    <p:sldLayoutId id="2147483853" r:id="rId15"/>
    <p:sldLayoutId id="2147483899" r:id="rId16"/>
    <p:sldLayoutId id="2147483832" r:id="rId17"/>
    <p:sldLayoutId id="2147483833" r:id="rId18"/>
    <p:sldLayoutId id="2147483836" r:id="rId19"/>
    <p:sldLayoutId id="2147483852" r:id="rId20"/>
    <p:sldLayoutId id="2147483900" r:id="rId21"/>
    <p:sldLayoutId id="2147483820" r:id="rId22"/>
    <p:sldLayoutId id="2147483842" r:id="rId23"/>
    <p:sldLayoutId id="2147483845" r:id="rId24"/>
    <p:sldLayoutId id="2147483851" r:id="rId25"/>
    <p:sldLayoutId id="2147483901" r:id="rId26"/>
    <p:sldLayoutId id="2147483650" r:id="rId27"/>
    <p:sldLayoutId id="2147483734" r:id="rId28"/>
    <p:sldLayoutId id="2147483796" r:id="rId29"/>
    <p:sldLayoutId id="2147483719" r:id="rId30"/>
    <p:sldLayoutId id="2147483721" r:id="rId31"/>
    <p:sldLayoutId id="2147483724" r:id="rId32"/>
    <p:sldLayoutId id="2147483797" r:id="rId33"/>
    <p:sldLayoutId id="2147483814" r:id="rId34"/>
    <p:sldLayoutId id="2147483902" r:id="rId35"/>
    <p:sldLayoutId id="2147483903" r:id="rId3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Krana Fat B" panose="00000B00000000000000" pitchFamily="50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15000"/>
        <a:buFontTx/>
        <a:buNone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8"/>
        </a:buBlip>
        <a:tabLst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 userDrawn="1">
          <p15:clr>
            <a:srgbClr val="F26B43"/>
          </p15:clr>
        </p15:guide>
        <p15:guide id="2" orient="horz" pos="4081" userDrawn="1">
          <p15:clr>
            <a:srgbClr val="F26B43"/>
          </p15:clr>
        </p15:guide>
        <p15:guide id="3" pos="237" userDrawn="1">
          <p15:clr>
            <a:srgbClr val="F26B43"/>
          </p15:clr>
        </p15:guide>
        <p15:guide id="4" pos="732" userDrawn="1">
          <p15:clr>
            <a:srgbClr val="F26B43"/>
          </p15:clr>
        </p15:guide>
        <p15:guide id="5" pos="850" userDrawn="1">
          <p15:clr>
            <a:srgbClr val="F26B43"/>
          </p15:clr>
        </p15:guide>
        <p15:guide id="6" pos="1345" userDrawn="1">
          <p15:clr>
            <a:srgbClr val="F26B43"/>
          </p15:clr>
        </p15:guide>
        <p15:guide id="7" pos="1460" userDrawn="1">
          <p15:clr>
            <a:srgbClr val="F26B43"/>
          </p15:clr>
        </p15:guide>
        <p15:guide id="8" pos="1954" userDrawn="1">
          <p15:clr>
            <a:srgbClr val="F26B43"/>
          </p15:clr>
        </p15:guide>
        <p15:guide id="9" pos="2069" userDrawn="1">
          <p15:clr>
            <a:srgbClr val="F26B43"/>
          </p15:clr>
        </p15:guide>
        <p15:guide id="10" pos="2564" userDrawn="1">
          <p15:clr>
            <a:srgbClr val="F26B43"/>
          </p15:clr>
        </p15:guide>
        <p15:guide id="11" pos="2683" userDrawn="1">
          <p15:clr>
            <a:srgbClr val="F26B43"/>
          </p15:clr>
        </p15:guide>
        <p15:guide id="12" pos="3173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2" userDrawn="1">
          <p15:clr>
            <a:srgbClr val="F26B43"/>
          </p15:clr>
        </p15:guide>
        <p15:guide id="15" pos="3897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06" userDrawn="1">
          <p15:clr>
            <a:srgbClr val="F26B43"/>
          </p15:clr>
        </p15:guide>
        <p15:guide id="18" pos="5001" userDrawn="1">
          <p15:clr>
            <a:srgbClr val="F26B43"/>
          </p15:clr>
        </p15:guide>
        <p15:guide id="19" pos="5115" userDrawn="1">
          <p15:clr>
            <a:srgbClr val="F26B43"/>
          </p15:clr>
        </p15:guide>
        <p15:guide id="20" pos="5610" userDrawn="1">
          <p15:clr>
            <a:srgbClr val="F26B43"/>
          </p15:clr>
        </p15:guide>
        <p15:guide id="21" pos="5725" userDrawn="1">
          <p15:clr>
            <a:srgbClr val="F26B43"/>
          </p15:clr>
        </p15:guide>
        <p15:guide id="22" pos="6220" userDrawn="1">
          <p15:clr>
            <a:srgbClr val="F26B43"/>
          </p15:clr>
        </p15:guide>
        <p15:guide id="23" pos="6334" userDrawn="1">
          <p15:clr>
            <a:srgbClr val="F26B43"/>
          </p15:clr>
        </p15:guide>
        <p15:guide id="24" pos="6829" userDrawn="1">
          <p15:clr>
            <a:srgbClr val="F26B43"/>
          </p15:clr>
        </p15:guide>
        <p15:guide id="25" pos="6943" userDrawn="1">
          <p15:clr>
            <a:srgbClr val="F26B43"/>
          </p15:clr>
        </p15:guide>
        <p15:guide id="26" pos="7438" userDrawn="1">
          <p15:clr>
            <a:srgbClr val="F26B43"/>
          </p15:clr>
        </p15:guide>
        <p15:guide id="27" pos="3840" userDrawn="1">
          <p15:clr>
            <a:srgbClr val="9FCC3B"/>
          </p15:clr>
        </p15:guide>
        <p15:guide id="28" orient="horz" pos="21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jquery.co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://api.jquery.com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3781EE-D855-4DF7-B5DD-DA24E3A729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sz="2000" dirty="0" err="1"/>
              <a:t>JQuery</a:t>
            </a:r>
            <a:endParaRPr lang="en-IN" sz="2000" dirty="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GB" dirty="0"/>
              <a:t>Web Development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AAB77B9-CDB7-4FF5-A0B8-6A86982605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b="1" dirty="0"/>
              <a:t>By the end of this course you will be able to:</a:t>
            </a:r>
          </a:p>
          <a:p>
            <a:pPr marL="342900" lvl="1" indent="-342900">
              <a:buSzPct val="115000"/>
            </a:pPr>
            <a:r>
              <a:rPr lang="en-GB" dirty="0"/>
              <a:t>Describe what is </a:t>
            </a:r>
            <a:r>
              <a:rPr lang="en-GB" dirty="0" err="1"/>
              <a:t>JQuery</a:t>
            </a:r>
            <a:endParaRPr lang="en-GB" dirty="0"/>
          </a:p>
          <a:p>
            <a:pPr marL="342900" lvl="1" indent="-342900">
              <a:buSzPct val="115000"/>
            </a:pPr>
            <a:r>
              <a:rPr lang="en-GB" dirty="0"/>
              <a:t>Describe and use the different </a:t>
            </a:r>
            <a:r>
              <a:rPr lang="en-GB" dirty="0" err="1"/>
              <a:t>JQuery</a:t>
            </a:r>
            <a:r>
              <a:rPr lang="en-GB" dirty="0"/>
              <a:t> statements</a:t>
            </a:r>
          </a:p>
          <a:p>
            <a:pPr marL="342900" lvl="1" indent="-342900">
              <a:buSzPct val="115000"/>
            </a:pPr>
            <a:r>
              <a:rPr lang="en-GB" dirty="0"/>
              <a:t>Manipulate the Document Object Model (DOM)</a:t>
            </a:r>
          </a:p>
          <a:p>
            <a:pPr marL="342900" lvl="1" indent="-342900">
              <a:buSzPct val="115000"/>
            </a:pPr>
            <a:r>
              <a:rPr lang="en-GB" dirty="0"/>
              <a:t>Change the value of a control using </a:t>
            </a:r>
            <a:r>
              <a:rPr lang="en-GB" dirty="0" err="1"/>
              <a:t>JQuery</a:t>
            </a:r>
            <a:endParaRPr lang="en-GB" dirty="0"/>
          </a:p>
          <a:p>
            <a:pPr marL="342900" lvl="1" indent="-342900">
              <a:buSzPct val="115000"/>
            </a:pPr>
            <a:r>
              <a:rPr lang="en-GB" dirty="0"/>
              <a:t>Change style of an item using code</a:t>
            </a:r>
          </a:p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89D4CDC-A32A-4158-AF10-D5C4B3764E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err="1"/>
              <a:t>JQuery</a:t>
            </a:r>
            <a:r>
              <a:rPr lang="en-GB" dirty="0"/>
              <a:t> session objectives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5498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Introduction </a:t>
            </a:r>
            <a:r>
              <a:rPr lang="en-GB" dirty="0"/>
              <a:t>Getting started with </a:t>
            </a:r>
            <a:r>
              <a:rPr lang="en-GB" dirty="0" err="1"/>
              <a:t>JQuery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30408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091DB3-13B7-4F53-9F2C-D5BD0977C2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b="1" dirty="0"/>
              <a:t>In this chapter you will learn</a:t>
            </a:r>
          </a:p>
          <a:p>
            <a:pPr marL="342900" lvl="1" indent="-342900">
              <a:buSzPct val="115000"/>
            </a:pPr>
            <a:r>
              <a:rPr lang="en-GB" dirty="0"/>
              <a:t>What is jQuery and why it is so popular</a:t>
            </a:r>
          </a:p>
          <a:p>
            <a:pPr marL="342900" lvl="1" indent="-342900">
              <a:buSzPct val="115000"/>
            </a:pPr>
            <a:r>
              <a:rPr lang="en-GB" dirty="0"/>
              <a:t>How to obtain API information</a:t>
            </a:r>
          </a:p>
          <a:p>
            <a:pPr marL="342900" lvl="1" indent="-342900">
              <a:buSzPct val="115000"/>
            </a:pPr>
            <a:r>
              <a:rPr lang="en-GB" dirty="0"/>
              <a:t>How to download or reference it in your app</a:t>
            </a:r>
          </a:p>
          <a:p>
            <a:pPr marL="342900" lvl="1" indent="-342900">
              <a:buSzPct val="115000"/>
            </a:pPr>
            <a:r>
              <a:rPr lang="en-GB" dirty="0"/>
              <a:t>How to detect your page is ready to run your scripts</a:t>
            </a:r>
          </a:p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BAF190-CB25-4999-BF91-BB09B945C3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Objectives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565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DA4597-3A3F-4B41-9779-212B545E16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What is </a:t>
            </a:r>
            <a:r>
              <a:rPr lang="en-GB" dirty="0" err="1"/>
              <a:t>JQuery</a:t>
            </a:r>
            <a:r>
              <a:rPr lang="en-GB" dirty="0"/>
              <a:t>?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1E025D-7B72-49E5-93D2-E7C74F9D1D02}"/>
              </a:ext>
            </a:extLst>
          </p:cNvPr>
          <p:cNvSpPr txBox="1"/>
          <p:nvPr/>
        </p:nvSpPr>
        <p:spPr>
          <a:xfrm>
            <a:off x="6096000" y="765784"/>
            <a:ext cx="5711216" cy="47206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rtlCol="0" anchor="t" anchorCtr="0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/>
              <a:t>Is a </a:t>
            </a:r>
            <a:r>
              <a:rPr lang="en-GB" b="1" dirty="0"/>
              <a:t>Cross-browser compatible </a:t>
            </a:r>
            <a:r>
              <a:rPr lang="en-GB" dirty="0"/>
              <a:t>script library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Written in JavaScript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Less code </a:t>
            </a:r>
            <a:r>
              <a:rPr lang="en-GB" dirty="0"/>
              <a:t>leading to increased productivity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Easier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Set up events and event handling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performing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Animation </a:t>
            </a:r>
            <a:r>
              <a:rPr lang="en-GB" dirty="0"/>
              <a:t>for fun!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Excellent </a:t>
            </a:r>
            <a:r>
              <a:rPr lang="en-GB" b="1" dirty="0"/>
              <a:t>Ajax </a:t>
            </a:r>
            <a:r>
              <a:rPr lang="en-GB" dirty="0"/>
              <a:t>support to run APIs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There is a lot of code written in jQuery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as a developer you need to interpret these</a:t>
            </a:r>
          </a:p>
          <a:p>
            <a:pPr algn="l"/>
            <a:endParaRPr lang="en-GB" dirty="0"/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7833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Start using jQuery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Method 1: Download</a:t>
            </a:r>
          </a:p>
          <a:p>
            <a:pPr marL="684000" lvl="1" indent="-3429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Navigate to </a:t>
            </a:r>
            <a:r>
              <a:rPr lang="en-US" b="1" dirty="0">
                <a:solidFill>
                  <a:srgbClr val="09EDB8"/>
                </a:solidFill>
              </a:rPr>
              <a:t>https://jquery.com/download/</a:t>
            </a:r>
            <a:r>
              <a:rPr lang="en-US" dirty="0"/>
              <a:t>   to get the latest version</a:t>
            </a:r>
          </a:p>
          <a:p>
            <a:pPr marL="1026000" lvl="2" indent="-342900">
              <a:buSzPct val="115000"/>
              <a:buFont typeface="Arial" panose="020B0604020202020204" pitchFamily="34" charset="0"/>
              <a:buChar char="•"/>
            </a:pPr>
            <a:r>
              <a:rPr lang="en-US" dirty="0"/>
              <a:t>Full or minified versions</a:t>
            </a:r>
          </a:p>
          <a:p>
            <a:pPr marL="1026000" lvl="2" indent="-342900">
              <a:buSzPct val="115000"/>
              <a:buFont typeface="Arial" panose="020B0604020202020204" pitchFamily="34" charset="0"/>
              <a:buChar char="•"/>
            </a:pPr>
            <a:r>
              <a:rPr lang="en-US" dirty="0"/>
              <a:t>Save the files locally</a:t>
            </a:r>
            <a:br>
              <a:rPr lang="en-US" dirty="0"/>
            </a:b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Method2: Use a Content Delivery Network (CDN)</a:t>
            </a:r>
          </a:p>
          <a:p>
            <a:pPr marL="684000" lvl="1" indent="-342900">
              <a:buSzPct val="115000"/>
              <a:buFont typeface="Arial" panose="020B0604020202020204" pitchFamily="34" charset="0"/>
              <a:buChar char="•"/>
            </a:pPr>
            <a:r>
              <a:rPr lang="en-US" dirty="0"/>
              <a:t>No need to download anything</a:t>
            </a:r>
          </a:p>
          <a:p>
            <a:pPr lvl="2">
              <a:buNone/>
            </a:pP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1058920" y="4226555"/>
            <a:ext cx="7735748" cy="338554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="https://code.jquery.com/jquery-3.3.1.min.js"&gt;&lt;/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39528" y="4739068"/>
            <a:ext cx="10097648" cy="338554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 </a:t>
            </a:r>
            <a:r>
              <a:rPr lang="en-GB" sz="16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="https://ajax.googleapis.com/ajax/libs/</a:t>
            </a:r>
            <a:r>
              <a:rPr lang="en-GB" sz="16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jquery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/3.3.1/jquery.min.js"&gt;&lt;/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2713766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91648D5-2925-45A4-AF4C-1B5A1C9392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jQuery documentation </a:t>
            </a:r>
            <a:br>
              <a:rPr lang="en-GB" dirty="0"/>
            </a:br>
            <a:r>
              <a:rPr lang="en-GB" dirty="0"/>
              <a:t>and help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D70123-A20A-49FD-9432-388063A94D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33762" y="579549"/>
            <a:ext cx="6056180" cy="589903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For a list of command and examples of their use please refer to:</a:t>
            </a:r>
            <a:br>
              <a:rPr lang="en-GB" b="1" dirty="0"/>
            </a:br>
            <a:r>
              <a:rPr lang="en-US" b="1" u="sng" dirty="0">
                <a:solidFill>
                  <a:srgbClr val="09EDB8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http://jquery.com/</a:t>
            </a:r>
            <a:r>
              <a:rPr lang="en-US" b="1" dirty="0">
                <a:solidFill>
                  <a:srgbClr val="09EDB8"/>
                </a:solidFill>
              </a:rPr>
              <a:t> </a:t>
            </a:r>
            <a:br>
              <a:rPr lang="en-US" b="1" dirty="0"/>
            </a:br>
            <a:endParaRPr lang="en-US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To get the latest version of the scripts + </a:t>
            </a:r>
            <a:br>
              <a:rPr lang="en-US" b="1" dirty="0"/>
            </a:br>
            <a:r>
              <a:rPr lang="en-US" b="1" dirty="0"/>
              <a:t>a complete list of </a:t>
            </a:r>
            <a:r>
              <a:rPr lang="en-US" b="1" dirty="0" err="1"/>
              <a:t>JQuery</a:t>
            </a:r>
            <a:r>
              <a:rPr lang="en-US" b="1" dirty="0"/>
              <a:t> commands and keywords.</a:t>
            </a:r>
            <a:br>
              <a:rPr lang="en-US" b="1" dirty="0"/>
            </a:br>
            <a:r>
              <a:rPr lang="en-US" b="1" u="sng" dirty="0">
                <a:solidFill>
                  <a:srgbClr val="09EDB8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http://api.jquery.com</a:t>
            </a:r>
            <a:br>
              <a:rPr lang="en-US" b="1" dirty="0"/>
            </a:b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Please take a pause and have a look at these sites</a:t>
            </a:r>
            <a:br>
              <a:rPr lang="en-US" dirty="0"/>
            </a:br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2306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ready()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272" y="1368256"/>
            <a:ext cx="3763392" cy="495535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Detects when </a:t>
            </a:r>
            <a:br>
              <a:rPr lang="en-GB" b="1" dirty="0"/>
            </a:br>
            <a:r>
              <a:rPr lang="en-GB" b="1" dirty="0"/>
              <a:t>page has loaded </a:t>
            </a:r>
            <a:br>
              <a:rPr lang="en-GB" b="1" dirty="0"/>
            </a:br>
            <a:br>
              <a:rPr lang="en-GB" b="1" dirty="0"/>
            </a:br>
            <a:r>
              <a:rPr lang="en-GB" b="1" dirty="0"/>
              <a:t>And all DOM </a:t>
            </a:r>
            <a:br>
              <a:rPr lang="en-GB" b="1" dirty="0"/>
            </a:br>
            <a:r>
              <a:rPr lang="en-GB" b="1" dirty="0"/>
              <a:t>elements </a:t>
            </a:r>
            <a:br>
              <a:rPr lang="en-GB" b="1" dirty="0"/>
            </a:br>
            <a:r>
              <a:rPr lang="en-GB" b="1" dirty="0"/>
              <a:t>are 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1012" y="5417456"/>
            <a:ext cx="2637813" cy="28255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9EDB8"/>
            </a:solidFill>
          </a:ln>
        </p:spPr>
        <p:txBody>
          <a:bodyPr wrap="square" lIns="0" tIns="33231" rIns="0" bIns="33231" rtlCol="0">
            <a:spAutoFit/>
          </a:bodyPr>
          <a:lstStyle/>
          <a:p>
            <a:pPr marL="12700" algn="ctr"/>
            <a:r>
              <a:rPr lang="en-GB" sz="1400" b="1" dirty="0">
                <a:solidFill>
                  <a:srgbClr val="0000FF"/>
                </a:solidFill>
                <a:latin typeface="Consolas"/>
                <a:ea typeface="Times New Roman"/>
                <a:cs typeface="Consolas"/>
              </a:rPr>
              <a:t>$ </a:t>
            </a:r>
            <a:r>
              <a:rPr lang="en-GB" sz="1400" b="1" dirty="0">
                <a:latin typeface="Consolas"/>
                <a:ea typeface="Times New Roman"/>
                <a:cs typeface="Consolas"/>
              </a:rPr>
              <a:t>is an alias for </a:t>
            </a:r>
            <a:r>
              <a:rPr lang="en-GB" sz="1400" b="1" dirty="0">
                <a:solidFill>
                  <a:srgbClr val="0000FF"/>
                </a:solidFill>
                <a:latin typeface="Consolas"/>
                <a:ea typeface="Times New Roman"/>
                <a:cs typeface="Consolas"/>
              </a:rPr>
              <a:t>jQuery</a:t>
            </a:r>
            <a:endParaRPr lang="en-GB" sz="1400" b="1" dirty="0">
              <a:latin typeface="Calibri"/>
              <a:ea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A63715-84CD-4F09-BFE2-46FA3E8888B7}"/>
              </a:ext>
            </a:extLst>
          </p:cNvPr>
          <p:cNvSpPr txBox="1"/>
          <p:nvPr/>
        </p:nvSpPr>
        <p:spPr>
          <a:xfrm>
            <a:off x="3201012" y="1387306"/>
            <a:ext cx="8362951" cy="37856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title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title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meta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charset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="utf-8"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="https://code.jquery.com/jquery-3.7.1.min.js"&gt;&lt;/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$(document).ready(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() {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alert(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'Starting!'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});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7853510" y="3184213"/>
            <a:ext cx="2749443" cy="1323439"/>
          </a:xfrm>
          <a:prstGeom prst="rect">
            <a:avLst/>
          </a:prstGeom>
          <a:solidFill>
            <a:schemeClr val="bg1"/>
          </a:solidFill>
          <a:ln w="25400">
            <a:solidFill>
              <a:srgbClr val="09EDB8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>
                <a:cs typeface="Arial" panose="020B0604020202020204" pitchFamily="34" charset="0"/>
              </a:rPr>
              <a:t>Shortcut:</a:t>
            </a:r>
          </a:p>
          <a:p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$(</a:t>
            </a:r>
            <a:r>
              <a:rPr lang="en-GB" sz="1600" b="1" dirty="0">
                <a:solidFill>
                  <a:srgbClr val="3B3B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() {</a:t>
            </a:r>
          </a:p>
          <a:p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alert(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'Starting!'</a:t>
            </a:r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3491266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154F8D3-366A-4AA9-B344-C449DE2934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Basic selection and DOM manipulation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5753DB6-E8A8-472E-A831-DD9B0256F3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b="1" dirty="0"/>
              <a:t>In this part you will learn how to </a:t>
            </a:r>
          </a:p>
          <a:p>
            <a:pPr marL="342900" lvl="1" indent="-342900">
              <a:buSzPct val="115000"/>
            </a:pPr>
            <a:r>
              <a:rPr lang="en-GB" dirty="0"/>
              <a:t>Select HTML elements </a:t>
            </a:r>
          </a:p>
          <a:p>
            <a:pPr marL="342900" lvl="1" indent="-342900">
              <a:buSzPct val="115000"/>
            </a:pPr>
            <a:r>
              <a:rPr lang="en-GB" dirty="0"/>
              <a:t>Get values/contents from DOM elements</a:t>
            </a:r>
          </a:p>
          <a:p>
            <a:pPr marL="342900" lvl="1" indent="-342900">
              <a:buSzPct val="115000"/>
            </a:pPr>
            <a:r>
              <a:rPr lang="en-GB" dirty="0"/>
              <a:t>Set values/contents of DOM elements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3678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86501A-6F49-4D54-9461-0CE888BA0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Selecting elements  </a:t>
            </a:r>
            <a:r>
              <a:rPr lang="en-GB" sz="2000" dirty="0"/>
              <a:t>(follows the CSS rules of selection)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D1451A-BDC7-4058-85C8-F9B2C2C1C2E5}"/>
              </a:ext>
            </a:extLst>
          </p:cNvPr>
          <p:cNvSpPr txBox="1"/>
          <p:nvPr/>
        </p:nvSpPr>
        <p:spPr>
          <a:xfrm>
            <a:off x="162760" y="1514040"/>
            <a:ext cx="7847765" cy="46166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="https://code.jquery.com/jquery-3.7.1.min.js"&gt;&lt;/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$(document).ready(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() {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demo();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});</a:t>
            </a:r>
          </a:p>
          <a:p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demo() {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$(</a:t>
            </a:r>
            <a:r>
              <a:rPr lang="en-GB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'#</a:t>
            </a:r>
            <a:r>
              <a:rPr lang="en-GB" sz="14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divInfo</a:t>
            </a:r>
            <a:r>
              <a:rPr lang="en-GB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).html(</a:t>
            </a:r>
            <a:r>
              <a:rPr lang="en-GB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'The best is yet to come'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$(</a:t>
            </a:r>
            <a:r>
              <a:rPr lang="en-GB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'.spring'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).</a:t>
            </a:r>
            <a:r>
              <a:rPr lang="en-GB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css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GB" sz="14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color'</a:t>
            </a:r>
            <a:r>
              <a:rPr lang="en-GB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GB" sz="14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'green</a:t>
            </a:r>
            <a:r>
              <a:rPr lang="en-GB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$(</a:t>
            </a:r>
            <a:r>
              <a:rPr lang="en-GB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'p'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).html(</a:t>
            </a:r>
            <a:r>
              <a:rPr lang="en-GB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'There is no present like time'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$(</a:t>
            </a:r>
            <a:r>
              <a:rPr lang="en-GB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'p[name=sales]'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).html(</a:t>
            </a:r>
            <a:r>
              <a:rPr lang="en-GB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'Sales report of the day'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$(</a:t>
            </a:r>
            <a:r>
              <a:rPr lang="en-GB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'h1, p'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).</a:t>
            </a:r>
            <a:r>
              <a:rPr lang="en-GB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css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'color', 'blue'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 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B46F37-CEB3-47ED-A082-11D3A11C9DE4}"/>
              </a:ext>
            </a:extLst>
          </p:cNvPr>
          <p:cNvSpPr txBox="1"/>
          <p:nvPr/>
        </p:nvSpPr>
        <p:spPr>
          <a:xfrm>
            <a:off x="6812047" y="2858761"/>
            <a:ext cx="4741778" cy="28931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</a:p>
          <a:p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divInfo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Notes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="spring"&gt;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Spring is coming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="spring"&gt;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very soon!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="sales"&gt;&lt;/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</a:p>
          <a:p>
            <a:endParaRPr lang="en-GB" sz="14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chemeClr val="accent1"/>
                </a:solidFill>
                <a:latin typeface="Consolas" panose="020B0609020204030204" pitchFamily="49" charset="0"/>
              </a:rPr>
              <a:t>The Project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</a:p>
          <a:p>
            <a:endParaRPr lang="en-GB" sz="14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138DC75-9E46-4AE6-81A3-B33019DA8C29}"/>
              </a:ext>
            </a:extLst>
          </p:cNvPr>
          <p:cNvCxnSpPr/>
          <p:nvPr/>
        </p:nvCxnSpPr>
        <p:spPr>
          <a:xfrm>
            <a:off x="6019800" y="3429000"/>
            <a:ext cx="1047750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21CD75B-E05D-45D7-B27F-67FA594B1852}"/>
              </a:ext>
            </a:extLst>
          </p:cNvPr>
          <p:cNvCxnSpPr>
            <a:cxnSpLocks/>
          </p:cNvCxnSpPr>
          <p:nvPr/>
        </p:nvCxnSpPr>
        <p:spPr>
          <a:xfrm>
            <a:off x="5019675" y="3590925"/>
            <a:ext cx="2057400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67C5255-F1AD-4B57-B2D5-06FFE1AD481B}"/>
              </a:ext>
            </a:extLst>
          </p:cNvPr>
          <p:cNvCxnSpPr/>
          <p:nvPr/>
        </p:nvCxnSpPr>
        <p:spPr>
          <a:xfrm>
            <a:off x="6029325" y="4067175"/>
            <a:ext cx="1047750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1457508-76E1-4440-88B9-6589EB5DF5AF}"/>
              </a:ext>
            </a:extLst>
          </p:cNvPr>
          <p:cNvCxnSpPr>
            <a:cxnSpLocks/>
          </p:cNvCxnSpPr>
          <p:nvPr/>
        </p:nvCxnSpPr>
        <p:spPr>
          <a:xfrm>
            <a:off x="6553200" y="4495800"/>
            <a:ext cx="523875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85F6447-7C64-4C32-ACCA-02437FB0B356}"/>
              </a:ext>
            </a:extLst>
          </p:cNvPr>
          <p:cNvCxnSpPr>
            <a:cxnSpLocks/>
          </p:cNvCxnSpPr>
          <p:nvPr/>
        </p:nvCxnSpPr>
        <p:spPr>
          <a:xfrm>
            <a:off x="5019675" y="5143500"/>
            <a:ext cx="2057400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23B1EF9-AB8A-4AC7-8761-A8BED2D85957}"/>
              </a:ext>
            </a:extLst>
          </p:cNvPr>
          <p:cNvCxnSpPr>
            <a:cxnSpLocks/>
          </p:cNvCxnSpPr>
          <p:nvPr/>
        </p:nvCxnSpPr>
        <p:spPr>
          <a:xfrm flipV="1">
            <a:off x="6629400" y="4705350"/>
            <a:ext cx="381000" cy="43815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0B76263-5FEF-4FEC-AE4E-90A4FD6EE1C4}"/>
              </a:ext>
            </a:extLst>
          </p:cNvPr>
          <p:cNvSpPr txBox="1"/>
          <p:nvPr/>
        </p:nvSpPr>
        <p:spPr>
          <a:xfrm>
            <a:off x="9202822" y="1111342"/>
            <a:ext cx="2351003" cy="160043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GB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best is yet to come</a:t>
            </a:r>
          </a:p>
          <a:p>
            <a:pPr algn="l"/>
            <a:r>
              <a:rPr lang="en-GB" sz="1400" b="1" i="0" dirty="0">
                <a:solidFill>
                  <a:srgbClr val="008000"/>
                </a:solidFill>
                <a:effectLst/>
                <a:latin typeface="Times New Roman" panose="02020603050405020304" pitchFamily="18" charset="0"/>
              </a:rPr>
              <a:t>Spring is coming</a:t>
            </a:r>
          </a:p>
          <a:p>
            <a:pPr algn="l"/>
            <a:r>
              <a:rPr lang="en-GB" sz="1400" b="1" i="0" dirty="0">
                <a:solidFill>
                  <a:srgbClr val="008000"/>
                </a:solidFill>
                <a:effectLst/>
                <a:latin typeface="Times New Roman" panose="02020603050405020304" pitchFamily="18" charset="0"/>
              </a:rPr>
              <a:t>very soon!</a:t>
            </a:r>
          </a:p>
          <a:p>
            <a:pPr algn="l"/>
            <a:r>
              <a:rPr lang="en-GB" sz="1400" b="0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There is no present like time</a:t>
            </a:r>
          </a:p>
          <a:p>
            <a:pPr algn="l"/>
            <a:r>
              <a:rPr lang="en-GB" sz="1400" b="0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There is no present like time</a:t>
            </a:r>
          </a:p>
          <a:p>
            <a:pPr algn="l"/>
            <a:r>
              <a:rPr lang="en-GB" sz="1400" b="0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Sales report of the day</a:t>
            </a:r>
          </a:p>
          <a:p>
            <a:pPr algn="l"/>
            <a:r>
              <a:rPr lang="en-GB" sz="1400" b="1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The Project</a:t>
            </a:r>
          </a:p>
        </p:txBody>
      </p:sp>
    </p:spTree>
    <p:extLst>
      <p:ext uri="{BB962C8B-B14F-4D97-AF65-F5344CB8AC3E}">
        <p14:creationId xmlns:p14="http://schemas.microsoft.com/office/powerpoint/2010/main" val="260422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Processing Form elements– </a:t>
            </a:r>
            <a:r>
              <a:rPr lang="en-GB" sz="3200" dirty="0"/>
              <a:t>Text boxes .</a:t>
            </a:r>
            <a:r>
              <a:rPr lang="en-GB" sz="3200" dirty="0" err="1"/>
              <a:t>val</a:t>
            </a:r>
            <a:r>
              <a:rPr lang="en-GB" sz="3200" dirty="0"/>
              <a:t>()</a:t>
            </a: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2111125" y="1377204"/>
            <a:ext cx="7966325" cy="42864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rgbClr val="004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tIns="54000">
            <a:spAutoFit/>
          </a:bodyPr>
          <a:lstStyle/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="https://code.jquery.com/jquery-3.7.1.min.js"&gt;&lt;/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incAge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age = 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parseInt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($(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'#</a:t>
            </a:r>
            <a:r>
              <a:rPr lang="en-GB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txtAge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).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val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$(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'#</a:t>
            </a:r>
            <a:r>
              <a:rPr lang="en-GB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txtAge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).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val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(age + 1);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Name: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="text"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txtName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Age: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="number"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txtAge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onclick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incAge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Increase age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7" name="Rounded Rectangular Callout 6"/>
          <p:cNvSpPr/>
          <p:nvPr/>
        </p:nvSpPr>
        <p:spPr>
          <a:xfrm>
            <a:off x="4229448" y="5351509"/>
            <a:ext cx="3333402" cy="563516"/>
          </a:xfrm>
          <a:prstGeom prst="wedgeRoundRectCallout">
            <a:avLst>
              <a:gd name="adj1" fmla="val -33954"/>
              <a:gd name="adj2" fmla="val -69554"/>
              <a:gd name="adj3" fmla="val 16667"/>
            </a:avLst>
          </a:prstGeom>
          <a:solidFill>
            <a:schemeClr val="bg1"/>
          </a:solidFill>
          <a:ln w="25400">
            <a:solidFill>
              <a:srgbClr val="F362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  <a:cs typeface="Arial" pitchFamily="34" charset="0"/>
              </a:rPr>
              <a:t>You'll see the JQuery way </a:t>
            </a:r>
            <a:br>
              <a:rPr lang="en-GB" sz="1400" dirty="0">
                <a:solidFill>
                  <a:schemeClr val="tx1"/>
                </a:solidFill>
                <a:cs typeface="Arial" pitchFamily="34" charset="0"/>
              </a:rPr>
            </a:br>
            <a:r>
              <a:rPr lang="en-GB" sz="1400" dirty="0">
                <a:solidFill>
                  <a:schemeClr val="tx1"/>
                </a:solidFill>
                <a:cs typeface="Arial" pitchFamily="34" charset="0"/>
              </a:rPr>
              <a:t>of setting events later</a:t>
            </a:r>
          </a:p>
        </p:txBody>
      </p:sp>
    </p:spTree>
    <p:extLst>
      <p:ext uri="{BB962C8B-B14F-4D97-AF65-F5344CB8AC3E}">
        <p14:creationId xmlns:p14="http://schemas.microsoft.com/office/powerpoint/2010/main" val="2718978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Form elements – Radio  .</a:t>
            </a:r>
            <a:r>
              <a:rPr lang="en-GB" dirty="0" err="1"/>
              <a:t>val</a:t>
            </a:r>
            <a:r>
              <a:rPr lang="en-GB" dirty="0"/>
              <a:t>()</a:t>
            </a:r>
          </a:p>
        </p:txBody>
      </p:sp>
      <p:sp>
        <p:nvSpPr>
          <p:cNvPr id="3" name="Rectangle 2"/>
          <p:cNvSpPr/>
          <p:nvPr/>
        </p:nvSpPr>
        <p:spPr>
          <a:xfrm>
            <a:off x="767774" y="1518256"/>
            <a:ext cx="8785801" cy="47705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="https://code.jquery.com/jquery-3.7.1.min.js"&gt;&lt;/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Register() {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info = 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'You are '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staffType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= $(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'input[name=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category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]:checked'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).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val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staffType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'c'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) info += 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'Is a contractor'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staffType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'p'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) info += 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'Is a permanent member of staff'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alert(info);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form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onsubmit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Register()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="radio"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="category"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="c"&gt;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Contractor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="radio"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="category"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="p"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checked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Permanent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="submit"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="submit"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form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532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Form elements – Check boxes  .</a:t>
            </a:r>
            <a:r>
              <a:rPr lang="en-GB" dirty="0" err="1"/>
              <a:t>val</a:t>
            </a:r>
            <a:r>
              <a:rPr lang="en-GB" dirty="0"/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6BC340-8872-4F7C-915C-A05074C9B591}"/>
              </a:ext>
            </a:extLst>
          </p:cNvPr>
          <p:cNvSpPr txBox="1"/>
          <p:nvPr/>
        </p:nvSpPr>
        <p:spPr>
          <a:xfrm>
            <a:off x="514351" y="1542425"/>
            <a:ext cx="9429749" cy="47705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="https://code.jquery.com/jquery-3.7.1.min.js"&gt;&lt;/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Register() {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	 var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over18 = $(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"input[name=over18]:checked"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).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val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over18 = $(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"#ov18:checked"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).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val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	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(over18 ==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'y'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alert(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'Is over 18')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form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onsubmit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Register()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	 Over 18?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="checkbox"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="over18"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="ov18"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="y"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</a:p>
          <a:p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="submit"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="submit"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form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8DDFCFF8-267D-4B52-86BF-D559A506492F}"/>
              </a:ext>
            </a:extLst>
          </p:cNvPr>
          <p:cNvSpPr/>
          <p:nvPr/>
        </p:nvSpPr>
        <p:spPr>
          <a:xfrm>
            <a:off x="9944100" y="2707778"/>
            <a:ext cx="1304926" cy="395774"/>
          </a:xfrm>
          <a:prstGeom prst="wedgeRoundRectCallout">
            <a:avLst>
              <a:gd name="adj1" fmla="val -60709"/>
              <a:gd name="adj2" fmla="val -15593"/>
              <a:gd name="adj3" fmla="val 16667"/>
            </a:avLst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2 ways</a:t>
            </a:r>
          </a:p>
        </p:txBody>
      </p:sp>
    </p:spTree>
    <p:extLst>
      <p:ext uri="{BB962C8B-B14F-4D97-AF65-F5344CB8AC3E}">
        <p14:creationId xmlns:p14="http://schemas.microsoft.com/office/powerpoint/2010/main" val="2725512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Form elements – </a:t>
            </a:r>
            <a:r>
              <a:rPr lang="en-GB" sz="2800" dirty="0"/>
              <a:t>Selection Lists  </a:t>
            </a:r>
            <a:r>
              <a:rPr lang="en-GB" sz="1800" dirty="0"/>
              <a:t>- .index() and .text()</a:t>
            </a: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656304" y="1428285"/>
            <a:ext cx="9802145" cy="47705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="https://code.jquery.com/jquery-3.7.1.min.js"&gt;&lt;/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Register() {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info = 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"Index is: 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+ $(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"#options </a:t>
            </a:r>
            <a:r>
              <a:rPr lang="en-GB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option:selected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).index() +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 text is 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+ $(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"#options </a:t>
            </a:r>
            <a:r>
              <a:rPr lang="en-GB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option:selected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).text();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alert(info);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form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onsubmit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Register()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select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="options"&gt;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option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option-1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option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option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option-2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option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option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option-3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option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select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="submit"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="submit"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form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4" name="Rectangular Callout 3"/>
          <p:cNvSpPr/>
          <p:nvPr/>
        </p:nvSpPr>
        <p:spPr>
          <a:xfrm>
            <a:off x="8379204" y="2796329"/>
            <a:ext cx="2631696" cy="617642"/>
          </a:xfrm>
          <a:prstGeom prst="wedgeRectCallout">
            <a:avLst>
              <a:gd name="adj1" fmla="val -32251"/>
              <a:gd name="adj2" fmla="val -72925"/>
            </a:avLst>
          </a:prstGeom>
          <a:solidFill>
            <a:schemeClr val="bg1"/>
          </a:solidFill>
          <a:ln w="25400">
            <a:solidFill>
              <a:srgbClr val="F362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  <a:cs typeface="Arial" pitchFamily="34" charset="0"/>
              </a:rPr>
              <a:t>Get the selected item's </a:t>
            </a:r>
          </a:p>
          <a:p>
            <a:pPr algn="ctr"/>
            <a:r>
              <a:rPr lang="en-GB" sz="1400" b="1" dirty="0">
                <a:solidFill>
                  <a:schemeClr val="tx1"/>
                </a:solidFill>
                <a:cs typeface="Arial" pitchFamily="34" charset="0"/>
              </a:rPr>
              <a:t>index &amp;  text</a:t>
            </a:r>
          </a:p>
        </p:txBody>
      </p:sp>
    </p:spTree>
    <p:extLst>
      <p:ext uri="{BB962C8B-B14F-4D97-AF65-F5344CB8AC3E}">
        <p14:creationId xmlns:p14="http://schemas.microsoft.com/office/powerpoint/2010/main" val="166677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EA846B-1323-4659-8C7F-97BEF69C43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Summary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EC857C-2010-45BD-8D48-8D07DB3936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ctr"/>
          <a:lstStyle/>
          <a:p>
            <a:r>
              <a:rPr lang="en-GB" b="1" dirty="0"/>
              <a:t>In this chapter you learned how to 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Select HTML elements 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Get and set their values/contents</a:t>
            </a:r>
            <a:br>
              <a:rPr lang="en-GB" dirty="0"/>
            </a:br>
            <a:endParaRPr lang="en-GB" dirty="0"/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b="1" dirty="0"/>
              <a:t>There is a lot more!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Please investigate the </a:t>
            </a:r>
            <a:r>
              <a:rPr lang="en-GB" b="1" dirty="0" err="1"/>
              <a:t>eq</a:t>
            </a:r>
            <a:r>
              <a:rPr lang="en-GB" b="1" dirty="0"/>
              <a:t>() </a:t>
            </a:r>
            <a:r>
              <a:rPr lang="en-GB" dirty="0"/>
              <a:t>and </a:t>
            </a:r>
            <a:r>
              <a:rPr lang="en-GB" b="1" dirty="0" err="1"/>
              <a:t>attr</a:t>
            </a:r>
            <a:r>
              <a:rPr lang="en-GB" b="1" dirty="0"/>
              <a:t>() </a:t>
            </a:r>
            <a:r>
              <a:rPr lang="en-GB" dirty="0"/>
              <a:t>methods when you’ve 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2005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55AAE2-2DE9-4D28-A804-5D33B8E491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Lab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CC4AE2F-C0E8-473D-9D53-77A9DA3BEA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8" y="1349984"/>
            <a:ext cx="4783138" cy="40941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/>
              <a:t>Use </a:t>
            </a:r>
            <a:r>
              <a:rPr lang="en-GB" b="1" dirty="0"/>
              <a:t>j</a:t>
            </a:r>
            <a:r>
              <a:rPr lang="en-GB" b="1"/>
              <a:t>Query </a:t>
            </a:r>
            <a:r>
              <a:rPr lang="en-GB" b="1" dirty="0"/>
              <a:t>to capture and edit the values of controls.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Duration 20 minutes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322566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61ba5a240904b86632099fc56e12dead204a13"/>
</p:tagLst>
</file>

<file path=ppt/theme/theme1.xml><?xml version="1.0" encoding="utf-8"?>
<a:theme xmlns:a="http://schemas.openxmlformats.org/drawingml/2006/main" name="Master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ookTypeField0 xmlns="B42EA499-AA80-4ED5-9ED5-37A17D3EB549">
      <Terms xmlns="http://schemas.microsoft.com/office/infopath/2007/PartnerControls"/>
    </BookTypeField0>
    <IsBuildFile xmlns="B42EA499-AA80-4ED5-9ED5-37A17D3EB549" xsi:nil="true"/>
    <SequenceNumber xmlns="B42EA499-AA80-4ED5-9ED5-37A17D3EB54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Courseware" ma:contentTypeID="0x010100F0967B7CEE8D417F966757887D9466FB005CB7CECC996A5B448C70C3215DE65491" ma:contentTypeVersion="0" ma:contentTypeDescription="Base content type which represents courseware documents" ma:contentTypeScope="" ma:versionID="633ed7bf8a9769dc10b8af609c2e65e8">
  <xsd:schema xmlns:xsd="http://www.w3.org/2001/XMLSchema" xmlns:xs="http://www.w3.org/2001/XMLSchema" xmlns:p="http://schemas.microsoft.com/office/2006/metadata/properties" xmlns:ns2="B42EA499-AA80-4ED5-9ED5-37A17D3EB549" targetNamespace="http://schemas.microsoft.com/office/2006/metadata/properties" ma:root="true" ma:fieldsID="6641bdc0935a9ffdc34b1682c1e0febc" ns2:_="">
    <xsd:import namespace="B42EA499-AA80-4ED5-9ED5-37A17D3EB549"/>
    <xsd:element name="properties">
      <xsd:complexType>
        <xsd:sequence>
          <xsd:element name="documentManagement">
            <xsd:complexType>
              <xsd:all>
                <xsd:element ref="ns2:BookTypeField0" minOccurs="0"/>
                <xsd:element ref="ns2:SequenceNumber" minOccurs="0"/>
                <xsd:element ref="ns2:IsBuild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EA499-AA80-4ED5-9ED5-37A17D3EB549" elementFormDefault="qualified">
    <xsd:import namespace="http://schemas.microsoft.com/office/2006/documentManagement/types"/>
    <xsd:import namespace="http://schemas.microsoft.com/office/infopath/2007/PartnerControls"/>
    <xsd:element name="BookTypeField0" ma:index="9" nillable="true" ma:taxonomy="true" ma:internalName="BookTypeField0" ma:taxonomyFieldName="BookType" ma:displayName="Book Type" ma:fieldId="{e7c6b654-e04e-4e45-9cfd-676dbef3a3c6}" ma:sspId="63102202-80dd-4165-b1ca-d09cf2756dc1" ma:termSetId="3300959e-7346-4208-831a-90b552f1677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equenceNumber" ma:index="10" nillable="true" ma:displayName="Sequence Number" ma:decimals="0" ma:internalName="SequenceNumber">
      <xsd:simpleType>
        <xsd:restriction base="dms:Number"/>
      </xsd:simpleType>
    </xsd:element>
    <xsd:element name="IsBuildFile" ma:index="11" nillable="true" ma:displayName="Is Build File" ma:hidden="true" ma:internalName="IsBuildFil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8E8937C-C053-423A-9B46-2A8F98FE32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4B90E55-2EC1-4453-893C-AB7CD58B09E6}">
  <ds:schemaRefs>
    <ds:schemaRef ds:uri="http://schemas.microsoft.com/office/2006/metadata/properties"/>
    <ds:schemaRef ds:uri="http://schemas.microsoft.com/office/infopath/2007/PartnerControls"/>
    <ds:schemaRef ds:uri="B42EA499-AA80-4ED5-9ED5-37A17D3EB549"/>
  </ds:schemaRefs>
</ds:datastoreItem>
</file>

<file path=customXml/itemProps3.xml><?xml version="1.0" encoding="utf-8"?>
<ds:datastoreItem xmlns:ds="http://schemas.openxmlformats.org/officeDocument/2006/customXml" ds:itemID="{75C12022-4D6C-488F-97E4-6473DDD9E5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2EA499-AA80-4ED5-9ED5-37A17D3EB5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1344</Words>
  <Application>Microsoft Office PowerPoint</Application>
  <PresentationFormat>Widescreen</PresentationFormat>
  <Paragraphs>224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Consolas</vt:lpstr>
      <vt:lpstr>Krana Fat B</vt:lpstr>
      <vt:lpstr>Montserrat</vt:lpstr>
      <vt:lpstr>Times New Roman</vt:lpstr>
      <vt:lpstr>Wingdings</vt:lpstr>
      <vt:lpstr>Master</vt:lpstr>
      <vt:lpstr>Web Development</vt:lpstr>
      <vt:lpstr>PowerPoint Presentation</vt:lpstr>
      <vt:lpstr>Introduction Getting started with JQuery </vt:lpstr>
      <vt:lpstr>PowerPoint Presentation</vt:lpstr>
      <vt:lpstr>PowerPoint Presentation</vt:lpstr>
      <vt:lpstr>Start using jQuery</vt:lpstr>
      <vt:lpstr>PowerPoint Presentation</vt:lpstr>
      <vt:lpstr>ready() function</vt:lpstr>
      <vt:lpstr>PowerPoint Presentation</vt:lpstr>
      <vt:lpstr>Selecting elements  (follows the CSS rules of selection)</vt:lpstr>
      <vt:lpstr>Processing Form elements– Text boxes .val()</vt:lpstr>
      <vt:lpstr>Form elements – Radio  .val()</vt:lpstr>
      <vt:lpstr>Form elements – Check boxes  .val()</vt:lpstr>
      <vt:lpstr>Form elements – Selection Lists  - .index() and .text()</vt:lpstr>
      <vt:lpstr>PowerPoint Presentation</vt:lpstr>
      <vt:lpstr>PowerPoint Presentation</vt:lpstr>
    </vt:vector>
  </TitlesOfParts>
  <Manager/>
  <Company>QA Ltd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Singh, Vaishali</dc:creator>
  <cp:keywords/>
  <dc:description/>
  <cp:lastModifiedBy>Baradaran, Mike</cp:lastModifiedBy>
  <cp:revision>153</cp:revision>
  <cp:lastPrinted>2019-07-03T09:46:41Z</cp:lastPrinted>
  <dcterms:created xsi:type="dcterms:W3CDTF">2019-09-05T08:17:12Z</dcterms:created>
  <dcterms:modified xsi:type="dcterms:W3CDTF">2025-02-13T10:25:21Z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0x010100F0967B7CEE8D417F966757887D9466FB005CB7CECC996A5B448C70C3215DE65491</vt:lpwstr>
  </property>
</Properties>
</file>