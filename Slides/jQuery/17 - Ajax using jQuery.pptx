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63" r:id="rId5"/>
    <p:sldId id="448" r:id="rId6"/>
    <p:sldId id="567" r:id="rId7"/>
    <p:sldId id="519" r:id="rId8"/>
    <p:sldId id="528" r:id="rId9"/>
    <p:sldId id="572" r:id="rId10"/>
    <p:sldId id="584" r:id="rId11"/>
    <p:sldId id="575" r:id="rId12"/>
    <p:sldId id="568" r:id="rId13"/>
    <p:sldId id="581" r:id="rId14"/>
    <p:sldId id="582" r:id="rId15"/>
    <p:sldId id="583" r:id="rId16"/>
    <p:sldId id="579" r:id="rId17"/>
    <p:sldId id="580" r:id="rId18"/>
    <p:sldId id="577" r:id="rId19"/>
    <p:sldId id="578" r:id="rId20"/>
  </p:sldIdLst>
  <p:sldSz cx="12192000" cy="6858000"/>
  <p:notesSz cx="6645275" cy="9775825"/>
  <p:custDataLst>
    <p:tags r:id="rId2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37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rrow, Joshua" initials="BJ" lastIdx="30" clrIdx="0">
    <p:extLst>
      <p:ext uri="{19B8F6BF-5375-455C-9EA6-DF929625EA0E}">
        <p15:presenceInfo xmlns:p15="http://schemas.microsoft.com/office/powerpoint/2012/main" userId="S-1-5-21-3476036342-1731177862-1559577602-51474" providerId="AD"/>
      </p:ext>
    </p:extLst>
  </p:cmAuthor>
  <p:cmAuthor id="2" name="Singh, Vaishali" initials="SV" lastIdx="7" clrIdx="1">
    <p:extLst>
      <p:ext uri="{19B8F6BF-5375-455C-9EA6-DF929625EA0E}">
        <p15:presenceInfo xmlns:p15="http://schemas.microsoft.com/office/powerpoint/2012/main" userId="S-1-5-21-3476036342-1731177862-1559577602-1552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622C"/>
    <a:srgbClr val="004050"/>
    <a:srgbClr val="09EDB8"/>
    <a:srgbClr val="F91258"/>
    <a:srgbClr val="7E007C"/>
    <a:srgbClr val="28CFF9"/>
    <a:srgbClr val="31D3AE"/>
    <a:srgbClr val="F3F3F3"/>
    <a:srgbClr val="F4F4F4"/>
    <a:srgbClr val="3D6E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58" autoAdjust="0"/>
    <p:restoredTop sz="91871" autoAdjust="0"/>
  </p:normalViewPr>
  <p:slideViewPr>
    <p:cSldViewPr snapToGrid="0" snapToObjects="1" showGuides="1">
      <p:cViewPr varScale="1">
        <p:scale>
          <a:sx n="77" d="100"/>
          <a:sy n="77" d="100"/>
        </p:scale>
        <p:origin x="1109" y="58"/>
      </p:cViewPr>
      <p:guideLst>
        <p:guide pos="3840"/>
        <p:guide orient="horz" pos="377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82" d="100"/>
          <a:sy n="82" d="100"/>
        </p:scale>
        <p:origin x="40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gs" Target="tags/tag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879725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63964" y="1"/>
            <a:ext cx="2879725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D088FE-3E68-47FE-8BA4-634CD34BABBC}" type="datetimeFigureOut">
              <a:rPr lang="en-GB" smtClean="0"/>
              <a:pPr/>
              <a:t>08/09/2022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285289"/>
            <a:ext cx="2879725" cy="4905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63964" y="9285289"/>
            <a:ext cx="2879725" cy="4905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B31C5D-0DE0-4486-9782-41885BE5816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30825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79619" cy="4904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64119" y="0"/>
            <a:ext cx="2879619" cy="4904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1D6B66C6-1E92-0F4E-A300-9D4ED1F0C23F}" type="datetimeFigureOut">
              <a:rPr lang="en-GB" smtClean="0"/>
              <a:pPr/>
              <a:t>08/09/2022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8938" y="1220788"/>
            <a:ext cx="5867400" cy="33004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4528" y="4704617"/>
            <a:ext cx="5316220" cy="384923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285339"/>
            <a:ext cx="2879619" cy="4904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64119" y="9285339"/>
            <a:ext cx="2879619" cy="4904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548901C6-1DA1-FB44-ABEE-06A0FEB7738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767479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6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7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6DA349-548C-4510-8B2E-BFF5FD1D6A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7531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21094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90928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74298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Or use the old method like:</a:t>
            </a:r>
          </a:p>
          <a:p>
            <a:r>
              <a:rPr lang="en-GB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2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script</a:t>
            </a:r>
            <a:r>
              <a:rPr lang="en-GB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$(</a:t>
            </a:r>
            <a:r>
              <a:rPr lang="en-GB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function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() {</a:t>
            </a:r>
          </a:p>
          <a:p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   $.ajax({</a:t>
            </a:r>
          </a:p>
          <a:p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type: </a:t>
            </a:r>
            <a:r>
              <a:rPr lang="en-GB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"GET"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</a:p>
          <a:p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url: </a:t>
            </a:r>
            <a:r>
              <a:rPr lang="en-GB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"WebService1.asmx/Test"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</a:p>
          <a:p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success: </a:t>
            </a:r>
            <a:r>
              <a:rPr lang="en-GB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function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msg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  $(</a:t>
            </a:r>
            <a:r>
              <a:rPr lang="en-GB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"#</a:t>
            </a:r>
            <a:r>
              <a:rPr lang="en-GB" sz="12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divInfo</a:t>
            </a:r>
            <a:r>
              <a:rPr lang="en-GB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).html(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msg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}</a:t>
            </a:r>
          </a:p>
          <a:p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});</a:t>
            </a:r>
          </a:p>
          <a:p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});</a:t>
            </a:r>
          </a:p>
          <a:p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2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script</a:t>
            </a:r>
            <a:r>
              <a:rPr lang="en-GB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		</a:t>
            </a:r>
            <a:endParaRPr lang="en-GB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2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GB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2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body</a:t>
            </a:r>
            <a:r>
              <a:rPr lang="en-GB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2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2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id</a:t>
            </a:r>
            <a:r>
              <a:rPr lang="en-GB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</a:t>
            </a:r>
            <a:r>
              <a:rPr lang="en-GB" sz="12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divInfo</a:t>
            </a:r>
            <a:r>
              <a:rPr lang="en-GB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"&gt;&lt;/</a:t>
            </a:r>
            <a:r>
              <a:rPr lang="en-GB" sz="12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</a:t>
            </a:r>
            <a:r>
              <a:rPr lang="en-GB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2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body</a:t>
            </a:r>
            <a:r>
              <a:rPr lang="en-GB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200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82569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Here is an alternative method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Courier New" pitchFamily="49" charset="0"/>
              </a:rPr>
              <a:t>To pass parameters to $.ajax:</a:t>
            </a:r>
          </a:p>
          <a:p>
            <a:r>
              <a:rPr lang="en-GB" sz="1200" b="0" dirty="0">
                <a:latin typeface="Courier New" pitchFamily="49" charset="0"/>
                <a:cs typeface="Courier New" pitchFamily="49" charset="0"/>
              </a:rPr>
              <a:t>$.ajax({</a:t>
            </a:r>
          </a:p>
          <a:p>
            <a:r>
              <a:rPr lang="en-GB" sz="1200" b="0" dirty="0">
                <a:latin typeface="Courier New" pitchFamily="49" charset="0"/>
                <a:cs typeface="Courier New" pitchFamily="49" charset="0"/>
              </a:rPr>
              <a:t>  type: </a:t>
            </a:r>
            <a:r>
              <a:rPr lang="en-GB" sz="1200" b="0" dirty="0">
                <a:solidFill>
                  <a:srgbClr val="A31515"/>
                </a:solidFill>
                <a:latin typeface="Courier New" pitchFamily="49" charset="0"/>
                <a:cs typeface="Courier New" pitchFamily="49" charset="0"/>
              </a:rPr>
              <a:t>"GET"</a:t>
            </a:r>
            <a:r>
              <a:rPr lang="en-GB" sz="1200" b="0" dirty="0">
                <a:latin typeface="Courier New" pitchFamily="49" charset="0"/>
                <a:cs typeface="Courier New" pitchFamily="49" charset="0"/>
              </a:rPr>
              <a:t>,</a:t>
            </a:r>
            <a:br>
              <a:rPr lang="en-GB" sz="1200" b="0" dirty="0">
                <a:latin typeface="Courier New" pitchFamily="49" charset="0"/>
                <a:cs typeface="Courier New" pitchFamily="49" charset="0"/>
              </a:rPr>
            </a:br>
            <a:r>
              <a:rPr lang="en-GB" sz="1200" b="0" dirty="0">
                <a:latin typeface="Courier New" pitchFamily="49" charset="0"/>
                <a:cs typeface="Courier New" pitchFamily="49" charset="0"/>
              </a:rPr>
              <a:t>  url: ... ,</a:t>
            </a:r>
          </a:p>
          <a:p>
            <a:r>
              <a:rPr lang="en-GB" sz="1200" b="0" dirty="0">
                <a:latin typeface="Courier New" pitchFamily="49" charset="0"/>
                <a:cs typeface="Courier New" pitchFamily="49" charset="0"/>
              </a:rPr>
              <a:t>  data: {name:</a:t>
            </a:r>
            <a:r>
              <a:rPr lang="en-GB" sz="1200" b="0" dirty="0">
                <a:solidFill>
                  <a:srgbClr val="A31515"/>
                </a:solidFill>
                <a:latin typeface="Courier New" pitchFamily="49" charset="0"/>
                <a:cs typeface="Courier New" pitchFamily="49" charset="0"/>
              </a:rPr>
              <a:t>'</a:t>
            </a:r>
            <a:r>
              <a:rPr lang="en-GB" sz="1200" b="0" dirty="0" err="1">
                <a:solidFill>
                  <a:srgbClr val="A31515"/>
                </a:solidFill>
                <a:latin typeface="Courier New" pitchFamily="49" charset="0"/>
                <a:cs typeface="Courier New" pitchFamily="49" charset="0"/>
              </a:rPr>
              <a:t>fred</a:t>
            </a:r>
            <a:r>
              <a:rPr lang="en-GB" sz="1200" b="0" dirty="0">
                <a:solidFill>
                  <a:srgbClr val="A31515"/>
                </a:solidFill>
                <a:latin typeface="Courier New" pitchFamily="49" charset="0"/>
                <a:cs typeface="Courier New" pitchFamily="49" charset="0"/>
              </a:rPr>
              <a:t>'</a:t>
            </a:r>
            <a:r>
              <a:rPr lang="en-GB" sz="1200" b="0" dirty="0">
                <a:latin typeface="Courier New" pitchFamily="49" charset="0"/>
                <a:cs typeface="Courier New" pitchFamily="49" charset="0"/>
              </a:rPr>
              <a:t>, age: 21}</a:t>
            </a:r>
          </a:p>
          <a:p>
            <a:r>
              <a:rPr lang="en-GB" sz="1200" b="0" dirty="0">
                <a:latin typeface="Courier New" pitchFamily="49" charset="0"/>
                <a:cs typeface="Courier New" pitchFamily="49" charset="0"/>
              </a:rPr>
              <a:t>});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573D5F-BE89-49BD-B0EB-D25F617C00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45970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Alternatively you can use the success and error clauses. However, these will be deprecated sometimes in future.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$(document).ready(function () {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            $.ajax({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                type: "GET",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                url: "http://localhost:5000/</a:t>
            </a:r>
            <a:r>
              <a:rPr lang="en-GB" sz="1200" kern="1200" dirty="0" err="1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getcustomers</a:t>
            </a:r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",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                success: function (</a:t>
            </a:r>
            <a:r>
              <a:rPr lang="en-GB" sz="1200" kern="1200" dirty="0" err="1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msg</a:t>
            </a:r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) {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                    $("#</a:t>
            </a:r>
            <a:r>
              <a:rPr lang="en-GB" sz="1200" kern="1200" dirty="0" err="1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divInfo</a:t>
            </a:r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").html(</a:t>
            </a:r>
            <a:r>
              <a:rPr lang="en-GB" sz="1200" kern="1200" dirty="0" err="1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msg</a:t>
            </a:r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[0].City);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                },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                error: function () {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                    alert('error!');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                }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            });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        });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7EB924-23EF-4ADC-BD6B-3BA6CB2C11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70906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You</a:t>
            </a:r>
            <a:r>
              <a:rPr lang="en-GB" sz="1200" b="0" i="0" kern="1200" baseline="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might find $.get and $</a:t>
            </a:r>
            <a:r>
              <a:rPr lang="en-GB" sz="1200" b="0" i="0" kern="1200" baseline="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getJSON</a:t>
            </a:r>
            <a:r>
              <a:rPr lang="en-GB" sz="1200" b="0" i="0" kern="1200" baseline="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work the same way.</a:t>
            </a:r>
            <a:br>
              <a:rPr lang="en-GB" sz="1200" b="0" i="0" kern="1200" baseline="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</a:br>
            <a:r>
              <a:rPr lang="en-GB" sz="1200" b="0" i="0" kern="1200" baseline="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However, when you use $.</a:t>
            </a:r>
            <a:r>
              <a:rPr lang="en-GB" sz="1200" b="0" i="0" kern="1200" baseline="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getJSON</a:t>
            </a:r>
            <a:r>
              <a:rPr lang="en-GB" sz="1200" b="0" i="0" kern="1200" baseline="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,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jQuery interprets the response that comes in and converts it to a JavaScript Object and then passes it into the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callback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function.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Framework like Rail</a:t>
            </a:r>
            <a:r>
              <a:rPr lang="en-GB" sz="1200" b="0" i="0" kern="1200" baseline="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automatically detect the </a:t>
            </a:r>
            <a:r>
              <a:rPr lang="en-GB" dirty="0"/>
              <a:t>Accept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 header and respond appropriately, other frameworks might not. Therefore, it is advisable to use $.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getJSON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when the data type is JSON. 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D7C2C6-2178-4768-8BFD-17147A2DD0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5699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57266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00287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3000"/>
              </a:spcBef>
              <a:spcAft>
                <a:spcPct val="0"/>
              </a:spcAft>
              <a:buClrTx/>
              <a:buSzTx/>
              <a:buFontTx/>
              <a:buNone/>
              <a:tabLst>
                <a:tab pos="273050" algn="l"/>
                <a:tab pos="544513" algn="l"/>
                <a:tab pos="796925" algn="l"/>
                <a:tab pos="1069975" algn="l"/>
                <a:tab pos="1343025" algn="l"/>
                <a:tab pos="1614488" algn="l"/>
                <a:tab pos="1887538" algn="l"/>
                <a:tab pos="2159000" algn="l"/>
                <a:tab pos="2413000" algn="l"/>
                <a:tab pos="2684463" algn="l"/>
              </a:tabLst>
              <a:defRPr/>
            </a:pPr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Courier New" pitchFamily="49" charset="0"/>
              </a:rPr>
              <a:t>The default </a:t>
            </a:r>
            <a:r>
              <a:rPr lang="en-GB" sz="1200" kern="1200" dirty="0" err="1">
                <a:solidFill>
                  <a:schemeClr val="tx1"/>
                </a:solidFill>
                <a:latin typeface="Arial" pitchFamily="34" charset="0"/>
                <a:ea typeface="+mn-ea"/>
                <a:cs typeface="Courier New" pitchFamily="49" charset="0"/>
              </a:rPr>
              <a:t>contentType</a:t>
            </a:r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Courier New" pitchFamily="49" charset="0"/>
              </a:rPr>
              <a:t> is:</a:t>
            </a:r>
            <a:b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Courier New" pitchFamily="49" charset="0"/>
              </a:rPr>
            </a:br>
            <a:r>
              <a:rPr lang="en-GB" sz="1200" dirty="0">
                <a:latin typeface="Courier New" pitchFamily="49" charset="0"/>
                <a:cs typeface="Courier New" pitchFamily="49" charset="0"/>
              </a:rPr>
              <a:t>application/x-www-form-</a:t>
            </a:r>
            <a:r>
              <a:rPr lang="en-GB" sz="1200" dirty="0" err="1">
                <a:latin typeface="Courier New" pitchFamily="49" charset="0"/>
                <a:cs typeface="Courier New" pitchFamily="49" charset="0"/>
              </a:rPr>
              <a:t>urlencoded</a:t>
            </a:r>
            <a:br>
              <a:rPr lang="en-GB" sz="1200" dirty="0">
                <a:latin typeface="Courier New" pitchFamily="49" charset="0"/>
                <a:cs typeface="Courier New" pitchFamily="49" charset="0"/>
              </a:rPr>
            </a:br>
            <a:br>
              <a:rPr lang="en-GB" sz="1200" dirty="0">
                <a:latin typeface="Courier New" pitchFamily="49" charset="0"/>
                <a:cs typeface="Courier New" pitchFamily="49" charset="0"/>
              </a:rPr>
            </a:br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Courier New" pitchFamily="49" charset="0"/>
              </a:rPr>
              <a:t>This is also the </a:t>
            </a:r>
            <a:r>
              <a:rPr lang="en-GB" sz="1200" kern="1200" dirty="0" err="1">
                <a:solidFill>
                  <a:schemeClr val="tx1"/>
                </a:solidFill>
                <a:latin typeface="Arial" pitchFamily="34" charset="0"/>
                <a:ea typeface="+mn-ea"/>
                <a:cs typeface="Courier New" pitchFamily="49" charset="0"/>
              </a:rPr>
              <a:t>contentType</a:t>
            </a:r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Courier New" pitchFamily="49" charset="0"/>
              </a:rPr>
              <a:t> used by $.get(), and it is suitable for sending any text or ASCII data</a:t>
            </a:r>
            <a:endParaRPr lang="en-GB" sz="1200" dirty="0">
              <a:latin typeface="Courier New" pitchFamily="49" charset="0"/>
              <a:cs typeface="Courier New" pitchFamily="49" charset="0"/>
            </a:endParaRP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14713-63CF-4A9D-9D99-A9E61457A8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01210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07057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781425" y="9431338"/>
            <a:ext cx="2887663" cy="495300"/>
          </a:xfrm>
          <a:prstGeom prst="rect">
            <a:avLst/>
          </a:prstGeom>
        </p:spPr>
        <p:txBody>
          <a:bodyPr/>
          <a:lstStyle/>
          <a:p>
            <a:fld id="{0A2CDAE7-F989-4C53-9BEB-6107428F8F37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7871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81687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8671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905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&amp;A/what's next">
    <p:bg>
      <p:bgPr>
        <a:solidFill>
          <a:srgbClr val="EDCD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35880" y="0"/>
            <a:ext cx="705612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221280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llow us"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75020" y="0"/>
            <a:ext cx="631698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9864344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on Tips">
    <p:bg>
      <p:bgPr>
        <a:solidFill>
          <a:srgbClr val="EB6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54240" y="0"/>
            <a:ext cx="493776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198876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">
    <p:bg>
      <p:bgPr>
        <a:solidFill>
          <a:srgbClr val="09ED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44640" y="15240"/>
            <a:ext cx="5547360" cy="684276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656105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ousekeep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0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4" y="3433680"/>
            <a:ext cx="5627171" cy="968987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Housekeeping</a:t>
            </a:r>
            <a:endParaRPr lang="en-GB" noProof="0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4784" y="4894524"/>
            <a:ext cx="5627171" cy="1186921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Char char="•"/>
              <a:tabLst/>
              <a:defRPr sz="2000" b="0">
                <a:solidFill>
                  <a:schemeClr val="bg1"/>
                </a:solidFill>
              </a:defRPr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</p:spTree>
    <p:extLst>
      <p:ext uri="{BB962C8B-B14F-4D97-AF65-F5344CB8AC3E}">
        <p14:creationId xmlns:p14="http://schemas.microsoft.com/office/powerpoint/2010/main" val="4276879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et &amp; Greet 1">
    <p:bg>
      <p:bgPr>
        <a:solidFill>
          <a:srgbClr val="38E2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8881" y="-11575"/>
            <a:ext cx="8079261" cy="6875362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1706477"/>
            <a:ext cx="5002556" cy="808123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360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Meet &amp; Greet</a:t>
            </a:r>
            <a:endParaRPr lang="en-GB" noProof="0" dirty="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2915404"/>
            <a:ext cx="4278655" cy="34015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4045959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03 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9" y="1556247"/>
            <a:ext cx="581025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36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</a:t>
            </a:r>
            <a:br>
              <a:rPr lang="en-US" noProof="0" dirty="0"/>
            </a:br>
            <a:r>
              <a:rPr lang="en-US" noProof="0" dirty="0"/>
              <a:t>MASTER TITLE STYLE</a:t>
            </a:r>
            <a:endParaRPr lang="en-GB" noProof="0" dirty="0"/>
          </a:p>
        </p:txBody>
      </p:sp>
      <p:grpSp>
        <p:nvGrpSpPr>
          <p:cNvPr id="27" name="Group 26"/>
          <p:cNvGrpSpPr/>
          <p:nvPr userDrawn="1"/>
        </p:nvGrpSpPr>
        <p:grpSpPr>
          <a:xfrm>
            <a:off x="-2229" y="2361812"/>
            <a:ext cx="11067619" cy="4502135"/>
            <a:chOff x="-2229" y="2361812"/>
            <a:chExt cx="11067619" cy="4502135"/>
          </a:xfrm>
          <a:solidFill>
            <a:srgbClr val="004050"/>
          </a:solidFill>
        </p:grpSpPr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2229" y="49513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002921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4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 sz="2000"/>
            </a:lvl4pPr>
            <a:lvl5pPr marL="180000" indent="-1800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F3D0604-3EEB-7547-A86F-8B3EFC40A3EC}"/>
              </a:ext>
            </a:extLst>
          </p:cNvPr>
          <p:cNvSpPr/>
          <p:nvPr userDrawn="1"/>
        </p:nvSpPr>
        <p:spPr>
          <a:xfrm>
            <a:off x="384784" y="4504759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09EDB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rgbClr val="09EDB8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</p:spTree>
    <p:extLst>
      <p:ext uri="{BB962C8B-B14F-4D97-AF65-F5344CB8AC3E}">
        <p14:creationId xmlns:p14="http://schemas.microsoft.com/office/powerpoint/2010/main" val="3589945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09EDB8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370358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00EDB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114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vity 1">
    <p:bg>
      <p:bgPr>
        <a:solidFill>
          <a:srgbClr val="0EEE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68870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01 Section 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609" y="0"/>
            <a:ext cx="12192609" cy="685800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0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rgbClr val="004050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8" y="2779800"/>
            <a:ext cx="5627171" cy="1682133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36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405" y="399619"/>
            <a:ext cx="857393" cy="522401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758190" y="769620"/>
            <a:ext cx="379608" cy="11049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61448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5B5D0DF-4895-DB4F-85D9-C3FFDE55B8C8}"/>
              </a:ext>
            </a:extLst>
          </p:cNvPr>
          <p:cNvSpPr/>
          <p:nvPr userDrawn="1"/>
        </p:nvSpPr>
        <p:spPr>
          <a:xfrm>
            <a:off x="384784" y="4708688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887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28CFF9"/>
          </a:solidFill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822106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28CFF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4725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ctivity 1"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928947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03 Section Divider">
    <p:bg>
      <p:bgPr>
        <a:solidFill>
          <a:srgbClr val="F36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760859" y="768561"/>
            <a:ext cx="379608" cy="11049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376239" y="1556247"/>
            <a:ext cx="581025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3600" spc="6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</a:t>
            </a:r>
            <a:br>
              <a:rPr lang="en-US" noProof="0" dirty="0"/>
            </a:br>
            <a:r>
              <a:rPr lang="en-US" noProof="0" dirty="0"/>
              <a:t>MASTER TITLE STYLE</a:t>
            </a:r>
            <a:endParaRPr lang="en-GB" noProof="0" dirty="0"/>
          </a:p>
        </p:txBody>
      </p:sp>
      <p:grpSp>
        <p:nvGrpSpPr>
          <p:cNvPr id="6" name="Group 5"/>
          <p:cNvGrpSpPr/>
          <p:nvPr userDrawn="1"/>
        </p:nvGrpSpPr>
        <p:grpSpPr>
          <a:xfrm>
            <a:off x="-2229" y="2361812"/>
            <a:ext cx="11067619" cy="4502135"/>
            <a:chOff x="-2229" y="2361812"/>
            <a:chExt cx="11067619" cy="4502135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513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2235614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chemeClr val="bg1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-1717" y="4568506"/>
            <a:ext cx="4628886" cy="1406446"/>
            <a:chOff x="-1717" y="4568506"/>
            <a:chExt cx="4628886" cy="1406446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717" y="4568506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3713028" y="4568727"/>
              <a:ext cx="914141" cy="1401463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717" y="5379567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998918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8" name="Group 27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</p:grpSpPr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416148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F1612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0865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ctivity 1">
    <p:bg>
      <p:bgPr>
        <a:solidFill>
          <a:srgbClr val="F36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9377112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02 Section Divider">
    <p:bg>
      <p:bgPr>
        <a:solidFill>
          <a:srgbClr val="7E00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A0DD6AED-2202-DD48-A2D6-60CCC5F07320}"/>
              </a:ext>
            </a:extLst>
          </p:cNvPr>
          <p:cNvSpPr/>
          <p:nvPr userDrawn="1"/>
        </p:nvSpPr>
        <p:spPr>
          <a:xfrm>
            <a:off x="-609" y="2116538"/>
            <a:ext cx="11411496" cy="5526322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rgbClr val="F9125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8" y="2067007"/>
            <a:ext cx="5627171" cy="2353439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3600" spc="6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96745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7E00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chemeClr val="bg1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33" name="Group 32"/>
          <p:cNvGrpSpPr/>
          <p:nvPr userDrawn="1"/>
        </p:nvGrpSpPr>
        <p:grpSpPr>
          <a:xfrm>
            <a:off x="-1717" y="4568506"/>
            <a:ext cx="4628886" cy="1406446"/>
            <a:chOff x="-1717" y="4568506"/>
            <a:chExt cx="4628886" cy="1406446"/>
          </a:xfrm>
          <a:solidFill>
            <a:srgbClr val="F91258"/>
          </a:solidFill>
        </p:grpSpPr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717" y="4568506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3713028" y="4568727"/>
              <a:ext cx="914141" cy="1401463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717" y="5379567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345788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7E007C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5961484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7E007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464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Activity 1">
    <p:bg>
      <p:bgPr>
        <a:solidFill>
          <a:srgbClr val="7E00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chemeClr val="bg1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3175680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272" y="1368256"/>
            <a:ext cx="11516239" cy="49553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2588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3940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54460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con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1059427" y="3673998"/>
            <a:ext cx="2124159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0" indent="0">
              <a:buFont typeface="Arial" panose="020B0604020202020204" pitchFamily="34" charset="0"/>
              <a:buNone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3639645" y="3673998"/>
            <a:ext cx="2068065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6149996" y="3673998"/>
            <a:ext cx="2130523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7" name="Picture Placeholder 21"/>
          <p:cNvSpPr>
            <a:spLocks noGrp="1"/>
          </p:cNvSpPr>
          <p:nvPr>
            <p:ph type="pic" sz="quarter" idx="18" hasCustomPrompt="1"/>
          </p:nvPr>
        </p:nvSpPr>
        <p:spPr>
          <a:xfrm>
            <a:off x="1059428" y="1993484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8" name="Picture Placeholder 21"/>
          <p:cNvSpPr>
            <a:spLocks noGrp="1"/>
          </p:cNvSpPr>
          <p:nvPr>
            <p:ph type="pic" sz="quarter" idx="19" hasCustomPrompt="1"/>
          </p:nvPr>
        </p:nvSpPr>
        <p:spPr>
          <a:xfrm>
            <a:off x="3639646" y="1986408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9" name="Picture Placeholder 21"/>
          <p:cNvSpPr>
            <a:spLocks noGrp="1"/>
          </p:cNvSpPr>
          <p:nvPr>
            <p:ph type="pic" sz="quarter" idx="20" hasCustomPrompt="1"/>
          </p:nvPr>
        </p:nvSpPr>
        <p:spPr>
          <a:xfrm>
            <a:off x="6149997" y="1993484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8637070" y="3688989"/>
            <a:ext cx="2183449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1" name="Picture Placeholder 21"/>
          <p:cNvSpPr>
            <a:spLocks noGrp="1"/>
          </p:cNvSpPr>
          <p:nvPr>
            <p:ph type="pic" sz="quarter" idx="22" hasCustomPrompt="1"/>
          </p:nvPr>
        </p:nvSpPr>
        <p:spPr>
          <a:xfrm>
            <a:off x="8637071" y="2008475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89683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1065907" y="1986354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511826" y="1986354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5957745" y="1986353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8403664" y="1986352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7195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915467" y="1992793"/>
            <a:ext cx="464600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069809" y="1992792"/>
            <a:ext cx="464600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6117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7" hasCustomPrompt="1"/>
          </p:nvPr>
        </p:nvSpPr>
        <p:spPr>
          <a:xfrm>
            <a:off x="1080209" y="4307356"/>
            <a:ext cx="4646004" cy="2072171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buFont typeface="Arial" panose="020B0604020202020204" pitchFamily="34" charset="0"/>
              <a:buChar char="•"/>
              <a:defRPr sz="1800"/>
            </a:lvl2pPr>
            <a:lvl3pPr marL="0" indent="0">
              <a:buNone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80209" y="2003204"/>
            <a:ext cx="4645958" cy="2072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25914" y="2003203"/>
            <a:ext cx="4645958" cy="2072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925868" y="4307356"/>
            <a:ext cx="4646004" cy="2072171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25944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7913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Hope you enjoyed">
    <p:bg>
      <p:bgPr>
        <a:solidFill>
          <a:srgbClr val="09ED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63440" y="0"/>
            <a:ext cx="752856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0" y="2311970"/>
            <a:ext cx="3138017" cy="1908338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/>
            </a:lvl1pPr>
          </a:lstStyle>
          <a:p>
            <a:r>
              <a:rPr lang="en-US" noProof="0" dirty="0"/>
              <a:t>THANK YOU</a:t>
            </a:r>
            <a:endParaRPr lang="en-GB" noProof="0" dirty="0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1" y="5306004"/>
            <a:ext cx="4269826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b="0" baseline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Hope you enjoyed this learning journey.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-1698" y="3508800"/>
            <a:ext cx="7016130" cy="2425241"/>
            <a:chOff x="683" y="3508800"/>
            <a:chExt cx="7016130" cy="2425241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683" y="3508800"/>
              <a:ext cx="5938619" cy="102700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566 w 1668566"/>
                <a:gd name="connsiteY0" fmla="*/ 248186 h 248186"/>
                <a:gd name="connsiteX1" fmla="*/ 1 w 1668566"/>
                <a:gd name="connsiteY1" fmla="*/ 248186 h 248186"/>
                <a:gd name="connsiteX2" fmla="*/ 229815 w 1668566"/>
                <a:gd name="connsiteY2" fmla="*/ 194032 h 248186"/>
                <a:gd name="connsiteX3" fmla="*/ 1522580 w 1668566"/>
                <a:gd name="connsiteY3" fmla="*/ 192497 h 248186"/>
                <a:gd name="connsiteX4" fmla="*/ 1375895 w 1668566"/>
                <a:gd name="connsiteY4" fmla="*/ 219 h 248186"/>
                <a:gd name="connsiteX5" fmla="*/ 1433934 w 1668566"/>
                <a:gd name="connsiteY5" fmla="*/ 219 h 248186"/>
                <a:gd name="connsiteX6" fmla="*/ 1454190 w 1668566"/>
                <a:gd name="connsiteY6" fmla="*/ 12347 h 248186"/>
                <a:gd name="connsiteX7" fmla="*/ 1518706 w 1668566"/>
                <a:gd name="connsiteY7" fmla="*/ 105057 h 248186"/>
                <a:gd name="connsiteX8" fmla="*/ 1662725 w 1668566"/>
                <a:gd name="connsiteY8" fmla="*/ 242090 h 248186"/>
                <a:gd name="connsiteX9" fmla="*/ 1667931 w 1668566"/>
                <a:gd name="connsiteY9" fmla="*/ 246535 h 248186"/>
                <a:gd name="connsiteX10" fmla="*/ 1668566 w 1668566"/>
                <a:gd name="connsiteY10" fmla="*/ 248186 h 248186"/>
                <a:gd name="connsiteX0" fmla="*/ 1440017 w 1440017"/>
                <a:gd name="connsiteY0" fmla="*/ 248186 h 248186"/>
                <a:gd name="connsiteX1" fmla="*/ 62 w 1440017"/>
                <a:gd name="connsiteY1" fmla="*/ 248186 h 248186"/>
                <a:gd name="connsiteX2" fmla="*/ 1266 w 1440017"/>
                <a:gd name="connsiteY2" fmla="*/ 194032 h 248186"/>
                <a:gd name="connsiteX3" fmla="*/ 1294031 w 1440017"/>
                <a:gd name="connsiteY3" fmla="*/ 192497 h 248186"/>
                <a:gd name="connsiteX4" fmla="*/ 1147346 w 1440017"/>
                <a:gd name="connsiteY4" fmla="*/ 219 h 248186"/>
                <a:gd name="connsiteX5" fmla="*/ 1205385 w 1440017"/>
                <a:gd name="connsiteY5" fmla="*/ 219 h 248186"/>
                <a:gd name="connsiteX6" fmla="*/ 1225641 w 1440017"/>
                <a:gd name="connsiteY6" fmla="*/ 12347 h 248186"/>
                <a:gd name="connsiteX7" fmla="*/ 1290157 w 1440017"/>
                <a:gd name="connsiteY7" fmla="*/ 105057 h 248186"/>
                <a:gd name="connsiteX8" fmla="*/ 1434176 w 1440017"/>
                <a:gd name="connsiteY8" fmla="*/ 242090 h 248186"/>
                <a:gd name="connsiteX9" fmla="*/ 1439382 w 1440017"/>
                <a:gd name="connsiteY9" fmla="*/ 246535 h 248186"/>
                <a:gd name="connsiteX10" fmla="*/ 1440017 w 1440017"/>
                <a:gd name="connsiteY10" fmla="*/ 248186 h 248186"/>
                <a:gd name="connsiteX0" fmla="*/ 1439987 w 1439987"/>
                <a:gd name="connsiteY0" fmla="*/ 248186 h 248186"/>
                <a:gd name="connsiteX1" fmla="*/ 32 w 1439987"/>
                <a:gd name="connsiteY1" fmla="*/ 248186 h 248186"/>
                <a:gd name="connsiteX2" fmla="*/ 3538 w 1439987"/>
                <a:gd name="connsiteY2" fmla="*/ 192881 h 248186"/>
                <a:gd name="connsiteX3" fmla="*/ 1294001 w 1439987"/>
                <a:gd name="connsiteY3" fmla="*/ 192497 h 248186"/>
                <a:gd name="connsiteX4" fmla="*/ 1147316 w 1439987"/>
                <a:gd name="connsiteY4" fmla="*/ 219 h 248186"/>
                <a:gd name="connsiteX5" fmla="*/ 1205355 w 1439987"/>
                <a:gd name="connsiteY5" fmla="*/ 219 h 248186"/>
                <a:gd name="connsiteX6" fmla="*/ 1225611 w 1439987"/>
                <a:gd name="connsiteY6" fmla="*/ 12347 h 248186"/>
                <a:gd name="connsiteX7" fmla="*/ 1290127 w 1439987"/>
                <a:gd name="connsiteY7" fmla="*/ 105057 h 248186"/>
                <a:gd name="connsiteX8" fmla="*/ 1434146 w 1439987"/>
                <a:gd name="connsiteY8" fmla="*/ 242090 h 248186"/>
                <a:gd name="connsiteX9" fmla="*/ 1439352 w 1439987"/>
                <a:gd name="connsiteY9" fmla="*/ 246535 h 248186"/>
                <a:gd name="connsiteX10" fmla="*/ 1439987 w 1439987"/>
                <a:gd name="connsiteY10" fmla="*/ 248186 h 248186"/>
                <a:gd name="connsiteX0" fmla="*/ 1436625 w 1436625"/>
                <a:gd name="connsiteY0" fmla="*/ 248186 h 248186"/>
                <a:gd name="connsiteX1" fmla="*/ 122 w 1436625"/>
                <a:gd name="connsiteY1" fmla="*/ 248186 h 248186"/>
                <a:gd name="connsiteX2" fmla="*/ 176 w 1436625"/>
                <a:gd name="connsiteY2" fmla="*/ 192881 h 248186"/>
                <a:gd name="connsiteX3" fmla="*/ 1290639 w 1436625"/>
                <a:gd name="connsiteY3" fmla="*/ 192497 h 248186"/>
                <a:gd name="connsiteX4" fmla="*/ 1143954 w 1436625"/>
                <a:gd name="connsiteY4" fmla="*/ 219 h 248186"/>
                <a:gd name="connsiteX5" fmla="*/ 1201993 w 1436625"/>
                <a:gd name="connsiteY5" fmla="*/ 219 h 248186"/>
                <a:gd name="connsiteX6" fmla="*/ 1222249 w 1436625"/>
                <a:gd name="connsiteY6" fmla="*/ 12347 h 248186"/>
                <a:gd name="connsiteX7" fmla="*/ 1286765 w 1436625"/>
                <a:gd name="connsiteY7" fmla="*/ 105057 h 248186"/>
                <a:gd name="connsiteX8" fmla="*/ 1430784 w 1436625"/>
                <a:gd name="connsiteY8" fmla="*/ 242090 h 248186"/>
                <a:gd name="connsiteX9" fmla="*/ 1435990 w 1436625"/>
                <a:gd name="connsiteY9" fmla="*/ 246535 h 248186"/>
                <a:gd name="connsiteX10" fmla="*/ 1436625 w 1436625"/>
                <a:gd name="connsiteY10" fmla="*/ 248186 h 248186"/>
                <a:gd name="connsiteX0" fmla="*/ 1436553 w 1436553"/>
                <a:gd name="connsiteY0" fmla="*/ 248186 h 248186"/>
                <a:gd name="connsiteX1" fmla="*/ 50 w 1436553"/>
                <a:gd name="connsiteY1" fmla="*/ 248186 h 248186"/>
                <a:gd name="connsiteX2" fmla="*/ 1830 w 1436553"/>
                <a:gd name="connsiteY2" fmla="*/ 192881 h 248186"/>
                <a:gd name="connsiteX3" fmla="*/ 1290567 w 1436553"/>
                <a:gd name="connsiteY3" fmla="*/ 192497 h 248186"/>
                <a:gd name="connsiteX4" fmla="*/ 1143882 w 1436553"/>
                <a:gd name="connsiteY4" fmla="*/ 219 h 248186"/>
                <a:gd name="connsiteX5" fmla="*/ 1201921 w 1436553"/>
                <a:gd name="connsiteY5" fmla="*/ 219 h 248186"/>
                <a:gd name="connsiteX6" fmla="*/ 1222177 w 1436553"/>
                <a:gd name="connsiteY6" fmla="*/ 12347 h 248186"/>
                <a:gd name="connsiteX7" fmla="*/ 1286693 w 1436553"/>
                <a:gd name="connsiteY7" fmla="*/ 105057 h 248186"/>
                <a:gd name="connsiteX8" fmla="*/ 1430712 w 1436553"/>
                <a:gd name="connsiteY8" fmla="*/ 242090 h 248186"/>
                <a:gd name="connsiteX9" fmla="*/ 1435918 w 1436553"/>
                <a:gd name="connsiteY9" fmla="*/ 246535 h 248186"/>
                <a:gd name="connsiteX10" fmla="*/ 1436553 w 1436553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34899" h="248186">
                  <a:moveTo>
                    <a:pt x="1434899" y="248186"/>
                  </a:moveTo>
                  <a:lnTo>
                    <a:pt x="122" y="248186"/>
                  </a:lnTo>
                  <a:cubicBezTo>
                    <a:pt x="-319" y="229623"/>
                    <a:pt x="617" y="211444"/>
                    <a:pt x="176" y="192881"/>
                  </a:cubicBezTo>
                  <a:lnTo>
                    <a:pt x="1288913" y="192497"/>
                  </a:lnTo>
                  <a:cubicBezTo>
                    <a:pt x="1231064" y="134140"/>
                    <a:pt x="1177788" y="74768"/>
                    <a:pt x="1142228" y="219"/>
                  </a:cubicBezTo>
                  <a:cubicBezTo>
                    <a:pt x="1162611" y="219"/>
                    <a:pt x="1181471" y="854"/>
                    <a:pt x="1200267" y="219"/>
                  </a:cubicBezTo>
                  <a:cubicBezTo>
                    <a:pt x="1209059" y="-1141"/>
                    <a:pt x="1217571" y="3956"/>
                    <a:pt x="1220523" y="12347"/>
                  </a:cubicBezTo>
                  <a:cubicBezTo>
                    <a:pt x="1238085" y="45816"/>
                    <a:pt x="1259758" y="76961"/>
                    <a:pt x="1285039" y="105057"/>
                  </a:cubicBezTo>
                  <a:cubicBezTo>
                    <a:pt x="1328667" y="155126"/>
                    <a:pt x="1376883" y="201004"/>
                    <a:pt x="1429058" y="242090"/>
                  </a:cubicBezTo>
                  <a:cubicBezTo>
                    <a:pt x="1430836" y="243551"/>
                    <a:pt x="1432613" y="245011"/>
                    <a:pt x="1434264" y="246535"/>
                  </a:cubicBezTo>
                  <a:cubicBezTo>
                    <a:pt x="1434582" y="246599"/>
                    <a:pt x="1434582" y="247170"/>
                    <a:pt x="1434899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 userDrawn="1"/>
          </p:nvSpPr>
          <p:spPr>
            <a:xfrm>
              <a:off x="5439970" y="3509181"/>
              <a:ext cx="1576843" cy="2417447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683" y="4907035"/>
              <a:ext cx="5938619" cy="102700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566 w 1668566"/>
                <a:gd name="connsiteY0" fmla="*/ 248186 h 248186"/>
                <a:gd name="connsiteX1" fmla="*/ 1 w 1668566"/>
                <a:gd name="connsiteY1" fmla="*/ 248186 h 248186"/>
                <a:gd name="connsiteX2" fmla="*/ 229815 w 1668566"/>
                <a:gd name="connsiteY2" fmla="*/ 194032 h 248186"/>
                <a:gd name="connsiteX3" fmla="*/ 1522580 w 1668566"/>
                <a:gd name="connsiteY3" fmla="*/ 192497 h 248186"/>
                <a:gd name="connsiteX4" fmla="*/ 1375895 w 1668566"/>
                <a:gd name="connsiteY4" fmla="*/ 219 h 248186"/>
                <a:gd name="connsiteX5" fmla="*/ 1433934 w 1668566"/>
                <a:gd name="connsiteY5" fmla="*/ 219 h 248186"/>
                <a:gd name="connsiteX6" fmla="*/ 1454190 w 1668566"/>
                <a:gd name="connsiteY6" fmla="*/ 12347 h 248186"/>
                <a:gd name="connsiteX7" fmla="*/ 1518706 w 1668566"/>
                <a:gd name="connsiteY7" fmla="*/ 105057 h 248186"/>
                <a:gd name="connsiteX8" fmla="*/ 1662725 w 1668566"/>
                <a:gd name="connsiteY8" fmla="*/ 242090 h 248186"/>
                <a:gd name="connsiteX9" fmla="*/ 1667931 w 1668566"/>
                <a:gd name="connsiteY9" fmla="*/ 246535 h 248186"/>
                <a:gd name="connsiteX10" fmla="*/ 1668566 w 1668566"/>
                <a:gd name="connsiteY10" fmla="*/ 248186 h 248186"/>
                <a:gd name="connsiteX0" fmla="*/ 1440017 w 1440017"/>
                <a:gd name="connsiteY0" fmla="*/ 248186 h 248186"/>
                <a:gd name="connsiteX1" fmla="*/ 62 w 1440017"/>
                <a:gd name="connsiteY1" fmla="*/ 248186 h 248186"/>
                <a:gd name="connsiteX2" fmla="*/ 1266 w 1440017"/>
                <a:gd name="connsiteY2" fmla="*/ 194032 h 248186"/>
                <a:gd name="connsiteX3" fmla="*/ 1294031 w 1440017"/>
                <a:gd name="connsiteY3" fmla="*/ 192497 h 248186"/>
                <a:gd name="connsiteX4" fmla="*/ 1147346 w 1440017"/>
                <a:gd name="connsiteY4" fmla="*/ 219 h 248186"/>
                <a:gd name="connsiteX5" fmla="*/ 1205385 w 1440017"/>
                <a:gd name="connsiteY5" fmla="*/ 219 h 248186"/>
                <a:gd name="connsiteX6" fmla="*/ 1225641 w 1440017"/>
                <a:gd name="connsiteY6" fmla="*/ 12347 h 248186"/>
                <a:gd name="connsiteX7" fmla="*/ 1290157 w 1440017"/>
                <a:gd name="connsiteY7" fmla="*/ 105057 h 248186"/>
                <a:gd name="connsiteX8" fmla="*/ 1434176 w 1440017"/>
                <a:gd name="connsiteY8" fmla="*/ 242090 h 248186"/>
                <a:gd name="connsiteX9" fmla="*/ 1439382 w 1440017"/>
                <a:gd name="connsiteY9" fmla="*/ 246535 h 248186"/>
                <a:gd name="connsiteX10" fmla="*/ 1440017 w 1440017"/>
                <a:gd name="connsiteY10" fmla="*/ 248186 h 248186"/>
                <a:gd name="connsiteX0" fmla="*/ 1439987 w 1439987"/>
                <a:gd name="connsiteY0" fmla="*/ 248186 h 248186"/>
                <a:gd name="connsiteX1" fmla="*/ 32 w 1439987"/>
                <a:gd name="connsiteY1" fmla="*/ 248186 h 248186"/>
                <a:gd name="connsiteX2" fmla="*/ 3538 w 1439987"/>
                <a:gd name="connsiteY2" fmla="*/ 192881 h 248186"/>
                <a:gd name="connsiteX3" fmla="*/ 1294001 w 1439987"/>
                <a:gd name="connsiteY3" fmla="*/ 192497 h 248186"/>
                <a:gd name="connsiteX4" fmla="*/ 1147316 w 1439987"/>
                <a:gd name="connsiteY4" fmla="*/ 219 h 248186"/>
                <a:gd name="connsiteX5" fmla="*/ 1205355 w 1439987"/>
                <a:gd name="connsiteY5" fmla="*/ 219 h 248186"/>
                <a:gd name="connsiteX6" fmla="*/ 1225611 w 1439987"/>
                <a:gd name="connsiteY6" fmla="*/ 12347 h 248186"/>
                <a:gd name="connsiteX7" fmla="*/ 1290127 w 1439987"/>
                <a:gd name="connsiteY7" fmla="*/ 105057 h 248186"/>
                <a:gd name="connsiteX8" fmla="*/ 1434146 w 1439987"/>
                <a:gd name="connsiteY8" fmla="*/ 242090 h 248186"/>
                <a:gd name="connsiteX9" fmla="*/ 1439352 w 1439987"/>
                <a:gd name="connsiteY9" fmla="*/ 246535 h 248186"/>
                <a:gd name="connsiteX10" fmla="*/ 1439987 w 1439987"/>
                <a:gd name="connsiteY10" fmla="*/ 248186 h 248186"/>
                <a:gd name="connsiteX0" fmla="*/ 1436625 w 1436625"/>
                <a:gd name="connsiteY0" fmla="*/ 248186 h 248186"/>
                <a:gd name="connsiteX1" fmla="*/ 122 w 1436625"/>
                <a:gd name="connsiteY1" fmla="*/ 248186 h 248186"/>
                <a:gd name="connsiteX2" fmla="*/ 176 w 1436625"/>
                <a:gd name="connsiteY2" fmla="*/ 192881 h 248186"/>
                <a:gd name="connsiteX3" fmla="*/ 1290639 w 1436625"/>
                <a:gd name="connsiteY3" fmla="*/ 192497 h 248186"/>
                <a:gd name="connsiteX4" fmla="*/ 1143954 w 1436625"/>
                <a:gd name="connsiteY4" fmla="*/ 219 h 248186"/>
                <a:gd name="connsiteX5" fmla="*/ 1201993 w 1436625"/>
                <a:gd name="connsiteY5" fmla="*/ 219 h 248186"/>
                <a:gd name="connsiteX6" fmla="*/ 1222249 w 1436625"/>
                <a:gd name="connsiteY6" fmla="*/ 12347 h 248186"/>
                <a:gd name="connsiteX7" fmla="*/ 1286765 w 1436625"/>
                <a:gd name="connsiteY7" fmla="*/ 105057 h 248186"/>
                <a:gd name="connsiteX8" fmla="*/ 1430784 w 1436625"/>
                <a:gd name="connsiteY8" fmla="*/ 242090 h 248186"/>
                <a:gd name="connsiteX9" fmla="*/ 1435990 w 1436625"/>
                <a:gd name="connsiteY9" fmla="*/ 246535 h 248186"/>
                <a:gd name="connsiteX10" fmla="*/ 1436625 w 1436625"/>
                <a:gd name="connsiteY10" fmla="*/ 248186 h 248186"/>
                <a:gd name="connsiteX0" fmla="*/ 1436553 w 1436553"/>
                <a:gd name="connsiteY0" fmla="*/ 248186 h 248186"/>
                <a:gd name="connsiteX1" fmla="*/ 50 w 1436553"/>
                <a:gd name="connsiteY1" fmla="*/ 248186 h 248186"/>
                <a:gd name="connsiteX2" fmla="*/ 1830 w 1436553"/>
                <a:gd name="connsiteY2" fmla="*/ 192881 h 248186"/>
                <a:gd name="connsiteX3" fmla="*/ 1290567 w 1436553"/>
                <a:gd name="connsiteY3" fmla="*/ 192497 h 248186"/>
                <a:gd name="connsiteX4" fmla="*/ 1143882 w 1436553"/>
                <a:gd name="connsiteY4" fmla="*/ 219 h 248186"/>
                <a:gd name="connsiteX5" fmla="*/ 1201921 w 1436553"/>
                <a:gd name="connsiteY5" fmla="*/ 219 h 248186"/>
                <a:gd name="connsiteX6" fmla="*/ 1222177 w 1436553"/>
                <a:gd name="connsiteY6" fmla="*/ 12347 h 248186"/>
                <a:gd name="connsiteX7" fmla="*/ 1286693 w 1436553"/>
                <a:gd name="connsiteY7" fmla="*/ 105057 h 248186"/>
                <a:gd name="connsiteX8" fmla="*/ 1430712 w 1436553"/>
                <a:gd name="connsiteY8" fmla="*/ 242090 h 248186"/>
                <a:gd name="connsiteX9" fmla="*/ 1435918 w 1436553"/>
                <a:gd name="connsiteY9" fmla="*/ 246535 h 248186"/>
                <a:gd name="connsiteX10" fmla="*/ 1436553 w 1436553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34899" h="248186">
                  <a:moveTo>
                    <a:pt x="1434899" y="248186"/>
                  </a:moveTo>
                  <a:lnTo>
                    <a:pt x="122" y="248186"/>
                  </a:lnTo>
                  <a:cubicBezTo>
                    <a:pt x="-319" y="229623"/>
                    <a:pt x="617" y="211444"/>
                    <a:pt x="176" y="192881"/>
                  </a:cubicBezTo>
                  <a:lnTo>
                    <a:pt x="1288913" y="192497"/>
                  </a:lnTo>
                  <a:cubicBezTo>
                    <a:pt x="1231064" y="134140"/>
                    <a:pt x="1177788" y="74768"/>
                    <a:pt x="1142228" y="219"/>
                  </a:cubicBezTo>
                  <a:cubicBezTo>
                    <a:pt x="1162611" y="219"/>
                    <a:pt x="1181471" y="854"/>
                    <a:pt x="1200267" y="219"/>
                  </a:cubicBezTo>
                  <a:cubicBezTo>
                    <a:pt x="1209059" y="-1141"/>
                    <a:pt x="1217571" y="3956"/>
                    <a:pt x="1220523" y="12347"/>
                  </a:cubicBezTo>
                  <a:cubicBezTo>
                    <a:pt x="1238085" y="45816"/>
                    <a:pt x="1259758" y="76961"/>
                    <a:pt x="1285039" y="105057"/>
                  </a:cubicBezTo>
                  <a:cubicBezTo>
                    <a:pt x="1328667" y="155126"/>
                    <a:pt x="1376883" y="201004"/>
                    <a:pt x="1429058" y="242090"/>
                  </a:cubicBezTo>
                  <a:cubicBezTo>
                    <a:pt x="1430836" y="243551"/>
                    <a:pt x="1432613" y="245011"/>
                    <a:pt x="1434264" y="246535"/>
                  </a:cubicBezTo>
                  <a:cubicBezTo>
                    <a:pt x="1434582" y="246599"/>
                    <a:pt x="1434582" y="247170"/>
                    <a:pt x="1434899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887849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A Template_Mai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190463" y="928670"/>
            <a:ext cx="11715792" cy="5214974"/>
          </a:xfrm>
        </p:spPr>
        <p:txBody>
          <a:bodyPr/>
          <a:lstStyle>
            <a:lvl1pPr>
              <a:spcBef>
                <a:spcPts val="1200"/>
              </a:spcBef>
              <a:defRPr b="1"/>
            </a:lvl1pPr>
            <a:lvl2pPr>
              <a:spcBef>
                <a:spcPts val="600"/>
              </a:spcBef>
              <a:defRPr/>
            </a:lvl2pPr>
            <a:lvl3pPr>
              <a:spcBef>
                <a:spcPts val="600"/>
              </a:spcBef>
              <a:defRPr/>
            </a:lvl3pPr>
            <a:lvl4pPr>
              <a:spcBef>
                <a:spcPts val="600"/>
              </a:spcBef>
              <a:defRPr/>
            </a:lvl4pPr>
            <a:lvl5pPr>
              <a:spcBef>
                <a:spcPts val="6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90459" y="357166"/>
            <a:ext cx="11715832" cy="5004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GB" sz="2400" b="1" kern="1200" baseline="0" dirty="0" smtClean="0">
                <a:solidFill>
                  <a:srgbClr val="0070C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marL="342900" lvl="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8785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41272" y="1368256"/>
            <a:ext cx="11516239" cy="49553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4" y="6584738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1" i="0">
                <a:solidFill>
                  <a:schemeClr val="bg1">
                    <a:lumMod val="50000"/>
                  </a:schemeClr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464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798" r:id="rId4"/>
    <p:sldLayoutId id="2147483806" r:id="rId5"/>
    <p:sldLayoutId id="2147483709" r:id="rId6"/>
    <p:sldLayoutId id="2147483822" r:id="rId7"/>
    <p:sldLayoutId id="2147483802" r:id="rId8"/>
    <p:sldLayoutId id="2147483792" r:id="rId9"/>
    <p:sldLayoutId id="2147483810" r:id="rId10"/>
    <p:sldLayoutId id="2147483804" r:id="rId11"/>
    <p:sldLayoutId id="2147483821" r:id="rId12"/>
    <p:sldLayoutId id="2147483824" r:id="rId13"/>
    <p:sldLayoutId id="2147483828" r:id="rId14"/>
    <p:sldLayoutId id="2147483853" r:id="rId15"/>
    <p:sldLayoutId id="2147483899" r:id="rId16"/>
    <p:sldLayoutId id="2147483832" r:id="rId17"/>
    <p:sldLayoutId id="2147483833" r:id="rId18"/>
    <p:sldLayoutId id="2147483836" r:id="rId19"/>
    <p:sldLayoutId id="2147483852" r:id="rId20"/>
    <p:sldLayoutId id="2147483900" r:id="rId21"/>
    <p:sldLayoutId id="2147483820" r:id="rId22"/>
    <p:sldLayoutId id="2147483842" r:id="rId23"/>
    <p:sldLayoutId id="2147483845" r:id="rId24"/>
    <p:sldLayoutId id="2147483851" r:id="rId25"/>
    <p:sldLayoutId id="2147483901" r:id="rId26"/>
    <p:sldLayoutId id="2147483650" r:id="rId27"/>
    <p:sldLayoutId id="2147483734" r:id="rId28"/>
    <p:sldLayoutId id="2147483796" r:id="rId29"/>
    <p:sldLayoutId id="2147483719" r:id="rId30"/>
    <p:sldLayoutId id="2147483721" r:id="rId31"/>
    <p:sldLayoutId id="2147483724" r:id="rId32"/>
    <p:sldLayoutId id="2147483797" r:id="rId33"/>
    <p:sldLayoutId id="2147483814" r:id="rId34"/>
    <p:sldLayoutId id="2147483903" r:id="rId35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0" i="0" kern="1200" cap="none" baseline="0">
          <a:solidFill>
            <a:schemeClr val="tx1"/>
          </a:solidFill>
          <a:latin typeface="Krana Fat B" panose="00000B00000000000000" pitchFamily="50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15000"/>
        <a:buFontTx/>
        <a:buNone/>
        <a:defRPr sz="20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5000"/>
        <a:buFontTx/>
        <a:buBlip>
          <a:blip r:embed="rId37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0000"/>
        <a:buFontTx/>
        <a:buBlip>
          <a:blip r:embed="rId37"/>
        </a:buBlip>
        <a:tabLst/>
        <a:defRPr sz="20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0000"/>
        <a:buFontTx/>
        <a:buBlip>
          <a:blip r:embed="rId37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5000"/>
        <a:buFontTx/>
        <a:buBlip>
          <a:blip r:embed="rId37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" userDrawn="1">
          <p15:clr>
            <a:srgbClr val="F26B43"/>
          </p15:clr>
        </p15:guide>
        <p15:guide id="2" orient="horz" pos="4081" userDrawn="1">
          <p15:clr>
            <a:srgbClr val="F26B43"/>
          </p15:clr>
        </p15:guide>
        <p15:guide id="3" pos="237" userDrawn="1">
          <p15:clr>
            <a:srgbClr val="F26B43"/>
          </p15:clr>
        </p15:guide>
        <p15:guide id="4" pos="732" userDrawn="1">
          <p15:clr>
            <a:srgbClr val="F26B43"/>
          </p15:clr>
        </p15:guide>
        <p15:guide id="5" pos="850" userDrawn="1">
          <p15:clr>
            <a:srgbClr val="F26B43"/>
          </p15:clr>
        </p15:guide>
        <p15:guide id="6" pos="1345" userDrawn="1">
          <p15:clr>
            <a:srgbClr val="F26B43"/>
          </p15:clr>
        </p15:guide>
        <p15:guide id="7" pos="1460" userDrawn="1">
          <p15:clr>
            <a:srgbClr val="F26B43"/>
          </p15:clr>
        </p15:guide>
        <p15:guide id="8" pos="1954" userDrawn="1">
          <p15:clr>
            <a:srgbClr val="F26B43"/>
          </p15:clr>
        </p15:guide>
        <p15:guide id="9" pos="2069" userDrawn="1">
          <p15:clr>
            <a:srgbClr val="F26B43"/>
          </p15:clr>
        </p15:guide>
        <p15:guide id="10" pos="2564" userDrawn="1">
          <p15:clr>
            <a:srgbClr val="F26B43"/>
          </p15:clr>
        </p15:guide>
        <p15:guide id="11" pos="2683" userDrawn="1">
          <p15:clr>
            <a:srgbClr val="F26B43"/>
          </p15:clr>
        </p15:guide>
        <p15:guide id="12" pos="3173" userDrawn="1">
          <p15:clr>
            <a:srgbClr val="F26B43"/>
          </p15:clr>
        </p15:guide>
        <p15:guide id="13" pos="3288" userDrawn="1">
          <p15:clr>
            <a:srgbClr val="F26B43"/>
          </p15:clr>
        </p15:guide>
        <p15:guide id="14" pos="3782" userDrawn="1">
          <p15:clr>
            <a:srgbClr val="F26B43"/>
          </p15:clr>
        </p15:guide>
        <p15:guide id="15" pos="3897" userDrawn="1">
          <p15:clr>
            <a:srgbClr val="F26B43"/>
          </p15:clr>
        </p15:guide>
        <p15:guide id="16" pos="4392" userDrawn="1">
          <p15:clr>
            <a:srgbClr val="F26B43"/>
          </p15:clr>
        </p15:guide>
        <p15:guide id="17" pos="4506" userDrawn="1">
          <p15:clr>
            <a:srgbClr val="F26B43"/>
          </p15:clr>
        </p15:guide>
        <p15:guide id="18" pos="5001" userDrawn="1">
          <p15:clr>
            <a:srgbClr val="F26B43"/>
          </p15:clr>
        </p15:guide>
        <p15:guide id="19" pos="5115" userDrawn="1">
          <p15:clr>
            <a:srgbClr val="F26B43"/>
          </p15:clr>
        </p15:guide>
        <p15:guide id="20" pos="5610" userDrawn="1">
          <p15:clr>
            <a:srgbClr val="F26B43"/>
          </p15:clr>
        </p15:guide>
        <p15:guide id="21" pos="5725" userDrawn="1">
          <p15:clr>
            <a:srgbClr val="F26B43"/>
          </p15:clr>
        </p15:guide>
        <p15:guide id="22" pos="6220" userDrawn="1">
          <p15:clr>
            <a:srgbClr val="F26B43"/>
          </p15:clr>
        </p15:guide>
        <p15:guide id="23" pos="6334" userDrawn="1">
          <p15:clr>
            <a:srgbClr val="F26B43"/>
          </p15:clr>
        </p15:guide>
        <p15:guide id="24" pos="6829" userDrawn="1">
          <p15:clr>
            <a:srgbClr val="F26B43"/>
          </p15:clr>
        </p15:guide>
        <p15:guide id="25" pos="6943" userDrawn="1">
          <p15:clr>
            <a:srgbClr val="F26B43"/>
          </p15:clr>
        </p15:guide>
        <p15:guide id="26" pos="7438" userDrawn="1">
          <p15:clr>
            <a:srgbClr val="F26B43"/>
          </p15:clr>
        </p15:guide>
        <p15:guide id="27" pos="3840" userDrawn="1">
          <p15:clr>
            <a:srgbClr val="9FCC3B"/>
          </p15:clr>
        </p15:guide>
        <p15:guide id="28" orient="horz" pos="2160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17F2E4-2388-4BDB-A4BF-19CA4DA3329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N" sz="2000" dirty="0" err="1"/>
              <a:t>JQuery</a:t>
            </a:r>
            <a:endParaRPr lang="en-IN" sz="2000" dirty="0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GB" dirty="0"/>
              <a:t>Web Development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ctrTitle"/>
          </p:nvPr>
        </p:nvSpPr>
        <p:spPr>
          <a:xfrm>
            <a:off x="376239" y="1556247"/>
            <a:ext cx="5810250" cy="2277604"/>
          </a:xfrm>
        </p:spPr>
        <p:txBody>
          <a:bodyPr/>
          <a:lstStyle/>
          <a:p>
            <a:r>
              <a:rPr lang="en-GB"/>
              <a:t>Asynchronous </a:t>
            </a:r>
            <a:r>
              <a:rPr lang="en-GB" dirty="0"/>
              <a:t>JavaScript and XML Ajax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247F2C3-78A7-40C6-AF52-994495133E3E}"/>
              </a:ext>
            </a:extLst>
          </p:cNvPr>
          <p:cNvSpPr txBox="1">
            <a:spLocks/>
          </p:cNvSpPr>
          <p:nvPr/>
        </p:nvSpPr>
        <p:spPr>
          <a:xfrm>
            <a:off x="376239" y="5608948"/>
            <a:ext cx="6480175" cy="44273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15000"/>
              <a:buFontTx/>
              <a:buNone/>
              <a:defRPr sz="20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5000"/>
              <a:buFontTx/>
              <a:buBlip>
                <a:blip r:embed="rId3"/>
              </a:buBlip>
              <a:tabLst/>
              <a:defRPr sz="20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0000"/>
              <a:buFontTx/>
              <a:buBlip>
                <a:blip r:embed="rId3"/>
              </a:buBlip>
              <a:tabLst/>
              <a:defRPr sz="20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0000"/>
              <a:buFontTx/>
              <a:buBlip>
                <a:blip r:embed="rId3"/>
              </a:buBlip>
              <a:tabLst/>
              <a:defRPr sz="20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5000"/>
              <a:buFontTx/>
              <a:buBlip>
                <a:blip r:embed="rId3"/>
              </a:buBlip>
              <a:tabLst/>
              <a:defRPr sz="20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7686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3DA7F3-1B44-49D8-BC85-BB9E890876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Objectives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FCAC35-3EF0-47E3-8FCB-859A00492D1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b="1" dirty="0"/>
              <a:t>In this chapter you'll learn</a:t>
            </a:r>
          </a:p>
          <a:p>
            <a:pPr marL="342900" lvl="1" indent="-342900">
              <a:buSzPct val="115000"/>
            </a:pPr>
            <a:r>
              <a:rPr lang="en-GB" dirty="0"/>
              <a:t>What Ajax is</a:t>
            </a:r>
          </a:p>
          <a:p>
            <a:pPr marL="342900" lvl="1" indent="-342900">
              <a:buSzPct val="115000"/>
            </a:pPr>
            <a:r>
              <a:rPr lang="en-GB" dirty="0"/>
              <a:t>When to use it</a:t>
            </a:r>
          </a:p>
          <a:p>
            <a:pPr marL="342900" lvl="1" indent="-342900">
              <a:buSzPct val="115000"/>
            </a:pPr>
            <a:r>
              <a:rPr lang="en-GB" dirty="0"/>
              <a:t>How to use </a:t>
            </a:r>
            <a:r>
              <a:rPr lang="en-GB" dirty="0" err="1"/>
              <a:t>JQuery</a:t>
            </a:r>
            <a:r>
              <a:rPr lang="en-GB" dirty="0"/>
              <a:t> to call APIs</a:t>
            </a:r>
          </a:p>
          <a:p>
            <a:pPr marL="342900" lvl="1" indent="-342900">
              <a:buSzPct val="115000"/>
            </a:pPr>
            <a:r>
              <a:rPr lang="en-GB" dirty="0"/>
              <a:t>How to capture information from an API</a:t>
            </a:r>
          </a:p>
          <a:p>
            <a:pPr marL="342900" indent="-342900"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1367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960CD1-FDCA-4F13-9A26-D9F8FBC2A6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26623" y="1722570"/>
            <a:ext cx="4646004" cy="437632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GB" b="1" dirty="0"/>
              <a:t> Benefits of using Ajax</a:t>
            </a:r>
          </a:p>
          <a:p>
            <a:pPr marL="342900" lvl="1" indent="-342900">
              <a:buSzPct val="115000"/>
            </a:pPr>
            <a:endParaRPr lang="en-US" dirty="0"/>
          </a:p>
          <a:p>
            <a:pPr marL="342900" lvl="1" indent="-342900">
              <a:buSzPct val="115000"/>
            </a:pPr>
            <a:r>
              <a:rPr lang="en-US" dirty="0"/>
              <a:t>Partial page update</a:t>
            </a:r>
            <a:endParaRPr lang="en-GB" dirty="0"/>
          </a:p>
          <a:p>
            <a:pPr marL="342900" lvl="1" indent="-342900">
              <a:buSzPct val="115000"/>
            </a:pPr>
            <a:endParaRPr lang="en-US" dirty="0">
              <a:solidFill>
                <a:schemeClr val="dk1"/>
              </a:solidFill>
              <a:latin typeface="+mn-lt"/>
            </a:endParaRPr>
          </a:p>
          <a:p>
            <a:pPr marL="342900" lvl="1" indent="-342900">
              <a:buSzPct val="115000"/>
            </a:pPr>
            <a:r>
              <a:rPr lang="en-US" dirty="0">
                <a:solidFill>
                  <a:schemeClr val="dk1"/>
                </a:solidFill>
                <a:latin typeface="+mn-lt"/>
              </a:rPr>
              <a:t>Supports</a:t>
            </a:r>
            <a:r>
              <a:rPr lang="en-US" dirty="0"/>
              <a:t> GET and POST </a:t>
            </a:r>
            <a:endParaRPr lang="en-GB" dirty="0"/>
          </a:p>
          <a:p>
            <a:pPr marL="342900" lvl="1" indent="-342900">
              <a:buSzPct val="115000"/>
            </a:pPr>
            <a:endParaRPr lang="en-US" dirty="0"/>
          </a:p>
          <a:p>
            <a:pPr marL="342900" lvl="1" indent="-342900">
              <a:buSzPct val="115000"/>
            </a:pPr>
            <a:r>
              <a:rPr lang="en-US" dirty="0" err="1"/>
              <a:t>WebServices</a:t>
            </a:r>
            <a:r>
              <a:rPr lang="en-US" dirty="0"/>
              <a:t>, REST …</a:t>
            </a:r>
            <a:endParaRPr lang="en-GB" dirty="0"/>
          </a:p>
          <a:p>
            <a:pPr marL="342900" lvl="1" indent="-342900">
              <a:buSzPct val="115000"/>
            </a:pPr>
            <a:endParaRPr lang="en-US" dirty="0"/>
          </a:p>
          <a:p>
            <a:pPr marL="342900" lvl="1" indent="-342900">
              <a:buSzPct val="115000"/>
            </a:pPr>
            <a:r>
              <a:rPr lang="en-US" dirty="0"/>
              <a:t>Handles JSON, XML… data</a:t>
            </a:r>
            <a:endParaRPr lang="en-GB" dirty="0"/>
          </a:p>
          <a:p>
            <a:pPr marL="342900" indent="-342900">
              <a:buChar char="•"/>
            </a:pP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EE5F91-925D-4B6D-9BB5-A28B0A2937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2366" y="1744315"/>
            <a:ext cx="4646004" cy="437632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b="1" dirty="0"/>
              <a:t>Used on client side to create an  asynchronous web application</a:t>
            </a:r>
          </a:p>
          <a:p>
            <a:pPr marL="342900" lvl="1" indent="-342900">
              <a:buSzPct val="115000"/>
            </a:pPr>
            <a:endParaRPr lang="en-US" dirty="0"/>
          </a:p>
          <a:p>
            <a:pPr marL="342900" lvl="1" indent="-342900">
              <a:buSzPct val="115000"/>
            </a:pPr>
            <a:r>
              <a:rPr lang="en-US" dirty="0"/>
              <a:t>Clients can send / receive data to a server</a:t>
            </a:r>
          </a:p>
          <a:p>
            <a:pPr marL="342900" lvl="1" indent="-342900">
              <a:buSzPct val="115000"/>
            </a:pPr>
            <a:endParaRPr lang="en-US" dirty="0"/>
          </a:p>
          <a:p>
            <a:pPr marL="342900" lvl="1" indent="-342900">
              <a:buSzPct val="115000"/>
            </a:pPr>
            <a:r>
              <a:rPr lang="en-GB" dirty="0"/>
              <a:t>Data is retrieved using the </a:t>
            </a:r>
            <a:r>
              <a:rPr lang="en-GB" dirty="0" err="1"/>
              <a:t>XMLHttpRequest</a:t>
            </a:r>
            <a:r>
              <a:rPr lang="en-GB" dirty="0"/>
              <a:t> object.</a:t>
            </a:r>
          </a:p>
          <a:p>
            <a:pPr marL="342900" lvl="1" indent="-342900">
              <a:buSzPct val="115000"/>
            </a:pPr>
            <a:endParaRPr lang="en-GB" dirty="0"/>
          </a:p>
          <a:p>
            <a:pPr marL="342900" lvl="1" indent="-342900">
              <a:buSzPct val="115000"/>
            </a:pPr>
            <a:r>
              <a:rPr lang="en-GB" dirty="0"/>
              <a:t>jQuery hides the complexity!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Ajax – Asynchronous JavaScript and XML</a:t>
            </a:r>
          </a:p>
        </p:txBody>
      </p:sp>
    </p:spTree>
    <p:extLst>
      <p:ext uri="{BB962C8B-B14F-4D97-AF65-F5344CB8AC3E}">
        <p14:creationId xmlns:p14="http://schemas.microsoft.com/office/powerpoint/2010/main" val="1057874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 </a:t>
            </a:r>
            <a:r>
              <a:rPr lang="en-US" dirty="0" err="1"/>
              <a:t>WebServices</a:t>
            </a:r>
            <a:r>
              <a:rPr lang="en-US" dirty="0"/>
              <a:t> with no parameters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272" y="1368256"/>
            <a:ext cx="11516239" cy="42468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800" dirty="0">
                <a:latin typeface="+mn-lt"/>
              </a:rPr>
              <a:t>Use Ajax to call SOA interface methods asynchronously</a:t>
            </a:r>
          </a:p>
        </p:txBody>
      </p:sp>
      <p:sp>
        <p:nvSpPr>
          <p:cNvPr id="8" name="Rectangle 7"/>
          <p:cNvSpPr/>
          <p:nvPr/>
        </p:nvSpPr>
        <p:spPr>
          <a:xfrm>
            <a:off x="1833431" y="1873200"/>
            <a:ext cx="9462098" cy="44012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rgbClr val="004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20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$(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() {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$.get(</a:t>
            </a:r>
            <a:r>
              <a:rPr lang="en-GB" sz="2000" b="1" dirty="0">
                <a:solidFill>
                  <a:srgbClr val="A31515"/>
                </a:solidFill>
                <a:latin typeface="Consolas" panose="020B0609020204030204" pitchFamily="49" charset="0"/>
              </a:rPr>
              <a:t>"http://localhost:5000/customers"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GB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msg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en-GB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msg.forEach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cus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=&gt; {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GB" sz="2000" b="1">
                <a:solidFill>
                  <a:srgbClr val="000000"/>
                </a:solidFill>
                <a:latin typeface="Consolas" panose="020B0609020204030204" pitchFamily="49" charset="0"/>
              </a:rPr>
              <a:t>		console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.log(</a:t>
            </a:r>
            <a:r>
              <a:rPr lang="en-GB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cus.CustomerID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});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}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);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});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20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2000" b="1" dirty="0">
                <a:solidFill>
                  <a:srgbClr val="800000"/>
                </a:solidFill>
                <a:latin typeface="Consolas" panose="020B0609020204030204" pitchFamily="49" charset="0"/>
              </a:rPr>
              <a:t>head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2000" b="1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2000" b="1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b="1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758521" y="5740131"/>
            <a:ext cx="6402715" cy="369332"/>
          </a:xfrm>
          <a:prstGeom prst="rect">
            <a:avLst/>
          </a:prstGeom>
          <a:solidFill>
            <a:srgbClr val="F3622C"/>
          </a:solidFill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GB" dirty="0"/>
              <a:t>See the annex of this chapter for alternative methods</a:t>
            </a:r>
          </a:p>
        </p:txBody>
      </p:sp>
    </p:spTree>
    <p:extLst>
      <p:ext uri="{BB962C8B-B14F-4D97-AF65-F5344CB8AC3E}">
        <p14:creationId xmlns:p14="http://schemas.microsoft.com/office/powerpoint/2010/main" val="1439103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 </a:t>
            </a:r>
            <a:r>
              <a:rPr lang="en-US" dirty="0" err="1"/>
              <a:t>WebServices</a:t>
            </a:r>
            <a:r>
              <a:rPr lang="en-US" dirty="0"/>
              <a:t> with parameters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272" y="1368256"/>
            <a:ext cx="11516239" cy="80500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The code calls the </a:t>
            </a:r>
            <a:r>
              <a:rPr lang="en-GB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GB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sayHi</a:t>
            </a:r>
            <a:r>
              <a:rPr lang="en-GB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GB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name, </a:t>
            </a:r>
            <a:r>
              <a:rPr lang="en-GB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GB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age)</a:t>
            </a:r>
            <a:br>
              <a:rPr lang="en-GB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GB" dirty="0"/>
              <a:t>method of a service called </a:t>
            </a:r>
            <a:r>
              <a:rPr lang="en-GB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WebService1</a:t>
            </a:r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719389" y="2167265"/>
            <a:ext cx="8132511" cy="3785652"/>
          </a:xfrm>
          <a:prstGeom prst="rect">
            <a:avLst/>
          </a:prstGeom>
          <a:ln w="25400">
            <a:solidFill>
              <a:srgbClr val="004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script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$(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function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() {</a:t>
            </a:r>
            <a:b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endParaRPr lang="en-GB" sz="16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   $.get(</a:t>
            </a:r>
            <a:r>
              <a:rPr lang="en-GB" sz="16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"WebService1.asmx/</a:t>
            </a:r>
            <a:r>
              <a:rPr lang="en-GB" sz="16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SayHi</a:t>
            </a:r>
            <a:r>
              <a:rPr lang="en-GB" sz="16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</a:p>
          <a:p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GB" sz="16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"{</a:t>
            </a:r>
            <a:r>
              <a:rPr lang="en-GB" sz="1600" b="1" dirty="0">
                <a:solidFill>
                  <a:schemeClr val="accent1">
                    <a:lumMod val="25000"/>
                  </a:schemeClr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name:'</a:t>
            </a:r>
            <a:r>
              <a:rPr lang="en-GB" sz="1600" b="1" dirty="0" err="1">
                <a:solidFill>
                  <a:schemeClr val="accent1">
                    <a:lumMod val="25000"/>
                  </a:schemeClr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fred</a:t>
            </a:r>
            <a:r>
              <a:rPr lang="en-GB" sz="1600" b="1" dirty="0">
                <a:solidFill>
                  <a:schemeClr val="accent1">
                    <a:lumMod val="25000"/>
                  </a:schemeClr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', age:21</a:t>
            </a:r>
            <a:r>
              <a:rPr lang="en-GB" sz="16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}"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</a:p>
          <a:p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function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GB" sz="16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msg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  $(</a:t>
            </a:r>
            <a:r>
              <a:rPr lang="en-GB" sz="16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"#</a:t>
            </a:r>
            <a:r>
              <a:rPr lang="en-GB" sz="16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divInfo</a:t>
            </a:r>
            <a:r>
              <a:rPr lang="en-GB" sz="16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).html(</a:t>
            </a:r>
            <a:r>
              <a:rPr lang="en-GB" sz="16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msg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}</a:t>
            </a:r>
          </a:p>
          <a:p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);</a:t>
            </a:r>
          </a:p>
          <a:p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});</a:t>
            </a:r>
          </a:p>
          <a:p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600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script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		</a:t>
            </a:r>
            <a:endParaRPr lang="en-GB" sz="16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600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body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id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</a:t>
            </a:r>
            <a:r>
              <a:rPr lang="en-GB" sz="16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divInfo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"&gt;&lt;/</a:t>
            </a:r>
            <a:r>
              <a:rPr lang="en-GB" sz="1600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600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body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b="1" dirty="0"/>
          </a:p>
        </p:txBody>
      </p:sp>
      <p:sp>
        <p:nvSpPr>
          <p:cNvPr id="8" name="Rectangle 7"/>
          <p:cNvSpPr/>
          <p:nvPr/>
        </p:nvSpPr>
        <p:spPr>
          <a:xfrm>
            <a:off x="5832226" y="4544762"/>
            <a:ext cx="4873874" cy="1815882"/>
          </a:xfrm>
          <a:prstGeom prst="rect">
            <a:avLst/>
          </a:prstGeom>
          <a:ln w="25400">
            <a:solidFill>
              <a:srgbClr val="F3622C"/>
            </a:solidFill>
          </a:ln>
          <a:effectLst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GB" sz="16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WebMethod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</a:p>
          <a:p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sayHi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name, </a:t>
            </a:r>
            <a:r>
              <a:rPr lang="en-GB" sz="16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age)</a:t>
            </a:r>
          </a:p>
          <a:p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"Hello "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 name + </a:t>
            </a:r>
            <a:r>
              <a:rPr lang="en-GB" sz="16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 you are " 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 </a:t>
            </a:r>
            <a:b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age + </a:t>
            </a:r>
            <a:r>
              <a:rPr lang="en-GB" sz="16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 years old"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endParaRPr lang="en-GB" sz="1600" b="1" dirty="0"/>
          </a:p>
        </p:txBody>
      </p:sp>
    </p:spTree>
    <p:extLst>
      <p:ext uri="{BB962C8B-B14F-4D97-AF65-F5344CB8AC3E}">
        <p14:creationId xmlns:p14="http://schemas.microsoft.com/office/powerpoint/2010/main" val="4158852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detect errors ( using </a:t>
            </a:r>
            <a:r>
              <a:rPr lang="en-GB" dirty="0">
                <a:solidFill>
                  <a:schemeClr val="accent4">
                    <a:lumMod val="75000"/>
                  </a:schemeClr>
                </a:solidFill>
              </a:rPr>
              <a:t>.fail</a:t>
            </a:r>
            <a:r>
              <a:rPr lang="en-GB" dirty="0"/>
              <a:t> 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17810" y="1510495"/>
            <a:ext cx="8776447" cy="4247317"/>
          </a:xfrm>
          <a:prstGeom prst="rect">
            <a:avLst/>
          </a:prstGeom>
          <a:ln w="25400">
            <a:solidFill>
              <a:srgbClr val="004050"/>
            </a:solidFill>
          </a:ln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$(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() {</a:t>
            </a:r>
          </a:p>
          <a:p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$.get(</a:t>
            </a:r>
            <a:r>
              <a:rPr lang="en-GB" b="1" dirty="0">
                <a:solidFill>
                  <a:srgbClr val="A31515"/>
                </a:solidFill>
                <a:latin typeface="Consolas" panose="020B0609020204030204" pitchFamily="49" charset="0"/>
              </a:rPr>
              <a:t>"http://localhost:5000/customers"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GB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msg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$(</a:t>
            </a:r>
            <a:r>
              <a:rPr lang="en-GB" b="1" dirty="0">
                <a:solidFill>
                  <a:srgbClr val="A31515"/>
                </a:solidFill>
                <a:latin typeface="Consolas" panose="020B0609020204030204" pitchFamily="49" charset="0"/>
              </a:rPr>
              <a:t>"#</a:t>
            </a:r>
            <a:r>
              <a:rPr lang="en-GB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divInfo</a:t>
            </a:r>
            <a:r>
              <a:rPr lang="en-GB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).html(</a:t>
            </a:r>
            <a:r>
              <a:rPr lang="en-GB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msg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[0].</a:t>
            </a:r>
            <a:r>
              <a:rPr lang="en-GB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ContactName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}</a:t>
            </a: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)</a:t>
            </a:r>
            <a:r>
              <a:rPr lang="en-GB" b="1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.fail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() { alert(</a:t>
            </a:r>
            <a:r>
              <a:rPr lang="en-GB" b="1" dirty="0">
                <a:solidFill>
                  <a:srgbClr val="A31515"/>
                </a:solidFill>
                <a:latin typeface="Consolas" panose="020B0609020204030204" pitchFamily="49" charset="0"/>
              </a:rPr>
              <a:t>'Error'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); });</a:t>
            </a: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});</a:t>
            </a: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head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</a:rPr>
              <a:t>id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divInfo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"&gt;&lt;/</a:t>
            </a:r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951403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669241" y="1367059"/>
            <a:ext cx="10002806" cy="4524315"/>
          </a:xfrm>
          <a:prstGeom prst="rect">
            <a:avLst/>
          </a:prstGeom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$(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() {</a:t>
            </a:r>
            <a:b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  $.</a:t>
            </a:r>
            <a:r>
              <a:rPr lang="en-GB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getJSON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b="1" dirty="0">
                <a:solidFill>
                  <a:srgbClr val="A31515"/>
                </a:solidFill>
                <a:latin typeface="Consolas" panose="020B0609020204030204" pitchFamily="49" charset="0"/>
              </a:rPr>
              <a:t>"http://localhost:5000/customers"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(result) {</a:t>
            </a:r>
          </a:p>
          <a:p>
            <a: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b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nn-NO" b="1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  <a:t> (i = 0; i &lt; result.length; i++) {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b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		      		     	 </a:t>
            </a: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$(</a:t>
            </a:r>
            <a:r>
              <a:rPr lang="en-GB" b="1" dirty="0">
                <a:solidFill>
                  <a:srgbClr val="A31515"/>
                </a:solidFill>
                <a:latin typeface="Consolas" panose="020B0609020204030204" pitchFamily="49" charset="0"/>
              </a:rPr>
              <a:t>"#</a:t>
            </a:r>
            <a:r>
              <a:rPr lang="en-GB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divInfo</a:t>
            </a:r>
            <a:r>
              <a:rPr lang="en-GB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).append(</a:t>
            </a:r>
            <a:r>
              <a:rPr lang="en-GB" b="1" dirty="0">
                <a:solidFill>
                  <a:srgbClr val="A31515"/>
                </a:solidFill>
                <a:latin typeface="Consolas" panose="020B0609020204030204" pitchFamily="49" charset="0"/>
              </a:rPr>
              <a:t>`&lt;div&gt;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${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result[</a:t>
            </a:r>
            <a:r>
              <a:rPr lang="en-GB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].</a:t>
            </a:r>
            <a:r>
              <a:rPr lang="en-GB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ContactName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GB" b="1" dirty="0">
                <a:solidFill>
                  <a:srgbClr val="A31515"/>
                </a:solidFill>
                <a:latin typeface="Consolas" panose="020B0609020204030204" pitchFamily="49" charset="0"/>
              </a:rPr>
              <a:t>&lt;/div&gt;`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  });</a:t>
            </a: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});</a:t>
            </a:r>
          </a:p>
          <a:p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head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</a:rPr>
              <a:t>id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divInfo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"&gt;&lt;/</a:t>
            </a:r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Using $.</a:t>
            </a:r>
            <a:r>
              <a:rPr lang="en-US" dirty="0" err="1"/>
              <a:t>getJSON</a:t>
            </a:r>
            <a:r>
              <a:rPr lang="en-US" dirty="0"/>
              <a:t>() to get </a:t>
            </a:r>
            <a:r>
              <a:rPr lang="en-GB" dirty="0"/>
              <a:t>JSON content type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5698316" y="3899032"/>
            <a:ext cx="3067051" cy="809764"/>
            <a:chOff x="3257549" y="3348037"/>
            <a:chExt cx="3067051" cy="809764"/>
          </a:xfrm>
        </p:grpSpPr>
        <p:sp>
          <p:nvSpPr>
            <p:cNvPr id="9" name="Rounded Rectangular Callout 8"/>
            <p:cNvSpPr/>
            <p:nvPr/>
          </p:nvSpPr>
          <p:spPr>
            <a:xfrm>
              <a:off x="3257549" y="3352800"/>
              <a:ext cx="2362201" cy="805001"/>
            </a:xfrm>
            <a:prstGeom prst="wedgeRoundRectCallout">
              <a:avLst>
                <a:gd name="adj1" fmla="val -12372"/>
                <a:gd name="adj2" fmla="val -69742"/>
                <a:gd name="adj3" fmla="val 16667"/>
              </a:avLst>
            </a:prstGeom>
            <a:solidFill>
              <a:schemeClr val="bg1"/>
            </a:solidFill>
            <a:ln w="25400">
              <a:solidFill>
                <a:srgbClr val="F3622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  <a:cs typeface="Arial" pitchFamily="34" charset="0"/>
                </a:rPr>
                <a:t>Using </a:t>
              </a:r>
              <a:r>
                <a:rPr lang="en-GB" sz="1400" dirty="0" err="1">
                  <a:solidFill>
                    <a:schemeClr val="tx1"/>
                  </a:solidFill>
                  <a:cs typeface="Arial" pitchFamily="34" charset="0"/>
                </a:rPr>
                <a:t>backticks</a:t>
              </a:r>
              <a:br>
                <a:rPr lang="en-GB" sz="1400" dirty="0">
                  <a:solidFill>
                    <a:srgbClr val="0000C8"/>
                  </a:solidFill>
                  <a:latin typeface="Arial" pitchFamily="34" charset="0"/>
                  <a:cs typeface="Arial" pitchFamily="34" charset="0"/>
                </a:rPr>
              </a:br>
              <a:r>
                <a:rPr lang="en-GB" sz="1400" dirty="0">
                  <a:solidFill>
                    <a:srgbClr val="0000C8"/>
                  </a:solidFill>
                </a:rPr>
                <a:t>Template literals allow embedded expressions</a:t>
              </a:r>
              <a:r>
                <a:rPr lang="en-GB" sz="1400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 </a:t>
              </a:r>
            </a:p>
          </p:txBody>
        </p:sp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29287" y="3348037"/>
              <a:ext cx="595313" cy="595313"/>
            </a:xfrm>
            <a:prstGeom prst="rect">
              <a:avLst/>
            </a:prstGeom>
            <a:ln>
              <a:noFill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</p:pic>
      </p:grpSp>
    </p:spTree>
    <p:extLst>
      <p:ext uri="{BB962C8B-B14F-4D97-AF65-F5344CB8AC3E}">
        <p14:creationId xmlns:p14="http://schemas.microsoft.com/office/powerpoint/2010/main" val="2177944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AD68A3-3301-4722-813F-391ECEB297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Summary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E2CEBD-5628-44DE-843C-2A3CADE96B0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anchor="ctr"/>
          <a:lstStyle/>
          <a:p>
            <a:r>
              <a:rPr lang="en-GB" b="1" dirty="0"/>
              <a:t>In this chapter you learned</a:t>
            </a:r>
          </a:p>
          <a:p>
            <a:pPr marL="342900" lvl="1" indent="-342900">
              <a:spcAft>
                <a:spcPts val="650"/>
              </a:spcAft>
              <a:buSzPct val="115000"/>
            </a:pPr>
            <a:r>
              <a:rPr lang="en-GB" dirty="0"/>
              <a:t>What Ajax is</a:t>
            </a:r>
          </a:p>
          <a:p>
            <a:pPr marL="342900" lvl="1" indent="-342900">
              <a:spcAft>
                <a:spcPts val="650"/>
              </a:spcAft>
              <a:buSzPct val="115000"/>
            </a:pPr>
            <a:r>
              <a:rPr lang="en-GB" dirty="0"/>
              <a:t>When to use it</a:t>
            </a:r>
          </a:p>
          <a:p>
            <a:pPr marL="342900" lvl="1" indent="-342900">
              <a:spcAft>
                <a:spcPts val="650"/>
              </a:spcAft>
              <a:buSzPct val="115000"/>
            </a:pPr>
            <a:r>
              <a:rPr lang="en-GB" dirty="0"/>
              <a:t>How to use jQuery to use Ajax</a:t>
            </a:r>
          </a:p>
          <a:p>
            <a:pPr marL="342900" lvl="1" indent="-342900">
              <a:spcAft>
                <a:spcPts val="650"/>
              </a:spcAft>
              <a:buSzPct val="115000"/>
            </a:pPr>
            <a:r>
              <a:rPr lang="en-GB" dirty="0"/>
              <a:t>How to capture the information back from a call to a server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0705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062004-0DBF-43E3-B8D9-7D2F79BDC4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Lab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13407C-5FC2-44E7-A7D7-DC3BAB50020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Please do the lab for this chapter</a:t>
            </a:r>
          </a:p>
          <a:p>
            <a:endParaRPr lang="en-GB" dirty="0"/>
          </a:p>
          <a:p>
            <a:pPr marL="684000" lvl="1" indent="-342000">
              <a:buNone/>
            </a:pPr>
            <a:endParaRPr lang="en-GB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6944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Specifying the Parameter Format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272" y="1368256"/>
            <a:ext cx="11516239" cy="655097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You can specify the format of the parameters if you use $.</a:t>
            </a:r>
            <a:r>
              <a:rPr lang="en-GB" dirty="0" err="1"/>
              <a:t>ajax</a:t>
            </a:r>
            <a:r>
              <a:rPr lang="en-GB" dirty="0"/>
              <a:t> by providing a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contentType</a:t>
            </a:r>
            <a:r>
              <a:rPr lang="en-GB" dirty="0"/>
              <a:t> property:</a:t>
            </a:r>
          </a:p>
        </p:txBody>
      </p:sp>
      <p:sp>
        <p:nvSpPr>
          <p:cNvPr id="4" name="Rectangle 3"/>
          <p:cNvSpPr/>
          <p:nvPr/>
        </p:nvSpPr>
        <p:spPr>
          <a:xfrm>
            <a:off x="2165556" y="2158703"/>
            <a:ext cx="7860888" cy="4278094"/>
          </a:xfrm>
          <a:prstGeom prst="rect">
            <a:avLst/>
          </a:prstGeom>
          <a:ln w="254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script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$(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function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() {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$.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ajax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({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type: 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"GET"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url: 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"/WebService1.asmx/</a:t>
            </a:r>
            <a:r>
              <a:rPr lang="en-GB" sz="16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sayHi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data: 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"{</a:t>
            </a:r>
            <a:r>
              <a:rPr lang="en-GB" sz="1600" b="1" dirty="0">
                <a:solidFill>
                  <a:schemeClr val="accent1">
                    <a:lumMod val="25000"/>
                  </a:schemeClr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name:'</a:t>
            </a:r>
            <a:r>
              <a:rPr lang="en-GB" sz="1600" b="1" dirty="0" err="1">
                <a:solidFill>
                  <a:schemeClr val="accent1">
                    <a:lumMod val="25000"/>
                  </a:schemeClr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fred</a:t>
            </a:r>
            <a:r>
              <a:rPr lang="en-GB" sz="1600" b="1" dirty="0">
                <a:solidFill>
                  <a:schemeClr val="accent1">
                    <a:lumMod val="25000"/>
                  </a:schemeClr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', age:21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}"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</a:t>
            </a:r>
            <a:r>
              <a:rPr lang="en-GB" sz="16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contentType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GB" sz="16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"text/plain"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success: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function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msg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$(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"#</a:t>
            </a:r>
            <a:r>
              <a:rPr lang="en-GB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divInfo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).html(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msg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}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});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});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script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body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id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</a:t>
            </a:r>
            <a:r>
              <a:rPr lang="en-GB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divInfo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"&gt;&lt;/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body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6265830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Specifying the Returned Data Format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272" y="1368256"/>
            <a:ext cx="11516239" cy="655097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You can specify the format of the returned data if you use $.</a:t>
            </a:r>
            <a:r>
              <a:rPr lang="en-GB" dirty="0" err="1"/>
              <a:t>ajax</a:t>
            </a:r>
            <a:r>
              <a:rPr lang="en-GB" dirty="0"/>
              <a:t> by providing a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dataType</a:t>
            </a:r>
            <a:r>
              <a:rPr lang="en-GB" dirty="0"/>
              <a:t> property:</a:t>
            </a:r>
          </a:p>
        </p:txBody>
      </p:sp>
      <p:sp>
        <p:nvSpPr>
          <p:cNvPr id="4" name="Rectangle 3"/>
          <p:cNvSpPr/>
          <p:nvPr/>
        </p:nvSpPr>
        <p:spPr>
          <a:xfrm>
            <a:off x="2103244" y="2148981"/>
            <a:ext cx="7860888" cy="4278094"/>
          </a:xfrm>
          <a:prstGeom prst="rect">
            <a:avLst/>
          </a:prstGeom>
          <a:ln w="254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script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$(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function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() {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$.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ajax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({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type: 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"GET"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url: 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"/WebService1.asmx/</a:t>
            </a:r>
            <a:r>
              <a:rPr lang="en-GB" sz="16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customer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data: 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"{</a:t>
            </a:r>
            <a:r>
              <a:rPr lang="en-GB" sz="1600" b="1" dirty="0">
                <a:solidFill>
                  <a:schemeClr val="accent1">
                    <a:lumMod val="25000"/>
                  </a:schemeClr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name:'</a:t>
            </a:r>
            <a:r>
              <a:rPr lang="en-GB" sz="1600" b="1" dirty="0" err="1">
                <a:solidFill>
                  <a:schemeClr val="accent1">
                    <a:lumMod val="25000"/>
                  </a:schemeClr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fred</a:t>
            </a:r>
            <a:r>
              <a:rPr lang="en-GB" sz="1600" b="1" dirty="0">
                <a:solidFill>
                  <a:schemeClr val="accent1">
                    <a:lumMod val="25000"/>
                  </a:schemeClr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', age:21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}"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</a:t>
            </a:r>
            <a:r>
              <a:rPr lang="en-GB" sz="16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dataType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GB" sz="16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GB" sz="16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json</a:t>
            </a:r>
            <a:r>
              <a:rPr lang="en-GB" sz="16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success: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function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msg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$(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"#</a:t>
            </a:r>
            <a:r>
              <a:rPr lang="en-GB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divInfo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).html(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msg.messageDetails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}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});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});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script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body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id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</a:t>
            </a:r>
            <a:r>
              <a:rPr lang="en-GB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divInfo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"&gt;&lt;/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body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5838599" y="4593624"/>
            <a:ext cx="4367701" cy="1569660"/>
          </a:xfrm>
          <a:prstGeom prst="rect">
            <a:avLst/>
          </a:prstGeom>
          <a:solidFill>
            <a:schemeClr val="bg1"/>
          </a:solidFill>
          <a:ln w="25400">
            <a:solidFill>
              <a:srgbClr val="F3622C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dirty="0">
                <a:cs typeface="Courier New" pitchFamily="49" charset="0"/>
              </a:rPr>
              <a:t>If you don’t specify a </a:t>
            </a:r>
            <a:r>
              <a:rPr lang="en-GB" sz="1600" dirty="0" err="1">
                <a:cs typeface="Courier New" pitchFamily="49" charset="0"/>
              </a:rPr>
              <a:t>dataType</a:t>
            </a:r>
            <a:r>
              <a:rPr lang="en-GB" sz="1600" dirty="0">
                <a:cs typeface="Courier New" pitchFamily="49" charset="0"/>
              </a:rPr>
              <a:t>, jQuery will attempt to infer the correct type.</a:t>
            </a:r>
          </a:p>
          <a:p>
            <a:endParaRPr lang="en-GB" sz="1600" dirty="0">
              <a:cs typeface="Courier New" pitchFamily="49" charset="0"/>
            </a:endParaRPr>
          </a:p>
          <a:p>
            <a:r>
              <a:rPr lang="en-GB" sz="1600" dirty="0">
                <a:cs typeface="Courier New" pitchFamily="49" charset="0"/>
              </a:rPr>
              <a:t>If you specify </a:t>
            </a:r>
            <a:r>
              <a:rPr lang="en-GB" sz="1600" dirty="0" err="1">
                <a:cs typeface="Courier New" pitchFamily="49" charset="0"/>
              </a:rPr>
              <a:t>dataType</a:t>
            </a:r>
            <a:r>
              <a:rPr lang="en-GB" sz="1600" dirty="0">
                <a:cs typeface="Courier New" pitchFamily="49" charset="0"/>
              </a:rPr>
              <a:t> = "</a:t>
            </a:r>
            <a:r>
              <a:rPr lang="en-GB" sz="1600" dirty="0" err="1">
                <a:cs typeface="Courier New" pitchFamily="49" charset="0"/>
              </a:rPr>
              <a:t>json</a:t>
            </a:r>
            <a:r>
              <a:rPr lang="en-GB" sz="1600" dirty="0">
                <a:cs typeface="Courier New" pitchFamily="49" charset="0"/>
              </a:rPr>
              <a:t>", jQuery will parse the JSON for you and return a JavaScript object</a:t>
            </a:r>
            <a:endParaRPr lang="en-GB" sz="16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5923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Ajax calls are </a:t>
            </a:r>
            <a:r>
              <a:rPr lang="en-GB" dirty="0" err="1"/>
              <a:t>Async</a:t>
            </a:r>
            <a:r>
              <a:rPr lang="en-GB" dirty="0"/>
              <a:t> – be careful!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2247" y="1367059"/>
            <a:ext cx="6818366" cy="3293209"/>
          </a:xfrm>
          <a:prstGeom prst="rect">
            <a:avLst/>
          </a:prstGeom>
          <a:ln w="254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0000FF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function</a:t>
            </a:r>
            <a:r>
              <a:rPr lang="en-GB" sz="1600" b="1" dirty="0">
                <a:latin typeface="Consolas"/>
              </a:rPr>
              <a:t> </a:t>
            </a:r>
            <a:r>
              <a:rPr lang="en-GB" sz="1600" b="1" dirty="0" err="1">
                <a:latin typeface="Consolas"/>
              </a:rPr>
              <a:t>getResult</a:t>
            </a:r>
            <a:r>
              <a:rPr lang="en-GB" sz="1600" b="1" dirty="0">
                <a:latin typeface="Consolas"/>
              </a:rPr>
              <a:t>() </a:t>
            </a:r>
            <a:r>
              <a:rPr lang="en-GB" sz="1600" b="1" dirty="0">
                <a:solidFill>
                  <a:srgbClr val="0000FF"/>
                </a:solidFill>
                <a:latin typeface="Consolas"/>
              </a:rPr>
              <a:t>{</a:t>
            </a:r>
            <a:endParaRPr lang="en-GB" sz="1600" b="1" dirty="0">
              <a:latin typeface="Consolas"/>
            </a:endParaRPr>
          </a:p>
          <a:p>
            <a:r>
              <a:rPr lang="en-GB" sz="1600" b="1" dirty="0">
                <a:latin typeface="Consolas"/>
              </a:rPr>
              <a:t> $.</a:t>
            </a:r>
            <a:r>
              <a:rPr lang="en-GB" sz="1600" b="1" dirty="0" err="1">
                <a:latin typeface="Consolas"/>
              </a:rPr>
              <a:t>ajax</a:t>
            </a:r>
            <a:r>
              <a:rPr lang="en-GB" sz="1600" b="1" dirty="0">
                <a:latin typeface="Consolas"/>
              </a:rPr>
              <a:t>(</a:t>
            </a:r>
            <a:r>
              <a:rPr lang="en-GB" sz="1600" b="1" dirty="0">
                <a:solidFill>
                  <a:srgbClr val="0000FF"/>
                </a:solidFill>
                <a:latin typeface="Consolas"/>
              </a:rPr>
              <a:t>{</a:t>
            </a:r>
            <a:endParaRPr lang="en-GB" sz="1600" b="1" dirty="0">
              <a:latin typeface="Consolas"/>
            </a:endParaRPr>
          </a:p>
          <a:p>
            <a:r>
              <a:rPr lang="en-GB" sz="1600" dirty="0">
                <a:latin typeface="Consolas"/>
              </a:rPr>
              <a:t>       type: </a:t>
            </a:r>
            <a:r>
              <a:rPr lang="en-GB" sz="1600" dirty="0">
                <a:solidFill>
                  <a:srgbClr val="800000"/>
                </a:solidFill>
                <a:latin typeface="Consolas"/>
              </a:rPr>
              <a:t>"POST",</a:t>
            </a:r>
          </a:p>
          <a:p>
            <a:r>
              <a:rPr lang="en-GB" sz="1600" dirty="0">
                <a:solidFill>
                  <a:srgbClr val="800000"/>
                </a:solidFill>
                <a:latin typeface="Consolas"/>
              </a:rPr>
              <a:t>       </a:t>
            </a:r>
            <a:r>
              <a:rPr lang="en-GB" sz="1600" dirty="0" err="1">
                <a:solidFill>
                  <a:srgbClr val="800000"/>
                </a:solidFill>
                <a:latin typeface="Consolas"/>
              </a:rPr>
              <a:t>url</a:t>
            </a:r>
            <a:r>
              <a:rPr lang="en-GB" sz="1600" dirty="0">
                <a:solidFill>
                  <a:srgbClr val="800000"/>
                </a:solidFill>
                <a:latin typeface="Consolas"/>
              </a:rPr>
              <a:t>: "Page1.aspx/</a:t>
            </a:r>
            <a:r>
              <a:rPr lang="en-GB" sz="1600" dirty="0" err="1">
                <a:solidFill>
                  <a:srgbClr val="800000"/>
                </a:solidFill>
                <a:latin typeface="Consolas"/>
              </a:rPr>
              <a:t>calcLife</a:t>
            </a:r>
            <a:r>
              <a:rPr lang="en-GB" sz="1600" dirty="0">
                <a:solidFill>
                  <a:srgbClr val="800000"/>
                </a:solidFill>
                <a:latin typeface="Consolas"/>
              </a:rPr>
              <a:t>",</a:t>
            </a:r>
          </a:p>
          <a:p>
            <a:r>
              <a:rPr lang="en-GB" sz="1600" dirty="0">
                <a:solidFill>
                  <a:srgbClr val="800000"/>
                </a:solidFill>
                <a:latin typeface="Consolas"/>
              </a:rPr>
              <a:t>       data: "{name: 'Fred', age: 21}",</a:t>
            </a:r>
          </a:p>
          <a:p>
            <a:r>
              <a:rPr lang="en-GB" sz="1600" b="1" dirty="0">
                <a:solidFill>
                  <a:srgbClr val="800000"/>
                </a:solidFill>
                <a:latin typeface="Consolas"/>
              </a:rPr>
              <a:t>       success: </a:t>
            </a:r>
            <a:r>
              <a:rPr lang="en-GB" sz="1600" b="1" dirty="0">
                <a:solidFill>
                  <a:srgbClr val="0000FF"/>
                </a:solidFill>
                <a:latin typeface="Consolas"/>
              </a:rPr>
              <a:t>function (</a:t>
            </a:r>
            <a:r>
              <a:rPr lang="en-GB" sz="1600" b="1" dirty="0" err="1">
                <a:solidFill>
                  <a:srgbClr val="0000FF"/>
                </a:solidFill>
                <a:latin typeface="Consolas"/>
              </a:rPr>
              <a:t>msg</a:t>
            </a:r>
            <a:r>
              <a:rPr lang="en-GB" sz="1600" b="1" dirty="0">
                <a:solidFill>
                  <a:srgbClr val="0000FF"/>
                </a:solidFill>
                <a:latin typeface="Consolas"/>
              </a:rPr>
              <a:t>) {</a:t>
            </a:r>
          </a:p>
          <a:p>
            <a:r>
              <a:rPr lang="en-GB" sz="1600" b="1" dirty="0">
                <a:solidFill>
                  <a:srgbClr val="0000FF"/>
                </a:solidFill>
                <a:latin typeface="Consolas"/>
              </a:rPr>
              <a:t>                  return </a:t>
            </a:r>
            <a:r>
              <a:rPr lang="en-GB" sz="1600" b="1" dirty="0" err="1">
                <a:solidFill>
                  <a:srgbClr val="800000"/>
                </a:solidFill>
                <a:latin typeface="Consolas"/>
              </a:rPr>
              <a:t>msg</a:t>
            </a:r>
            <a:r>
              <a:rPr lang="en-GB" sz="1600" b="1" dirty="0">
                <a:solidFill>
                  <a:srgbClr val="800000"/>
                </a:solidFill>
                <a:latin typeface="Consolas"/>
              </a:rPr>
              <a:t>;</a:t>
            </a:r>
          </a:p>
          <a:p>
            <a:r>
              <a:rPr lang="en-GB" sz="1600" b="1" dirty="0">
                <a:solidFill>
                  <a:srgbClr val="800000"/>
                </a:solidFill>
                <a:latin typeface="Consolas"/>
              </a:rPr>
              <a:t>       		}</a:t>
            </a:r>
          </a:p>
          <a:p>
            <a:r>
              <a:rPr lang="en-GB" sz="1600" dirty="0">
                <a:solidFill>
                  <a:srgbClr val="800000"/>
                </a:solidFill>
                <a:latin typeface="Consolas"/>
              </a:rPr>
              <a:t>    });</a:t>
            </a:r>
          </a:p>
          <a:p>
            <a:r>
              <a:rPr lang="en-GB" sz="1600" b="1" dirty="0">
                <a:solidFill>
                  <a:srgbClr val="800000"/>
                </a:solidFill>
                <a:latin typeface="Consolas"/>
              </a:rPr>
              <a:t>}</a:t>
            </a:r>
          </a:p>
          <a:p>
            <a:r>
              <a:rPr lang="en-GB" sz="1600" b="1" dirty="0">
                <a:solidFill>
                  <a:srgbClr val="800000"/>
                </a:solidFill>
                <a:latin typeface="Consolas"/>
              </a:rPr>
              <a:t>function </a:t>
            </a:r>
            <a:r>
              <a:rPr lang="en-GB" sz="1600" b="1" dirty="0" err="1">
                <a:latin typeface="Consolas"/>
              </a:rPr>
              <a:t>ok_clicked</a:t>
            </a:r>
            <a:r>
              <a:rPr lang="en-GB" sz="1600" b="1" dirty="0">
                <a:solidFill>
                  <a:srgbClr val="0000FF"/>
                </a:solidFill>
                <a:latin typeface="Consolas"/>
              </a:rPr>
              <a:t>(){</a:t>
            </a:r>
            <a:r>
              <a:rPr lang="en-GB" sz="1600" b="1" dirty="0">
                <a:latin typeface="Consolas"/>
              </a:rPr>
              <a:t> </a:t>
            </a:r>
          </a:p>
          <a:p>
            <a:r>
              <a:rPr lang="en-GB" sz="1600" b="1" dirty="0">
                <a:latin typeface="Consolas"/>
              </a:rPr>
              <a:t>		</a:t>
            </a:r>
            <a:r>
              <a:rPr lang="en-GB" sz="1600" b="1" dirty="0" err="1">
                <a:latin typeface="Consolas"/>
              </a:rPr>
              <a:t>var</a:t>
            </a:r>
            <a:r>
              <a:rPr lang="en-GB" sz="1600" b="1" dirty="0">
                <a:latin typeface="Consolas"/>
              </a:rPr>
              <a:t> </a:t>
            </a:r>
            <a:r>
              <a:rPr lang="en-GB" sz="1600" b="1" dirty="0">
                <a:solidFill>
                  <a:srgbClr val="0000FF"/>
                </a:solidFill>
                <a:latin typeface="Consolas"/>
              </a:rPr>
              <a:t>res</a:t>
            </a:r>
            <a:r>
              <a:rPr lang="en-GB" sz="1600" b="1" dirty="0">
                <a:latin typeface="Consolas"/>
              </a:rPr>
              <a:t> = </a:t>
            </a:r>
            <a:r>
              <a:rPr lang="en-GB" sz="1600" b="1" dirty="0" err="1">
                <a:latin typeface="Consolas"/>
              </a:rPr>
              <a:t>getResult</a:t>
            </a:r>
            <a:r>
              <a:rPr lang="en-GB" sz="1600" b="1" dirty="0">
                <a:solidFill>
                  <a:srgbClr val="0000FF"/>
                </a:solidFill>
                <a:latin typeface="Consolas"/>
              </a:rPr>
              <a:t>(); </a:t>
            </a:r>
          </a:p>
          <a:p>
            <a:r>
              <a:rPr lang="en-GB" sz="1600" b="1" dirty="0">
                <a:solidFill>
                  <a:srgbClr val="0000FF"/>
                </a:solidFill>
                <a:latin typeface="Consolas"/>
              </a:rPr>
              <a:t>} </a:t>
            </a:r>
          </a:p>
        </p:txBody>
      </p:sp>
      <p:sp>
        <p:nvSpPr>
          <p:cNvPr id="5" name="Rounded Rectangular Callout 4"/>
          <p:cNvSpPr/>
          <p:nvPr/>
        </p:nvSpPr>
        <p:spPr bwMode="auto">
          <a:xfrm>
            <a:off x="6151430" y="3520201"/>
            <a:ext cx="1309685" cy="332345"/>
          </a:xfrm>
          <a:prstGeom prst="wedgeRoundRectCallout">
            <a:avLst>
              <a:gd name="adj1" fmla="val -40545"/>
              <a:gd name="adj2" fmla="val 106152"/>
              <a:gd name="adj3" fmla="val 16667"/>
            </a:avLst>
          </a:prstGeom>
          <a:solidFill>
            <a:schemeClr val="bg1"/>
          </a:solidFill>
          <a:ln w="25400" cap="flat" cmpd="sng" algn="ctr">
            <a:solidFill>
              <a:srgbClr val="F3622C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1002">
            <a:schemeClr val="lt1"/>
          </a:fillRef>
          <a:effectRef idx="0">
            <a:scrgbClr r="0" g="0" b="0"/>
          </a:effectRef>
          <a:fontRef idx="major"/>
        </p:style>
        <p:txBody>
          <a:bodyPr vert="horz" wrap="square" lIns="84406" tIns="42203" rIns="84406" bIns="42203" numCol="1" rtlCol="0" anchor="t" anchorCtr="0" compatLnSpc="1">
            <a:prstTxWarp prst="textNoShape">
              <a:avLst/>
            </a:prstTxWarp>
          </a:bodyPr>
          <a:lstStyle/>
          <a:p>
            <a:pPr algn="ctr" defTabSz="844083" eaLnBrk="0" hangingPunct="0"/>
            <a:r>
              <a:rPr lang="en-GB" sz="1477" b="1" dirty="0">
                <a:latin typeface="+mn-lt"/>
                <a:ea typeface="ヒラギノ角ゴ Pro W3" pitchFamily="-1" charset="-128"/>
                <a:cs typeface="ヒラギノ角ゴ Pro W3" pitchFamily="-1" charset="-128"/>
              </a:rPr>
              <a:t>undefined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40364" y="5184858"/>
            <a:ext cx="3711272" cy="376385"/>
          </a:xfrm>
          <a:prstGeom prst="rect">
            <a:avLst/>
          </a:prstGeom>
          <a:solidFill>
            <a:srgbClr val="F3622C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GB" sz="1846" dirty="0"/>
              <a:t>Stop thinking synchronously! </a:t>
            </a:r>
          </a:p>
        </p:txBody>
      </p:sp>
    </p:spTree>
    <p:extLst>
      <p:ext uri="{BB962C8B-B14F-4D97-AF65-F5344CB8AC3E}">
        <p14:creationId xmlns:p14="http://schemas.microsoft.com/office/powerpoint/2010/main" val="2652623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Create a </a:t>
            </a:r>
            <a:r>
              <a:rPr lang="en-GB" dirty="0" err="1"/>
              <a:t>callBack</a:t>
            </a:r>
            <a:r>
              <a:rPr lang="en-GB" dirty="0"/>
              <a:t> when Ajax call finishes</a:t>
            </a:r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2055752" y="1358027"/>
            <a:ext cx="7710395" cy="1875657"/>
          </a:xfrm>
          <a:prstGeom prst="rect">
            <a:avLst/>
          </a:prstGeom>
          <a:ln w="25400">
            <a:solidFill>
              <a:srgbClr val="004050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84406" tIns="42203" rIns="84406" bIns="42203" numCol="1" anchor="ctr" anchorCtr="0" compatLnSpc="1">
            <a:prstTxWarp prst="textNoShape">
              <a:avLst/>
            </a:prstTxWarp>
            <a:spAutoFit/>
          </a:bodyPr>
          <a:lstStyle/>
          <a:p>
            <a:pPr defTabSz="844083"/>
            <a:r>
              <a:rPr lang="en-GB" sz="1662" dirty="0">
                <a:solidFill>
                  <a:schemeClr val="tx1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$(</a:t>
            </a:r>
            <a:r>
              <a:rPr lang="en-GB" sz="1662" dirty="0">
                <a:solidFill>
                  <a:srgbClr val="800000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"#</a:t>
            </a:r>
            <a:r>
              <a:rPr lang="en-GB" sz="1662" dirty="0" err="1">
                <a:solidFill>
                  <a:srgbClr val="800000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btnSayHi</a:t>
            </a:r>
            <a:r>
              <a:rPr lang="en-GB" sz="1662" dirty="0">
                <a:solidFill>
                  <a:srgbClr val="800000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"</a:t>
            </a:r>
            <a:r>
              <a:rPr lang="en-GB" sz="1662" dirty="0">
                <a:solidFill>
                  <a:schemeClr val="tx1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).click(</a:t>
            </a:r>
            <a:r>
              <a:rPr lang="en-GB" sz="1662" dirty="0">
                <a:solidFill>
                  <a:srgbClr val="0000FF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function</a:t>
            </a:r>
            <a:r>
              <a:rPr lang="en-GB" sz="1662" dirty="0">
                <a:solidFill>
                  <a:schemeClr val="tx1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() {</a:t>
            </a:r>
            <a:endParaRPr lang="en-GB" sz="969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defTabSz="844083" eaLnBrk="0" hangingPunct="0"/>
            <a:r>
              <a:rPr lang="en-GB" sz="1662" b="1" dirty="0">
                <a:solidFill>
                  <a:schemeClr val="tx1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    </a:t>
            </a:r>
            <a:r>
              <a:rPr lang="en-GB" sz="1662" b="1" dirty="0" err="1">
                <a:solidFill>
                  <a:schemeClr val="tx1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asyncCommonAjaxCall</a:t>
            </a:r>
            <a:r>
              <a:rPr lang="en-GB" sz="1662" b="1" dirty="0">
                <a:solidFill>
                  <a:schemeClr val="tx1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(</a:t>
            </a:r>
            <a:r>
              <a:rPr lang="en-GB" sz="1662" b="1" dirty="0">
                <a:solidFill>
                  <a:srgbClr val="800000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"</a:t>
            </a:r>
            <a:r>
              <a:rPr lang="en-GB" sz="1662" b="1" dirty="0" err="1">
                <a:solidFill>
                  <a:srgbClr val="800000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SayHello</a:t>
            </a:r>
            <a:r>
              <a:rPr lang="en-GB" sz="1662" b="1" dirty="0">
                <a:solidFill>
                  <a:srgbClr val="800000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"</a:t>
            </a:r>
            <a:r>
              <a:rPr lang="en-GB" sz="1662" b="1" dirty="0">
                <a:solidFill>
                  <a:schemeClr val="tx1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, "{name: 'Fred', age: 21}"</a:t>
            </a:r>
            <a:r>
              <a:rPr lang="en-GB" sz="1662" b="1" dirty="0">
                <a:solidFill>
                  <a:srgbClr val="800000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 </a:t>
            </a:r>
            <a:r>
              <a:rPr lang="en-GB" sz="1662" b="1" dirty="0">
                <a:solidFill>
                  <a:schemeClr val="tx1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, </a:t>
            </a:r>
            <a:endParaRPr lang="en-GB" sz="969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defTabSz="844083" eaLnBrk="0" hangingPunct="0"/>
            <a:r>
              <a:rPr lang="en-GB" sz="1662" b="1" dirty="0">
                <a:solidFill>
                  <a:schemeClr val="tx1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        </a:t>
            </a:r>
            <a:r>
              <a:rPr lang="en-GB" sz="1662" b="1" dirty="0">
                <a:solidFill>
                  <a:srgbClr val="0000FF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function</a:t>
            </a:r>
            <a:r>
              <a:rPr lang="en-GB" sz="1662" b="1" dirty="0">
                <a:solidFill>
                  <a:schemeClr val="tx1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 (data) {</a:t>
            </a:r>
            <a:endParaRPr lang="en-GB" sz="969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defTabSz="844083" eaLnBrk="0" hangingPunct="0"/>
            <a:r>
              <a:rPr lang="en-GB" sz="1662" b="1" dirty="0">
                <a:solidFill>
                  <a:schemeClr val="tx1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            $(</a:t>
            </a:r>
            <a:r>
              <a:rPr lang="en-GB" sz="1662" b="1" dirty="0">
                <a:solidFill>
                  <a:srgbClr val="800000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"#Result"</a:t>
            </a:r>
            <a:r>
              <a:rPr lang="en-GB" sz="1662" b="1" dirty="0">
                <a:solidFill>
                  <a:schemeClr val="tx1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).html(</a:t>
            </a:r>
            <a:r>
              <a:rPr lang="en-GB" sz="1662" b="1" dirty="0" err="1">
                <a:solidFill>
                  <a:schemeClr val="tx1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data.d</a:t>
            </a:r>
            <a:r>
              <a:rPr lang="en-GB" sz="1662" b="1" dirty="0">
                <a:solidFill>
                  <a:schemeClr val="tx1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);      </a:t>
            </a:r>
            <a:endParaRPr lang="en-GB" sz="969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defTabSz="844083" eaLnBrk="0" hangingPunct="0"/>
            <a:r>
              <a:rPr lang="en-GB" sz="1662" b="1" dirty="0">
                <a:solidFill>
                  <a:schemeClr val="tx1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        }</a:t>
            </a:r>
            <a:endParaRPr lang="en-GB" sz="969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defTabSz="844083" eaLnBrk="0" hangingPunct="0"/>
            <a:r>
              <a:rPr lang="en-GB" sz="1662" b="1" dirty="0">
                <a:solidFill>
                  <a:schemeClr val="tx1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    );</a:t>
            </a:r>
            <a:endParaRPr lang="en-GB" sz="969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defTabSz="844083" eaLnBrk="0" hangingPunct="0"/>
            <a:r>
              <a:rPr lang="en-GB" sz="1662" dirty="0">
                <a:solidFill>
                  <a:schemeClr val="tx1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});</a:t>
            </a:r>
            <a:endParaRPr lang="en-GB" sz="923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2986317" y="1944103"/>
            <a:ext cx="3655791" cy="770725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84406" tIns="42203" rIns="84406" bIns="42203" numCol="1" rtlCol="0" anchor="t" anchorCtr="0" compatLnSpc="1">
            <a:prstTxWarp prst="textNoShape">
              <a:avLst/>
            </a:prstTxWarp>
          </a:bodyPr>
          <a:lstStyle/>
          <a:p>
            <a:pPr defTabSz="844083" eaLnBrk="0" hangingPunct="0"/>
            <a:endParaRPr lang="en-GB" sz="2215">
              <a:latin typeface="Arial" pitchFamily="-1" charset="0"/>
              <a:ea typeface="ヒラギノ角ゴ Pro W3" pitchFamily="-1" charset="-128"/>
              <a:cs typeface="ヒラギノ角ゴ Pro W3" pitchFamily="-1" charset="-128"/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2055753" y="3451254"/>
            <a:ext cx="7696039" cy="2429398"/>
          </a:xfrm>
          <a:prstGeom prst="rect">
            <a:avLst/>
          </a:prstGeom>
          <a:ln w="25400">
            <a:solidFill>
              <a:srgbClr val="004050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84406" tIns="42203" rIns="84406" bIns="42203" numCol="1" anchor="ctr" anchorCtr="0" compatLnSpc="1">
            <a:prstTxWarp prst="textNoShape">
              <a:avLst/>
            </a:prstTxWarp>
            <a:spAutoFit/>
          </a:bodyPr>
          <a:lstStyle/>
          <a:p>
            <a:pPr defTabSz="844083"/>
            <a:r>
              <a:rPr lang="en-GB" sz="1477" b="1" dirty="0">
                <a:solidFill>
                  <a:srgbClr val="0000FF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function</a:t>
            </a:r>
            <a:r>
              <a:rPr lang="en-GB" sz="1477" b="1" dirty="0">
                <a:solidFill>
                  <a:schemeClr val="tx1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 </a:t>
            </a:r>
            <a:r>
              <a:rPr lang="en-GB" sz="1477" b="1" dirty="0" err="1">
                <a:solidFill>
                  <a:schemeClr val="tx1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asyncCommonAjaxCall</a:t>
            </a:r>
            <a:r>
              <a:rPr lang="en-GB" sz="1477" b="1" dirty="0">
                <a:solidFill>
                  <a:schemeClr val="tx1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(method, </a:t>
            </a:r>
            <a:r>
              <a:rPr lang="en-GB" sz="1477" b="1" dirty="0" err="1">
                <a:solidFill>
                  <a:schemeClr val="tx1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params</a:t>
            </a:r>
            <a:r>
              <a:rPr lang="en-GB" sz="1477" b="1" dirty="0">
                <a:solidFill>
                  <a:schemeClr val="tx1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, </a:t>
            </a:r>
            <a:r>
              <a:rPr lang="en-GB" sz="1477" b="1" dirty="0" err="1">
                <a:solidFill>
                  <a:schemeClr val="tx1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callback</a:t>
            </a:r>
            <a:r>
              <a:rPr lang="en-GB" sz="1477" b="1" dirty="0">
                <a:solidFill>
                  <a:schemeClr val="tx1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  ) {</a:t>
            </a:r>
            <a:endParaRPr lang="en-GB" sz="923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defTabSz="844083" eaLnBrk="0" hangingPunct="0"/>
            <a:r>
              <a:rPr lang="en-GB" sz="1477" b="1" dirty="0">
                <a:solidFill>
                  <a:schemeClr val="tx1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    $.</a:t>
            </a:r>
            <a:r>
              <a:rPr lang="en-GB" sz="1477" b="1" dirty="0" err="1">
                <a:solidFill>
                  <a:schemeClr val="tx1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ajax</a:t>
            </a:r>
            <a:r>
              <a:rPr lang="en-GB" sz="1477" b="1" dirty="0">
                <a:solidFill>
                  <a:schemeClr val="tx1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({</a:t>
            </a:r>
            <a:endParaRPr lang="en-GB" sz="923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defTabSz="844083" eaLnBrk="0" hangingPunct="0"/>
            <a:r>
              <a:rPr lang="en-GB" sz="1477" b="1" dirty="0">
                <a:solidFill>
                  <a:schemeClr val="tx1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        type: </a:t>
            </a:r>
            <a:r>
              <a:rPr lang="en-GB" sz="1477" b="1" dirty="0">
                <a:solidFill>
                  <a:srgbClr val="800000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"POST"</a:t>
            </a:r>
            <a:r>
              <a:rPr lang="en-GB" sz="1477" b="1" dirty="0">
                <a:solidFill>
                  <a:schemeClr val="tx1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, </a:t>
            </a:r>
            <a:r>
              <a:rPr lang="en-GB" sz="1477" b="1" dirty="0" err="1">
                <a:solidFill>
                  <a:schemeClr val="tx1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url</a:t>
            </a:r>
            <a:r>
              <a:rPr lang="en-GB" sz="1477" b="1" dirty="0">
                <a:solidFill>
                  <a:schemeClr val="tx1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: </a:t>
            </a:r>
            <a:r>
              <a:rPr lang="en-GB" sz="1477" b="1" dirty="0">
                <a:solidFill>
                  <a:srgbClr val="800000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"Server.aspx/"</a:t>
            </a:r>
            <a:r>
              <a:rPr lang="en-GB" sz="1477" b="1" dirty="0">
                <a:solidFill>
                  <a:schemeClr val="tx1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 + method,</a:t>
            </a:r>
            <a:endParaRPr lang="en-GB" sz="923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defTabSz="844083" eaLnBrk="0" hangingPunct="0"/>
            <a:r>
              <a:rPr lang="en-GB" sz="1477" b="1" dirty="0">
                <a:solidFill>
                  <a:schemeClr val="tx1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        data: </a:t>
            </a:r>
            <a:r>
              <a:rPr lang="en-GB" sz="1477" b="1" dirty="0" err="1">
                <a:solidFill>
                  <a:schemeClr val="tx1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params</a:t>
            </a:r>
            <a:r>
              <a:rPr lang="en-GB" sz="1477" b="1" dirty="0">
                <a:solidFill>
                  <a:schemeClr val="tx1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, </a:t>
            </a:r>
          </a:p>
          <a:p>
            <a:pPr defTabSz="844083" eaLnBrk="0" hangingPunct="0"/>
            <a:endParaRPr lang="en-GB" sz="1477" b="1" dirty="0">
              <a:solidFill>
                <a:schemeClr val="tx1"/>
              </a:solidFill>
              <a:latin typeface="Consolas" pitchFamily="49" charset="0"/>
              <a:ea typeface="Calibri" pitchFamily="34" charset="0"/>
              <a:cs typeface="Consolas" pitchFamily="49" charset="0"/>
            </a:endParaRPr>
          </a:p>
          <a:p>
            <a:pPr defTabSz="844083" eaLnBrk="0" hangingPunct="0"/>
            <a:r>
              <a:rPr lang="en-GB" sz="1477" b="1" dirty="0">
                <a:solidFill>
                  <a:schemeClr val="tx1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        success: </a:t>
            </a:r>
            <a:r>
              <a:rPr lang="en-GB" sz="1477" b="1" dirty="0">
                <a:solidFill>
                  <a:srgbClr val="0000FF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function</a:t>
            </a:r>
            <a:r>
              <a:rPr lang="en-GB" sz="1477" b="1" dirty="0">
                <a:solidFill>
                  <a:schemeClr val="tx1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 (data) {</a:t>
            </a:r>
          </a:p>
          <a:p>
            <a:pPr defTabSz="844083" eaLnBrk="0" hangingPunct="0"/>
            <a:endParaRPr lang="en-GB" sz="462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defTabSz="844083" eaLnBrk="0" hangingPunct="0"/>
            <a:r>
              <a:rPr lang="en-GB" sz="1477" b="1" dirty="0">
                <a:solidFill>
                  <a:schemeClr val="tx1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            </a:t>
            </a:r>
            <a:r>
              <a:rPr lang="en-GB" sz="1477" b="1" dirty="0" err="1">
                <a:solidFill>
                  <a:schemeClr val="tx1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callback</a:t>
            </a:r>
            <a:r>
              <a:rPr lang="en-GB" sz="1477" b="1" dirty="0">
                <a:solidFill>
                  <a:schemeClr val="tx1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(data);</a:t>
            </a:r>
            <a:endParaRPr lang="en-GB" sz="923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defTabSz="844083" eaLnBrk="0" hangingPunct="0"/>
            <a:r>
              <a:rPr lang="en-GB" sz="1477" b="1" dirty="0">
                <a:solidFill>
                  <a:schemeClr val="tx1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        }</a:t>
            </a:r>
            <a:endParaRPr lang="en-GB" sz="923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defTabSz="844083" eaLnBrk="0" hangingPunct="0"/>
            <a:r>
              <a:rPr lang="en-GB" sz="1477" b="1" dirty="0">
                <a:solidFill>
                  <a:schemeClr val="tx1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    });</a:t>
            </a:r>
            <a:endParaRPr lang="en-GB" sz="923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defTabSz="844083" eaLnBrk="0" hangingPunct="0"/>
            <a:r>
              <a:rPr lang="en-GB" sz="1477" b="1" dirty="0">
                <a:solidFill>
                  <a:schemeClr val="tx1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}</a:t>
            </a:r>
            <a:endParaRPr lang="en-GB" sz="1846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6757570" y="3451254"/>
            <a:ext cx="890998" cy="266400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84406" tIns="42203" rIns="84406" bIns="42203" numCol="1" rtlCol="0" anchor="t" anchorCtr="0" compatLnSpc="1">
            <a:prstTxWarp prst="textNoShape">
              <a:avLst/>
            </a:prstTxWarp>
          </a:bodyPr>
          <a:lstStyle/>
          <a:p>
            <a:pPr defTabSz="844083" eaLnBrk="0" hangingPunct="0"/>
            <a:endParaRPr lang="en-GB" sz="2215">
              <a:latin typeface="Arial" pitchFamily="-1" charset="0"/>
              <a:ea typeface="ヒラギノ角ゴ Pro W3" pitchFamily="-1" charset="-128"/>
              <a:cs typeface="ヒラギノ角ゴ Pro W3" pitchFamily="-1" charset="-128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3299809" y="4914405"/>
            <a:ext cx="1661723" cy="266400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84406" tIns="42203" rIns="84406" bIns="42203" numCol="1" rtlCol="0" anchor="t" anchorCtr="0" compatLnSpc="1">
            <a:prstTxWarp prst="textNoShape">
              <a:avLst/>
            </a:prstTxWarp>
          </a:bodyPr>
          <a:lstStyle/>
          <a:p>
            <a:pPr defTabSz="844083" eaLnBrk="0" hangingPunct="0"/>
            <a:endParaRPr lang="en-GB" sz="2215">
              <a:latin typeface="Arial" pitchFamily="-1" charset="0"/>
              <a:ea typeface="ヒラギノ角ゴ Pro W3" pitchFamily="-1" charset="-128"/>
              <a:cs typeface="ヒラギノ角ゴ Pro W3" pitchFamily="-1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584664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Ajax  load()  method – get an entire page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idx="1"/>
          </p:nvPr>
        </p:nvSpPr>
        <p:spPr>
          <a:xfrm>
            <a:off x="341272" y="1368256"/>
            <a:ext cx="11516239" cy="46054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Load contents from your own site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2372032" y="1828800"/>
            <a:ext cx="7447936" cy="3539430"/>
          </a:xfrm>
          <a:prstGeom prst="rect">
            <a:avLst/>
          </a:prstGeom>
          <a:ln w="254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script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$(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function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() {</a:t>
            </a:r>
          </a:p>
          <a:p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$(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'#</a:t>
            </a:r>
            <a:r>
              <a:rPr lang="en-GB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LoadButton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).click(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function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() 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    {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$(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'#div1'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).load(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'htmlpage.html'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});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});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script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body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id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</a:t>
            </a:r>
            <a:r>
              <a:rPr lang="en-GB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LoadButton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="button"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="Load Page"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id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="div1"&gt;&lt;/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234731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Ajax  load()  method – get part of a page</a:t>
            </a:r>
            <a:endParaRPr lang="en-GB" dirty="0"/>
          </a:p>
        </p:txBody>
      </p:sp>
      <p:sp>
        <p:nvSpPr>
          <p:cNvPr id="3" name="Rectangle 2"/>
          <p:cNvSpPr/>
          <p:nvPr/>
        </p:nvSpPr>
        <p:spPr>
          <a:xfrm>
            <a:off x="2379412" y="1314274"/>
            <a:ext cx="7355139" cy="3046988"/>
          </a:xfrm>
          <a:prstGeom prst="rect">
            <a:avLst/>
          </a:prstGeom>
          <a:ln w="254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script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$(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function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() {</a:t>
            </a:r>
          </a:p>
          <a:p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$(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'#</a:t>
            </a:r>
            <a:r>
              <a:rPr lang="en-GB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LoadButton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).click(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function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() {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$(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'#div1'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).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load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n-GB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register.html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#</a:t>
            </a:r>
            <a:r>
              <a:rPr lang="en-GB" sz="16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UserInfoDiv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});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});</a:t>
            </a:r>
          </a:p>
          <a:p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script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body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id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</a:t>
            </a:r>
            <a:r>
              <a:rPr lang="en-GB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LoadButton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="button"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="Load Page"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id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="div1"&gt;&lt;/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/>
          </a:p>
        </p:txBody>
      </p:sp>
      <p:sp>
        <p:nvSpPr>
          <p:cNvPr id="4" name="Rectangle 3"/>
          <p:cNvSpPr/>
          <p:nvPr/>
        </p:nvSpPr>
        <p:spPr>
          <a:xfrm>
            <a:off x="2379411" y="4846800"/>
            <a:ext cx="7355139" cy="1631216"/>
          </a:xfrm>
          <a:prstGeom prst="rect">
            <a:avLst/>
          </a:prstGeom>
          <a:ln w="25400">
            <a:solidFill>
              <a:srgbClr val="F3622C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4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body</a:t>
            </a:r>
            <a:r>
              <a:rPr lang="en-GB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id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</a:t>
            </a:r>
            <a:r>
              <a:rPr lang="en-GB" sz="16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UserInfoDiv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"&gt;</a:t>
            </a:r>
            <a:endParaRPr lang="en-GB" sz="14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Name:</a:t>
            </a:r>
            <a:r>
              <a:rPr lang="en-GB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4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</a:t>
            </a:r>
            <a:r>
              <a:rPr lang="en-GB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id</a:t>
            </a:r>
            <a:r>
              <a:rPr lang="en-GB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</a:t>
            </a:r>
            <a:r>
              <a:rPr lang="en-GB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NameTextBox</a:t>
            </a:r>
            <a:r>
              <a:rPr lang="en-GB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GB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</a:t>
            </a:r>
            <a:r>
              <a:rPr lang="en-GB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="text"</a:t>
            </a:r>
            <a:r>
              <a:rPr lang="en-GB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/&gt;</a:t>
            </a:r>
            <a:endParaRPr lang="en-GB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Over 18</a:t>
            </a:r>
            <a:r>
              <a:rPr lang="en-GB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4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</a:t>
            </a:r>
            <a:r>
              <a:rPr lang="en-GB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id</a:t>
            </a:r>
            <a:r>
              <a:rPr lang="en-GB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="Over18Checkbox"</a:t>
            </a:r>
            <a:r>
              <a:rPr lang="en-GB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</a:t>
            </a:r>
            <a:r>
              <a:rPr lang="en-GB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="checkbox"</a:t>
            </a:r>
            <a:r>
              <a:rPr lang="en-GB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checked</a:t>
            </a:r>
            <a:r>
              <a:rPr lang="en-GB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/&gt;</a:t>
            </a:r>
            <a:endParaRPr lang="en-GB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4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</a:t>
            </a:r>
            <a:r>
              <a:rPr lang="en-GB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4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select</a:t>
            </a:r>
            <a:r>
              <a:rPr lang="en-GB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id</a:t>
            </a:r>
            <a:r>
              <a:rPr lang="en-GB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</a:t>
            </a:r>
            <a:r>
              <a:rPr lang="en-GB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OptionsSelect</a:t>
            </a:r>
            <a:r>
              <a:rPr lang="en-GB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"&gt;</a:t>
            </a:r>
            <a:endParaRPr lang="en-GB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GB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4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option</a:t>
            </a:r>
            <a:r>
              <a:rPr lang="en-GB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GB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Option 1</a:t>
            </a:r>
            <a:r>
              <a:rPr lang="en-GB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4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option</a:t>
            </a:r>
            <a:r>
              <a:rPr lang="en-GB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Rounded Rectangular Callout 4"/>
          <p:cNvSpPr/>
          <p:nvPr/>
        </p:nvSpPr>
        <p:spPr>
          <a:xfrm>
            <a:off x="8244628" y="4596081"/>
            <a:ext cx="1862936" cy="536359"/>
          </a:xfrm>
          <a:prstGeom prst="wedgeRoundRectCallout">
            <a:avLst>
              <a:gd name="adj1" fmla="val -32274"/>
              <a:gd name="adj2" fmla="val 76196"/>
              <a:gd name="adj3" fmla="val 16667"/>
            </a:avLst>
          </a:prstGeom>
          <a:solidFill>
            <a:srgbClr val="F3622C"/>
          </a:solidFill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register.html</a:t>
            </a:r>
            <a:endParaRPr lang="en-GB" sz="16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92278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861ba5a240904b86632099fc56e12dead204a13"/>
</p:tagLst>
</file>

<file path=ppt/theme/theme1.xml><?xml version="1.0" encoding="utf-8"?>
<a:theme xmlns:a="http://schemas.openxmlformats.org/drawingml/2006/main" name="Master">
  <a:themeElements>
    <a:clrScheme name="QA Branding Custom Colour Set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 Brand Fonts 2019">
      <a:majorFont>
        <a:latin typeface="Krana Fat B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 anchor="t" anchorCtr="0">
        <a:norm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rainer Slidedeck Template DRAFT v0.1" id="{7AC1CA74-4441-42CA-9897-72DF6ED83A1A}" vid="{6017FA94-E546-4DB4-BF25-6AABB84AA04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ookTypeField0 xmlns="B42EA499-AA80-4ED5-9ED5-37A17D3EB549">
      <Terms xmlns="http://schemas.microsoft.com/office/infopath/2007/PartnerControls"/>
    </BookTypeField0>
    <IsBuildFile xmlns="B42EA499-AA80-4ED5-9ED5-37A17D3EB549" xsi:nil="true"/>
    <SequenceNumber xmlns="B42EA499-AA80-4ED5-9ED5-37A17D3EB54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Courseware" ma:contentTypeID="0x010100F0967B7CEE8D417F966757887D9466FB005CB7CECC996A5B448C70C3215DE65491" ma:contentTypeVersion="0" ma:contentTypeDescription="Base content type which represents courseware documents" ma:contentTypeScope="" ma:versionID="633ed7bf8a9769dc10b8af609c2e65e8">
  <xsd:schema xmlns:xsd="http://www.w3.org/2001/XMLSchema" xmlns:xs="http://www.w3.org/2001/XMLSchema" xmlns:p="http://schemas.microsoft.com/office/2006/metadata/properties" xmlns:ns2="B42EA499-AA80-4ED5-9ED5-37A17D3EB549" targetNamespace="http://schemas.microsoft.com/office/2006/metadata/properties" ma:root="true" ma:fieldsID="6641bdc0935a9ffdc34b1682c1e0febc" ns2:_="">
    <xsd:import namespace="B42EA499-AA80-4ED5-9ED5-37A17D3EB549"/>
    <xsd:element name="properties">
      <xsd:complexType>
        <xsd:sequence>
          <xsd:element name="documentManagement">
            <xsd:complexType>
              <xsd:all>
                <xsd:element ref="ns2:BookTypeField0" minOccurs="0"/>
                <xsd:element ref="ns2:SequenceNumber" minOccurs="0"/>
                <xsd:element ref="ns2:IsBuildFil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2EA499-AA80-4ED5-9ED5-37A17D3EB549" elementFormDefault="qualified">
    <xsd:import namespace="http://schemas.microsoft.com/office/2006/documentManagement/types"/>
    <xsd:import namespace="http://schemas.microsoft.com/office/infopath/2007/PartnerControls"/>
    <xsd:element name="BookTypeField0" ma:index="9" nillable="true" ma:taxonomy="true" ma:internalName="BookTypeField0" ma:taxonomyFieldName="BookType" ma:displayName="Book Type" ma:fieldId="{e7c6b654-e04e-4e45-9cfd-676dbef3a3c6}" ma:sspId="63102202-80dd-4165-b1ca-d09cf2756dc1" ma:termSetId="3300959e-7346-4208-831a-90b552f1677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equenceNumber" ma:index="10" nillable="true" ma:displayName="Sequence Number" ma:decimals="0" ma:internalName="SequenceNumber">
      <xsd:simpleType>
        <xsd:restriction base="dms:Number"/>
      </xsd:simpleType>
    </xsd:element>
    <xsd:element name="IsBuildFile" ma:index="11" nillable="true" ma:displayName="Is Build File" ma:hidden="true" ma:internalName="IsBuildFil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39E4393-0BA1-4837-B9EE-9DEA17CE3058}">
  <ds:schemaRefs>
    <ds:schemaRef ds:uri="http://schemas.microsoft.com/office/2006/metadata/properties"/>
    <ds:schemaRef ds:uri="http://schemas.microsoft.com/office/infopath/2007/PartnerControls"/>
    <ds:schemaRef ds:uri="B42EA499-AA80-4ED5-9ED5-37A17D3EB549"/>
  </ds:schemaRefs>
</ds:datastoreItem>
</file>

<file path=customXml/itemProps2.xml><?xml version="1.0" encoding="utf-8"?>
<ds:datastoreItem xmlns:ds="http://schemas.openxmlformats.org/officeDocument/2006/customXml" ds:itemID="{6F305736-51AB-4C99-8833-9E7607F87BB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A9C4C3D-97D8-4E0E-8350-9F272A1385B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42EA499-AA80-4ED5-9ED5-37A17D3EB5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1611</TotalTime>
  <Words>1580</Words>
  <Application>Microsoft Office PowerPoint</Application>
  <PresentationFormat>Widescreen</PresentationFormat>
  <Paragraphs>271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Consolas</vt:lpstr>
      <vt:lpstr>Courier New</vt:lpstr>
      <vt:lpstr>Krana Fat B</vt:lpstr>
      <vt:lpstr>Montserrat</vt:lpstr>
      <vt:lpstr>Wingdings</vt:lpstr>
      <vt:lpstr>Master</vt:lpstr>
      <vt:lpstr>Web Development</vt:lpstr>
      <vt:lpstr>Asynchronous JavaScript and XML Ajax</vt:lpstr>
      <vt:lpstr>PowerPoint Presentation</vt:lpstr>
      <vt:lpstr>Ajax – Asynchronous JavaScript and XML</vt:lpstr>
      <vt:lpstr>Call WebServices with no parameters</vt:lpstr>
      <vt:lpstr>Call WebServices with parameters</vt:lpstr>
      <vt:lpstr>How to detect errors ( using .fail )</vt:lpstr>
      <vt:lpstr>Using $.getJSON() to get JSON content type</vt:lpstr>
      <vt:lpstr>PowerPoint Presentation</vt:lpstr>
      <vt:lpstr>PowerPoint Presentation</vt:lpstr>
      <vt:lpstr>Specifying the Parameter Format</vt:lpstr>
      <vt:lpstr>Specifying the Returned Data Format</vt:lpstr>
      <vt:lpstr>Ajax calls are Async – be careful!</vt:lpstr>
      <vt:lpstr>Create a callBack when Ajax call finishes</vt:lpstr>
      <vt:lpstr>Ajax  load()  method – get an entire page</vt:lpstr>
      <vt:lpstr>Ajax  load()  method – get part of a page</vt:lpstr>
    </vt:vector>
  </TitlesOfParts>
  <Manager/>
  <Company>QA Ltd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Singh, Vaishali</dc:creator>
  <cp:keywords/>
  <dc:description/>
  <cp:lastModifiedBy>Mike Baradaran</cp:lastModifiedBy>
  <cp:revision>159</cp:revision>
  <cp:lastPrinted>2019-07-03T09:46:41Z</cp:lastPrinted>
  <dcterms:created xsi:type="dcterms:W3CDTF">2019-09-05T08:17:12Z</dcterms:created>
  <dcterms:modified xsi:type="dcterms:W3CDTF">2022-09-08T08:10:20Z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0x010100F0967B7CEE8D417F966757887D9466FB005CB7CECC996A5B448C70C3215DE65491</vt:lpwstr>
  </property>
</Properties>
</file>