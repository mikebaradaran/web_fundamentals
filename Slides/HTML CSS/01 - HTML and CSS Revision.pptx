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610" r:id="rId5"/>
    <p:sldId id="611" r:id="rId6"/>
    <p:sldId id="612" r:id="rId7"/>
    <p:sldId id="606" r:id="rId8"/>
    <p:sldId id="854" r:id="rId9"/>
    <p:sldId id="855" r:id="rId10"/>
    <p:sldId id="916" r:id="rId11"/>
    <p:sldId id="879" r:id="rId12"/>
    <p:sldId id="1101" r:id="rId13"/>
    <p:sldId id="862" r:id="rId14"/>
    <p:sldId id="865" r:id="rId15"/>
    <p:sldId id="892" r:id="rId16"/>
    <p:sldId id="607" r:id="rId17"/>
    <p:sldId id="608" r:id="rId18"/>
    <p:sldId id="893" r:id="rId19"/>
    <p:sldId id="895" r:id="rId20"/>
    <p:sldId id="1083" r:id="rId21"/>
    <p:sldId id="1095" r:id="rId22"/>
    <p:sldId id="872" r:id="rId23"/>
    <p:sldId id="1081" r:id="rId24"/>
    <p:sldId id="1082" r:id="rId25"/>
    <p:sldId id="897" r:id="rId26"/>
    <p:sldId id="604" r:id="rId27"/>
    <p:sldId id="620" r:id="rId28"/>
    <p:sldId id="605" r:id="rId29"/>
    <p:sldId id="896" r:id="rId30"/>
  </p:sldIdLst>
  <p:sldSz cx="12192000" cy="6858000"/>
  <p:notesSz cx="6645275" cy="9775825"/>
  <p:custDataLst>
    <p:tags r:id="rId3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37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79">
          <p15:clr>
            <a:srgbClr val="A4A3A4"/>
          </p15:clr>
        </p15:guide>
        <p15:guide id="2" pos="2093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rrow, Joshua" initials="BJ" lastIdx="30" clrIdx="0">
    <p:extLst>
      <p:ext uri="{19B8F6BF-5375-455C-9EA6-DF929625EA0E}">
        <p15:presenceInfo xmlns:p15="http://schemas.microsoft.com/office/powerpoint/2012/main" userId="S-1-5-21-3476036342-1731177862-1559577602-51474" providerId="AD"/>
      </p:ext>
    </p:extLst>
  </p:cmAuthor>
  <p:cmAuthor id="2" name="Singh, Vaishali" initials="SV" lastIdx="7" clrIdx="1">
    <p:extLst>
      <p:ext uri="{19B8F6BF-5375-455C-9EA6-DF929625EA0E}">
        <p15:presenceInfo xmlns:p15="http://schemas.microsoft.com/office/powerpoint/2012/main" userId="S-1-5-21-3476036342-1731177862-1559577602-1552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622C"/>
    <a:srgbClr val="09EDB8"/>
    <a:srgbClr val="004050"/>
    <a:srgbClr val="F91258"/>
    <a:srgbClr val="7E007C"/>
    <a:srgbClr val="28CFF9"/>
    <a:srgbClr val="31D3AE"/>
    <a:srgbClr val="F3F3F3"/>
    <a:srgbClr val="F4F4F4"/>
    <a:srgbClr val="3D6E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34" autoAdjust="0"/>
    <p:restoredTop sz="92750" autoAdjust="0"/>
  </p:normalViewPr>
  <p:slideViewPr>
    <p:cSldViewPr snapToGrid="0" snapToObjects="1" showGuides="1">
      <p:cViewPr varScale="1">
        <p:scale>
          <a:sx n="71" d="100"/>
          <a:sy n="71" d="100"/>
        </p:scale>
        <p:origin x="1068" y="54"/>
      </p:cViewPr>
      <p:guideLst>
        <p:guide pos="3840"/>
        <p:guide orient="horz" pos="377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91" d="100"/>
          <a:sy n="91" d="100"/>
        </p:scale>
        <p:origin x="-3804" y="-108"/>
      </p:cViewPr>
      <p:guideLst>
        <p:guide orient="horz" pos="3079"/>
        <p:guide pos="2093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gs" Target="tags/tag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79725" cy="4905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63964" y="1"/>
            <a:ext cx="2879725" cy="4905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D088FE-3E68-47FE-8BA4-634CD34BABBC}" type="datetimeFigureOut">
              <a:rPr lang="en-GB" smtClean="0"/>
              <a:pPr/>
              <a:t>18/05/2026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285289"/>
            <a:ext cx="2879725" cy="49053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63964" y="9285289"/>
            <a:ext cx="2879725" cy="49053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B31C5D-0DE0-4486-9782-41885BE58160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0825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79619" cy="49048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64119" y="0"/>
            <a:ext cx="2879619" cy="49048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1D6B66C6-1E92-0F4E-A300-9D4ED1F0C23F}" type="datetimeFigureOut">
              <a:rPr lang="en-GB" smtClean="0"/>
              <a:pPr/>
              <a:t>18/05/2026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8938" y="1220788"/>
            <a:ext cx="5867400" cy="3300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4528" y="4704617"/>
            <a:ext cx="5316220" cy="384923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285339"/>
            <a:ext cx="2879619" cy="4904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64119" y="9285339"/>
            <a:ext cx="2879619" cy="4904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548901C6-1DA1-FB44-ABEE-06A0FEB7738E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67479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8310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0810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2470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0350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71500" y="581025"/>
            <a:ext cx="5715000" cy="3216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CONTINUED </a:t>
            </a:r>
            <a:fld id="{993982D2-741D-4BC6-8F8E-84F7C8891268}" type="slidenum">
              <a:rPr smtClean="0"/>
              <a:pPr>
                <a:defRPr/>
              </a:pPr>
              <a:t>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815882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71500" y="581025"/>
            <a:ext cx="5715000" cy="3216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CONTINUED </a:t>
            </a:r>
            <a:fld id="{993982D2-741D-4BC6-8F8E-84F7C8891268}" type="slidenum">
              <a:rPr smtClean="0"/>
              <a:pPr>
                <a:defRPr/>
              </a:pPr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83999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71500" y="581025"/>
            <a:ext cx="5715000" cy="3216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CONTINUED </a:t>
            </a:r>
            <a:fld id="{993982D2-741D-4BC6-8F8E-84F7C8891268}" type="slidenum">
              <a:rPr smtClean="0"/>
              <a:pPr>
                <a:defRPr/>
              </a:pPr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294772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71500" y="581025"/>
            <a:ext cx="5715000" cy="3216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CONTINUED </a:t>
            </a:r>
            <a:fld id="{993982D2-741D-4BC6-8F8E-84F7C8891268}" type="slidenum">
              <a:rPr smtClean="0"/>
              <a:pPr>
                <a:defRPr/>
              </a:pPr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38248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71500" y="581025"/>
            <a:ext cx="5715000" cy="3216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CONTINUED </a:t>
            </a:r>
            <a:fld id="{993982D2-741D-4BC6-8F8E-84F7C8891268}" type="slidenum">
              <a:rPr smtClean="0"/>
              <a:pPr>
                <a:defRPr/>
              </a:pPr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261003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71500" y="581025"/>
            <a:ext cx="5715000" cy="3216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CONTINUED </a:t>
            </a:r>
            <a:fld id="{993982D2-741D-4BC6-8F8E-84F7C8891268}" type="slidenum">
              <a:rPr smtClean="0"/>
              <a:pPr>
                <a:defRPr/>
              </a:pPr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791231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71500" y="581025"/>
            <a:ext cx="5715000" cy="3216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CONTINUED </a:t>
            </a:r>
            <a:fld id="{993982D2-741D-4BC6-8F8E-84F7C8891268}" type="slidenum">
              <a:rPr smtClean="0"/>
              <a:pPr>
                <a:defRPr/>
              </a:pPr>
              <a:t>11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88439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71500" y="581025"/>
            <a:ext cx="5715000" cy="3216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CONTINUED </a:t>
            </a:r>
            <a:fld id="{993982D2-741D-4BC6-8F8E-84F7C8891268}" type="slidenum">
              <a:rPr smtClean="0"/>
              <a:pPr>
                <a:defRPr/>
              </a:pPr>
              <a:t>12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996702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14081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65383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55975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71500" y="581025"/>
            <a:ext cx="5715000" cy="3216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CONTINUED </a:t>
            </a:r>
            <a:fld id="{993982D2-741D-4BC6-8F8E-84F7C8891268}" type="slidenum">
              <a:rPr smtClean="0"/>
              <a:pPr>
                <a:defRPr/>
              </a:pPr>
              <a:t>19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606079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10185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89085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24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&amp;A/what's next">
    <p:bg>
      <p:bgPr>
        <a:solidFill>
          <a:srgbClr val="EDCD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221280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llow us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75020" y="0"/>
            <a:ext cx="631698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86434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on Tips">
    <p:bg>
      <p:bgPr>
        <a:solidFill>
          <a:srgbClr val="EB62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54240" y="0"/>
            <a:ext cx="493776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198876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44640" y="15240"/>
            <a:ext cx="5547360" cy="684276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656105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usekeep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4" y="3433680"/>
            <a:ext cx="5627171" cy="968987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Housekeeping</a:t>
            </a:r>
            <a:endParaRPr lang="en-GB" noProof="0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4784" y="4894524"/>
            <a:ext cx="5627171" cy="1186921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Char char="•"/>
              <a:tabLst/>
              <a:defRPr sz="2000" b="0">
                <a:solidFill>
                  <a:schemeClr val="bg1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</p:spTree>
    <p:extLst>
      <p:ext uri="{BB962C8B-B14F-4D97-AF65-F5344CB8AC3E}">
        <p14:creationId xmlns:p14="http://schemas.microsoft.com/office/powerpoint/2010/main" val="4276879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et &amp; Greet 1">
    <p:bg>
      <p:bgPr>
        <a:solidFill>
          <a:srgbClr val="38E2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08881" y="-11575"/>
            <a:ext cx="8079261" cy="68753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5" y="1706477"/>
            <a:ext cx="5002556" cy="808123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Meet &amp; Greet</a:t>
            </a:r>
            <a:endParaRPr lang="en-GB" noProof="0" dirty="0"/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5" y="2915404"/>
            <a:ext cx="4278655" cy="34015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4045959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3 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  <p:grpSp>
        <p:nvGrpSpPr>
          <p:cNvPr id="27" name="Group 26"/>
          <p:cNvGrpSpPr/>
          <p:nvPr userDrawn="1"/>
        </p:nvGrpSpPr>
        <p:grpSpPr>
          <a:xfrm>
            <a:off x="-2229" y="2361812"/>
            <a:ext cx="11067619" cy="4502135"/>
            <a:chOff x="-2229" y="2361812"/>
            <a:chExt cx="11067619" cy="4502135"/>
          </a:xfrm>
          <a:solidFill>
            <a:srgbClr val="004050"/>
          </a:solidFill>
        </p:grpSpPr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2229" y="49513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002921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verview or quotes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7" y="1349984"/>
            <a:ext cx="6770688" cy="5119407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lnSpc>
                <a:spcPct val="100000"/>
              </a:lnSpc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 sz="2000"/>
            </a:lvl4pPr>
            <a:lvl5pPr marL="180000" indent="-1800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F3D0604-3EEB-7547-A86F-8B3EFC40A3EC}"/>
              </a:ext>
            </a:extLst>
          </p:cNvPr>
          <p:cNvSpPr/>
          <p:nvPr userDrawn="1"/>
        </p:nvSpPr>
        <p:spPr>
          <a:xfrm>
            <a:off x="384784" y="4504759"/>
            <a:ext cx="4321328" cy="1964632"/>
          </a:xfrm>
          <a:custGeom>
            <a:avLst/>
            <a:gdLst>
              <a:gd name="connsiteX0" fmla="*/ 1010833 w 1009650"/>
              <a:gd name="connsiteY0" fmla="*/ 229067 h 457200"/>
              <a:gd name="connsiteX1" fmla="*/ 972733 w 1009650"/>
              <a:gd name="connsiteY1" fmla="*/ 246593 h 457200"/>
              <a:gd name="connsiteX2" fmla="*/ 768072 w 1009650"/>
              <a:gd name="connsiteY2" fmla="*/ 348701 h 457200"/>
              <a:gd name="connsiteX3" fmla="*/ 658853 w 1009650"/>
              <a:gd name="connsiteY3" fmla="*/ 435887 h 457200"/>
              <a:gd name="connsiteX4" fmla="*/ 625770 w 1009650"/>
              <a:gd name="connsiteY4" fmla="*/ 457159 h 457200"/>
              <a:gd name="connsiteX5" fmla="*/ 594020 w 1009650"/>
              <a:gd name="connsiteY5" fmla="*/ 447126 h 457200"/>
              <a:gd name="connsiteX6" fmla="*/ 591352 w 1009650"/>
              <a:gd name="connsiteY6" fmla="*/ 428076 h 457200"/>
              <a:gd name="connsiteX7" fmla="*/ 620117 w 1009650"/>
              <a:gd name="connsiteY7" fmla="*/ 377721 h 457200"/>
              <a:gd name="connsiteX8" fmla="*/ 677966 w 1009650"/>
              <a:gd name="connsiteY8" fmla="*/ 290281 h 457200"/>
              <a:gd name="connsiteX9" fmla="*/ 688507 w 1009650"/>
              <a:gd name="connsiteY9" fmla="*/ 269136 h 457200"/>
              <a:gd name="connsiteX10" fmla="*/ 674410 w 1009650"/>
              <a:gd name="connsiteY10" fmla="*/ 241704 h 457200"/>
              <a:gd name="connsiteX11" fmla="*/ 636310 w 1009650"/>
              <a:gd name="connsiteY11" fmla="*/ 240307 h 457200"/>
              <a:gd name="connsiteX12" fmla="*/ 469495 w 1009650"/>
              <a:gd name="connsiteY12" fmla="*/ 274597 h 457200"/>
              <a:gd name="connsiteX13" fmla="*/ 356846 w 1009650"/>
              <a:gd name="connsiteY13" fmla="*/ 325905 h 457200"/>
              <a:gd name="connsiteX14" fmla="*/ 235752 w 1009650"/>
              <a:gd name="connsiteY14" fmla="*/ 378864 h 457200"/>
              <a:gd name="connsiteX15" fmla="*/ 118468 w 1009650"/>
              <a:gd name="connsiteY15" fmla="*/ 386611 h 457200"/>
              <a:gd name="connsiteX16" fmla="*/ 4168 w 1009650"/>
              <a:gd name="connsiteY16" fmla="*/ 268882 h 457200"/>
              <a:gd name="connsiteX17" fmla="*/ 25186 w 1009650"/>
              <a:gd name="connsiteY17" fmla="*/ 136802 h 457200"/>
              <a:gd name="connsiteX18" fmla="*/ 149075 w 1009650"/>
              <a:gd name="connsiteY18" fmla="*/ 68476 h 457200"/>
              <a:gd name="connsiteX19" fmla="*/ 296649 w 1009650"/>
              <a:gd name="connsiteY19" fmla="*/ 103464 h 457200"/>
              <a:gd name="connsiteX20" fmla="*/ 415076 w 1009650"/>
              <a:gd name="connsiteY20" fmla="*/ 161059 h 457200"/>
              <a:gd name="connsiteX21" fmla="*/ 572429 w 1009650"/>
              <a:gd name="connsiteY21" fmla="*/ 209255 h 457200"/>
              <a:gd name="connsiteX22" fmla="*/ 649836 w 1009650"/>
              <a:gd name="connsiteY22" fmla="*/ 219161 h 457200"/>
              <a:gd name="connsiteX23" fmla="*/ 675236 w 1009650"/>
              <a:gd name="connsiteY23" fmla="*/ 216812 h 457200"/>
              <a:gd name="connsiteX24" fmla="*/ 690125 w 1009650"/>
              <a:gd name="connsiteY24" fmla="*/ 195995 h 457200"/>
              <a:gd name="connsiteX25" fmla="*/ 688317 w 1009650"/>
              <a:gd name="connsiteY25" fmla="*/ 190586 h 457200"/>
              <a:gd name="connsiteX26" fmla="*/ 667934 w 1009650"/>
              <a:gd name="connsiteY26" fmla="*/ 151343 h 457200"/>
              <a:gd name="connsiteX27" fmla="*/ 603036 w 1009650"/>
              <a:gd name="connsiteY27" fmla="*/ 53871 h 457200"/>
              <a:gd name="connsiteX28" fmla="*/ 591098 w 1009650"/>
              <a:gd name="connsiteY28" fmla="*/ 30820 h 457200"/>
              <a:gd name="connsiteX29" fmla="*/ 608179 w 1009650"/>
              <a:gd name="connsiteY29" fmla="*/ 848 h 457200"/>
              <a:gd name="connsiteX30" fmla="*/ 649200 w 1009650"/>
              <a:gd name="connsiteY30" fmla="*/ 12977 h 457200"/>
              <a:gd name="connsiteX31" fmla="*/ 701905 w 1009650"/>
              <a:gd name="connsiteY31" fmla="*/ 60856 h 457200"/>
              <a:gd name="connsiteX32" fmla="*/ 813474 w 1009650"/>
              <a:gd name="connsiteY32" fmla="*/ 134389 h 457200"/>
              <a:gd name="connsiteX33" fmla="*/ 1006642 w 1009650"/>
              <a:gd name="connsiteY33" fmla="*/ 226972 h 457200"/>
              <a:gd name="connsiteX34" fmla="*/ 1010833 w 1009650"/>
              <a:gd name="connsiteY34" fmla="*/ 229067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457200">
                <a:moveTo>
                  <a:pt x="1010833" y="229067"/>
                </a:moveTo>
                <a:cubicBezTo>
                  <a:pt x="997434" y="235417"/>
                  <a:pt x="984925" y="240815"/>
                  <a:pt x="972733" y="246593"/>
                </a:cubicBezTo>
                <a:cubicBezTo>
                  <a:pt x="903581" y="278724"/>
                  <a:pt x="833668" y="309522"/>
                  <a:pt x="768072" y="348701"/>
                </a:cubicBezTo>
                <a:cubicBezTo>
                  <a:pt x="728311" y="373291"/>
                  <a:pt x="691642" y="402562"/>
                  <a:pt x="658853" y="435887"/>
                </a:cubicBezTo>
                <a:cubicBezTo>
                  <a:pt x="650022" y="445921"/>
                  <a:pt x="638563" y="453288"/>
                  <a:pt x="625770" y="457159"/>
                </a:cubicBezTo>
                <a:cubicBezTo>
                  <a:pt x="614145" y="459928"/>
                  <a:pt x="601942" y="456072"/>
                  <a:pt x="594020" y="447126"/>
                </a:cubicBezTo>
                <a:cubicBezTo>
                  <a:pt x="588841" y="442152"/>
                  <a:pt x="587739" y="434281"/>
                  <a:pt x="591352" y="428076"/>
                </a:cubicBezTo>
                <a:cubicBezTo>
                  <a:pt x="600559" y="411122"/>
                  <a:pt x="609703" y="393977"/>
                  <a:pt x="620117" y="377721"/>
                </a:cubicBezTo>
                <a:cubicBezTo>
                  <a:pt x="639167" y="348320"/>
                  <a:pt x="658853" y="319555"/>
                  <a:pt x="677966" y="290281"/>
                </a:cubicBezTo>
                <a:cubicBezTo>
                  <a:pt x="682182" y="283605"/>
                  <a:pt x="685714" y="276521"/>
                  <a:pt x="688507" y="269136"/>
                </a:cubicBezTo>
                <a:cubicBezTo>
                  <a:pt x="693714" y="255801"/>
                  <a:pt x="688507" y="244244"/>
                  <a:pt x="674410" y="241704"/>
                </a:cubicBezTo>
                <a:cubicBezTo>
                  <a:pt x="661836" y="239482"/>
                  <a:pt x="649014" y="239012"/>
                  <a:pt x="636310" y="240307"/>
                </a:cubicBezTo>
                <a:cubicBezTo>
                  <a:pt x="579541" y="245958"/>
                  <a:pt x="523090" y="254975"/>
                  <a:pt x="469495" y="274597"/>
                </a:cubicBezTo>
                <a:cubicBezTo>
                  <a:pt x="431081" y="289732"/>
                  <a:pt x="393480" y="306858"/>
                  <a:pt x="356846" y="325905"/>
                </a:cubicBezTo>
                <a:cubicBezTo>
                  <a:pt x="317159" y="344955"/>
                  <a:pt x="278233" y="366227"/>
                  <a:pt x="235752" y="378864"/>
                </a:cubicBezTo>
                <a:cubicBezTo>
                  <a:pt x="197915" y="391187"/>
                  <a:pt x="157597" y="393850"/>
                  <a:pt x="118468" y="386611"/>
                </a:cubicBezTo>
                <a:cubicBezTo>
                  <a:pt x="60224" y="373808"/>
                  <a:pt x="15244" y="327478"/>
                  <a:pt x="4168" y="268882"/>
                </a:cubicBezTo>
                <a:cubicBezTo>
                  <a:pt x="-4405" y="222463"/>
                  <a:pt x="-849" y="177505"/>
                  <a:pt x="25186" y="136802"/>
                </a:cubicBezTo>
                <a:cubicBezTo>
                  <a:pt x="53888" y="91971"/>
                  <a:pt x="95925" y="69746"/>
                  <a:pt x="149075" y="68476"/>
                </a:cubicBezTo>
                <a:cubicBezTo>
                  <a:pt x="202224" y="67206"/>
                  <a:pt x="249976" y="81557"/>
                  <a:pt x="296649" y="103464"/>
                </a:cubicBezTo>
                <a:cubicBezTo>
                  <a:pt x="336400" y="122133"/>
                  <a:pt x="375875" y="141331"/>
                  <a:pt x="415076" y="161059"/>
                </a:cubicBezTo>
                <a:cubicBezTo>
                  <a:pt x="464691" y="185237"/>
                  <a:pt x="517785" y="201499"/>
                  <a:pt x="572429" y="209255"/>
                </a:cubicBezTo>
                <a:cubicBezTo>
                  <a:pt x="598126" y="213234"/>
                  <a:pt x="623928" y="216536"/>
                  <a:pt x="649836" y="219161"/>
                </a:cubicBezTo>
                <a:cubicBezTo>
                  <a:pt x="658375" y="219866"/>
                  <a:pt x="666971" y="219071"/>
                  <a:pt x="675236" y="216812"/>
                </a:cubicBezTo>
                <a:cubicBezTo>
                  <a:pt x="685095" y="215175"/>
                  <a:pt x="691762" y="205855"/>
                  <a:pt x="690125" y="195995"/>
                </a:cubicBezTo>
                <a:cubicBezTo>
                  <a:pt x="689812" y="194108"/>
                  <a:pt x="689201" y="192282"/>
                  <a:pt x="688317" y="190586"/>
                </a:cubicBezTo>
                <a:cubicBezTo>
                  <a:pt x="682682" y="176935"/>
                  <a:pt x="675862" y="163803"/>
                  <a:pt x="667934" y="151343"/>
                </a:cubicBezTo>
                <a:cubicBezTo>
                  <a:pt x="646724" y="118577"/>
                  <a:pt x="624499" y="86446"/>
                  <a:pt x="603036" y="53871"/>
                </a:cubicBezTo>
                <a:cubicBezTo>
                  <a:pt x="598297" y="46605"/>
                  <a:pt x="594298" y="38883"/>
                  <a:pt x="591098" y="30820"/>
                </a:cubicBezTo>
                <a:cubicBezTo>
                  <a:pt x="584748" y="15771"/>
                  <a:pt x="592304" y="3833"/>
                  <a:pt x="608179" y="848"/>
                </a:cubicBezTo>
                <a:cubicBezTo>
                  <a:pt x="623012" y="-2026"/>
                  <a:pt x="638315" y="2499"/>
                  <a:pt x="649200" y="12977"/>
                </a:cubicBezTo>
                <a:cubicBezTo>
                  <a:pt x="666917" y="28788"/>
                  <a:pt x="683999" y="45298"/>
                  <a:pt x="701905" y="60856"/>
                </a:cubicBezTo>
                <a:cubicBezTo>
                  <a:pt x="735701" y="90165"/>
                  <a:pt x="773214" y="114889"/>
                  <a:pt x="813474" y="134389"/>
                </a:cubicBezTo>
                <a:cubicBezTo>
                  <a:pt x="877674" y="165631"/>
                  <a:pt x="942253" y="196111"/>
                  <a:pt x="1006642" y="226972"/>
                </a:cubicBezTo>
                <a:cubicBezTo>
                  <a:pt x="1007785" y="227226"/>
                  <a:pt x="1008801" y="227924"/>
                  <a:pt x="1010833" y="229067"/>
                </a:cubicBezTo>
                <a:close/>
              </a:path>
            </a:pathLst>
          </a:custGeom>
          <a:solidFill>
            <a:srgbClr val="09EDB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9EDB8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</p:spTree>
    <p:extLst>
      <p:ext uri="{BB962C8B-B14F-4D97-AF65-F5344CB8AC3E}">
        <p14:creationId xmlns:p14="http://schemas.microsoft.com/office/powerpoint/2010/main" val="3589945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grpSp>
        <p:nvGrpSpPr>
          <p:cNvPr id="19" name="Group 18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09EDB8"/>
          </a:solidFill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370358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00EDB3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114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vity 1">
    <p:bg>
      <p:bgPr>
        <a:solidFill>
          <a:srgbClr val="0EEE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887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01 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-609" y="0"/>
            <a:ext cx="12192609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rgbClr val="004050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779800"/>
            <a:ext cx="5627171" cy="1682133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05" y="399619"/>
            <a:ext cx="857393" cy="522401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758190" y="769620"/>
            <a:ext cx="379608" cy="11049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61448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35B5D0DF-4895-DB4F-85D9-C3FFDE55B8C8}"/>
              </a:ext>
            </a:extLst>
          </p:cNvPr>
          <p:cNvSpPr/>
          <p:nvPr userDrawn="1"/>
        </p:nvSpPr>
        <p:spPr>
          <a:xfrm>
            <a:off x="384784" y="4708688"/>
            <a:ext cx="4136901" cy="1728688"/>
          </a:xfrm>
          <a:custGeom>
            <a:avLst/>
            <a:gdLst>
              <a:gd name="connsiteX0" fmla="*/ 1041083 w 1035050"/>
              <a:gd name="connsiteY0" fmla="*/ 232283 h 527050"/>
              <a:gd name="connsiteX1" fmla="*/ 1041083 w 1035050"/>
              <a:gd name="connsiteY1" fmla="*/ 300545 h 527050"/>
              <a:gd name="connsiteX2" fmla="*/ 807403 w 1035050"/>
              <a:gd name="connsiteY2" fmla="*/ 532448 h 527050"/>
              <a:gd name="connsiteX3" fmla="*/ 738569 w 1035050"/>
              <a:gd name="connsiteY3" fmla="*/ 532448 h 527050"/>
              <a:gd name="connsiteX4" fmla="*/ 849249 w 1035050"/>
              <a:gd name="connsiteY4" fmla="*/ 300545 h 527050"/>
              <a:gd name="connsiteX5" fmla="*/ 564071 w 1035050"/>
              <a:gd name="connsiteY5" fmla="*/ 300545 h 527050"/>
              <a:gd name="connsiteX6" fmla="*/ 330454 w 1035050"/>
              <a:gd name="connsiteY6" fmla="*/ 532448 h 527050"/>
              <a:gd name="connsiteX7" fmla="*/ 261430 w 1035050"/>
              <a:gd name="connsiteY7" fmla="*/ 532448 h 527050"/>
              <a:gd name="connsiteX8" fmla="*/ 355854 w 1035050"/>
              <a:gd name="connsiteY8" fmla="*/ 314769 h 527050"/>
              <a:gd name="connsiteX9" fmla="*/ 202819 w 1035050"/>
              <a:gd name="connsiteY9" fmla="*/ 532448 h 527050"/>
              <a:gd name="connsiteX10" fmla="*/ 134049 w 1035050"/>
              <a:gd name="connsiteY10" fmla="*/ 532448 h 527050"/>
              <a:gd name="connsiteX11" fmla="*/ 232220 w 1035050"/>
              <a:gd name="connsiteY11" fmla="*/ 311277 h 527050"/>
              <a:gd name="connsiteX12" fmla="*/ 68771 w 1035050"/>
              <a:gd name="connsiteY12" fmla="*/ 532448 h 527050"/>
              <a:gd name="connsiteX13" fmla="*/ 0 w 1035050"/>
              <a:gd name="connsiteY13" fmla="*/ 532448 h 527050"/>
              <a:gd name="connsiteX14" fmla="*/ 162751 w 1035050"/>
              <a:gd name="connsiteY14" fmla="*/ 266192 h 527050"/>
              <a:gd name="connsiteX15" fmla="*/ 0 w 1035050"/>
              <a:gd name="connsiteY15" fmla="*/ 0 h 527050"/>
              <a:gd name="connsiteX16" fmla="*/ 68771 w 1035050"/>
              <a:gd name="connsiteY16" fmla="*/ 0 h 527050"/>
              <a:gd name="connsiteX17" fmla="*/ 231712 w 1035050"/>
              <a:gd name="connsiteY17" fmla="*/ 221107 h 527050"/>
              <a:gd name="connsiteX18" fmla="*/ 134049 w 1035050"/>
              <a:gd name="connsiteY18" fmla="*/ 381 h 527050"/>
              <a:gd name="connsiteX19" fmla="*/ 202819 w 1035050"/>
              <a:gd name="connsiteY19" fmla="*/ 381 h 527050"/>
              <a:gd name="connsiteX20" fmla="*/ 355918 w 1035050"/>
              <a:gd name="connsiteY20" fmla="*/ 218059 h 527050"/>
              <a:gd name="connsiteX21" fmla="*/ 261430 w 1035050"/>
              <a:gd name="connsiteY21" fmla="*/ 381 h 527050"/>
              <a:gd name="connsiteX22" fmla="*/ 330264 w 1035050"/>
              <a:gd name="connsiteY22" fmla="*/ 381 h 527050"/>
              <a:gd name="connsiteX23" fmla="*/ 564071 w 1035050"/>
              <a:gd name="connsiteY23" fmla="*/ 232283 h 527050"/>
              <a:gd name="connsiteX24" fmla="*/ 849440 w 1035050"/>
              <a:gd name="connsiteY24" fmla="*/ 232283 h 527050"/>
              <a:gd name="connsiteX25" fmla="*/ 738759 w 1035050"/>
              <a:gd name="connsiteY25" fmla="*/ 381 h 527050"/>
              <a:gd name="connsiteX26" fmla="*/ 807593 w 1035050"/>
              <a:gd name="connsiteY26" fmla="*/ 381 h 527050"/>
              <a:gd name="connsiteX27" fmla="*/ 1041083 w 1035050"/>
              <a:gd name="connsiteY27" fmla="*/ 232283 h 52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35050" h="527050">
                <a:moveTo>
                  <a:pt x="1041083" y="232283"/>
                </a:moveTo>
                <a:lnTo>
                  <a:pt x="1041083" y="300545"/>
                </a:lnTo>
                <a:cubicBezTo>
                  <a:pt x="912573" y="300194"/>
                  <a:pt x="808032" y="403939"/>
                  <a:pt x="807403" y="532448"/>
                </a:cubicBezTo>
                <a:lnTo>
                  <a:pt x="738569" y="532448"/>
                </a:lnTo>
                <a:cubicBezTo>
                  <a:pt x="738665" y="442426"/>
                  <a:pt x="779322" y="357240"/>
                  <a:pt x="849249" y="300545"/>
                </a:cubicBezTo>
                <a:lnTo>
                  <a:pt x="564071" y="300545"/>
                </a:lnTo>
                <a:cubicBezTo>
                  <a:pt x="435571" y="300194"/>
                  <a:pt x="331049" y="403949"/>
                  <a:pt x="330454" y="532448"/>
                </a:cubicBezTo>
                <a:lnTo>
                  <a:pt x="261430" y="532448"/>
                </a:lnTo>
                <a:cubicBezTo>
                  <a:pt x="261469" y="449957"/>
                  <a:pt x="295649" y="371162"/>
                  <a:pt x="355854" y="314769"/>
                </a:cubicBezTo>
                <a:cubicBezTo>
                  <a:pt x="264255" y="348074"/>
                  <a:pt x="203155" y="434982"/>
                  <a:pt x="202819" y="532448"/>
                </a:cubicBezTo>
                <a:lnTo>
                  <a:pt x="134049" y="532448"/>
                </a:lnTo>
                <a:cubicBezTo>
                  <a:pt x="134077" y="448170"/>
                  <a:pt x="169736" y="367833"/>
                  <a:pt x="232220" y="311277"/>
                </a:cubicBezTo>
                <a:cubicBezTo>
                  <a:pt x="135308" y="341431"/>
                  <a:pt x="69149" y="430954"/>
                  <a:pt x="68771" y="532448"/>
                </a:cubicBezTo>
                <a:lnTo>
                  <a:pt x="0" y="532448"/>
                </a:lnTo>
                <a:cubicBezTo>
                  <a:pt x="242" y="420258"/>
                  <a:pt x="63014" y="317565"/>
                  <a:pt x="162751" y="266192"/>
                </a:cubicBezTo>
                <a:cubicBezTo>
                  <a:pt x="63024" y="214841"/>
                  <a:pt x="251" y="112170"/>
                  <a:pt x="0" y="0"/>
                </a:cubicBezTo>
                <a:lnTo>
                  <a:pt x="68771" y="0"/>
                </a:lnTo>
                <a:cubicBezTo>
                  <a:pt x="69086" y="101339"/>
                  <a:pt x="135011" y="190797"/>
                  <a:pt x="231712" y="221107"/>
                </a:cubicBezTo>
                <a:cubicBezTo>
                  <a:pt x="169531" y="164565"/>
                  <a:pt x="134072" y="84425"/>
                  <a:pt x="134049" y="381"/>
                </a:cubicBezTo>
                <a:lnTo>
                  <a:pt x="202819" y="381"/>
                </a:lnTo>
                <a:cubicBezTo>
                  <a:pt x="203128" y="97875"/>
                  <a:pt x="264269" y="184807"/>
                  <a:pt x="355918" y="218059"/>
                </a:cubicBezTo>
                <a:cubicBezTo>
                  <a:pt x="295689" y="161678"/>
                  <a:pt x="261486" y="82882"/>
                  <a:pt x="261430" y="381"/>
                </a:cubicBezTo>
                <a:lnTo>
                  <a:pt x="330264" y="381"/>
                </a:lnTo>
                <a:cubicBezTo>
                  <a:pt x="330893" y="128940"/>
                  <a:pt x="435511" y="232705"/>
                  <a:pt x="564071" y="232283"/>
                </a:cubicBezTo>
                <a:lnTo>
                  <a:pt x="849440" y="232283"/>
                </a:lnTo>
                <a:cubicBezTo>
                  <a:pt x="779505" y="175595"/>
                  <a:pt x="738847" y="90405"/>
                  <a:pt x="738759" y="381"/>
                </a:cubicBezTo>
                <a:lnTo>
                  <a:pt x="807593" y="381"/>
                </a:lnTo>
                <a:cubicBezTo>
                  <a:pt x="808223" y="128815"/>
                  <a:pt x="912647" y="232530"/>
                  <a:pt x="1041083" y="232283"/>
                </a:cubicBezTo>
                <a:close/>
              </a:path>
            </a:pathLst>
          </a:custGeom>
          <a:solidFill>
            <a:srgbClr val="00405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887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28CFF9"/>
          </a:solidFill>
        </p:grpSpPr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822106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28CFF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4725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ctivity 1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28947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03 Section Divider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760859" y="768561"/>
            <a:ext cx="379608" cy="11049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  <p:grpSp>
        <p:nvGrpSpPr>
          <p:cNvPr id="6" name="Group 5"/>
          <p:cNvGrpSpPr/>
          <p:nvPr userDrawn="1"/>
        </p:nvGrpSpPr>
        <p:grpSpPr>
          <a:xfrm>
            <a:off x="-2229" y="2361812"/>
            <a:ext cx="11067619" cy="4502135"/>
            <a:chOff x="-2229" y="2361812"/>
            <a:chExt cx="11067619" cy="4502135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513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2235614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-1717" y="4568506"/>
            <a:ext cx="4628886" cy="1406446"/>
            <a:chOff x="-1717" y="4568506"/>
            <a:chExt cx="4628886" cy="1406446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717" y="4568506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3713028" y="4568727"/>
              <a:ext cx="914141" cy="1401463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717" y="5379567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98918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8" name="Group 27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</p:grpSpPr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161484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F1612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865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Activity 1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377112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2 Section Divider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A0DD6AED-2202-DD48-A2D6-60CCC5F07320}"/>
              </a:ext>
            </a:extLst>
          </p:cNvPr>
          <p:cNvSpPr/>
          <p:nvPr userDrawn="1"/>
        </p:nvSpPr>
        <p:spPr>
          <a:xfrm>
            <a:off x="-609" y="2116538"/>
            <a:ext cx="11411496" cy="5526322"/>
          </a:xfrm>
          <a:custGeom>
            <a:avLst/>
            <a:gdLst>
              <a:gd name="connsiteX0" fmla="*/ 676275 w 1009650"/>
              <a:gd name="connsiteY0" fmla="*/ 287331 h 488950"/>
              <a:gd name="connsiteX1" fmla="*/ 7684 w 1009650"/>
              <a:gd name="connsiteY1" fmla="*/ 287331 h 488950"/>
              <a:gd name="connsiteX2" fmla="*/ 0 w 1009650"/>
              <a:gd name="connsiteY2" fmla="*/ 279838 h 488950"/>
              <a:gd name="connsiteX3" fmla="*/ 0 w 1009650"/>
              <a:gd name="connsiteY3" fmla="*/ 210877 h 488950"/>
              <a:gd name="connsiteX4" fmla="*/ 6350 w 1009650"/>
              <a:gd name="connsiteY4" fmla="*/ 204527 h 488950"/>
              <a:gd name="connsiteX5" fmla="*/ 666750 w 1009650"/>
              <a:gd name="connsiteY5" fmla="*/ 204527 h 488950"/>
              <a:gd name="connsiteX6" fmla="*/ 676212 w 1009650"/>
              <a:gd name="connsiteY6" fmla="*/ 195002 h 488950"/>
              <a:gd name="connsiteX7" fmla="*/ 676212 w 1009650"/>
              <a:gd name="connsiteY7" fmla="*/ 10852 h 488950"/>
              <a:gd name="connsiteX8" fmla="*/ 681800 w 1009650"/>
              <a:gd name="connsiteY8" fmla="*/ 2661 h 488950"/>
              <a:gd name="connsiteX9" fmla="*/ 684975 w 1009650"/>
              <a:gd name="connsiteY9" fmla="*/ 1137 h 488950"/>
              <a:gd name="connsiteX10" fmla="*/ 690245 w 1009650"/>
              <a:gd name="connsiteY10" fmla="*/ 1835 h 488950"/>
              <a:gd name="connsiteX11" fmla="*/ 729552 w 1009650"/>
              <a:gd name="connsiteY11" fmla="*/ 43428 h 488950"/>
              <a:gd name="connsiteX12" fmla="*/ 770319 w 1009650"/>
              <a:gd name="connsiteY12" fmla="*/ 82036 h 488950"/>
              <a:gd name="connsiteX13" fmla="*/ 827469 w 1009650"/>
              <a:gd name="connsiteY13" fmla="*/ 129788 h 488950"/>
              <a:gd name="connsiteX14" fmla="*/ 873506 w 1009650"/>
              <a:gd name="connsiteY14" fmla="*/ 162681 h 488950"/>
              <a:gd name="connsiteX15" fmla="*/ 907415 w 1009650"/>
              <a:gd name="connsiteY15" fmla="*/ 185350 h 488950"/>
              <a:gd name="connsiteX16" fmla="*/ 935673 w 1009650"/>
              <a:gd name="connsiteY16" fmla="*/ 201670 h 488950"/>
              <a:gd name="connsiteX17" fmla="*/ 967804 w 1009650"/>
              <a:gd name="connsiteY17" fmla="*/ 218942 h 488950"/>
              <a:gd name="connsiteX18" fmla="*/ 997903 w 1009650"/>
              <a:gd name="connsiteY18" fmla="*/ 232848 h 488950"/>
              <a:gd name="connsiteX19" fmla="*/ 1010031 w 1009650"/>
              <a:gd name="connsiteY19" fmla="*/ 238436 h 488950"/>
              <a:gd name="connsiteX20" fmla="*/ 1011428 w 1009650"/>
              <a:gd name="connsiteY20" fmla="*/ 241294 h 488950"/>
              <a:gd name="connsiteX21" fmla="*/ 1011428 w 1009650"/>
              <a:gd name="connsiteY21" fmla="*/ 248914 h 488950"/>
              <a:gd name="connsiteX22" fmla="*/ 1008189 w 1009650"/>
              <a:gd name="connsiteY22" fmla="*/ 253422 h 488950"/>
              <a:gd name="connsiteX23" fmla="*/ 952183 w 1009650"/>
              <a:gd name="connsiteY23" fmla="*/ 281045 h 488950"/>
              <a:gd name="connsiteX24" fmla="*/ 906145 w 1009650"/>
              <a:gd name="connsiteY24" fmla="*/ 306953 h 488950"/>
              <a:gd name="connsiteX25" fmla="*/ 872236 w 1009650"/>
              <a:gd name="connsiteY25" fmla="*/ 329622 h 488950"/>
              <a:gd name="connsiteX26" fmla="*/ 835406 w 1009650"/>
              <a:gd name="connsiteY26" fmla="*/ 355467 h 488950"/>
              <a:gd name="connsiteX27" fmla="*/ 796100 w 1009650"/>
              <a:gd name="connsiteY27" fmla="*/ 386455 h 488950"/>
              <a:gd name="connsiteX28" fmla="*/ 760730 w 1009650"/>
              <a:gd name="connsiteY28" fmla="*/ 416998 h 488950"/>
              <a:gd name="connsiteX29" fmla="*/ 716280 w 1009650"/>
              <a:gd name="connsiteY29" fmla="*/ 460686 h 488950"/>
              <a:gd name="connsiteX30" fmla="*/ 690880 w 1009650"/>
              <a:gd name="connsiteY30" fmla="*/ 488563 h 488950"/>
              <a:gd name="connsiteX31" fmla="*/ 685292 w 1009650"/>
              <a:gd name="connsiteY31" fmla="*/ 489642 h 488950"/>
              <a:gd name="connsiteX32" fmla="*/ 678942 w 1009650"/>
              <a:gd name="connsiteY32" fmla="*/ 486404 h 488950"/>
              <a:gd name="connsiteX33" fmla="*/ 676402 w 1009650"/>
              <a:gd name="connsiteY33" fmla="*/ 480054 h 488950"/>
              <a:gd name="connsiteX34" fmla="*/ 676402 w 1009650"/>
              <a:gd name="connsiteY34" fmla="*/ 378454 h 488950"/>
              <a:gd name="connsiteX35" fmla="*/ 676402 w 1009650"/>
              <a:gd name="connsiteY35" fmla="*/ 287331 h 48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09650" h="488950">
                <a:moveTo>
                  <a:pt x="676275" y="287331"/>
                </a:moveTo>
                <a:lnTo>
                  <a:pt x="7684" y="287331"/>
                </a:lnTo>
                <a:cubicBezTo>
                  <a:pt x="0" y="287331"/>
                  <a:pt x="0" y="287331"/>
                  <a:pt x="0" y="279838"/>
                </a:cubicBezTo>
                <a:cubicBezTo>
                  <a:pt x="0" y="256851"/>
                  <a:pt x="0" y="233864"/>
                  <a:pt x="0" y="210877"/>
                </a:cubicBezTo>
                <a:cubicBezTo>
                  <a:pt x="0" y="205543"/>
                  <a:pt x="1524" y="204527"/>
                  <a:pt x="6350" y="204527"/>
                </a:cubicBezTo>
                <a:cubicBezTo>
                  <a:pt x="226483" y="204527"/>
                  <a:pt x="446617" y="204527"/>
                  <a:pt x="666750" y="204527"/>
                </a:cubicBezTo>
                <a:cubicBezTo>
                  <a:pt x="677228" y="204527"/>
                  <a:pt x="676212" y="205988"/>
                  <a:pt x="676212" y="195002"/>
                </a:cubicBezTo>
                <a:cubicBezTo>
                  <a:pt x="676212" y="133661"/>
                  <a:pt x="676212" y="72278"/>
                  <a:pt x="676212" y="10852"/>
                </a:cubicBezTo>
                <a:cubicBezTo>
                  <a:pt x="675743" y="7103"/>
                  <a:pt x="678138" y="3592"/>
                  <a:pt x="681800" y="2661"/>
                </a:cubicBezTo>
                <a:cubicBezTo>
                  <a:pt x="682942" y="2349"/>
                  <a:pt x="684018" y="1833"/>
                  <a:pt x="684975" y="1137"/>
                </a:cubicBezTo>
                <a:cubicBezTo>
                  <a:pt x="687070" y="-451"/>
                  <a:pt x="688150" y="-514"/>
                  <a:pt x="690245" y="1835"/>
                </a:cubicBezTo>
                <a:cubicBezTo>
                  <a:pt x="702945" y="15932"/>
                  <a:pt x="716090" y="29966"/>
                  <a:pt x="729552" y="43428"/>
                </a:cubicBezTo>
                <a:cubicBezTo>
                  <a:pt x="743014" y="56890"/>
                  <a:pt x="756222" y="69780"/>
                  <a:pt x="770319" y="82036"/>
                </a:cubicBezTo>
                <a:cubicBezTo>
                  <a:pt x="789051" y="98419"/>
                  <a:pt x="808419" y="114421"/>
                  <a:pt x="827469" y="129788"/>
                </a:cubicBezTo>
                <a:cubicBezTo>
                  <a:pt x="842328" y="141408"/>
                  <a:pt x="858012" y="151886"/>
                  <a:pt x="873506" y="162681"/>
                </a:cubicBezTo>
                <a:cubicBezTo>
                  <a:pt x="884682" y="170428"/>
                  <a:pt x="895922" y="178111"/>
                  <a:pt x="907415" y="185350"/>
                </a:cubicBezTo>
                <a:cubicBezTo>
                  <a:pt x="916623" y="191192"/>
                  <a:pt x="926148" y="196399"/>
                  <a:pt x="935673" y="201670"/>
                </a:cubicBezTo>
                <a:cubicBezTo>
                  <a:pt x="946277" y="207575"/>
                  <a:pt x="956945" y="213481"/>
                  <a:pt x="967804" y="218942"/>
                </a:cubicBezTo>
                <a:cubicBezTo>
                  <a:pt x="977710" y="223895"/>
                  <a:pt x="987870" y="228213"/>
                  <a:pt x="997903" y="232848"/>
                </a:cubicBezTo>
                <a:cubicBezTo>
                  <a:pt x="1001967" y="234690"/>
                  <a:pt x="1006094" y="236404"/>
                  <a:pt x="1010031" y="238436"/>
                </a:cubicBezTo>
                <a:cubicBezTo>
                  <a:pt x="1010884" y="239145"/>
                  <a:pt x="1011393" y="240185"/>
                  <a:pt x="1011428" y="241294"/>
                </a:cubicBezTo>
                <a:cubicBezTo>
                  <a:pt x="1011811" y="243819"/>
                  <a:pt x="1011811" y="246388"/>
                  <a:pt x="1011428" y="248914"/>
                </a:cubicBezTo>
                <a:cubicBezTo>
                  <a:pt x="1010997" y="250790"/>
                  <a:pt x="1009830" y="252415"/>
                  <a:pt x="1008189" y="253422"/>
                </a:cubicBezTo>
                <a:cubicBezTo>
                  <a:pt x="989584" y="262693"/>
                  <a:pt x="970661" y="271456"/>
                  <a:pt x="952183" y="281045"/>
                </a:cubicBezTo>
                <a:cubicBezTo>
                  <a:pt x="936562" y="289173"/>
                  <a:pt x="921195" y="297872"/>
                  <a:pt x="906145" y="306953"/>
                </a:cubicBezTo>
                <a:cubicBezTo>
                  <a:pt x="894525" y="313938"/>
                  <a:pt x="883412" y="321939"/>
                  <a:pt x="872236" y="329622"/>
                </a:cubicBezTo>
                <a:cubicBezTo>
                  <a:pt x="859854" y="338131"/>
                  <a:pt x="847408" y="346513"/>
                  <a:pt x="835406" y="355467"/>
                </a:cubicBezTo>
                <a:cubicBezTo>
                  <a:pt x="822071" y="365500"/>
                  <a:pt x="808969" y="375829"/>
                  <a:pt x="796100" y="386455"/>
                </a:cubicBezTo>
                <a:cubicBezTo>
                  <a:pt x="784035" y="396297"/>
                  <a:pt x="772097" y="406330"/>
                  <a:pt x="760730" y="416998"/>
                </a:cubicBezTo>
                <a:cubicBezTo>
                  <a:pt x="745554" y="431159"/>
                  <a:pt x="730822" y="445827"/>
                  <a:pt x="716280" y="460686"/>
                </a:cubicBezTo>
                <a:cubicBezTo>
                  <a:pt x="707454" y="469640"/>
                  <a:pt x="699516" y="479419"/>
                  <a:pt x="690880" y="488563"/>
                </a:cubicBezTo>
                <a:cubicBezTo>
                  <a:pt x="689269" y="489731"/>
                  <a:pt x="687223" y="490126"/>
                  <a:pt x="685292" y="489642"/>
                </a:cubicBezTo>
                <a:cubicBezTo>
                  <a:pt x="682920" y="489162"/>
                  <a:pt x="680724" y="488042"/>
                  <a:pt x="678942" y="486404"/>
                </a:cubicBezTo>
                <a:cubicBezTo>
                  <a:pt x="677383" y="484647"/>
                  <a:pt x="676484" y="482402"/>
                  <a:pt x="676402" y="480054"/>
                </a:cubicBezTo>
                <a:cubicBezTo>
                  <a:pt x="676402" y="446208"/>
                  <a:pt x="676402" y="412299"/>
                  <a:pt x="676402" y="378454"/>
                </a:cubicBezTo>
                <a:lnTo>
                  <a:pt x="676402" y="287331"/>
                </a:lnTo>
                <a:close/>
              </a:path>
            </a:pathLst>
          </a:custGeom>
          <a:solidFill>
            <a:srgbClr val="F9125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067007"/>
            <a:ext cx="5627171" cy="2353439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967457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7E00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33" name="Group 32"/>
          <p:cNvGrpSpPr/>
          <p:nvPr userDrawn="1"/>
        </p:nvGrpSpPr>
        <p:grpSpPr>
          <a:xfrm>
            <a:off x="-1717" y="4568506"/>
            <a:ext cx="4628886" cy="1406446"/>
            <a:chOff x="-1717" y="4568506"/>
            <a:chExt cx="4628886" cy="1406446"/>
          </a:xfrm>
          <a:solidFill>
            <a:srgbClr val="F91258"/>
          </a:solidFill>
        </p:grpSpPr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717" y="4568506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3713028" y="4568727"/>
              <a:ext cx="914141" cy="1401463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717" y="5379567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345788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7E007C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5961484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7E007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64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Activity 1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chemeClr val="bg1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31756808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2588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216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394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Rectangle 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154460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con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059427" y="3673998"/>
            <a:ext cx="212415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0" indent="0">
              <a:buFont typeface="Arial" panose="020B0604020202020204" pitchFamily="34" charset="0"/>
              <a:buNone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3639645" y="3673998"/>
            <a:ext cx="2068065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149996" y="3673998"/>
            <a:ext cx="2130523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21"/>
          <p:cNvSpPr>
            <a:spLocks noGrp="1"/>
          </p:cNvSpPr>
          <p:nvPr>
            <p:ph type="pic" sz="quarter" idx="18" hasCustomPrompt="1"/>
          </p:nvPr>
        </p:nvSpPr>
        <p:spPr>
          <a:xfrm>
            <a:off x="1059428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8" name="Picture Placeholder 21"/>
          <p:cNvSpPr>
            <a:spLocks noGrp="1"/>
          </p:cNvSpPr>
          <p:nvPr>
            <p:ph type="pic" sz="quarter" idx="19" hasCustomPrompt="1"/>
          </p:nvPr>
        </p:nvSpPr>
        <p:spPr>
          <a:xfrm>
            <a:off x="3639646" y="1986408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20" hasCustomPrompt="1"/>
          </p:nvPr>
        </p:nvSpPr>
        <p:spPr>
          <a:xfrm>
            <a:off x="6149997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070" y="3688989"/>
            <a:ext cx="218344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1" name="Picture Placeholder 21"/>
          <p:cNvSpPr>
            <a:spLocks noGrp="1"/>
          </p:cNvSpPr>
          <p:nvPr>
            <p:ph type="pic" sz="quarter" idx="22" hasCustomPrompt="1"/>
          </p:nvPr>
        </p:nvSpPr>
        <p:spPr>
          <a:xfrm>
            <a:off x="8637071" y="2008475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89683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065907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511826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5957745" y="1986353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8403664" y="1986352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7195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15467" y="1992793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069809" y="1992792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36117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1080209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 sz="1800"/>
            </a:lvl2pPr>
            <a:lvl3pPr marL="0" indent="0">
              <a:buNone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80209" y="2003204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925914" y="2003203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25868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25944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91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pe you enjoyed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63440" y="0"/>
            <a:ext cx="752856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0" y="2311970"/>
            <a:ext cx="3138017" cy="1908338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/>
            </a:lvl1pPr>
          </a:lstStyle>
          <a:p>
            <a:r>
              <a:rPr lang="en-US" noProof="0" dirty="0"/>
              <a:t>THANK YOU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1" y="5306004"/>
            <a:ext cx="4269826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b="0" baseline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Hope you enjoyed this learning journey.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-1698" y="3508800"/>
            <a:ext cx="7016130" cy="2425241"/>
            <a:chOff x="683" y="3508800"/>
            <a:chExt cx="7016130" cy="2425241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683" y="3508800"/>
              <a:ext cx="5938619" cy="102700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566 w 1668566"/>
                <a:gd name="connsiteY0" fmla="*/ 248186 h 248186"/>
                <a:gd name="connsiteX1" fmla="*/ 1 w 1668566"/>
                <a:gd name="connsiteY1" fmla="*/ 248186 h 248186"/>
                <a:gd name="connsiteX2" fmla="*/ 229815 w 1668566"/>
                <a:gd name="connsiteY2" fmla="*/ 194032 h 248186"/>
                <a:gd name="connsiteX3" fmla="*/ 1522580 w 1668566"/>
                <a:gd name="connsiteY3" fmla="*/ 192497 h 248186"/>
                <a:gd name="connsiteX4" fmla="*/ 1375895 w 1668566"/>
                <a:gd name="connsiteY4" fmla="*/ 219 h 248186"/>
                <a:gd name="connsiteX5" fmla="*/ 1433934 w 1668566"/>
                <a:gd name="connsiteY5" fmla="*/ 219 h 248186"/>
                <a:gd name="connsiteX6" fmla="*/ 1454190 w 1668566"/>
                <a:gd name="connsiteY6" fmla="*/ 12347 h 248186"/>
                <a:gd name="connsiteX7" fmla="*/ 1518706 w 1668566"/>
                <a:gd name="connsiteY7" fmla="*/ 105057 h 248186"/>
                <a:gd name="connsiteX8" fmla="*/ 1662725 w 1668566"/>
                <a:gd name="connsiteY8" fmla="*/ 242090 h 248186"/>
                <a:gd name="connsiteX9" fmla="*/ 1667931 w 1668566"/>
                <a:gd name="connsiteY9" fmla="*/ 246535 h 248186"/>
                <a:gd name="connsiteX10" fmla="*/ 1668566 w 1668566"/>
                <a:gd name="connsiteY10" fmla="*/ 248186 h 248186"/>
                <a:gd name="connsiteX0" fmla="*/ 1440017 w 1440017"/>
                <a:gd name="connsiteY0" fmla="*/ 248186 h 248186"/>
                <a:gd name="connsiteX1" fmla="*/ 62 w 1440017"/>
                <a:gd name="connsiteY1" fmla="*/ 248186 h 248186"/>
                <a:gd name="connsiteX2" fmla="*/ 1266 w 1440017"/>
                <a:gd name="connsiteY2" fmla="*/ 194032 h 248186"/>
                <a:gd name="connsiteX3" fmla="*/ 1294031 w 1440017"/>
                <a:gd name="connsiteY3" fmla="*/ 192497 h 248186"/>
                <a:gd name="connsiteX4" fmla="*/ 1147346 w 1440017"/>
                <a:gd name="connsiteY4" fmla="*/ 219 h 248186"/>
                <a:gd name="connsiteX5" fmla="*/ 1205385 w 1440017"/>
                <a:gd name="connsiteY5" fmla="*/ 219 h 248186"/>
                <a:gd name="connsiteX6" fmla="*/ 1225641 w 1440017"/>
                <a:gd name="connsiteY6" fmla="*/ 12347 h 248186"/>
                <a:gd name="connsiteX7" fmla="*/ 1290157 w 1440017"/>
                <a:gd name="connsiteY7" fmla="*/ 105057 h 248186"/>
                <a:gd name="connsiteX8" fmla="*/ 1434176 w 1440017"/>
                <a:gd name="connsiteY8" fmla="*/ 242090 h 248186"/>
                <a:gd name="connsiteX9" fmla="*/ 1439382 w 1440017"/>
                <a:gd name="connsiteY9" fmla="*/ 246535 h 248186"/>
                <a:gd name="connsiteX10" fmla="*/ 1440017 w 1440017"/>
                <a:gd name="connsiteY10" fmla="*/ 248186 h 248186"/>
                <a:gd name="connsiteX0" fmla="*/ 1439987 w 1439987"/>
                <a:gd name="connsiteY0" fmla="*/ 248186 h 248186"/>
                <a:gd name="connsiteX1" fmla="*/ 32 w 1439987"/>
                <a:gd name="connsiteY1" fmla="*/ 248186 h 248186"/>
                <a:gd name="connsiteX2" fmla="*/ 3538 w 1439987"/>
                <a:gd name="connsiteY2" fmla="*/ 192881 h 248186"/>
                <a:gd name="connsiteX3" fmla="*/ 1294001 w 1439987"/>
                <a:gd name="connsiteY3" fmla="*/ 192497 h 248186"/>
                <a:gd name="connsiteX4" fmla="*/ 1147316 w 1439987"/>
                <a:gd name="connsiteY4" fmla="*/ 219 h 248186"/>
                <a:gd name="connsiteX5" fmla="*/ 1205355 w 1439987"/>
                <a:gd name="connsiteY5" fmla="*/ 219 h 248186"/>
                <a:gd name="connsiteX6" fmla="*/ 1225611 w 1439987"/>
                <a:gd name="connsiteY6" fmla="*/ 12347 h 248186"/>
                <a:gd name="connsiteX7" fmla="*/ 1290127 w 1439987"/>
                <a:gd name="connsiteY7" fmla="*/ 105057 h 248186"/>
                <a:gd name="connsiteX8" fmla="*/ 1434146 w 1439987"/>
                <a:gd name="connsiteY8" fmla="*/ 242090 h 248186"/>
                <a:gd name="connsiteX9" fmla="*/ 1439352 w 1439987"/>
                <a:gd name="connsiteY9" fmla="*/ 246535 h 248186"/>
                <a:gd name="connsiteX10" fmla="*/ 1439987 w 1439987"/>
                <a:gd name="connsiteY10" fmla="*/ 248186 h 248186"/>
                <a:gd name="connsiteX0" fmla="*/ 1436625 w 1436625"/>
                <a:gd name="connsiteY0" fmla="*/ 248186 h 248186"/>
                <a:gd name="connsiteX1" fmla="*/ 122 w 1436625"/>
                <a:gd name="connsiteY1" fmla="*/ 248186 h 248186"/>
                <a:gd name="connsiteX2" fmla="*/ 176 w 1436625"/>
                <a:gd name="connsiteY2" fmla="*/ 192881 h 248186"/>
                <a:gd name="connsiteX3" fmla="*/ 1290639 w 1436625"/>
                <a:gd name="connsiteY3" fmla="*/ 192497 h 248186"/>
                <a:gd name="connsiteX4" fmla="*/ 1143954 w 1436625"/>
                <a:gd name="connsiteY4" fmla="*/ 219 h 248186"/>
                <a:gd name="connsiteX5" fmla="*/ 1201993 w 1436625"/>
                <a:gd name="connsiteY5" fmla="*/ 219 h 248186"/>
                <a:gd name="connsiteX6" fmla="*/ 1222249 w 1436625"/>
                <a:gd name="connsiteY6" fmla="*/ 12347 h 248186"/>
                <a:gd name="connsiteX7" fmla="*/ 1286765 w 1436625"/>
                <a:gd name="connsiteY7" fmla="*/ 105057 h 248186"/>
                <a:gd name="connsiteX8" fmla="*/ 1430784 w 1436625"/>
                <a:gd name="connsiteY8" fmla="*/ 242090 h 248186"/>
                <a:gd name="connsiteX9" fmla="*/ 1435990 w 1436625"/>
                <a:gd name="connsiteY9" fmla="*/ 246535 h 248186"/>
                <a:gd name="connsiteX10" fmla="*/ 1436625 w 1436625"/>
                <a:gd name="connsiteY10" fmla="*/ 248186 h 248186"/>
                <a:gd name="connsiteX0" fmla="*/ 1436553 w 1436553"/>
                <a:gd name="connsiteY0" fmla="*/ 248186 h 248186"/>
                <a:gd name="connsiteX1" fmla="*/ 50 w 1436553"/>
                <a:gd name="connsiteY1" fmla="*/ 248186 h 248186"/>
                <a:gd name="connsiteX2" fmla="*/ 1830 w 1436553"/>
                <a:gd name="connsiteY2" fmla="*/ 192881 h 248186"/>
                <a:gd name="connsiteX3" fmla="*/ 1290567 w 1436553"/>
                <a:gd name="connsiteY3" fmla="*/ 192497 h 248186"/>
                <a:gd name="connsiteX4" fmla="*/ 1143882 w 1436553"/>
                <a:gd name="connsiteY4" fmla="*/ 219 h 248186"/>
                <a:gd name="connsiteX5" fmla="*/ 1201921 w 1436553"/>
                <a:gd name="connsiteY5" fmla="*/ 219 h 248186"/>
                <a:gd name="connsiteX6" fmla="*/ 1222177 w 1436553"/>
                <a:gd name="connsiteY6" fmla="*/ 12347 h 248186"/>
                <a:gd name="connsiteX7" fmla="*/ 1286693 w 1436553"/>
                <a:gd name="connsiteY7" fmla="*/ 105057 h 248186"/>
                <a:gd name="connsiteX8" fmla="*/ 1430712 w 1436553"/>
                <a:gd name="connsiteY8" fmla="*/ 242090 h 248186"/>
                <a:gd name="connsiteX9" fmla="*/ 1435918 w 1436553"/>
                <a:gd name="connsiteY9" fmla="*/ 246535 h 248186"/>
                <a:gd name="connsiteX10" fmla="*/ 1436553 w 1436553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4899" h="248186">
                  <a:moveTo>
                    <a:pt x="1434899" y="248186"/>
                  </a:moveTo>
                  <a:lnTo>
                    <a:pt x="122" y="248186"/>
                  </a:lnTo>
                  <a:cubicBezTo>
                    <a:pt x="-319" y="229623"/>
                    <a:pt x="617" y="211444"/>
                    <a:pt x="176" y="192881"/>
                  </a:cubicBezTo>
                  <a:lnTo>
                    <a:pt x="1288913" y="192497"/>
                  </a:lnTo>
                  <a:cubicBezTo>
                    <a:pt x="1231064" y="134140"/>
                    <a:pt x="1177788" y="74768"/>
                    <a:pt x="1142228" y="219"/>
                  </a:cubicBezTo>
                  <a:cubicBezTo>
                    <a:pt x="1162611" y="219"/>
                    <a:pt x="1181471" y="854"/>
                    <a:pt x="1200267" y="219"/>
                  </a:cubicBezTo>
                  <a:cubicBezTo>
                    <a:pt x="1209059" y="-1141"/>
                    <a:pt x="1217571" y="3956"/>
                    <a:pt x="1220523" y="12347"/>
                  </a:cubicBezTo>
                  <a:cubicBezTo>
                    <a:pt x="1238085" y="45816"/>
                    <a:pt x="1259758" y="76961"/>
                    <a:pt x="1285039" y="105057"/>
                  </a:cubicBezTo>
                  <a:cubicBezTo>
                    <a:pt x="1328667" y="155126"/>
                    <a:pt x="1376883" y="201004"/>
                    <a:pt x="1429058" y="242090"/>
                  </a:cubicBezTo>
                  <a:cubicBezTo>
                    <a:pt x="1430836" y="243551"/>
                    <a:pt x="1432613" y="245011"/>
                    <a:pt x="1434264" y="246535"/>
                  </a:cubicBezTo>
                  <a:cubicBezTo>
                    <a:pt x="1434582" y="246599"/>
                    <a:pt x="1434582" y="247170"/>
                    <a:pt x="1434899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 userDrawn="1"/>
          </p:nvSpPr>
          <p:spPr>
            <a:xfrm>
              <a:off x="5439970" y="3509181"/>
              <a:ext cx="1576843" cy="2417447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683" y="4907035"/>
              <a:ext cx="5938619" cy="102700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566 w 1668566"/>
                <a:gd name="connsiteY0" fmla="*/ 248186 h 248186"/>
                <a:gd name="connsiteX1" fmla="*/ 1 w 1668566"/>
                <a:gd name="connsiteY1" fmla="*/ 248186 h 248186"/>
                <a:gd name="connsiteX2" fmla="*/ 229815 w 1668566"/>
                <a:gd name="connsiteY2" fmla="*/ 194032 h 248186"/>
                <a:gd name="connsiteX3" fmla="*/ 1522580 w 1668566"/>
                <a:gd name="connsiteY3" fmla="*/ 192497 h 248186"/>
                <a:gd name="connsiteX4" fmla="*/ 1375895 w 1668566"/>
                <a:gd name="connsiteY4" fmla="*/ 219 h 248186"/>
                <a:gd name="connsiteX5" fmla="*/ 1433934 w 1668566"/>
                <a:gd name="connsiteY5" fmla="*/ 219 h 248186"/>
                <a:gd name="connsiteX6" fmla="*/ 1454190 w 1668566"/>
                <a:gd name="connsiteY6" fmla="*/ 12347 h 248186"/>
                <a:gd name="connsiteX7" fmla="*/ 1518706 w 1668566"/>
                <a:gd name="connsiteY7" fmla="*/ 105057 h 248186"/>
                <a:gd name="connsiteX8" fmla="*/ 1662725 w 1668566"/>
                <a:gd name="connsiteY8" fmla="*/ 242090 h 248186"/>
                <a:gd name="connsiteX9" fmla="*/ 1667931 w 1668566"/>
                <a:gd name="connsiteY9" fmla="*/ 246535 h 248186"/>
                <a:gd name="connsiteX10" fmla="*/ 1668566 w 1668566"/>
                <a:gd name="connsiteY10" fmla="*/ 248186 h 248186"/>
                <a:gd name="connsiteX0" fmla="*/ 1440017 w 1440017"/>
                <a:gd name="connsiteY0" fmla="*/ 248186 h 248186"/>
                <a:gd name="connsiteX1" fmla="*/ 62 w 1440017"/>
                <a:gd name="connsiteY1" fmla="*/ 248186 h 248186"/>
                <a:gd name="connsiteX2" fmla="*/ 1266 w 1440017"/>
                <a:gd name="connsiteY2" fmla="*/ 194032 h 248186"/>
                <a:gd name="connsiteX3" fmla="*/ 1294031 w 1440017"/>
                <a:gd name="connsiteY3" fmla="*/ 192497 h 248186"/>
                <a:gd name="connsiteX4" fmla="*/ 1147346 w 1440017"/>
                <a:gd name="connsiteY4" fmla="*/ 219 h 248186"/>
                <a:gd name="connsiteX5" fmla="*/ 1205385 w 1440017"/>
                <a:gd name="connsiteY5" fmla="*/ 219 h 248186"/>
                <a:gd name="connsiteX6" fmla="*/ 1225641 w 1440017"/>
                <a:gd name="connsiteY6" fmla="*/ 12347 h 248186"/>
                <a:gd name="connsiteX7" fmla="*/ 1290157 w 1440017"/>
                <a:gd name="connsiteY7" fmla="*/ 105057 h 248186"/>
                <a:gd name="connsiteX8" fmla="*/ 1434176 w 1440017"/>
                <a:gd name="connsiteY8" fmla="*/ 242090 h 248186"/>
                <a:gd name="connsiteX9" fmla="*/ 1439382 w 1440017"/>
                <a:gd name="connsiteY9" fmla="*/ 246535 h 248186"/>
                <a:gd name="connsiteX10" fmla="*/ 1440017 w 1440017"/>
                <a:gd name="connsiteY10" fmla="*/ 248186 h 248186"/>
                <a:gd name="connsiteX0" fmla="*/ 1439987 w 1439987"/>
                <a:gd name="connsiteY0" fmla="*/ 248186 h 248186"/>
                <a:gd name="connsiteX1" fmla="*/ 32 w 1439987"/>
                <a:gd name="connsiteY1" fmla="*/ 248186 h 248186"/>
                <a:gd name="connsiteX2" fmla="*/ 3538 w 1439987"/>
                <a:gd name="connsiteY2" fmla="*/ 192881 h 248186"/>
                <a:gd name="connsiteX3" fmla="*/ 1294001 w 1439987"/>
                <a:gd name="connsiteY3" fmla="*/ 192497 h 248186"/>
                <a:gd name="connsiteX4" fmla="*/ 1147316 w 1439987"/>
                <a:gd name="connsiteY4" fmla="*/ 219 h 248186"/>
                <a:gd name="connsiteX5" fmla="*/ 1205355 w 1439987"/>
                <a:gd name="connsiteY5" fmla="*/ 219 h 248186"/>
                <a:gd name="connsiteX6" fmla="*/ 1225611 w 1439987"/>
                <a:gd name="connsiteY6" fmla="*/ 12347 h 248186"/>
                <a:gd name="connsiteX7" fmla="*/ 1290127 w 1439987"/>
                <a:gd name="connsiteY7" fmla="*/ 105057 h 248186"/>
                <a:gd name="connsiteX8" fmla="*/ 1434146 w 1439987"/>
                <a:gd name="connsiteY8" fmla="*/ 242090 h 248186"/>
                <a:gd name="connsiteX9" fmla="*/ 1439352 w 1439987"/>
                <a:gd name="connsiteY9" fmla="*/ 246535 h 248186"/>
                <a:gd name="connsiteX10" fmla="*/ 1439987 w 1439987"/>
                <a:gd name="connsiteY10" fmla="*/ 248186 h 248186"/>
                <a:gd name="connsiteX0" fmla="*/ 1436625 w 1436625"/>
                <a:gd name="connsiteY0" fmla="*/ 248186 h 248186"/>
                <a:gd name="connsiteX1" fmla="*/ 122 w 1436625"/>
                <a:gd name="connsiteY1" fmla="*/ 248186 h 248186"/>
                <a:gd name="connsiteX2" fmla="*/ 176 w 1436625"/>
                <a:gd name="connsiteY2" fmla="*/ 192881 h 248186"/>
                <a:gd name="connsiteX3" fmla="*/ 1290639 w 1436625"/>
                <a:gd name="connsiteY3" fmla="*/ 192497 h 248186"/>
                <a:gd name="connsiteX4" fmla="*/ 1143954 w 1436625"/>
                <a:gd name="connsiteY4" fmla="*/ 219 h 248186"/>
                <a:gd name="connsiteX5" fmla="*/ 1201993 w 1436625"/>
                <a:gd name="connsiteY5" fmla="*/ 219 h 248186"/>
                <a:gd name="connsiteX6" fmla="*/ 1222249 w 1436625"/>
                <a:gd name="connsiteY6" fmla="*/ 12347 h 248186"/>
                <a:gd name="connsiteX7" fmla="*/ 1286765 w 1436625"/>
                <a:gd name="connsiteY7" fmla="*/ 105057 h 248186"/>
                <a:gd name="connsiteX8" fmla="*/ 1430784 w 1436625"/>
                <a:gd name="connsiteY8" fmla="*/ 242090 h 248186"/>
                <a:gd name="connsiteX9" fmla="*/ 1435990 w 1436625"/>
                <a:gd name="connsiteY9" fmla="*/ 246535 h 248186"/>
                <a:gd name="connsiteX10" fmla="*/ 1436625 w 1436625"/>
                <a:gd name="connsiteY10" fmla="*/ 248186 h 248186"/>
                <a:gd name="connsiteX0" fmla="*/ 1436553 w 1436553"/>
                <a:gd name="connsiteY0" fmla="*/ 248186 h 248186"/>
                <a:gd name="connsiteX1" fmla="*/ 50 w 1436553"/>
                <a:gd name="connsiteY1" fmla="*/ 248186 h 248186"/>
                <a:gd name="connsiteX2" fmla="*/ 1830 w 1436553"/>
                <a:gd name="connsiteY2" fmla="*/ 192881 h 248186"/>
                <a:gd name="connsiteX3" fmla="*/ 1290567 w 1436553"/>
                <a:gd name="connsiteY3" fmla="*/ 192497 h 248186"/>
                <a:gd name="connsiteX4" fmla="*/ 1143882 w 1436553"/>
                <a:gd name="connsiteY4" fmla="*/ 219 h 248186"/>
                <a:gd name="connsiteX5" fmla="*/ 1201921 w 1436553"/>
                <a:gd name="connsiteY5" fmla="*/ 219 h 248186"/>
                <a:gd name="connsiteX6" fmla="*/ 1222177 w 1436553"/>
                <a:gd name="connsiteY6" fmla="*/ 12347 h 248186"/>
                <a:gd name="connsiteX7" fmla="*/ 1286693 w 1436553"/>
                <a:gd name="connsiteY7" fmla="*/ 105057 h 248186"/>
                <a:gd name="connsiteX8" fmla="*/ 1430712 w 1436553"/>
                <a:gd name="connsiteY8" fmla="*/ 242090 h 248186"/>
                <a:gd name="connsiteX9" fmla="*/ 1435918 w 1436553"/>
                <a:gd name="connsiteY9" fmla="*/ 246535 h 248186"/>
                <a:gd name="connsiteX10" fmla="*/ 1436553 w 1436553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4899" h="248186">
                  <a:moveTo>
                    <a:pt x="1434899" y="248186"/>
                  </a:moveTo>
                  <a:lnTo>
                    <a:pt x="122" y="248186"/>
                  </a:lnTo>
                  <a:cubicBezTo>
                    <a:pt x="-319" y="229623"/>
                    <a:pt x="617" y="211444"/>
                    <a:pt x="176" y="192881"/>
                  </a:cubicBezTo>
                  <a:lnTo>
                    <a:pt x="1288913" y="192497"/>
                  </a:lnTo>
                  <a:cubicBezTo>
                    <a:pt x="1231064" y="134140"/>
                    <a:pt x="1177788" y="74768"/>
                    <a:pt x="1142228" y="219"/>
                  </a:cubicBezTo>
                  <a:cubicBezTo>
                    <a:pt x="1162611" y="219"/>
                    <a:pt x="1181471" y="854"/>
                    <a:pt x="1200267" y="219"/>
                  </a:cubicBezTo>
                  <a:cubicBezTo>
                    <a:pt x="1209059" y="-1141"/>
                    <a:pt x="1217571" y="3956"/>
                    <a:pt x="1220523" y="12347"/>
                  </a:cubicBezTo>
                  <a:cubicBezTo>
                    <a:pt x="1238085" y="45816"/>
                    <a:pt x="1259758" y="76961"/>
                    <a:pt x="1285039" y="105057"/>
                  </a:cubicBezTo>
                  <a:cubicBezTo>
                    <a:pt x="1328667" y="155126"/>
                    <a:pt x="1376883" y="201004"/>
                    <a:pt x="1429058" y="242090"/>
                  </a:cubicBezTo>
                  <a:cubicBezTo>
                    <a:pt x="1430836" y="243551"/>
                    <a:pt x="1432613" y="245011"/>
                    <a:pt x="1434264" y="246535"/>
                  </a:cubicBezTo>
                  <a:cubicBezTo>
                    <a:pt x="1434582" y="246599"/>
                    <a:pt x="1434582" y="247170"/>
                    <a:pt x="1434899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887849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8754" y="6584738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 b="1" i="0">
                <a:solidFill>
                  <a:schemeClr val="bg1">
                    <a:lumMod val="50000"/>
                  </a:schemeClr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0464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798" r:id="rId4"/>
    <p:sldLayoutId id="2147483806" r:id="rId5"/>
    <p:sldLayoutId id="2147483709" r:id="rId6"/>
    <p:sldLayoutId id="2147483822" r:id="rId7"/>
    <p:sldLayoutId id="2147483802" r:id="rId8"/>
    <p:sldLayoutId id="2147483792" r:id="rId9"/>
    <p:sldLayoutId id="2147483810" r:id="rId10"/>
    <p:sldLayoutId id="2147483804" r:id="rId11"/>
    <p:sldLayoutId id="2147483821" r:id="rId12"/>
    <p:sldLayoutId id="2147483824" r:id="rId13"/>
    <p:sldLayoutId id="2147483828" r:id="rId14"/>
    <p:sldLayoutId id="2147483853" r:id="rId15"/>
    <p:sldLayoutId id="2147483899" r:id="rId16"/>
    <p:sldLayoutId id="2147483832" r:id="rId17"/>
    <p:sldLayoutId id="2147483833" r:id="rId18"/>
    <p:sldLayoutId id="2147483836" r:id="rId19"/>
    <p:sldLayoutId id="2147483852" r:id="rId20"/>
    <p:sldLayoutId id="2147483900" r:id="rId21"/>
    <p:sldLayoutId id="2147483820" r:id="rId22"/>
    <p:sldLayoutId id="2147483842" r:id="rId23"/>
    <p:sldLayoutId id="2147483845" r:id="rId24"/>
    <p:sldLayoutId id="2147483851" r:id="rId25"/>
    <p:sldLayoutId id="2147483901" r:id="rId26"/>
    <p:sldLayoutId id="2147483650" r:id="rId27"/>
    <p:sldLayoutId id="2147483734" r:id="rId28"/>
    <p:sldLayoutId id="2147483796" r:id="rId29"/>
    <p:sldLayoutId id="2147483719" r:id="rId30"/>
    <p:sldLayoutId id="2147483721" r:id="rId31"/>
    <p:sldLayoutId id="2147483724" r:id="rId32"/>
    <p:sldLayoutId id="2147483797" r:id="rId33"/>
    <p:sldLayoutId id="2147483814" r:id="rId3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0" i="0" kern="1200" cap="none" baseline="0">
          <a:solidFill>
            <a:schemeClr val="tx1"/>
          </a:solidFill>
          <a:latin typeface="Krana Fat B" panose="00000B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15000"/>
        <a:buFontTx/>
        <a:buNone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6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6"/>
        </a:buBlip>
        <a:tabLst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6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6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" userDrawn="1">
          <p15:clr>
            <a:srgbClr val="F26B43"/>
          </p15:clr>
        </p15:guide>
        <p15:guide id="2" orient="horz" pos="4081" userDrawn="1">
          <p15:clr>
            <a:srgbClr val="F26B43"/>
          </p15:clr>
        </p15:guide>
        <p15:guide id="3" pos="237" userDrawn="1">
          <p15:clr>
            <a:srgbClr val="F26B43"/>
          </p15:clr>
        </p15:guide>
        <p15:guide id="4" pos="732" userDrawn="1">
          <p15:clr>
            <a:srgbClr val="F26B43"/>
          </p15:clr>
        </p15:guide>
        <p15:guide id="5" pos="850" userDrawn="1">
          <p15:clr>
            <a:srgbClr val="F26B43"/>
          </p15:clr>
        </p15:guide>
        <p15:guide id="6" pos="1345" userDrawn="1">
          <p15:clr>
            <a:srgbClr val="F26B43"/>
          </p15:clr>
        </p15:guide>
        <p15:guide id="7" pos="1460" userDrawn="1">
          <p15:clr>
            <a:srgbClr val="F26B43"/>
          </p15:clr>
        </p15:guide>
        <p15:guide id="8" pos="1954" userDrawn="1">
          <p15:clr>
            <a:srgbClr val="F26B43"/>
          </p15:clr>
        </p15:guide>
        <p15:guide id="9" pos="2069" userDrawn="1">
          <p15:clr>
            <a:srgbClr val="F26B43"/>
          </p15:clr>
        </p15:guide>
        <p15:guide id="10" pos="2564" userDrawn="1">
          <p15:clr>
            <a:srgbClr val="F26B43"/>
          </p15:clr>
        </p15:guide>
        <p15:guide id="11" pos="2683" userDrawn="1">
          <p15:clr>
            <a:srgbClr val="F26B43"/>
          </p15:clr>
        </p15:guide>
        <p15:guide id="12" pos="3173" userDrawn="1">
          <p15:clr>
            <a:srgbClr val="F26B43"/>
          </p15:clr>
        </p15:guide>
        <p15:guide id="13" pos="3288" userDrawn="1">
          <p15:clr>
            <a:srgbClr val="F26B43"/>
          </p15:clr>
        </p15:guide>
        <p15:guide id="14" pos="3782" userDrawn="1">
          <p15:clr>
            <a:srgbClr val="F26B43"/>
          </p15:clr>
        </p15:guide>
        <p15:guide id="15" pos="3897" userDrawn="1">
          <p15:clr>
            <a:srgbClr val="F26B43"/>
          </p15:clr>
        </p15:guide>
        <p15:guide id="16" pos="4392" userDrawn="1">
          <p15:clr>
            <a:srgbClr val="F26B43"/>
          </p15:clr>
        </p15:guide>
        <p15:guide id="17" pos="4506" userDrawn="1">
          <p15:clr>
            <a:srgbClr val="F26B43"/>
          </p15:clr>
        </p15:guide>
        <p15:guide id="18" pos="5001" userDrawn="1">
          <p15:clr>
            <a:srgbClr val="F26B43"/>
          </p15:clr>
        </p15:guide>
        <p15:guide id="19" pos="5115" userDrawn="1">
          <p15:clr>
            <a:srgbClr val="F26B43"/>
          </p15:clr>
        </p15:guide>
        <p15:guide id="20" pos="5610" userDrawn="1">
          <p15:clr>
            <a:srgbClr val="F26B43"/>
          </p15:clr>
        </p15:guide>
        <p15:guide id="21" pos="5725" userDrawn="1">
          <p15:clr>
            <a:srgbClr val="F26B43"/>
          </p15:clr>
        </p15:guide>
        <p15:guide id="22" pos="6220" userDrawn="1">
          <p15:clr>
            <a:srgbClr val="F26B43"/>
          </p15:clr>
        </p15:guide>
        <p15:guide id="23" pos="6334" userDrawn="1">
          <p15:clr>
            <a:srgbClr val="F26B43"/>
          </p15:clr>
        </p15:guide>
        <p15:guide id="24" pos="6829" userDrawn="1">
          <p15:clr>
            <a:srgbClr val="F26B43"/>
          </p15:clr>
        </p15:guide>
        <p15:guide id="25" pos="6943" userDrawn="1">
          <p15:clr>
            <a:srgbClr val="F26B43"/>
          </p15:clr>
        </p15:guide>
        <p15:guide id="26" pos="7438" userDrawn="1">
          <p15:clr>
            <a:srgbClr val="F26B43"/>
          </p15:clr>
        </p15:guide>
        <p15:guide id="27" pos="3840" userDrawn="1">
          <p15:clr>
            <a:srgbClr val="9FCC3B"/>
          </p15:clr>
        </p15:guide>
        <p15:guide id="28" orient="horz" pos="2160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/demo2.html?page=page1.ht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7.xml"/><Relationship Id="rId5" Type="http://schemas.openxmlformats.org/officeDocument/2006/relationships/hyperlink" Target="/demo2.html?page=lists.html" TargetMode="Externa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/demo2.html?page=tables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/demo2.html?page=inputtingData.html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www.qa.com/media/iuzn2ohj/qa-award.png?width=608&amp;height=320&amp;rnd=133941195704470000" TargetMode="External"/><Relationship Id="rId1" Type="http://schemas.openxmlformats.org/officeDocument/2006/relationships/slideLayout" Target="../slideLayouts/slideLayout2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/PositionElements.html" TargetMode="External"/><Relationship Id="rId1" Type="http://schemas.openxmlformats.org/officeDocument/2006/relationships/slideLayout" Target="../slideLayouts/slideLayout2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/demo2.html?page=paddingMarginDisplay.html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791D9A-0056-42B3-8A51-E938340824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Web Fundamentals </a:t>
            </a:r>
            <a:endParaRPr lang="en-IN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01981F4-150A-4024-9F5E-63623AF69A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sz="2000" dirty="0"/>
              <a:t>HTML and CSS</a:t>
            </a:r>
          </a:p>
          <a:p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76713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76C9B-E1F0-4A77-A04A-7F5733AF42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6238" y="1556247"/>
            <a:ext cx="6265861" cy="2277604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buSzPct val="115000"/>
            </a:pPr>
            <a:r>
              <a:rPr lang="en-GB" dirty="0">
                <a:ea typeface="+mn-ea"/>
                <a:cs typeface="+mn-cs"/>
              </a:rPr>
              <a:t>HTML and CSS Revision</a:t>
            </a:r>
            <a:endParaRPr lang="en-IN" dirty="0"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26381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11AE46C-9457-4C9B-ADBD-6F66616841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Objectives</a:t>
            </a:r>
            <a:endParaRPr lang="en-IN" dirty="0"/>
          </a:p>
          <a:p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43E85-2956-4A25-9DBF-10584849EEB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b="1" dirty="0"/>
              <a:t>In this chapter, you will:</a:t>
            </a:r>
          </a:p>
          <a:p>
            <a:pPr marL="342900" lvl="1" indent="-342900">
              <a:buSzPct val="115000"/>
            </a:pPr>
            <a:r>
              <a:rPr lang="en-GB" dirty="0"/>
              <a:t>Revise the HTML and CSS that you covered in the pre-learning</a:t>
            </a:r>
          </a:p>
          <a:p>
            <a:pPr marL="342900" indent="-342900">
              <a:buChar char="•"/>
            </a:pP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1154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</p:spPr>
        <p:txBody>
          <a:bodyPr/>
          <a:lstStyle/>
          <a:p>
            <a:r>
              <a:rPr lang="en-GB" dirty="0"/>
              <a:t>HTML Tags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3F0650F-7AEC-42DB-85D1-2FF28C76D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HTML consists of text, combined with tags like &lt;this&gt;</a:t>
            </a:r>
            <a:endParaRPr lang="en-GB" dirty="0"/>
          </a:p>
          <a:p>
            <a:pPr marL="6840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dirty="0"/>
              <a:t>Some need to come in a specific </a:t>
            </a:r>
            <a:r>
              <a:rPr lang="en-GB" b="1" dirty="0"/>
              <a:t>order</a:t>
            </a:r>
            <a:r>
              <a:rPr lang="en-GB" dirty="0"/>
              <a:t>, or in specific </a:t>
            </a:r>
            <a:r>
              <a:rPr lang="en-GB" b="1" dirty="0"/>
              <a:t>places</a:t>
            </a:r>
          </a:p>
          <a:p>
            <a:pPr marL="684000" indent="-3429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dirty="0"/>
              <a:t>They need to be “closed”? </a:t>
            </a:r>
          </a:p>
          <a:p>
            <a:pPr marL="360000" lvl="1" indent="0">
              <a:spcAft>
                <a:spcPts val="400"/>
              </a:spcAft>
              <a:buNone/>
            </a:pPr>
            <a:endParaRPr lang="en-GB" dirty="0"/>
          </a:p>
          <a:p>
            <a:pPr marL="360000" lvl="1" indent="0">
              <a:spcAft>
                <a:spcPts val="400"/>
              </a:spcAft>
              <a:buNone/>
            </a:pPr>
            <a:endParaRPr lang="en-GB" dirty="0"/>
          </a:p>
          <a:p>
            <a:pPr marL="360000" lvl="1" indent="0">
              <a:spcAft>
                <a:spcPts val="400"/>
              </a:spcAft>
              <a:buNone/>
            </a:pPr>
            <a:endParaRPr lang="en-GB" dirty="0"/>
          </a:p>
          <a:p>
            <a:pPr marL="360000" lvl="1" indent="0">
              <a:spcAft>
                <a:spcPts val="400"/>
              </a:spcAft>
              <a:buNone/>
            </a:pPr>
            <a:endParaRPr lang="en-GB" dirty="0"/>
          </a:p>
          <a:p>
            <a:pPr marL="684000" lvl="1" indent="-342900">
              <a:spcAft>
                <a:spcPts val="400"/>
              </a:spcAft>
              <a:buSzPct val="115000"/>
              <a:buFont typeface="Arial" panose="020B0604020202020204" pitchFamily="34" charset="0"/>
              <a:buChar char="•"/>
            </a:pPr>
            <a:endParaRPr lang="en-GB" dirty="0"/>
          </a:p>
          <a:p>
            <a:pPr marL="684000" lvl="1" indent="-342900">
              <a:spcAft>
                <a:spcPts val="400"/>
              </a:spcAft>
              <a:buSzPct val="115000"/>
              <a:buFont typeface="Arial" panose="020B0604020202020204" pitchFamily="34" charset="0"/>
              <a:buChar char="•"/>
            </a:pPr>
            <a:endParaRPr lang="en-GB" dirty="0"/>
          </a:p>
          <a:p>
            <a:pPr marL="684000" lvl="1" indent="-342900">
              <a:spcAft>
                <a:spcPts val="400"/>
              </a:spcAft>
              <a:buSzPct val="115000"/>
              <a:buFont typeface="Arial" panose="020B0604020202020204" pitchFamily="34" charset="0"/>
              <a:buChar char="•"/>
            </a:pPr>
            <a:endParaRPr lang="en-GB" dirty="0"/>
          </a:p>
          <a:p>
            <a:pPr marL="684000" lvl="1" indent="-342900">
              <a:spcAft>
                <a:spcPts val="400"/>
              </a:spcAft>
              <a:buSzPct val="115000"/>
              <a:buFont typeface="Arial" panose="020B0604020202020204" pitchFamily="34" charset="0"/>
              <a:buChar char="•"/>
            </a:pPr>
            <a:endParaRPr lang="en-GB" dirty="0"/>
          </a:p>
          <a:p>
            <a:pPr marL="684000" lvl="1" indent="-342900">
              <a:spcAft>
                <a:spcPts val="400"/>
              </a:spcAft>
              <a:buSzPct val="115000"/>
              <a:buFont typeface="Arial" panose="020B0604020202020204" pitchFamily="34" charset="0"/>
              <a:buChar char="•"/>
            </a:pPr>
            <a:endParaRPr lang="en-GB" dirty="0"/>
          </a:p>
          <a:p>
            <a:pPr marL="684000" lvl="1" indent="-342900">
              <a:spcAft>
                <a:spcPts val="400"/>
              </a:spcAft>
              <a:buSzPct val="115000"/>
              <a:buFont typeface="Arial" panose="020B0604020202020204" pitchFamily="34" charset="0"/>
              <a:buChar char="•"/>
            </a:pPr>
            <a:r>
              <a:rPr lang="en-GB" dirty="0"/>
              <a:t>Some can’t be placed within other tags (like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p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GB" dirty="0"/>
              <a:t>within a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dirty="0"/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DE45D6-8AF6-4BF0-AEF6-B2B427D62ACA}"/>
              </a:ext>
            </a:extLst>
          </p:cNvPr>
          <p:cNvSpPr/>
          <p:nvPr/>
        </p:nvSpPr>
        <p:spPr>
          <a:xfrm>
            <a:off x="3426994" y="2553271"/>
            <a:ext cx="5338012" cy="2585323"/>
          </a:xfrm>
          <a:prstGeom prst="rect">
            <a:avLst/>
          </a:prstGeom>
          <a:ln w="25400">
            <a:solidFill>
              <a:schemeClr val="bg1">
                <a:lumMod val="9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&lt;!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DOCTYPE html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&lt;html&gt;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&lt;head&gt;</a:t>
            </a:r>
          </a:p>
          <a:p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	&lt;title&gt;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Title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&lt;/title&gt;</a:t>
            </a:r>
          </a:p>
          <a:p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&lt;/head&gt;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&lt;body&gt;</a:t>
            </a:r>
          </a:p>
          <a:p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	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Body of page goes here</a:t>
            </a:r>
          </a:p>
          <a:p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&lt;/body&gt;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&lt;/html&gt;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064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F948DE-9BA4-4416-B213-36446EDA8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HTML5 page  (</a:t>
            </a:r>
            <a:r>
              <a:rPr lang="en-GB" sz="2800" dirty="0">
                <a:solidFill>
                  <a:schemeClr val="accent4">
                    <a:lumMod val="75000"/>
                  </a:schemeClr>
                </a:solidFill>
              </a:rPr>
              <a:t>H</a:t>
            </a:r>
            <a:r>
              <a:rPr lang="en-GB" sz="2800" dirty="0"/>
              <a:t>ypertext </a:t>
            </a:r>
            <a:r>
              <a:rPr lang="en-GB" sz="2800" dirty="0">
                <a:solidFill>
                  <a:schemeClr val="accent4">
                    <a:lumMod val="75000"/>
                  </a:schemeClr>
                </a:solidFill>
              </a:rPr>
              <a:t>M</a:t>
            </a:r>
            <a:r>
              <a:rPr lang="en-GB" sz="2800" dirty="0"/>
              <a:t>arkup </a:t>
            </a:r>
            <a:r>
              <a:rPr lang="en-GB" sz="2800" dirty="0">
                <a:solidFill>
                  <a:schemeClr val="accent4">
                    <a:lumMod val="75000"/>
                  </a:schemeClr>
                </a:solidFill>
              </a:rPr>
              <a:t>L</a:t>
            </a:r>
            <a:r>
              <a:rPr lang="en-GB" sz="2800" dirty="0"/>
              <a:t>anguage)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CF3F18-9A57-48FB-9F81-38AFD43FABE6}"/>
              </a:ext>
            </a:extLst>
          </p:cNvPr>
          <p:cNvSpPr txBox="1"/>
          <p:nvPr/>
        </p:nvSpPr>
        <p:spPr>
          <a:xfrm>
            <a:off x="665251" y="1482317"/>
            <a:ext cx="9639729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!DOCTYPE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FF0000"/>
                </a:solidFill>
                <a:latin typeface="Consolas" panose="020B0609020204030204" pitchFamily="49" charset="0"/>
              </a:rPr>
              <a:t>html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html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FF0000"/>
                </a:solidFill>
                <a:latin typeface="Consolas" panose="020B0609020204030204" pitchFamily="49" charset="0"/>
              </a:rPr>
              <a:t>lang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="en"&gt;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meta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FF0000"/>
                </a:solidFill>
                <a:latin typeface="Consolas" panose="020B0609020204030204" pitchFamily="49" charset="0"/>
              </a:rPr>
              <a:t>charset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="UTF-8"&gt;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meta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FF0000"/>
                </a:solidFill>
                <a:latin typeface="Consolas" panose="020B0609020204030204" pitchFamily="49" charset="0"/>
              </a:rPr>
              <a:t>name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="viewport"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="width=device-width, initial-scale=1.0"&gt;</a:t>
            </a:r>
            <a:endParaRPr lang="it-I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title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Document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title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</a:p>
          <a:p>
            <a:endParaRPr lang="en-GB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GB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GB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html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dirty="0"/>
          </a:p>
        </p:txBody>
      </p:sp>
      <p:sp>
        <p:nvSpPr>
          <p:cNvPr id="8" name="Callout: Line 7">
            <a:extLst>
              <a:ext uri="{FF2B5EF4-FFF2-40B4-BE49-F238E27FC236}">
                <a16:creationId xmlns:a16="http://schemas.microsoft.com/office/drawing/2014/main" id="{994CB837-CB58-487A-9B1A-3AA2AD7D7FFC}"/>
              </a:ext>
            </a:extLst>
          </p:cNvPr>
          <p:cNvSpPr/>
          <p:nvPr/>
        </p:nvSpPr>
        <p:spPr>
          <a:xfrm>
            <a:off x="3456138" y="1383196"/>
            <a:ext cx="4439164" cy="555157"/>
          </a:xfrm>
          <a:prstGeom prst="borderCallout1">
            <a:avLst>
              <a:gd name="adj1" fmla="val 50893"/>
              <a:gd name="adj2" fmla="val -505"/>
              <a:gd name="adj3" fmla="val 50699"/>
              <a:gd name="adj4" fmla="val -16334"/>
            </a:avLst>
          </a:prstGeom>
          <a:solidFill>
            <a:schemeClr val="bg2">
              <a:lumMod val="95000"/>
            </a:schemeClr>
          </a:solidFill>
          <a:ln w="19050"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rgbClr val="000000"/>
                </a:solidFill>
                <a:latin typeface="Verdana" panose="020B0604030504040204" pitchFamily="34" charset="0"/>
              </a:rPr>
              <a:t>I</a:t>
            </a:r>
            <a:r>
              <a:rPr lang="en-GB" sz="14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nformation to the browser to ensure </a:t>
            </a:r>
            <a:r>
              <a:rPr lang="en-GB" sz="1400" b="1" i="0" dirty="0">
                <a:solidFill>
                  <a:srgbClr val="0A0A23"/>
                </a:solidFill>
                <a:effectLst/>
                <a:latin typeface="Lato" panose="020F0502020204030203" pitchFamily="34" charset="0"/>
              </a:rPr>
              <a:t>web page is parsed the same way by different web browsers</a:t>
            </a:r>
            <a:endParaRPr lang="en-GB" sz="1400" b="1" dirty="0"/>
          </a:p>
        </p:txBody>
      </p:sp>
      <p:sp>
        <p:nvSpPr>
          <p:cNvPr id="9" name="Callout: Line 8">
            <a:extLst>
              <a:ext uri="{FF2B5EF4-FFF2-40B4-BE49-F238E27FC236}">
                <a16:creationId xmlns:a16="http://schemas.microsoft.com/office/drawing/2014/main" id="{A69AE4D4-41F1-4697-8498-A7586FD1F3CF}"/>
              </a:ext>
            </a:extLst>
          </p:cNvPr>
          <p:cNvSpPr/>
          <p:nvPr/>
        </p:nvSpPr>
        <p:spPr>
          <a:xfrm>
            <a:off x="7897949" y="3334677"/>
            <a:ext cx="3340322" cy="452197"/>
          </a:xfrm>
          <a:prstGeom prst="borderCallout1">
            <a:avLst>
              <a:gd name="adj1" fmla="val 52602"/>
              <a:gd name="adj2" fmla="val 1"/>
              <a:gd name="adj3" fmla="val -60637"/>
              <a:gd name="adj4" fmla="val -9081"/>
            </a:avLst>
          </a:prstGeom>
          <a:solidFill>
            <a:schemeClr val="tx1">
              <a:lumMod val="10000"/>
              <a:lumOff val="90000"/>
            </a:schemeClr>
          </a:solidFill>
          <a:ln w="19050"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rgbClr val="000000"/>
                </a:solidFill>
                <a:latin typeface="Verdana" panose="020B0604030504040204" pitchFamily="34" charset="0"/>
              </a:rPr>
              <a:t>Best display for the user’s viewport</a:t>
            </a:r>
            <a:endParaRPr lang="en-GB" sz="1400" dirty="0"/>
          </a:p>
        </p:txBody>
      </p:sp>
      <p:sp>
        <p:nvSpPr>
          <p:cNvPr id="12" name="Callout: Line 11">
            <a:extLst>
              <a:ext uri="{FF2B5EF4-FFF2-40B4-BE49-F238E27FC236}">
                <a16:creationId xmlns:a16="http://schemas.microsoft.com/office/drawing/2014/main" id="{19B05585-8233-452A-B86C-F6073F6B39DA}"/>
              </a:ext>
            </a:extLst>
          </p:cNvPr>
          <p:cNvSpPr/>
          <p:nvPr/>
        </p:nvSpPr>
        <p:spPr>
          <a:xfrm>
            <a:off x="3879150" y="4042986"/>
            <a:ext cx="2747905" cy="371694"/>
          </a:xfrm>
          <a:prstGeom prst="borderCallout1">
            <a:avLst>
              <a:gd name="adj1" fmla="val 50893"/>
              <a:gd name="adj2" fmla="val -505"/>
              <a:gd name="adj3" fmla="val -42128"/>
              <a:gd name="adj4" fmla="val -14300"/>
            </a:avLst>
          </a:prstGeom>
          <a:solidFill>
            <a:schemeClr val="accent5">
              <a:lumMod val="40000"/>
              <a:lumOff val="60000"/>
            </a:schemeClr>
          </a:solidFill>
          <a:ln>
            <a:headEnd type="none" w="med" len="med"/>
            <a:tailEnd type="arrow" w="med" len="med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rgbClr val="000000"/>
                </a:solidFill>
                <a:latin typeface="Verdana" panose="020B0604030504040204" pitchFamily="34" charset="0"/>
              </a:rPr>
              <a:t>Best in a separate files</a:t>
            </a:r>
            <a:endParaRPr lang="en-GB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28D976-12AB-4347-AC14-305B82A74B11}"/>
              </a:ext>
            </a:extLst>
          </p:cNvPr>
          <p:cNvSpPr txBox="1"/>
          <p:nvPr/>
        </p:nvSpPr>
        <p:spPr>
          <a:xfrm>
            <a:off x="337091" y="5778132"/>
            <a:ext cx="11354900" cy="738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l"/>
            <a:r>
              <a:rPr lang="en-GB" sz="1400" b="1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In older documents (like HTML 4 or XHTML), the 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DOCTYPE</a:t>
            </a:r>
            <a:r>
              <a:rPr lang="en-GB" sz="1400" b="1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refers to a DTD (Document Type Definition).</a:t>
            </a:r>
          </a:p>
          <a:p>
            <a:pPr algn="l"/>
            <a:r>
              <a:rPr lang="en-GB" sz="14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HTML 4.01: </a:t>
            </a:r>
            <a:r>
              <a:rPr lang="en-GB" sz="1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1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!DOCTYPE</a:t>
            </a:r>
            <a:r>
              <a:rPr lang="en-GB" sz="1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 HTML PUBLIC "-//W3C//DTD HTML 4.01 Transitional//EN" "http://www.w3.org/TR/html4/loose.dtd"</a:t>
            </a:r>
            <a:r>
              <a:rPr lang="en-GB" sz="1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endParaRPr lang="en-GB" sz="14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algn="l"/>
            <a:r>
              <a:rPr lang="en-GB" sz="14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XHTML 1.1: </a:t>
            </a:r>
            <a:r>
              <a:rPr lang="en-GB" sz="1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1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!DOCTYPE</a:t>
            </a:r>
            <a:r>
              <a:rPr lang="en-GB" sz="1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 html PUBLIC "-//W3C//DTD XHTML 1.1//EN" "http://www.w3.org/TR/xhtml11/DTD/xhtml11.dtd"</a:t>
            </a:r>
            <a:r>
              <a:rPr lang="en-GB" sz="1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endParaRPr lang="en-GB" sz="14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82B27D-57DB-4C44-B11D-B128F2BF2205}"/>
              </a:ext>
            </a:extLst>
          </p:cNvPr>
          <p:cNvSpPr txBox="1"/>
          <p:nvPr/>
        </p:nvSpPr>
        <p:spPr>
          <a:xfrm>
            <a:off x="1178585" y="3202099"/>
            <a:ext cx="5104228" cy="584775"/>
          </a:xfrm>
          <a:prstGeom prst="rect">
            <a:avLst/>
          </a:prstGeom>
          <a:noFill/>
          <a:ln w="9525">
            <a:solidFill>
              <a:schemeClr val="accent1">
                <a:lumMod val="50000"/>
                <a:lumOff val="50000"/>
              </a:schemeClr>
            </a:solidFill>
            <a:prstDash val="sysDash"/>
          </a:ln>
        </p:spPr>
        <p:txBody>
          <a:bodyPr wrap="square">
            <a:spAutoFit/>
          </a:bodyPr>
          <a:lstStyle/>
          <a:p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="qaScript.js"&gt;&lt;/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link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href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="qaStyle.css"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rel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="stylesheet"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/&gt;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72261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F948DE-9BA4-4416-B213-36446EDA8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Revision: Tags for displaying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E23549-8E19-40A1-A106-9740BFD04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272" y="1319255"/>
            <a:ext cx="11516239" cy="4955354"/>
          </a:xfrm>
        </p:spPr>
        <p:txBody>
          <a:bodyPr/>
          <a:lstStyle/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1800" b="1" dirty="0">
                <a:effectLst/>
                <a:latin typeface="Calibri" panose="020F0502020204030204" pitchFamily="34" charset="0"/>
              </a:rPr>
              <a:t>Displaying text and </a:t>
            </a: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 </a:t>
            </a:r>
            <a:r>
              <a:rPr lang="en-GB" sz="1800" b="1" dirty="0">
                <a:effectLst/>
                <a:latin typeface="Calibri" panose="020F0502020204030204" pitchFamily="34" charset="0"/>
              </a:rPr>
              <a:t>	</a:t>
            </a: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h1,2,3,4,5,6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b="1" dirty="0">
                <a:effectLst/>
                <a:latin typeface="Calibri" panose="020F0502020204030204" pitchFamily="34" charset="0"/>
              </a:rPr>
              <a:t> </a:t>
            </a: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sz="1800" b="1" dirty="0">
              <a:effectLst/>
              <a:latin typeface="Calibri" panose="020F0502020204030204" pitchFamily="34" charset="0"/>
            </a:endParaRPr>
          </a:p>
          <a:p>
            <a:pPr marL="285750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1800" b="1" dirty="0">
                <a:latin typeface="Calibri" panose="020F0502020204030204" pitchFamily="34" charset="0"/>
              </a:rPr>
              <a:t>Container</a:t>
            </a: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b="1" dirty="0">
                <a:effectLst/>
                <a:latin typeface="Calibri" panose="020F0502020204030204" pitchFamily="34" charset="0"/>
              </a:rPr>
              <a:t> 	</a:t>
            </a: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p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b="1" dirty="0">
              <a:effectLst/>
              <a:latin typeface="Calibri" panose="020F0502020204030204" pitchFamily="34" charset="0"/>
            </a:endParaRP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sz="1800" b="1" dirty="0">
              <a:latin typeface="Calibri" panose="020F0502020204030204" pitchFamily="34" charset="0"/>
            </a:endParaRP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1800" b="1" dirty="0">
                <a:latin typeface="Calibri" panose="020F0502020204030204" pitchFamily="34" charset="0"/>
              </a:rPr>
              <a:t>Breaks and lines</a:t>
            </a:r>
            <a:endParaRPr lang="en-GB" sz="1800" b="1" dirty="0">
              <a:effectLst/>
              <a:latin typeface="Calibri" panose="020F0502020204030204" pitchFamily="34" charset="0"/>
            </a:endParaRP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hr /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 </a:t>
            </a:r>
            <a:r>
              <a:rPr lang="en-GB" sz="1800" b="1" dirty="0">
                <a:effectLst/>
                <a:latin typeface="Calibri" panose="020F0502020204030204" pitchFamily="34" charset="0"/>
              </a:rPr>
              <a:t> </a:t>
            </a: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 err="1">
                <a:solidFill>
                  <a:srgbClr val="800000"/>
                </a:solidFill>
                <a:latin typeface="Consolas" panose="020B0609020204030204" pitchFamily="49" charset="0"/>
              </a:rPr>
              <a:t>br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 /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sz="18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 marR="0">
              <a:spcBef>
                <a:spcPts val="0"/>
              </a:spcBef>
              <a:spcAft>
                <a:spcPts val="0"/>
              </a:spcAft>
            </a:pPr>
            <a:endParaRPr lang="en-GB" sz="1800" b="1" dirty="0">
              <a:effectLst/>
              <a:latin typeface="Calibri" panose="020F0502020204030204" pitchFamily="34" charset="0"/>
            </a:endParaRP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sz="1800" b="1" dirty="0">
              <a:effectLst/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24FB9-B73A-4AD7-9638-058CF7068604}"/>
              </a:ext>
            </a:extLst>
          </p:cNvPr>
          <p:cNvSpPr txBox="1"/>
          <p:nvPr/>
        </p:nvSpPr>
        <p:spPr>
          <a:xfrm>
            <a:off x="4980037" y="1583366"/>
            <a:ext cx="2703871" cy="45243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h1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Heading 1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h1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h2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Heading 2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h2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h3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Heading 3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h3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h4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Heading 4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h4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h5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Heading 5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h5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h6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Heading 6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h6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span1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span2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span3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 err="1">
                <a:solidFill>
                  <a:srgbClr val="800000"/>
                </a:solidFill>
                <a:latin typeface="Consolas" panose="020B0609020204030204" pitchFamily="49" charset="0"/>
              </a:rPr>
              <a:t>br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/&gt;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div1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div2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hr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/&gt;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p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Paragrap1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p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p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Paragrap2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p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871AF5-ABE0-47E9-8384-286A431108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9330" y="995362"/>
            <a:ext cx="3009900" cy="54768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190DE9D1-FCD5-4A25-94AC-5F93A5186992}"/>
              </a:ext>
            </a:extLst>
          </p:cNvPr>
          <p:cNvSpPr/>
          <p:nvPr/>
        </p:nvSpPr>
        <p:spPr>
          <a:xfrm>
            <a:off x="7688825" y="3274139"/>
            <a:ext cx="452284" cy="452284"/>
          </a:xfrm>
          <a:prstGeom prst="rightArrow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5867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F948DE-9BA4-4416-B213-36446EDA8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formatting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E23549-8E19-40A1-A106-9740BFD04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272" y="1378889"/>
            <a:ext cx="11516239" cy="4955354"/>
          </a:xfrm>
        </p:spPr>
        <p:txBody>
          <a:bodyPr/>
          <a:lstStyle/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1800" b="1" dirty="0">
                <a:effectLst/>
                <a:latin typeface="Calibri" panose="020F0502020204030204" pitchFamily="34" charset="0"/>
              </a:rPr>
              <a:t>&lt;small&gt;	</a:t>
            </a: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1800" b="1" dirty="0">
                <a:latin typeface="Calibri" panose="020F0502020204030204" pitchFamily="34" charset="0"/>
              </a:rPr>
              <a:t>&lt;strong&gt; and &lt;</a:t>
            </a:r>
            <a:r>
              <a:rPr lang="en-GB" sz="1800" b="1" dirty="0">
                <a:effectLst/>
                <a:latin typeface="Calibri" panose="020F0502020204030204" pitchFamily="34" charset="0"/>
              </a:rPr>
              <a:t>b&gt;	</a:t>
            </a: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1800" b="1" dirty="0">
                <a:latin typeface="Calibri" panose="020F0502020204030204" pitchFamily="34" charset="0"/>
              </a:rPr>
              <a:t>&lt;</a:t>
            </a:r>
            <a:r>
              <a:rPr lang="en-GB" sz="1800" b="1" dirty="0" err="1">
                <a:latin typeface="Calibri" panose="020F0502020204030204" pitchFamily="34" charset="0"/>
              </a:rPr>
              <a:t>i</a:t>
            </a:r>
            <a:r>
              <a:rPr lang="en-GB" sz="1800" b="1" dirty="0">
                <a:latin typeface="Calibri" panose="020F0502020204030204" pitchFamily="34" charset="0"/>
              </a:rPr>
              <a:t>&gt;	</a:t>
            </a: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1800" b="1" dirty="0">
                <a:effectLst/>
                <a:latin typeface="Calibri" panose="020F0502020204030204" pitchFamily="34" charset="0"/>
              </a:rPr>
              <a:t>&lt;u&gt;</a:t>
            </a: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br>
              <a:rPr lang="en-GB" sz="1800" b="1" dirty="0">
                <a:latin typeface="Calibri" panose="020F0502020204030204" pitchFamily="34" charset="0"/>
              </a:rPr>
            </a:br>
            <a:endParaRPr lang="en-GB" sz="1800" b="1" dirty="0">
              <a:latin typeface="Calibri" panose="020F0502020204030204" pitchFamily="34" charset="0"/>
            </a:endParaRP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sub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b="1" dirty="0">
                <a:latin typeface="Calibri" panose="020F0502020204030204" pitchFamily="34" charset="0"/>
              </a:rPr>
              <a:t> and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sup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b="1" dirty="0">
              <a:latin typeface="Calibri" panose="020F0502020204030204" pitchFamily="34" charset="0"/>
            </a:endParaRP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sz="1800" b="1" dirty="0">
              <a:solidFill>
                <a:srgbClr val="0000FF"/>
              </a:solidFill>
              <a:latin typeface="Calibri" panose="020F0502020204030204" pitchFamily="34" charset="0"/>
            </a:endParaRP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sz="1800" b="1" dirty="0">
              <a:solidFill>
                <a:srgbClr val="0000FF"/>
              </a:solidFill>
              <a:latin typeface="Calibri" panose="020F0502020204030204" pitchFamily="34" charset="0"/>
            </a:endParaRP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sz="1800" b="1" dirty="0">
              <a:solidFill>
                <a:srgbClr val="0000FF"/>
              </a:solidFill>
              <a:latin typeface="Calibri" panose="020F0502020204030204" pitchFamily="34" charset="0"/>
            </a:endParaRP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sz="18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del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ins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b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mark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text</a:t>
            </a:r>
          </a:p>
          <a:p>
            <a:pPr lvl="1" indent="0">
              <a:spcAft>
                <a:spcPts val="0"/>
              </a:spcAft>
              <a:buNone/>
            </a:pPr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sz="1800" b="1" dirty="0">
              <a:effectLst/>
              <a:latin typeface="Calibri" panose="020F0502020204030204" pitchFamily="34" charset="0"/>
            </a:endParaRP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sz="1800" b="1" dirty="0">
              <a:latin typeface="Calibri" panose="020F0502020204030204" pitchFamily="34" charset="0"/>
            </a:endParaRP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sz="1800" b="1" dirty="0">
              <a:effectLst/>
              <a:latin typeface="Calibri" panose="020F0502020204030204" pitchFamily="34" charset="0"/>
            </a:endParaRP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sz="1800" b="1" dirty="0">
              <a:effectLst/>
              <a:latin typeface="Calibri" panose="020F05020202040302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BA0E37D-5DB5-4AA0-B2DD-22D2C6F84669}"/>
              </a:ext>
            </a:extLst>
          </p:cNvPr>
          <p:cNvSpPr/>
          <p:nvPr/>
        </p:nvSpPr>
        <p:spPr>
          <a:xfrm>
            <a:off x="2964425" y="3030657"/>
            <a:ext cx="5083277" cy="82590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Water is H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sub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sub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b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if x is 5 then x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sup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sup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= 25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p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D865618-60D6-477C-9FE2-07536EA79C9C}"/>
              </a:ext>
            </a:extLst>
          </p:cNvPr>
          <p:cNvSpPr/>
          <p:nvPr/>
        </p:nvSpPr>
        <p:spPr>
          <a:xfrm>
            <a:off x="2964424" y="4302160"/>
            <a:ext cx="5083277" cy="105545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indent="-101600"/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del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delete this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del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textThis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text is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ins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insert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ins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here!Mark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my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mark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mark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p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Oval 7">
            <a:hlinkClick r:id="rId3" action="ppaction://hlinkfile"/>
            <a:extLst>
              <a:ext uri="{FF2B5EF4-FFF2-40B4-BE49-F238E27FC236}">
                <a16:creationId xmlns:a16="http://schemas.microsoft.com/office/drawing/2014/main" id="{09E59880-E3C1-8200-934B-87026AEBA526}"/>
              </a:ext>
            </a:extLst>
          </p:cNvPr>
          <p:cNvSpPr/>
          <p:nvPr/>
        </p:nvSpPr>
        <p:spPr>
          <a:xfrm>
            <a:off x="10254227" y="5975693"/>
            <a:ext cx="718181" cy="393291"/>
          </a:xfrm>
          <a:prstGeom prst="ellipse">
            <a:avLst/>
          </a:prstGeom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800" b="1" dirty="0"/>
              <a:t>Demo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522BDC-240B-9330-284C-2314AF4124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733" y="1308126"/>
            <a:ext cx="1590675" cy="33623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41E9619-F6E2-C922-AD11-080A39DE39CD}"/>
              </a:ext>
            </a:extLst>
          </p:cNvPr>
          <p:cNvSpPr/>
          <p:nvPr/>
        </p:nvSpPr>
        <p:spPr>
          <a:xfrm>
            <a:off x="2964424" y="1316222"/>
            <a:ext cx="5083277" cy="157038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small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Small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small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b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strong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Small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strong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 </a:t>
            </a:r>
          </a:p>
          <a:p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b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Bold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b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b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Italic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br>
              <a:rPr lang="en-GB" dirty="0"/>
            </a:b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u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Underline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u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664557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F948DE-9BA4-4416-B213-36446EDA8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Displaying images – Using relative and absolute path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E23549-8E19-40A1-A106-9740BFD04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550" y="1380499"/>
            <a:ext cx="11516239" cy="4955354"/>
          </a:xfr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en-GB" sz="1800" b="1" dirty="0">
                <a:latin typeface="Consolas" panose="020B0609020204030204" pitchFamily="49" charset="0"/>
              </a:rPr>
              <a:t> </a:t>
            </a:r>
          </a:p>
          <a:p>
            <a:r>
              <a:rPr lang="en-GB" sz="1800" b="1" dirty="0">
                <a:latin typeface="Consolas" panose="020B0609020204030204" pitchFamily="49" charset="0"/>
              </a:rPr>
              <a:t> Image in a sub-folder relative to the html page:</a:t>
            </a:r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	&lt;</a:t>
            </a:r>
            <a:r>
              <a:rPr lang="en-GB" sz="18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img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="images/team.jpg"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alt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="QA team picture"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/&gt;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latin typeface="Consolas" panose="020B0609020204030204" pitchFamily="49" charset="0"/>
              </a:rPr>
              <a:t> Or use absolute path:</a:t>
            </a:r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	&lt;</a:t>
            </a:r>
            <a:r>
              <a:rPr lang="en-GB" sz="18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img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="/images/logo.jpg"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alt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="QA logo"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/&gt;</a:t>
            </a:r>
          </a:p>
          <a:p>
            <a:endParaRPr lang="en-GB" sz="1800" b="1" dirty="0">
              <a:latin typeface="Consolas" panose="020B0609020204030204" pitchFamily="49" charset="0"/>
            </a:endParaRPr>
          </a:p>
          <a:p>
            <a:r>
              <a:rPr lang="en-GB" sz="1800" b="1" dirty="0">
                <a:latin typeface="Consolas" panose="020B0609020204030204" pitchFamily="49" charset="0"/>
              </a:rPr>
              <a:t> Or get the image from another site: </a:t>
            </a:r>
          </a:p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	&lt;</a:t>
            </a:r>
            <a:r>
              <a:rPr lang="en-GB" sz="18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img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="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https://qa.com/images/team.jpg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FF0000"/>
                </a:solidFill>
                <a:latin typeface="Consolas" panose="020B0609020204030204" pitchFamily="49" charset="0"/>
              </a:rPr>
              <a:t>alt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="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QA team picture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 /&gt;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GB" b="1" dirty="0"/>
          </a:p>
        </p:txBody>
      </p:sp>
      <p:pic>
        <p:nvPicPr>
          <p:cNvPr id="5" name="Picture 4" descr="A picture containing text, posing&#10;&#10;Description automatically generated">
            <a:extLst>
              <a:ext uri="{FF2B5EF4-FFF2-40B4-BE49-F238E27FC236}">
                <a16:creationId xmlns:a16="http://schemas.microsoft.com/office/drawing/2014/main" id="{56BAC5E5-96B2-487C-B640-D6106AEAC1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7946" y="1469409"/>
            <a:ext cx="2726035" cy="112748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E10D38-70ED-65DA-7F10-734FC15AED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8925" y="2790825"/>
            <a:ext cx="212407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425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F948DE-9BA4-4416-B213-36446EDA8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Hyperlink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E23549-8E19-40A1-A106-9740BFD04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550" y="1380499"/>
            <a:ext cx="11516239" cy="4955354"/>
          </a:xfr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en-GB" sz="1800" b="1" dirty="0">
                <a:solidFill>
                  <a:schemeClr val="tx1"/>
                </a:solidFill>
                <a:latin typeface="Consolas" panose="020B0609020204030204" pitchFamily="49" charset="0"/>
              </a:rPr>
              <a:t>Hyperlinks are used to link from one page to another or to navigate to an external site</a:t>
            </a:r>
            <a:endParaRPr lang="en-GB" sz="1800" b="1" dirty="0">
              <a:solidFill>
                <a:schemeClr val="tx1"/>
              </a:solidFill>
              <a:latin typeface="Calibri" panose="020F050202020403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1800" b="1" dirty="0">
                <a:solidFill>
                  <a:schemeClr val="tx1"/>
                </a:solidFill>
                <a:latin typeface="Consolas" panose="020B0609020204030204" pitchFamily="49" charset="0"/>
              </a:rPr>
              <a:t>They change colour when clicked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GB" sz="18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GB" sz="18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GB" sz="18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GB" sz="18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GB" sz="18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1800" b="1" dirty="0">
                <a:solidFill>
                  <a:schemeClr val="tx1"/>
                </a:solidFill>
                <a:latin typeface="Consolas" panose="020B0609020204030204" pitchFamily="49" charset="0"/>
              </a:rPr>
              <a:t>Text is not the only option </a:t>
            </a:r>
            <a:br>
              <a:rPr lang="en-GB" sz="1800" b="1" dirty="0">
                <a:solidFill>
                  <a:schemeClr val="tx1"/>
                </a:solidFill>
                <a:latin typeface="Consolas" panose="020B0609020204030204" pitchFamily="49" charset="0"/>
              </a:rPr>
            </a:br>
            <a:r>
              <a:rPr lang="en-GB" sz="1800" b="1" dirty="0">
                <a:solidFill>
                  <a:schemeClr val="tx1"/>
                </a:solidFill>
                <a:latin typeface="Consolas" panose="020B0609020204030204" pitchFamily="49" charset="0"/>
              </a:rPr>
              <a:t>For example, you can use a hyperlinked image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GB" sz="18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GB" sz="18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GB" sz="18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GB" sz="18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GB" sz="18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GB" sz="1800" b="1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EC6D03-126C-6713-E6EB-77BB76E3825C}"/>
              </a:ext>
            </a:extLst>
          </p:cNvPr>
          <p:cNvSpPr txBox="1"/>
          <p:nvPr/>
        </p:nvSpPr>
        <p:spPr>
          <a:xfrm>
            <a:off x="894080" y="2304256"/>
            <a:ext cx="5862320" cy="120032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a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href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="page2.html"&gt;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Go to page2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a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a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href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="https://www.qa.com/"&gt;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QA Training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a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</a:p>
          <a:p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668693B-498A-2A23-54A1-AB8FCE1ED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4890" y="2507706"/>
            <a:ext cx="1496803" cy="72317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D94CD74-9429-6E15-C158-C964DB3A7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2261" y="2164080"/>
            <a:ext cx="2331720" cy="155448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B19A4AC-1781-42E3-68E7-B3533F06EC31}"/>
              </a:ext>
            </a:extLst>
          </p:cNvPr>
          <p:cNvSpPr txBox="1"/>
          <p:nvPr/>
        </p:nvSpPr>
        <p:spPr>
          <a:xfrm>
            <a:off x="894080" y="4775815"/>
            <a:ext cx="5862320" cy="92333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pt-BR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pt-BR" sz="1800" dirty="0">
                <a:solidFill>
                  <a:srgbClr val="800000"/>
                </a:solidFill>
                <a:latin typeface="Consolas" panose="020B0609020204030204" pitchFamily="49" charset="0"/>
              </a:rPr>
              <a:t>a</a:t>
            </a:r>
            <a:r>
              <a:rPr lang="pt-BR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800" dirty="0">
                <a:solidFill>
                  <a:srgbClr val="FF0000"/>
                </a:solidFill>
                <a:latin typeface="Consolas" panose="020B0609020204030204" pitchFamily="49" charset="0"/>
              </a:rPr>
              <a:t>href</a:t>
            </a:r>
            <a:r>
              <a:rPr lang="pt-BR" sz="1800" dirty="0">
                <a:solidFill>
                  <a:srgbClr val="0000FF"/>
                </a:solidFill>
                <a:latin typeface="Consolas" panose="020B0609020204030204" pitchFamily="49" charset="0"/>
              </a:rPr>
              <a:t>="https://www.qa.com/"&gt;</a:t>
            </a:r>
            <a:endParaRPr lang="pt-BR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 err="1">
                <a:solidFill>
                  <a:srgbClr val="800000"/>
                </a:solidFill>
                <a:latin typeface="Consolas" panose="020B0609020204030204" pitchFamily="49" charset="0"/>
              </a:rPr>
              <a:t>img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="team.jpg"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FF0000"/>
                </a:solidFill>
                <a:latin typeface="Consolas" panose="020B0609020204030204" pitchFamily="49" charset="0"/>
              </a:rPr>
              <a:t>alt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="QA team"/&gt;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a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238EF2A-723D-7AF2-6C0B-8AAC7447C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5056" y="4572140"/>
            <a:ext cx="2328926" cy="1272506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0504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F948DE-9BA4-4416-B213-36446EDA8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E23549-8E19-40A1-A106-9740BFD04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List Boxes</a:t>
            </a:r>
          </a:p>
          <a:p>
            <a:pPr marL="641350" lvl="4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select	</a:t>
            </a: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option</a:t>
            </a: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Ordered and unordered lists</a:t>
            </a: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&lt;ul&gt;	</a:t>
            </a: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ol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&gt;	</a:t>
            </a: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&lt;li&gt;</a:t>
            </a: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1B2E63A-ADB9-41BD-A418-8DE2BF7ACF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7534" y="1367059"/>
            <a:ext cx="1980314" cy="1427109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B0CCBF-9497-4D55-8819-AC333D07B8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956" y="3647996"/>
            <a:ext cx="1867892" cy="276963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Oval 6">
            <a:hlinkClick r:id="rId5" action="ppaction://hlinkfile"/>
            <a:extLst>
              <a:ext uri="{FF2B5EF4-FFF2-40B4-BE49-F238E27FC236}">
                <a16:creationId xmlns:a16="http://schemas.microsoft.com/office/drawing/2014/main" id="{2CE57BA1-CC8E-C01A-7CCA-267CE78A2AB7}"/>
              </a:ext>
            </a:extLst>
          </p:cNvPr>
          <p:cNvSpPr/>
          <p:nvPr/>
        </p:nvSpPr>
        <p:spPr>
          <a:xfrm>
            <a:off x="3491127" y="6024339"/>
            <a:ext cx="718181" cy="393291"/>
          </a:xfrm>
          <a:prstGeom prst="ellipse">
            <a:avLst/>
          </a:prstGeom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800" b="1" dirty="0"/>
              <a:t>Demo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12D08B-E784-9433-00F4-A48F117083D8}"/>
              </a:ext>
            </a:extLst>
          </p:cNvPr>
          <p:cNvSpPr txBox="1"/>
          <p:nvPr/>
        </p:nvSpPr>
        <p:spPr>
          <a:xfrm>
            <a:off x="7663869" y="692762"/>
            <a:ext cx="3636922" cy="267765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    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select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option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Option 1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option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option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Option 1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option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option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Option 3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option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select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select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size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="3"&gt;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option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Option 1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option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option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Option 1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option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option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Option 3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option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option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Option 4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option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select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436333-3F94-B48D-6DB0-CF3E6D007ED6}"/>
              </a:ext>
            </a:extLst>
          </p:cNvPr>
          <p:cNvSpPr txBox="1"/>
          <p:nvPr/>
        </p:nvSpPr>
        <p:spPr>
          <a:xfrm>
            <a:off x="7690152" y="3647996"/>
            <a:ext cx="3623670" cy="28931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    &lt;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ol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Item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Item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Item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ol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h2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Bullet list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h2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ul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Item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Item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Item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ul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/>
          </a:p>
        </p:txBody>
      </p:sp>
    </p:spTree>
    <p:extLst>
      <p:ext uri="{BB962C8B-B14F-4D97-AF65-F5344CB8AC3E}">
        <p14:creationId xmlns:p14="http://schemas.microsoft.com/office/powerpoint/2010/main" val="3439467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F948DE-9BA4-4416-B213-36446EDA8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Table – For displaying data and basic positioning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9CB10F-54F3-425E-BC3A-21733223E491}"/>
              </a:ext>
            </a:extLst>
          </p:cNvPr>
          <p:cNvSpPr txBox="1"/>
          <p:nvPr/>
        </p:nvSpPr>
        <p:spPr>
          <a:xfrm>
            <a:off x="391655" y="1235917"/>
            <a:ext cx="7450681" cy="5262979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table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thead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tr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th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Name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th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 &lt;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th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Surname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th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 &lt;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th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th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tr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thead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tr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Jill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Smith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50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tr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tr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Eve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Jackson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30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tr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tfoot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tr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Average age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40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button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OK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button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tr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tfoot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table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/>
          </a:p>
        </p:txBody>
      </p:sp>
      <p:sp>
        <p:nvSpPr>
          <p:cNvPr id="14" name="Callout: Line 13">
            <a:extLst>
              <a:ext uri="{FF2B5EF4-FFF2-40B4-BE49-F238E27FC236}">
                <a16:creationId xmlns:a16="http://schemas.microsoft.com/office/drawing/2014/main" id="{268BF30A-A938-470A-B560-104B182BE067}"/>
              </a:ext>
            </a:extLst>
          </p:cNvPr>
          <p:cNvSpPr/>
          <p:nvPr/>
        </p:nvSpPr>
        <p:spPr>
          <a:xfrm>
            <a:off x="5127220" y="5186402"/>
            <a:ext cx="2057814" cy="474080"/>
          </a:xfrm>
          <a:prstGeom prst="borderCallout1">
            <a:avLst>
              <a:gd name="adj1" fmla="val 50893"/>
              <a:gd name="adj2" fmla="val -505"/>
              <a:gd name="adj3" fmla="val 24149"/>
              <a:gd name="adj4" fmla="val -17130"/>
            </a:avLst>
          </a:prstGeom>
          <a:ln>
            <a:headEnd type="none" w="med" len="med"/>
            <a:tailEnd type="arrow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thead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 and &lt;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tfoot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 </a:t>
            </a:r>
            <a:b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GB" sz="1400" dirty="0">
                <a:solidFill>
                  <a:srgbClr val="000000"/>
                </a:solidFill>
                <a:latin typeface="Verdana" panose="020B0604030504040204" pitchFamily="34" charset="0"/>
              </a:rPr>
              <a:t>may be used for </a:t>
            </a:r>
            <a:r>
              <a:rPr lang="en-GB" sz="1400" dirty="0" err="1">
                <a:solidFill>
                  <a:srgbClr val="000000"/>
                </a:solidFill>
                <a:latin typeface="Verdana" panose="020B0604030504040204" pitchFamily="34" charset="0"/>
              </a:rPr>
              <a:t>css</a:t>
            </a:r>
            <a:endParaRPr lang="en-GB" sz="1400" dirty="0"/>
          </a:p>
        </p:txBody>
      </p:sp>
      <p:sp>
        <p:nvSpPr>
          <p:cNvPr id="12" name="Oval 11">
            <a:hlinkClick r:id="rId3" action="ppaction://hlinkfile"/>
            <a:extLst>
              <a:ext uri="{FF2B5EF4-FFF2-40B4-BE49-F238E27FC236}">
                <a16:creationId xmlns:a16="http://schemas.microsoft.com/office/drawing/2014/main" id="{C7E3A7CD-C790-7F9E-8B4A-17C39A4F9D7B}"/>
              </a:ext>
            </a:extLst>
          </p:cNvPr>
          <p:cNvSpPr/>
          <p:nvPr/>
        </p:nvSpPr>
        <p:spPr>
          <a:xfrm>
            <a:off x="10383012" y="6099296"/>
            <a:ext cx="718181" cy="393291"/>
          </a:xfrm>
          <a:prstGeom prst="ellipse">
            <a:avLst/>
          </a:prstGeom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800" b="1" dirty="0"/>
              <a:t>Demo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53FE21F-8DEB-B157-83F4-70783C8369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3154" y="2089953"/>
            <a:ext cx="3258857" cy="1843024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F355732-9FE0-CAC0-4DB8-938F00B21B50}"/>
              </a:ext>
            </a:extLst>
          </p:cNvPr>
          <p:cNvSpPr/>
          <p:nvPr/>
        </p:nvSpPr>
        <p:spPr>
          <a:xfrm>
            <a:off x="819989" y="1513648"/>
            <a:ext cx="5428781" cy="1077441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DBA3CE-9BC4-28B4-7351-652374CE33CB}"/>
              </a:ext>
            </a:extLst>
          </p:cNvPr>
          <p:cNvSpPr/>
          <p:nvPr/>
        </p:nvSpPr>
        <p:spPr>
          <a:xfrm>
            <a:off x="840241" y="4702183"/>
            <a:ext cx="3910663" cy="1498713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7491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F948DE-9BA4-4416-B213-36446EDA8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Controls for inputting and selecting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E23549-8E19-40A1-A106-9740BFD04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input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="___"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/&gt;</a:t>
            </a:r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41350" lvl="1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Other attributes</a:t>
            </a:r>
          </a:p>
          <a:p>
            <a:pPr marL="641350" lvl="4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min, max   	</a:t>
            </a:r>
          </a:p>
          <a:p>
            <a:pPr marL="641350" lvl="4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autocomplete	</a:t>
            </a:r>
            <a:r>
              <a:rPr lang="en-GB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off/on </a:t>
            </a:r>
          </a:p>
          <a:p>
            <a:pPr marL="641350" lvl="4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spellcheck	</a:t>
            </a:r>
            <a:r>
              <a:rPr lang="en-GB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true/false</a:t>
            </a:r>
          </a:p>
          <a:p>
            <a:pPr marL="641350" lvl="4" indent="-285750"/>
            <a:r>
              <a:rPr lang="en-GB" dirty="0" err="1">
                <a:latin typeface="Arial" panose="020B0604020202020204" pitchFamily="34" charset="0"/>
                <a:cs typeface="Arial" panose="020B0604020202020204" pitchFamily="34" charset="0"/>
              </a:rPr>
              <a:t>maxlength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41350" lvl="4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placeholder</a:t>
            </a:r>
          </a:p>
          <a:p>
            <a:pPr marL="641350" lvl="4" indent="-285750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disabled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8A3690-CD5B-4ACE-A7B2-99D2617BF97F}"/>
              </a:ext>
            </a:extLst>
          </p:cNvPr>
          <p:cNvSpPr txBox="1"/>
          <p:nvPr/>
        </p:nvSpPr>
        <p:spPr>
          <a:xfrm>
            <a:off x="3048885" y="4810385"/>
            <a:ext cx="8808903" cy="954107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input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="number"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min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="1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max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="50"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placeholder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="type a number (1-50)"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/&gt;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input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="text"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maxlength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="10"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placeholder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="type password (1-10)"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required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/&gt;</a:t>
            </a: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input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="text"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placeholder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="type your name"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spellcheck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="false"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autocomplete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="off"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/&gt;</a:t>
            </a: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button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disabled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OK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button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C1B4408-0756-40C2-A83E-8A054BBB1FD3}"/>
              </a:ext>
            </a:extLst>
          </p:cNvPr>
          <p:cNvSpPr/>
          <p:nvPr/>
        </p:nvSpPr>
        <p:spPr>
          <a:xfrm>
            <a:off x="3687099" y="1524002"/>
            <a:ext cx="5525728" cy="1494503"/>
          </a:xfrm>
          <a:prstGeom prst="roundRect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text 	number 	email 	URL 	password</a:t>
            </a:r>
            <a:b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date 	datetime 	time 	day	month 	week</a:t>
            </a:r>
            <a:b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submit	reset		</a:t>
            </a:r>
            <a:b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b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range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087C1BB-E8EF-4905-865D-059296401BD5}"/>
              </a:ext>
            </a:extLst>
          </p:cNvPr>
          <p:cNvSpPr/>
          <p:nvPr/>
        </p:nvSpPr>
        <p:spPr>
          <a:xfrm>
            <a:off x="2566735" y="1956618"/>
            <a:ext cx="1041702" cy="600587"/>
          </a:xfrm>
          <a:custGeom>
            <a:avLst/>
            <a:gdLst>
              <a:gd name="connsiteX0" fmla="*/ 19148 w 1041702"/>
              <a:gd name="connsiteY0" fmla="*/ 0 h 600587"/>
              <a:gd name="connsiteX1" fmla="*/ 137135 w 1041702"/>
              <a:gd name="connsiteY1" fmla="*/ 521110 h 600587"/>
              <a:gd name="connsiteX2" fmla="*/ 1041702 w 1041702"/>
              <a:gd name="connsiteY2" fmla="*/ 589935 h 600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41702" h="600587">
                <a:moveTo>
                  <a:pt x="19148" y="0"/>
                </a:moveTo>
                <a:cubicBezTo>
                  <a:pt x="-7072" y="211394"/>
                  <a:pt x="-33291" y="422788"/>
                  <a:pt x="137135" y="521110"/>
                </a:cubicBezTo>
                <a:cubicBezTo>
                  <a:pt x="307561" y="619432"/>
                  <a:pt x="674631" y="604683"/>
                  <a:pt x="1041702" y="589935"/>
                </a:cubicBezTo>
              </a:path>
            </a:pathLst>
          </a:custGeom>
          <a:ln w="28575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hlinkClick r:id="rId3" action="ppaction://hlinkfile"/>
            <a:extLst>
              <a:ext uri="{FF2B5EF4-FFF2-40B4-BE49-F238E27FC236}">
                <a16:creationId xmlns:a16="http://schemas.microsoft.com/office/drawing/2014/main" id="{D654F8F5-EBB6-9D55-B4B6-06994235BDE9}"/>
              </a:ext>
            </a:extLst>
          </p:cNvPr>
          <p:cNvSpPr/>
          <p:nvPr/>
        </p:nvSpPr>
        <p:spPr>
          <a:xfrm>
            <a:off x="10383012" y="6099296"/>
            <a:ext cx="718181" cy="393291"/>
          </a:xfrm>
          <a:prstGeom prst="ellipse">
            <a:avLst/>
          </a:prstGeom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800" b="1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067563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04B69F7-779F-418B-9987-14F1786A86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CSS Selectors</a:t>
            </a:r>
            <a:endParaRPr lang="en-IN" b="1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19662BF-5EE9-4D76-B077-72C8FB62A1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098146" y="579549"/>
            <a:ext cx="5763653" cy="4591000"/>
          </a:xfrm>
        </p:spPr>
        <p:txBody>
          <a:bodyPr wrap="square">
            <a:spAutoFit/>
          </a:bodyPr>
          <a:lstStyle/>
          <a:p>
            <a:pPr marL="342900" indent="-342900"/>
            <a:r>
              <a:rPr lang="en-GB" b="1" dirty="0">
                <a:latin typeface="+mn-lt"/>
              </a:rPr>
              <a:t>CSS consists of selectors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>
                <a:latin typeface="+mn-lt"/>
              </a:rPr>
              <a:t>The selector chooses the elements 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>
                <a:latin typeface="+mn-lt"/>
              </a:rPr>
              <a:t>You can then change attributes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b="1" dirty="0">
                <a:latin typeface="+mn-lt"/>
              </a:rPr>
              <a:t>Selectors are based on: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>
                <a:latin typeface="+mn-lt"/>
              </a:rPr>
              <a:t>The </a:t>
            </a:r>
            <a:r>
              <a:rPr lang="en-GB" b="1" dirty="0">
                <a:latin typeface="+mn-lt"/>
              </a:rPr>
              <a:t>name</a:t>
            </a:r>
            <a:r>
              <a:rPr lang="en-GB" dirty="0">
                <a:latin typeface="+mn-lt"/>
              </a:rPr>
              <a:t> of the tag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>
                <a:latin typeface="+mn-lt"/>
              </a:rPr>
              <a:t>The </a:t>
            </a:r>
            <a:r>
              <a:rPr lang="en-GB" b="1" dirty="0">
                <a:latin typeface="+mn-lt"/>
              </a:rPr>
              <a:t>id</a:t>
            </a:r>
            <a:r>
              <a:rPr lang="en-GB" dirty="0">
                <a:latin typeface="+mn-lt"/>
              </a:rPr>
              <a:t> of the tag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>
                <a:latin typeface="+mn-lt"/>
              </a:rPr>
              <a:t>The </a:t>
            </a:r>
            <a:r>
              <a:rPr lang="en-GB" dirty="0" err="1">
                <a:latin typeface="+mn-lt"/>
              </a:rPr>
              <a:t>css</a:t>
            </a:r>
            <a:r>
              <a:rPr lang="en-GB" dirty="0">
                <a:latin typeface="+mn-lt"/>
              </a:rPr>
              <a:t> </a:t>
            </a:r>
            <a:r>
              <a:rPr lang="en-GB" b="1" dirty="0">
                <a:latin typeface="+mn-lt"/>
              </a:rPr>
              <a:t>class </a:t>
            </a:r>
            <a:r>
              <a:rPr lang="en-GB" dirty="0">
                <a:latin typeface="+mn-lt"/>
              </a:rPr>
              <a:t>of the tag</a:t>
            </a:r>
          </a:p>
          <a:p>
            <a:pPr indent="-342900"/>
            <a:endParaRPr lang="en-GB" b="1" dirty="0">
              <a:solidFill>
                <a:srgbClr val="F3622C"/>
              </a:solidFill>
              <a:latin typeface="+mn-lt"/>
            </a:endParaRPr>
          </a:p>
          <a:p>
            <a:pPr indent="-342900"/>
            <a:r>
              <a:rPr lang="en-GB" b="1" dirty="0">
                <a:solidFill>
                  <a:srgbClr val="F3622C"/>
                </a:solidFill>
                <a:latin typeface="+mn-lt"/>
              </a:rPr>
              <a:t>Write a few of these selectors.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>
                <a:latin typeface="+mn-lt"/>
              </a:rPr>
              <a:t>How many ways do you know of to join items together within a selector?</a:t>
            </a:r>
          </a:p>
          <a:p>
            <a:pPr marL="342900" indent="-342900">
              <a:buChar char="•"/>
            </a:pPr>
            <a:endParaRPr lang="en-IN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914964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Selectors – A few examples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532C61-39D3-EECF-DDE2-98168EF266F8}"/>
              </a:ext>
            </a:extLst>
          </p:cNvPr>
          <p:cNvSpPr txBox="1"/>
          <p:nvPr/>
        </p:nvSpPr>
        <p:spPr>
          <a:xfrm>
            <a:off x="339971" y="1177865"/>
            <a:ext cx="5773378" cy="3539430"/>
          </a:xfrm>
          <a:prstGeom prst="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title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QA Training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title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style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.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qaClass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background-color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lightblue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font-size</a:t>
            </a:r>
            <a:r>
              <a:rPr lang="en-GB" sz="1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14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x-large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#qaCourse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background-color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yellow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h3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border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1px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solid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green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	   text-align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center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style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09A1CD-5FDE-F8F4-27E0-26A934EFE386}"/>
              </a:ext>
            </a:extLst>
          </p:cNvPr>
          <p:cNvSpPr txBox="1"/>
          <p:nvPr/>
        </p:nvSpPr>
        <p:spPr>
          <a:xfrm>
            <a:off x="4469228" y="4200438"/>
            <a:ext cx="4726400" cy="246221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</a:t>
            </a:r>
            <a:r>
              <a:rPr lang="en-GB" sz="14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qaClass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QA Training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id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</a:t>
            </a:r>
            <a:r>
              <a:rPr lang="en-GB" sz="14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qaCourse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Web Development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Trainer: Bob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h3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Students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h3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 err="1">
                <a:solidFill>
                  <a:srgbClr val="800000"/>
                </a:solidFill>
                <a:latin typeface="Consolas" panose="020B0609020204030204" pitchFamily="49" charset="0"/>
              </a:rPr>
              <a:t>ol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Steve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Linda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Russell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 err="1">
                <a:solidFill>
                  <a:srgbClr val="800000"/>
                </a:solidFill>
                <a:latin typeface="Consolas" panose="020B0609020204030204" pitchFamily="49" charset="0"/>
              </a:rPr>
              <a:t>ol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0407844-1523-27E6-2ED5-BB6396AB6EE2}"/>
              </a:ext>
            </a:extLst>
          </p:cNvPr>
          <p:cNvCxnSpPr>
            <a:cxnSpLocks/>
          </p:cNvCxnSpPr>
          <p:nvPr/>
        </p:nvCxnSpPr>
        <p:spPr>
          <a:xfrm flipV="1">
            <a:off x="4541520" y="1524000"/>
            <a:ext cx="1162050" cy="694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8FBBC6-BECF-13FF-068F-FC3D1DA13049}"/>
              </a:ext>
            </a:extLst>
          </p:cNvPr>
          <p:cNvCxnSpPr>
            <a:cxnSpLocks/>
          </p:cNvCxnSpPr>
          <p:nvPr/>
        </p:nvCxnSpPr>
        <p:spPr>
          <a:xfrm flipV="1">
            <a:off x="4033520" y="1859280"/>
            <a:ext cx="1634588" cy="992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E6EAB12-82C3-475B-1A9E-876DD3345467}"/>
              </a:ext>
            </a:extLst>
          </p:cNvPr>
          <p:cNvCxnSpPr>
            <a:cxnSpLocks/>
          </p:cNvCxnSpPr>
          <p:nvPr/>
        </p:nvCxnSpPr>
        <p:spPr>
          <a:xfrm flipV="1">
            <a:off x="4185920" y="2573530"/>
            <a:ext cx="1482188" cy="9870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8EB069BF-13F0-D523-7461-E222C478C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3570" y="1330007"/>
            <a:ext cx="2552700" cy="2409825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538762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Selectors – A few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C2F041-80D5-4440-BB33-BFC3161D3C50}"/>
              </a:ext>
            </a:extLst>
          </p:cNvPr>
          <p:cNvSpPr txBox="1"/>
          <p:nvPr/>
        </p:nvSpPr>
        <p:spPr>
          <a:xfrm>
            <a:off x="196300" y="1417967"/>
            <a:ext cx="5899700" cy="45243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h1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QA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h1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</a:p>
          <a:p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p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Paragraph text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p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GB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some text in a div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GB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FF0000"/>
                </a:solidFill>
                <a:latin typeface="Consolas" panose="020B0609020204030204" pitchFamily="49" charset="0"/>
              </a:rPr>
              <a:t>id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="div1"&gt;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div with id=div1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GB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="note"&gt;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div with class=note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GB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span contained in a div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GB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 err="1">
                <a:solidFill>
                  <a:srgbClr val="800000"/>
                </a:solidFill>
                <a:latin typeface="Consolas" panose="020B0609020204030204" pitchFamily="49" charset="0"/>
              </a:rPr>
              <a:t>br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/&gt;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span NOT contained in a div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8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57E709-927C-4958-A2F5-55B58FBA7AAF}"/>
              </a:ext>
            </a:extLst>
          </p:cNvPr>
          <p:cNvSpPr txBox="1"/>
          <p:nvPr/>
        </p:nvSpPr>
        <p:spPr>
          <a:xfrm>
            <a:off x="6301409" y="1119525"/>
            <a:ext cx="5555978" cy="507831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GB" sz="1800" dirty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p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border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1px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dashed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black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box-shadow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2px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2px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2px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gray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padding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10px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background-color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8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lightgreen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b="1" dirty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*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{ 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20%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div:hover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background-color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yellow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28033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2C1B11-51AC-2D7B-B030-AEC2695DF5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F892D59-8F09-EF4B-AD6D-DA609442F868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073323C-ECDB-706E-A239-AA6D639CA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 font colour, size, style and background colour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740150-8091-BDC7-52BC-D8608FC1AE88}"/>
              </a:ext>
            </a:extLst>
          </p:cNvPr>
          <p:cNvSpPr txBox="1"/>
          <p:nvPr/>
        </p:nvSpPr>
        <p:spPr>
          <a:xfrm>
            <a:off x="544511" y="1344703"/>
            <a:ext cx="7937835" cy="52629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html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</a:rPr>
              <a:t>lang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="</a:t>
            </a:r>
            <a:r>
              <a:rPr lang="en-GB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en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"&gt;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title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QA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title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style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</a:rPr>
              <a:t>background-</a:t>
            </a:r>
            <a:r>
              <a:rPr lang="en-GB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blue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Arial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sans-serif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.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custom-text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white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     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</a:rPr>
              <a:t>font-size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20px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</a:rPr>
              <a:t>font-style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italic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</a:rPr>
              <a:t>background-</a:t>
            </a:r>
            <a:r>
              <a:rPr lang="en-GB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grey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fit-content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style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p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="custom-text"&gt;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Styled with custom </a:t>
            </a:r>
            <a:r>
              <a:rPr lang="en-GB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css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p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html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26087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2ED152-88F0-EE14-89D4-E40223CB84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F892D59-8F09-EF4B-AD6D-DA609442F868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78E6BD-F39D-D600-5C5A-61D2A386C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+mn-ea"/>
                <a:cs typeface="+mn-cs"/>
              </a:rPr>
              <a:t>margin</a:t>
            </a:r>
            <a:r>
              <a:rPr lang="en-GB" sz="4800" dirty="0"/>
              <a:t> </a:t>
            </a:r>
            <a:r>
              <a:rPr lang="en-GB" dirty="0"/>
              <a:t>and </a:t>
            </a:r>
            <a:r>
              <a:rPr lang="en-GB" b="1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+mn-ea"/>
                <a:cs typeface="+mn-cs"/>
              </a:rPr>
              <a:t>padding</a:t>
            </a:r>
            <a:r>
              <a:rPr lang="en-GB" dirty="0">
                <a:solidFill>
                  <a:srgbClr val="C00000"/>
                </a:solidFill>
              </a:rPr>
              <a:t> </a:t>
            </a:r>
            <a:r>
              <a:rPr lang="en-GB" dirty="0"/>
              <a:t>properties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5ED02E-E699-2979-7BAF-F64C0D6D1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400" b="1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+mn-ea"/>
                <a:cs typeface="+mn-cs"/>
              </a:rPr>
              <a:t>margin</a:t>
            </a:r>
            <a:r>
              <a:rPr lang="en-GB" sz="3200" dirty="0"/>
              <a:t> </a:t>
            </a:r>
            <a:r>
              <a:rPr lang="en-GB" dirty="0"/>
              <a:t>controls the space outside an element</a:t>
            </a:r>
          </a:p>
          <a:p>
            <a:r>
              <a:rPr lang="en-GB" sz="2400" b="1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+mn-ea"/>
                <a:cs typeface="+mn-cs"/>
              </a:rPr>
              <a:t>Padding</a:t>
            </a:r>
            <a:r>
              <a:rPr lang="en-GB" b="1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+mn-ea"/>
                <a:cs typeface="+mn-cs"/>
              </a:rPr>
              <a:t> </a:t>
            </a:r>
            <a:r>
              <a:rPr lang="en-GB" dirty="0"/>
              <a:t>controls the space inside. Let's see and example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CCB4190-2AF4-E40E-16E2-98B4D7069533}"/>
              </a:ext>
            </a:extLst>
          </p:cNvPr>
          <p:cNvGrpSpPr/>
          <p:nvPr/>
        </p:nvGrpSpPr>
        <p:grpSpPr>
          <a:xfrm>
            <a:off x="6410960" y="2984238"/>
            <a:ext cx="4936275" cy="3091442"/>
            <a:chOff x="6350000" y="2750558"/>
            <a:chExt cx="5505235" cy="328448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BC03374-3072-FC6C-A255-2AD7594B07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28474" y="2750558"/>
              <a:ext cx="4826761" cy="3284482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1B0F364-CDD9-40C0-1859-7C34BFEB63E6}"/>
                </a:ext>
              </a:extLst>
            </p:cNvPr>
            <p:cNvCxnSpPr/>
            <p:nvPr/>
          </p:nvCxnSpPr>
          <p:spPr>
            <a:xfrm>
              <a:off x="7112000" y="4897120"/>
              <a:ext cx="30480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178E8503-3582-8644-8719-937BABFB46EF}"/>
                </a:ext>
              </a:extLst>
            </p:cNvPr>
            <p:cNvCxnSpPr/>
            <p:nvPr/>
          </p:nvCxnSpPr>
          <p:spPr>
            <a:xfrm>
              <a:off x="7417156" y="5212080"/>
              <a:ext cx="405689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A30B63D-24EA-3055-FB59-45B1B06B6163}"/>
                </a:ext>
              </a:extLst>
            </p:cNvPr>
            <p:cNvSpPr txBox="1"/>
            <p:nvPr/>
          </p:nvSpPr>
          <p:spPr>
            <a:xfrm>
              <a:off x="6350000" y="4790441"/>
              <a:ext cx="721360" cy="208279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noAutofit/>
            </a:bodyPr>
            <a:lstStyle/>
            <a:p>
              <a:pPr algn="l"/>
              <a:r>
                <a:rPr lang="en-GB" sz="1400" dirty="0"/>
                <a:t>Margin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951FE8-7412-AAFB-05A2-66E7666F9C32}"/>
                </a:ext>
              </a:extLst>
            </p:cNvPr>
            <p:cNvSpPr txBox="1"/>
            <p:nvPr/>
          </p:nvSpPr>
          <p:spPr>
            <a:xfrm>
              <a:off x="6563360" y="5125721"/>
              <a:ext cx="853796" cy="2082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0" tIns="0" rIns="0" bIns="0" rtlCol="0" anchor="t" anchorCtr="0">
              <a:normAutofit/>
            </a:bodyPr>
            <a:lstStyle/>
            <a:p>
              <a:pPr algn="l"/>
              <a:r>
                <a:rPr lang="en-GB" sz="1200" dirty="0"/>
                <a:t>Padding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11623E1-0E6D-CFC5-EE0C-C5313B0444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80400" y="4282441"/>
              <a:ext cx="0" cy="259079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2E8291CB-1E46-F687-6440-5E92BA04D5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0560" y="5684521"/>
              <a:ext cx="0" cy="259079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5757C09-574D-C673-C978-8736F3D910DF}"/>
                </a:ext>
              </a:extLst>
            </p:cNvPr>
            <p:cNvCxnSpPr/>
            <p:nvPr/>
          </p:nvCxnSpPr>
          <p:spPr>
            <a:xfrm>
              <a:off x="11480800" y="4907280"/>
              <a:ext cx="30480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CA0CA048-830D-0B64-9B84-98390EDF6B02}"/>
              </a:ext>
            </a:extLst>
          </p:cNvPr>
          <p:cNvSpPr txBox="1"/>
          <p:nvPr/>
        </p:nvSpPr>
        <p:spPr>
          <a:xfrm>
            <a:off x="365760" y="2476927"/>
            <a:ext cx="2865120" cy="144655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style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.hr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</a:t>
            </a:r>
            <a:r>
              <a:rPr lang="en-GB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margin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20px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</a:t>
            </a:r>
            <a:r>
              <a:rPr lang="en-GB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padding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30px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}</a:t>
            </a: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style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A4994C-C5BF-C88E-31A1-8A4AD9E5B02C}"/>
              </a:ext>
            </a:extLst>
          </p:cNvPr>
          <p:cNvSpPr txBox="1"/>
          <p:nvPr/>
        </p:nvSpPr>
        <p:spPr>
          <a:xfrm>
            <a:off x="2418081" y="3710692"/>
            <a:ext cx="3637280" cy="2677656"/>
          </a:xfrm>
          <a:prstGeom prst="rect">
            <a:avLst/>
          </a:prstGeom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H1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QA Training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H1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data1: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input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="text"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/&gt;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="hr"&gt;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data2: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input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="text"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/&gt;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html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11419328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BF660B-5716-6988-1E59-755621AA0B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F892D59-8F09-EF4B-AD6D-DA609442F868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D5DA4E0-877A-5A50-8B89-50C82F173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Text, font CSS properties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FDEE9A-A653-6154-D97D-D5234CF2DB27}"/>
              </a:ext>
            </a:extLst>
          </p:cNvPr>
          <p:cNvSpPr txBox="1"/>
          <p:nvPr/>
        </p:nvSpPr>
        <p:spPr>
          <a:xfrm>
            <a:off x="182879" y="1263540"/>
            <a:ext cx="11859025" cy="28007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img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="centre"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b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GB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= </a:t>
            </a:r>
            <a:r>
              <a:rPr lang="en-GB" sz="1200" b="1" dirty="0">
                <a:solidFill>
                  <a:srgbClr val="0000FF"/>
                </a:solidFill>
                <a:latin typeface="Consolas" panose="020B0609020204030204" pitchFamily="49" charset="0"/>
                <a:hlinkClick r:id="rId2"/>
              </a:rPr>
              <a:t>https://www.qa.com/media/iuzn2ohj/qa-award.png?width=608&amp;height=320&amp;rnd=133941195704470000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alt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="Award logo" /&gt;</a:t>
            </a:r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="greeting"&gt;</a:t>
            </a:r>
          </a:p>
          <a:p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           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Hello World!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html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A83ADE-2AAA-3349-FCB7-5BC713E5CF61}"/>
              </a:ext>
            </a:extLst>
          </p:cNvPr>
          <p:cNvSpPr txBox="1"/>
          <p:nvPr/>
        </p:nvSpPr>
        <p:spPr>
          <a:xfrm>
            <a:off x="6829585" y="2651108"/>
            <a:ext cx="4628269" cy="397031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style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border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2px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solid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blue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box-shadow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3px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3px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3px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grey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50%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margin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5px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.greeting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text-align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center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Algerian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blue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.centre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display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block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margin-left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margin-right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style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14BF52D0-C2DB-0325-0593-A79C677D3C6A}"/>
              </a:ext>
            </a:extLst>
          </p:cNvPr>
          <p:cNvSpPr/>
          <p:nvPr/>
        </p:nvSpPr>
        <p:spPr>
          <a:xfrm>
            <a:off x="10141746" y="5672982"/>
            <a:ext cx="883920" cy="491380"/>
          </a:xfrm>
          <a:prstGeom prst="wedgeRoundRectCallout">
            <a:avLst>
              <a:gd name="adj1" fmla="val -63350"/>
              <a:gd name="adj2" fmla="val 30215"/>
              <a:gd name="adj3" fmla="val 16667"/>
            </a:avLst>
          </a:prstGeom>
          <a:solidFill>
            <a:schemeClr val="accent1">
              <a:lumMod val="25000"/>
              <a:lumOff val="75000"/>
            </a:scheme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Centre image</a:t>
            </a:r>
            <a:endParaRPr lang="en-GB" sz="1600" b="1" dirty="0">
              <a:solidFill>
                <a:schemeClr val="tx1"/>
              </a:solidFill>
            </a:endParaRP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F7AB3FCF-E45F-651D-11D1-8BA2F93F4172}"/>
              </a:ext>
            </a:extLst>
          </p:cNvPr>
          <p:cNvSpPr/>
          <p:nvPr/>
        </p:nvSpPr>
        <p:spPr>
          <a:xfrm>
            <a:off x="10436385" y="4392822"/>
            <a:ext cx="1259841" cy="596110"/>
          </a:xfrm>
          <a:prstGeom prst="wedgeRoundRectCallout">
            <a:avLst>
              <a:gd name="adj1" fmla="val -63350"/>
              <a:gd name="adj2" fmla="val 30215"/>
              <a:gd name="adj3" fmla="val 16667"/>
            </a:avLst>
          </a:prstGeom>
          <a:solidFill>
            <a:schemeClr val="accent1">
              <a:lumMod val="25000"/>
              <a:lumOff val="75000"/>
            </a:scheme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Set the font and colour</a:t>
            </a:r>
            <a:endParaRPr lang="en-GB" sz="1600" b="1" dirty="0">
              <a:solidFill>
                <a:schemeClr val="tx1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368593F-33E5-D118-B989-7BAED815AACB}"/>
              </a:ext>
            </a:extLst>
          </p:cNvPr>
          <p:cNvCxnSpPr/>
          <p:nvPr/>
        </p:nvCxnSpPr>
        <p:spPr>
          <a:xfrm flipH="1">
            <a:off x="4318000" y="5397024"/>
            <a:ext cx="2794000" cy="0"/>
          </a:xfrm>
          <a:prstGeom prst="straightConnector1">
            <a:avLst/>
          </a:prstGeom>
          <a:ln w="28575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233965C8-7242-5816-FFEB-9FB5FF6DACED}"/>
              </a:ext>
            </a:extLst>
          </p:cNvPr>
          <p:cNvSpPr/>
          <p:nvPr/>
        </p:nvSpPr>
        <p:spPr>
          <a:xfrm>
            <a:off x="4074159" y="6295942"/>
            <a:ext cx="2032001" cy="231634"/>
          </a:xfrm>
          <a:prstGeom prst="wedgeRoundRectCallout">
            <a:avLst>
              <a:gd name="adj1" fmla="val -36334"/>
              <a:gd name="adj2" fmla="val -102714"/>
              <a:gd name="adj3" fmla="val 16667"/>
            </a:avLst>
          </a:prstGeom>
          <a:solidFill>
            <a:schemeClr val="accent1">
              <a:lumMod val="25000"/>
              <a:lumOff val="75000"/>
            </a:scheme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text-align</a:t>
            </a:r>
            <a:r>
              <a:rPr lang="en-GB" sz="12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2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center</a:t>
            </a:r>
            <a:r>
              <a:rPr lang="en-GB" sz="12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GB" sz="1600" b="1" dirty="0">
              <a:solidFill>
                <a:schemeClr val="tx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A3BD3B1-5963-F611-5792-CF215C64A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4200041"/>
            <a:ext cx="5557454" cy="1946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9217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F948DE-9BA4-4416-B213-36446EDA8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- positioning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E23549-8E19-40A1-A106-9740BFD04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4955354"/>
          </a:xfrm>
        </p:spPr>
        <p:txBody>
          <a:bodyPr/>
          <a:lstStyle/>
          <a:p>
            <a:pPr marL="182880" marR="0">
              <a:spcBef>
                <a:spcPts val="0"/>
              </a:spcBef>
              <a:spcAft>
                <a:spcPts val="0"/>
              </a:spcAft>
            </a:pPr>
            <a:r>
              <a:rPr lang="en-GB" sz="2400" b="1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Calibri" panose="020F0502020204030204" pitchFamily="34" charset="0"/>
              </a:rPr>
              <a:t>Block, inline, inline-block</a:t>
            </a:r>
            <a:endParaRPr lang="en-GB" sz="24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Calibri" panose="020F0502020204030204" pitchFamily="34" charset="0"/>
            </a:endParaRPr>
          </a:p>
          <a:p>
            <a:pPr marL="182880">
              <a:spcAft>
                <a:spcPts val="0"/>
              </a:spcAft>
            </a:pPr>
            <a:r>
              <a:rPr lang="en-GB" sz="2400" dirty="0">
                <a:effectLst/>
                <a:latin typeface="Calibri" panose="020F0502020204030204" pitchFamily="34" charset="0"/>
              </a:rPr>
              <a:t>Some elements are </a:t>
            </a:r>
            <a:r>
              <a:rPr lang="en-GB" sz="2400" b="1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Calibri" panose="020F0502020204030204" pitchFamily="34" charset="0"/>
              </a:rPr>
              <a:t>inline</a:t>
            </a:r>
            <a:r>
              <a:rPr lang="en-GB" sz="2400" dirty="0">
                <a:effectLst/>
                <a:latin typeface="Calibri" panose="020F0502020204030204" pitchFamily="34" charset="0"/>
              </a:rPr>
              <a:t> such as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img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Button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input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Button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2400" b="1" dirty="0">
              <a:effectLst/>
              <a:latin typeface="Calibri" panose="020F0502020204030204" pitchFamily="34" charset="0"/>
            </a:endParaRPr>
          </a:p>
          <a:p>
            <a:pPr marL="182880">
              <a:spcAft>
                <a:spcPts val="0"/>
              </a:spcAft>
            </a:pPr>
            <a:r>
              <a:rPr lang="en-GB" sz="2400" dirty="0">
                <a:latin typeface="Calibri" panose="020F0502020204030204" pitchFamily="34" charset="0"/>
              </a:rPr>
              <a:t>These naturally flow from left to right like words in a document</a:t>
            </a:r>
            <a:br>
              <a:rPr lang="en-GB" sz="2400" dirty="0">
                <a:latin typeface="Calibri" panose="020F0502020204030204" pitchFamily="34" charset="0"/>
              </a:rPr>
            </a:br>
            <a:endParaRPr lang="en-GB" sz="2400" dirty="0">
              <a:effectLst/>
              <a:latin typeface="Calibri" panose="020F0502020204030204" pitchFamily="34" charset="0"/>
            </a:endParaRPr>
          </a:p>
          <a:p>
            <a:pPr marL="182880" marR="0">
              <a:spcBef>
                <a:spcPts val="0"/>
              </a:spcBef>
              <a:spcAft>
                <a:spcPts val="0"/>
              </a:spcAft>
            </a:pPr>
            <a:endParaRPr lang="en-GB" sz="2400" dirty="0">
              <a:effectLst/>
              <a:latin typeface="Calibri" panose="020F0502020204030204" pitchFamily="34" charset="0"/>
            </a:endParaRPr>
          </a:p>
          <a:p>
            <a:pPr marL="182880" marR="0">
              <a:spcBef>
                <a:spcPts val="0"/>
              </a:spcBef>
              <a:spcAft>
                <a:spcPts val="0"/>
              </a:spcAft>
            </a:pPr>
            <a:endParaRPr lang="en-GB" sz="2400" dirty="0">
              <a:latin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484BD9-85EA-129D-9806-728658D6F519}"/>
              </a:ext>
            </a:extLst>
          </p:cNvPr>
          <p:cNvSpPr/>
          <p:nvPr/>
        </p:nvSpPr>
        <p:spPr>
          <a:xfrm>
            <a:off x="10312400" y="1794976"/>
            <a:ext cx="1178560" cy="907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Div1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B0FB97-ABB7-66D1-1CC2-92784CA0C1D2}"/>
              </a:ext>
            </a:extLst>
          </p:cNvPr>
          <p:cNvSpPr/>
          <p:nvPr/>
        </p:nvSpPr>
        <p:spPr>
          <a:xfrm>
            <a:off x="10312400" y="2719536"/>
            <a:ext cx="1178560" cy="90758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Div2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2D8E575-64B7-FE77-FB2C-0A4C9B048B7C}"/>
              </a:ext>
            </a:extLst>
          </p:cNvPr>
          <p:cNvCxnSpPr/>
          <p:nvPr/>
        </p:nvCxnSpPr>
        <p:spPr>
          <a:xfrm>
            <a:off x="9621520" y="1960880"/>
            <a:ext cx="5384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D259B71-21B2-34A8-43E8-E8FA3E175AF7}"/>
              </a:ext>
            </a:extLst>
          </p:cNvPr>
          <p:cNvGrpSpPr/>
          <p:nvPr/>
        </p:nvGrpSpPr>
        <p:grpSpPr>
          <a:xfrm>
            <a:off x="650240" y="4027716"/>
            <a:ext cx="10861040" cy="1846659"/>
            <a:chOff x="650240" y="4027716"/>
            <a:chExt cx="10861040" cy="1846659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18B10A7-029A-4AA7-4AAF-3282CB34C0BC}"/>
                </a:ext>
              </a:extLst>
            </p:cNvPr>
            <p:cNvSpPr/>
            <p:nvPr/>
          </p:nvSpPr>
          <p:spPr>
            <a:xfrm>
              <a:off x="9144000" y="4274016"/>
              <a:ext cx="1178560" cy="90758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Div1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37DC39D-F7C5-CDCF-22A7-B02CDB1EA251}"/>
                </a:ext>
              </a:extLst>
            </p:cNvPr>
            <p:cNvSpPr/>
            <p:nvPr/>
          </p:nvSpPr>
          <p:spPr>
            <a:xfrm>
              <a:off x="10332720" y="4274016"/>
              <a:ext cx="1178560" cy="90758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Div2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39F2D8-1FBA-DC97-B7F4-D188A7956DAA}"/>
                </a:ext>
              </a:extLst>
            </p:cNvPr>
            <p:cNvSpPr txBox="1"/>
            <p:nvPr/>
          </p:nvSpPr>
          <p:spPr>
            <a:xfrm>
              <a:off x="650240" y="4027716"/>
              <a:ext cx="8188960" cy="18466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82880">
                <a:spcAft>
                  <a:spcPts val="0"/>
                </a:spcAft>
              </a:pPr>
              <a:r>
                <a:rPr lang="en-GB" sz="2400" dirty="0">
                  <a:latin typeface="Calibri" panose="020F0502020204030204" pitchFamily="34" charset="0"/>
                </a:rPr>
                <a:t>Some are </a:t>
              </a:r>
              <a:r>
                <a:rPr lang="en-GB" sz="2400" b="1" dirty="0">
                  <a:ln/>
                  <a:pattFill prst="dkUpDiag">
                    <a:fgClr>
                      <a:schemeClr val="bg1">
                        <a:lumMod val="50000"/>
                      </a:schemeClr>
                    </a:fgClr>
                    <a:bgClr>
                      <a:schemeClr val="tx1">
                        <a:lumMod val="75000"/>
                        <a:lumOff val="25000"/>
                      </a:schemeClr>
                    </a:bgClr>
                  </a:pattFill>
                  <a:effectLst>
                    <a:outerShdw blurRad="38100" dist="19050" dir="2700000" algn="tl" rotWithShape="0">
                      <a:schemeClr val="dk1">
                        <a:lumMod val="50000"/>
                        <a:alpha val="40000"/>
                      </a:schemeClr>
                    </a:outerShdw>
                  </a:effectLst>
                  <a:latin typeface="Calibri" panose="020F0502020204030204" pitchFamily="34" charset="0"/>
                </a:rPr>
                <a:t>block</a:t>
              </a:r>
              <a:r>
                <a:rPr lang="en-GB" sz="2400" dirty="0">
                  <a:latin typeface="Calibri" panose="020F0502020204030204" pitchFamily="34" charset="0"/>
                </a:rPr>
                <a:t> elements such as </a:t>
              </a:r>
              <a:r>
                <a:rPr lang="en-GB" sz="2000" b="1" dirty="0">
                  <a:solidFill>
                    <a:srgbClr val="0000FF"/>
                  </a:solidFill>
                  <a:latin typeface="Consolas" panose="020B0609020204030204" pitchFamily="49" charset="0"/>
                </a:rPr>
                <a:t>&lt;</a:t>
              </a:r>
              <a:r>
                <a:rPr lang="en-GB" sz="2000" b="1" dirty="0">
                  <a:solidFill>
                    <a:srgbClr val="800000"/>
                  </a:solidFill>
                  <a:latin typeface="Consolas" panose="020B0609020204030204" pitchFamily="49" charset="0"/>
                </a:rPr>
                <a:t>div</a:t>
              </a:r>
              <a:r>
                <a:rPr lang="en-GB" sz="2000" b="1" dirty="0">
                  <a:solidFill>
                    <a:srgbClr val="0000FF"/>
                  </a:solidFill>
                  <a:latin typeface="Consolas" panose="020B0609020204030204" pitchFamily="49" charset="0"/>
                </a:rPr>
                <a:t>&gt;</a:t>
              </a:r>
              <a:r>
                <a:rPr lang="en-GB" sz="20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GB" sz="2000" b="1" dirty="0">
                  <a:solidFill>
                    <a:srgbClr val="0000FF"/>
                  </a:solidFill>
                  <a:latin typeface="Consolas" panose="020B0609020204030204" pitchFamily="49" charset="0"/>
                </a:rPr>
                <a:t>&lt;</a:t>
              </a:r>
              <a:r>
                <a:rPr lang="en-GB" sz="2000" b="1" dirty="0">
                  <a:solidFill>
                    <a:srgbClr val="800000"/>
                  </a:solidFill>
                  <a:latin typeface="Consolas" panose="020B0609020204030204" pitchFamily="49" charset="0"/>
                </a:rPr>
                <a:t>p</a:t>
              </a:r>
              <a:r>
                <a:rPr lang="en-GB" sz="2000" b="1" dirty="0">
                  <a:solidFill>
                    <a:srgbClr val="0000FF"/>
                  </a:solidFill>
                  <a:latin typeface="Consolas" panose="020B0609020204030204" pitchFamily="49" charset="0"/>
                </a:rPr>
                <a:t>&gt;</a:t>
              </a:r>
              <a:r>
                <a:rPr lang="en-GB" sz="20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GB" sz="2000" b="1" dirty="0">
                  <a:solidFill>
                    <a:srgbClr val="0000FF"/>
                  </a:solidFill>
                  <a:latin typeface="Consolas" panose="020B0609020204030204" pitchFamily="49" charset="0"/>
                </a:rPr>
                <a:t>&lt;</a:t>
              </a:r>
              <a:r>
                <a:rPr lang="en-GB" sz="2000" b="1" dirty="0">
                  <a:solidFill>
                    <a:srgbClr val="800000"/>
                  </a:solidFill>
                  <a:latin typeface="Consolas" panose="020B0609020204030204" pitchFamily="49" charset="0"/>
                </a:rPr>
                <a:t>h</a:t>
              </a:r>
              <a:r>
                <a:rPr lang="en-GB" sz="2000" b="1" dirty="0">
                  <a:solidFill>
                    <a:srgbClr val="0000FF"/>
                  </a:solidFill>
                  <a:latin typeface="Consolas" panose="020B0609020204030204" pitchFamily="49" charset="0"/>
                </a:rPr>
                <a:t>&gt;</a:t>
              </a:r>
              <a:r>
                <a:rPr lang="en-GB" sz="20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GB" sz="2000" b="1" dirty="0">
                  <a:solidFill>
                    <a:srgbClr val="0000FF"/>
                  </a:solidFill>
                  <a:latin typeface="Consolas" panose="020B0609020204030204" pitchFamily="49" charset="0"/>
                </a:rPr>
                <a:t>&lt;</a:t>
              </a:r>
              <a:r>
                <a:rPr lang="en-GB" sz="2000" b="1" dirty="0" err="1">
                  <a:solidFill>
                    <a:srgbClr val="800000"/>
                  </a:solidFill>
                  <a:latin typeface="Consolas" panose="020B0609020204030204" pitchFamily="49" charset="0"/>
                </a:rPr>
                <a:t>ol</a:t>
              </a:r>
              <a:r>
                <a:rPr lang="en-GB" sz="2000" b="1" dirty="0">
                  <a:solidFill>
                    <a:srgbClr val="0000FF"/>
                  </a:solidFill>
                  <a:latin typeface="Consolas" panose="020B0609020204030204" pitchFamily="49" charset="0"/>
                </a:rPr>
                <a:t>&gt;</a:t>
              </a:r>
              <a:r>
                <a:rPr lang="en-GB" sz="20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GB" sz="2000" b="1" dirty="0">
                  <a:solidFill>
                    <a:srgbClr val="0000FF"/>
                  </a:solidFill>
                  <a:latin typeface="Consolas" panose="020B0609020204030204" pitchFamily="49" charset="0"/>
                </a:rPr>
                <a:t>&lt;</a:t>
              </a:r>
              <a:r>
                <a:rPr lang="en-GB" sz="2000" b="1" dirty="0" err="1">
                  <a:solidFill>
                    <a:srgbClr val="800000"/>
                  </a:solidFill>
                  <a:latin typeface="Consolas" panose="020B0609020204030204" pitchFamily="49" charset="0"/>
                </a:rPr>
                <a:t>ul</a:t>
              </a:r>
              <a:r>
                <a:rPr lang="en-GB" sz="2000" b="1" dirty="0">
                  <a:solidFill>
                    <a:srgbClr val="0000FF"/>
                  </a:solidFill>
                  <a:latin typeface="Consolas" panose="020B0609020204030204" pitchFamily="49" charset="0"/>
                </a:rPr>
                <a:t>&gt;</a:t>
              </a:r>
              <a:endParaRPr lang="en-GB" sz="2400" b="1" dirty="0">
                <a:latin typeface="Calibri" panose="020F0502020204030204" pitchFamily="34" charset="0"/>
              </a:endParaRPr>
            </a:p>
            <a:p>
              <a:pPr marL="182880" marR="0">
                <a:spcBef>
                  <a:spcPts val="0"/>
                </a:spcBef>
                <a:spcAft>
                  <a:spcPts val="0"/>
                </a:spcAft>
              </a:pPr>
              <a:r>
                <a:rPr lang="en-GB" sz="2400" dirty="0">
                  <a:latin typeface="Calibri" panose="020F0502020204030204" pitchFamily="34" charset="0"/>
                </a:rPr>
                <a:t>Use the </a:t>
              </a:r>
              <a:r>
                <a:rPr lang="en-GB" sz="2400" b="1" dirty="0">
                  <a:solidFill>
                    <a:srgbClr val="C00000"/>
                  </a:solidFill>
                  <a:latin typeface="Calibri" panose="020F0502020204030204" pitchFamily="34" charset="0"/>
                </a:rPr>
                <a:t>float</a:t>
              </a:r>
              <a:r>
                <a:rPr lang="en-GB" sz="2400" dirty="0">
                  <a:latin typeface="Calibri" panose="020F0502020204030204" pitchFamily="34" charset="0"/>
                </a:rPr>
                <a:t> and </a:t>
              </a:r>
              <a:r>
                <a:rPr lang="en-GB" sz="2400" b="1" dirty="0">
                  <a:solidFill>
                    <a:srgbClr val="C00000"/>
                  </a:solidFill>
                  <a:latin typeface="Calibri" panose="020F0502020204030204" pitchFamily="34" charset="0"/>
                </a:rPr>
                <a:t>clear</a:t>
              </a:r>
              <a:r>
                <a:rPr lang="en-GB" sz="2400" dirty="0">
                  <a:latin typeface="Calibri" panose="020F0502020204030204" pitchFamily="34" charset="0"/>
                </a:rPr>
                <a:t> properties for positioning</a:t>
              </a:r>
            </a:p>
            <a:p>
              <a:pPr marL="182880" marR="0">
                <a:spcBef>
                  <a:spcPts val="0"/>
                </a:spcBef>
                <a:spcAft>
                  <a:spcPts val="0"/>
                </a:spcAft>
              </a:pPr>
              <a:endParaRPr lang="en-GB" sz="2400" dirty="0">
                <a:latin typeface="Calibri" panose="020F0502020204030204" pitchFamily="34" charset="0"/>
              </a:endParaRPr>
            </a:p>
            <a:p>
              <a:pPr marL="182880" marR="0">
                <a:spcBef>
                  <a:spcPts val="0"/>
                </a:spcBef>
                <a:spcAft>
                  <a:spcPts val="0"/>
                </a:spcAft>
              </a:pPr>
              <a:r>
                <a:rPr lang="en-GB" sz="2000" dirty="0">
                  <a:latin typeface="Calibri" panose="020F0502020204030204" pitchFamily="34" charset="0"/>
                </a:rPr>
                <a:t>See the next page for an example</a:t>
              </a:r>
              <a:endParaRPr lang="en-GB" sz="2400" dirty="0">
                <a:latin typeface="Calibri" panose="020F0502020204030204" pitchFamily="34" charset="0"/>
              </a:endParaRPr>
            </a:p>
            <a:p>
              <a:pPr marL="182880" marR="0">
                <a:spcBef>
                  <a:spcPts val="0"/>
                </a:spcBef>
                <a:spcAft>
                  <a:spcPts val="0"/>
                </a:spcAft>
              </a:pPr>
              <a:endParaRPr lang="en-GB" sz="1800" dirty="0">
                <a:effectLst/>
                <a:latin typeface="Calibri" panose="020F0502020204030204" pitchFamily="34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FF49357-6144-AD2D-D9C1-3252227E0736}"/>
                </a:ext>
              </a:extLst>
            </p:cNvPr>
            <p:cNvCxnSpPr/>
            <p:nvPr/>
          </p:nvCxnSpPr>
          <p:spPr>
            <a:xfrm>
              <a:off x="8544560" y="4460240"/>
              <a:ext cx="538480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41420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21C44D8E-D72B-2794-DBDB-259E4E542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684" y="3724175"/>
            <a:ext cx="4262127" cy="1612535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D1AFC2-162F-AF36-1363-E67CC639FF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F892D59-8F09-EF4B-AD6D-DA609442F868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98B5BD8-781B-A052-E451-45BEC3194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 and clear properties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6C3CAC-1D72-1129-FB8F-DB09FC8FA0BE}"/>
              </a:ext>
            </a:extLst>
          </p:cNvPr>
          <p:cNvSpPr txBox="1"/>
          <p:nvPr/>
        </p:nvSpPr>
        <p:spPr>
          <a:xfrm>
            <a:off x="5030272" y="1394053"/>
            <a:ext cx="5112352" cy="1815882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Float left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Float left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Float left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="free"&gt;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Style - clear: left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Float left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html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FAA6FF-0C07-7A86-19E4-B6FFCDD7ACAD}"/>
              </a:ext>
            </a:extLst>
          </p:cNvPr>
          <p:cNvSpPr txBox="1"/>
          <p:nvPr/>
        </p:nvSpPr>
        <p:spPr>
          <a:xfrm>
            <a:off x="579120" y="1394053"/>
            <a:ext cx="4328160" cy="440120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!DOCTYPE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html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html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meta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charset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="utf-8"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/&gt;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title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QA Training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title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style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200px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100px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margin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5px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text-align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center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padding-top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10px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background-</a:t>
            </a:r>
            <a:r>
              <a:rPr lang="en-GB" sz="14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aqua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float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left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}</a:t>
            </a:r>
          </a:p>
          <a:p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.free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clear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left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}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style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88EBED75-1764-E73F-89A6-87A3C2A173F9}"/>
              </a:ext>
            </a:extLst>
          </p:cNvPr>
          <p:cNvSpPr/>
          <p:nvPr/>
        </p:nvSpPr>
        <p:spPr>
          <a:xfrm>
            <a:off x="339971" y="4156402"/>
            <a:ext cx="883920" cy="491380"/>
          </a:xfrm>
          <a:prstGeom prst="wedgeRoundRectCallout">
            <a:avLst>
              <a:gd name="adj1" fmla="val 83777"/>
              <a:gd name="adj2" fmla="val -9071"/>
              <a:gd name="adj3" fmla="val 16667"/>
            </a:avLst>
          </a:prstGeom>
          <a:solidFill>
            <a:schemeClr val="accent1">
              <a:lumMod val="25000"/>
              <a:lumOff val="75000"/>
            </a:scheme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float inline</a:t>
            </a:r>
            <a:endParaRPr lang="en-GB" sz="1600" b="1" dirty="0">
              <a:solidFill>
                <a:schemeClr val="tx1"/>
              </a:solidFill>
            </a:endParaRP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58D9CE1B-DB5D-30A2-DE8F-9E2A3360E2FB}"/>
              </a:ext>
            </a:extLst>
          </p:cNvPr>
          <p:cNvSpPr/>
          <p:nvPr/>
        </p:nvSpPr>
        <p:spPr>
          <a:xfrm>
            <a:off x="3403334" y="4715810"/>
            <a:ext cx="883920" cy="491380"/>
          </a:xfrm>
          <a:prstGeom prst="wedgeRoundRectCallout">
            <a:avLst>
              <a:gd name="adj1" fmla="val -74844"/>
              <a:gd name="adj2" fmla="val 50891"/>
              <a:gd name="adj3" fmla="val 16667"/>
            </a:avLst>
          </a:prstGeom>
          <a:solidFill>
            <a:schemeClr val="accent1">
              <a:lumMod val="25000"/>
              <a:lumOff val="75000"/>
            </a:scheme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Break free!</a:t>
            </a:r>
            <a:endParaRPr lang="en-GB" sz="1600" b="1" dirty="0">
              <a:solidFill>
                <a:schemeClr val="tx1"/>
              </a:solidFill>
            </a:endParaRP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C56F6EA6-5E29-B368-266C-B9DFE9BA8783}"/>
              </a:ext>
            </a:extLst>
          </p:cNvPr>
          <p:cNvSpPr/>
          <p:nvPr/>
        </p:nvSpPr>
        <p:spPr>
          <a:xfrm>
            <a:off x="5293359" y="5038868"/>
            <a:ext cx="1605281" cy="491380"/>
          </a:xfrm>
          <a:prstGeom prst="wedgeRoundRectCallout">
            <a:avLst>
              <a:gd name="adj1" fmla="val 65386"/>
              <a:gd name="adj2" fmla="val -33883"/>
              <a:gd name="adj3" fmla="val 16667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Not stuck to the first 3 </a:t>
            </a:r>
            <a:r>
              <a:rPr lang="en-GB" sz="1200" b="1" dirty="0" err="1">
                <a:solidFill>
                  <a:schemeClr val="tx1"/>
                </a:solidFill>
              </a:rPr>
              <a:t>divs</a:t>
            </a:r>
            <a:endParaRPr lang="en-GB" sz="1600" b="1" dirty="0">
              <a:solidFill>
                <a:schemeClr val="tx1"/>
              </a:solidFill>
            </a:endParaRP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82B01FC1-1EB4-2019-FFFD-74D01382D0A6}"/>
              </a:ext>
            </a:extLst>
          </p:cNvPr>
          <p:cNvSpPr/>
          <p:nvPr/>
        </p:nvSpPr>
        <p:spPr>
          <a:xfrm>
            <a:off x="9439530" y="5303878"/>
            <a:ext cx="1605281" cy="491380"/>
          </a:xfrm>
          <a:prstGeom prst="wedgeRoundRectCallout">
            <a:avLst>
              <a:gd name="adj1" fmla="val -51070"/>
              <a:gd name="adj2" fmla="val -77304"/>
              <a:gd name="adj3" fmla="val 16667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This </a:t>
            </a:r>
            <a:r>
              <a:rPr lang="en-GB" sz="1200" b="1" dirty="0" err="1">
                <a:solidFill>
                  <a:schemeClr val="tx1"/>
                </a:solidFill>
              </a:rPr>
              <a:t>Div</a:t>
            </a:r>
            <a:r>
              <a:rPr lang="en-GB" sz="1200" b="1" dirty="0">
                <a:solidFill>
                  <a:schemeClr val="tx1"/>
                </a:solidFill>
              </a:rPr>
              <a:t> still floats inline</a:t>
            </a:r>
            <a:endParaRPr lang="en-GB" sz="16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6148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6C36F-9DD1-F786-02D1-437E22F1A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F892D59-8F09-EF4B-AD6D-DA609442F868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9ECA42E-CB2F-A4C1-2D3D-DE1FBA5B4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 and clear – more example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28EF39-71DB-AA17-D08F-9EF2AD5A4A4B}"/>
              </a:ext>
            </a:extLst>
          </p:cNvPr>
          <p:cNvSpPr txBox="1"/>
          <p:nvPr/>
        </p:nvSpPr>
        <p:spPr>
          <a:xfrm>
            <a:off x="233680" y="1470531"/>
            <a:ext cx="10932160" cy="430887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html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style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img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float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right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200px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100px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margin-left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20px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border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1px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solid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red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style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img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="team.jpg"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alt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="QA Team"&gt;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       Lorem ipsum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dolor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sit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amet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consectetur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adipiscing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elit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.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Phasellus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imperdiet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nulla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et dictum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interdum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, nisi lorem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egestas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odio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, vitae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scelerisque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enim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ligula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venenatis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dolor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. Maecenas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nisl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est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ultrices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nec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congue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eget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, auctor vitae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massa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.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Fusce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luctus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vestibulum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augue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ut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aliquet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.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Mauris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ante ligula,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facilisis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sed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ornare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eu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lobortis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in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odio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.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Praesent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convallis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urna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a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lacus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interdum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ut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hendrerit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risus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congue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. Nunc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sagittis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dictum nisi,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sed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ullamcorper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ipsum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dignissim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ac. In at libero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sed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nunc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venenatis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imperdiet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sed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ornare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turpis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. Donec vitae dui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eget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tellus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gravida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venenatis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. Integer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fringilla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congue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eros non fermentum.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Sed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dapibus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pulvinar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nibh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tempor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porta. Cras ac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leo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purus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.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Mauris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quis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diam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050" dirty="0" err="1">
                <a:solidFill>
                  <a:srgbClr val="000000"/>
                </a:solidFill>
                <a:latin typeface="Consolas" panose="020B0609020204030204" pitchFamily="49" charset="0"/>
              </a:rPr>
              <a:t>velit</a:t>
            </a:r>
            <a:r>
              <a:rPr lang="en-GB" sz="10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html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C360D6-799D-19EA-2A04-F50EAD698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5062" y="1831022"/>
            <a:ext cx="6134100" cy="15906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4D6D65D9-E23F-A886-B4C1-6551FFC146DF}"/>
              </a:ext>
            </a:extLst>
          </p:cNvPr>
          <p:cNvSpPr/>
          <p:nvPr/>
        </p:nvSpPr>
        <p:spPr>
          <a:xfrm>
            <a:off x="3606800" y="2272140"/>
            <a:ext cx="1554479" cy="745380"/>
          </a:xfrm>
          <a:prstGeom prst="wedgeRoundRectCallout">
            <a:avLst>
              <a:gd name="adj1" fmla="val -63350"/>
              <a:gd name="adj2" fmla="val 30215"/>
              <a:gd name="adj3" fmla="val 16667"/>
            </a:avLst>
          </a:prstGeom>
          <a:solidFill>
            <a:schemeClr val="accent1">
              <a:lumMod val="25000"/>
              <a:lumOff val="75000"/>
            </a:scheme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Place image on the right With text around</a:t>
            </a:r>
            <a:endParaRPr lang="en-GB" sz="16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6180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B8D072-A7DD-DEE5-37D2-2E131DCAE0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F892D59-8F09-EF4B-AD6D-DA609442F868}" type="slidenum">
              <a:rPr lang="en-GB" smtClean="0"/>
              <a:pPr/>
              <a:t>22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F1AC30-7C6A-E220-2B56-ACFE070B0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 elements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6329C6-9053-644A-FB3E-CC690A4B920F}"/>
              </a:ext>
            </a:extLst>
          </p:cNvPr>
          <p:cNvSpPr txBox="1"/>
          <p:nvPr/>
        </p:nvSpPr>
        <p:spPr>
          <a:xfrm>
            <a:off x="6678767" y="1317631"/>
            <a:ext cx="5134477" cy="116955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="box fixed-box"&gt;&lt;/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="box absolute-box"&gt;&lt;/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b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="wrapper"&gt;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="box relative-box"&gt;&lt;/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 &lt;/</a:t>
            </a:r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9B275B-2C77-3F2B-4750-52FF630ACDF8}"/>
              </a:ext>
            </a:extLst>
          </p:cNvPr>
          <p:cNvSpPr txBox="1"/>
          <p:nvPr/>
        </p:nvSpPr>
        <p:spPr>
          <a:xfrm>
            <a:off x="378756" y="1294859"/>
            <a:ext cx="3049003" cy="28931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.wrapper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position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relative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background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cyan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230px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margin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100px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sz="1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800000"/>
                </a:solidFill>
                <a:latin typeface="Consolas" panose="020B0609020204030204" pitchFamily="49" charset="0"/>
              </a:rPr>
              <a:t>.relative-box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position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relative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top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50px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left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20px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400" b="1" dirty="0">
                <a:solidFill>
                  <a:srgbClr val="FF0000"/>
                </a:solidFill>
                <a:latin typeface="Consolas" panose="020B0609020204030204" pitchFamily="49" charset="0"/>
              </a:rPr>
              <a:t>background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darkred</a:t>
            </a:r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073347-FA1A-13A9-64B2-C6BC0C107719}"/>
              </a:ext>
            </a:extLst>
          </p:cNvPr>
          <p:cNvSpPr txBox="1"/>
          <p:nvPr/>
        </p:nvSpPr>
        <p:spPr>
          <a:xfrm>
            <a:off x="3550768" y="1294860"/>
            <a:ext cx="3049003" cy="4832092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.absolute-box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position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 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absolute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top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 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50px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right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 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90px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background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 </a:t>
            </a:r>
            <a:r>
              <a:rPr kumimoji="0" lang="en-GB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darkblue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.fixed-box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position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 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fixed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top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 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20px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left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 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200px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background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 </a:t>
            </a:r>
            <a:r>
              <a:rPr kumimoji="0" lang="en-GB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darkgreen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z-index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 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.box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220px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100px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4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white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padding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5px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5" name="Oval 4">
            <a:hlinkClick r:id="rId2" action="ppaction://hlinkfile"/>
            <a:extLst>
              <a:ext uri="{FF2B5EF4-FFF2-40B4-BE49-F238E27FC236}">
                <a16:creationId xmlns:a16="http://schemas.microsoft.com/office/drawing/2014/main" id="{921B8D76-DF61-F404-57FD-967557BF2237}"/>
              </a:ext>
            </a:extLst>
          </p:cNvPr>
          <p:cNvSpPr/>
          <p:nvPr/>
        </p:nvSpPr>
        <p:spPr>
          <a:xfrm>
            <a:off x="10897330" y="5879966"/>
            <a:ext cx="718181" cy="393291"/>
          </a:xfrm>
          <a:prstGeom prst="ellipse">
            <a:avLst/>
          </a:prstGeom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800" b="1" dirty="0"/>
              <a:t>Demo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816021F-350B-FA89-3E2C-128E57609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2114" y="2898699"/>
            <a:ext cx="5148614" cy="20583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297894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15CDF92-2DE1-4668-A80B-4D54096FF7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Summary</a:t>
            </a:r>
            <a:endParaRPr lang="en-IN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EB78BA-03BA-461B-AA4E-0B0ADAD6A05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098147" y="579549"/>
            <a:ext cx="5436128" cy="5899039"/>
          </a:xfrm>
        </p:spPr>
        <p:txBody>
          <a:bodyPr anchor="ctr" anchorCtr="0"/>
          <a:lstStyle/>
          <a:p>
            <a:r>
              <a:rPr lang="en-GB" b="1" dirty="0"/>
              <a:t>In this chapter, you:</a:t>
            </a:r>
          </a:p>
          <a:p>
            <a:pPr marL="342000" lvl="1" indent="-342000">
              <a:spcAft>
                <a:spcPts val="650"/>
              </a:spcAft>
              <a:buSzPct val="115000"/>
            </a:pPr>
            <a:endParaRPr lang="en-GB" dirty="0"/>
          </a:p>
          <a:p>
            <a:pPr marL="342000" lvl="1" indent="-342000">
              <a:spcAft>
                <a:spcPts val="650"/>
              </a:spcAft>
              <a:buSzPct val="115000"/>
            </a:pPr>
            <a:r>
              <a:rPr lang="en-GB" dirty="0"/>
              <a:t>Revised the </a:t>
            </a:r>
            <a:r>
              <a:rPr lang="en-GB" b="1" dirty="0"/>
              <a:t>HTML</a:t>
            </a:r>
            <a:r>
              <a:rPr lang="en-GB" dirty="0"/>
              <a:t> you learned on the pre-learning</a:t>
            </a:r>
            <a:br>
              <a:rPr lang="en-GB" dirty="0"/>
            </a:br>
            <a:endParaRPr lang="en-GB" dirty="0"/>
          </a:p>
          <a:p>
            <a:pPr marL="342000" lvl="1" indent="-342000">
              <a:spcAft>
                <a:spcPts val="650"/>
              </a:spcAft>
              <a:buSzPct val="115000"/>
            </a:pPr>
            <a:r>
              <a:rPr lang="en-GB" dirty="0"/>
              <a:t>Revised the </a:t>
            </a:r>
            <a:r>
              <a:rPr lang="en-GB" b="1" dirty="0"/>
              <a:t>CSS </a:t>
            </a:r>
            <a:r>
              <a:rPr lang="en-GB" dirty="0"/>
              <a:t>you learned on the pre-learning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18799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3">
            <a:extLst>
              <a:ext uri="{FF2B5EF4-FFF2-40B4-BE49-F238E27FC236}">
                <a16:creationId xmlns:a16="http://schemas.microsoft.com/office/drawing/2014/main" id="{72EF77C6-3C52-5A57-1F54-4DAEE5251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</p:spPr>
        <p:txBody>
          <a:bodyPr/>
          <a:lstStyle/>
          <a:p>
            <a:r>
              <a:rPr lang="en-GB" dirty="0"/>
              <a:t>CSS – Put your code in a separate style file 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73B8A23-4827-74D9-E8BE-21DE025E0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4955354"/>
          </a:xfrm>
        </p:spPr>
        <p:txBody>
          <a:bodyPr/>
          <a:lstStyle/>
          <a:p>
            <a:pPr marL="182880" marR="0">
              <a:spcBef>
                <a:spcPts val="0"/>
              </a:spcBef>
              <a:spcAft>
                <a:spcPts val="0"/>
              </a:spcAft>
            </a:pPr>
            <a:endParaRPr lang="en-GB" sz="1800" dirty="0">
              <a:effectLst/>
              <a:latin typeface="Calibri" panose="020F0502020204030204" pitchFamily="34" charset="0"/>
            </a:endParaRPr>
          </a:p>
          <a:p>
            <a:pPr marL="182880" marR="0">
              <a:spcBef>
                <a:spcPts val="0"/>
              </a:spcBef>
              <a:spcAft>
                <a:spcPts val="0"/>
              </a:spcAft>
            </a:pPr>
            <a:endParaRPr lang="en-GB" sz="1800" dirty="0">
              <a:effectLst/>
              <a:latin typeface="Calibri" panose="020F0502020204030204" pitchFamily="34" charset="0"/>
            </a:endParaRPr>
          </a:p>
          <a:p>
            <a:pPr marL="182880" marR="0">
              <a:spcBef>
                <a:spcPts val="0"/>
              </a:spcBef>
              <a:spcAft>
                <a:spcPts val="0"/>
              </a:spcAft>
            </a:pPr>
            <a:endParaRPr lang="en-GB" sz="1800" dirty="0">
              <a:latin typeface="Calibri" panose="020F0502020204030204" pitchFamily="34" charset="0"/>
            </a:endParaRPr>
          </a:p>
          <a:p>
            <a:pPr marL="182880" marR="0">
              <a:spcBef>
                <a:spcPts val="0"/>
              </a:spcBef>
              <a:spcAft>
                <a:spcPts val="0"/>
              </a:spcAft>
            </a:pPr>
            <a:endParaRPr lang="en-GB" sz="1800" dirty="0">
              <a:effectLst/>
              <a:latin typeface="Calibri" panose="020F0502020204030204" pitchFamily="34" charset="0"/>
            </a:endParaRPr>
          </a:p>
          <a:p>
            <a:pPr marL="182880" marR="0">
              <a:spcBef>
                <a:spcPts val="0"/>
              </a:spcBef>
              <a:spcAft>
                <a:spcPts val="0"/>
              </a:spcAft>
            </a:pPr>
            <a:endParaRPr lang="en-GB" sz="1800" dirty="0">
              <a:latin typeface="Calibri" panose="020F0502020204030204" pitchFamily="34" charset="0"/>
            </a:endParaRPr>
          </a:p>
          <a:p>
            <a:pPr marL="182880" marR="0">
              <a:spcBef>
                <a:spcPts val="0"/>
              </a:spcBef>
              <a:spcAft>
                <a:spcPts val="0"/>
              </a:spcAft>
            </a:pPr>
            <a:endParaRPr lang="en-GB" sz="1800" dirty="0">
              <a:effectLst/>
              <a:latin typeface="Calibri" panose="020F0502020204030204" pitchFamily="34" charset="0"/>
            </a:endParaRPr>
          </a:p>
          <a:p>
            <a:pPr marL="182880" marR="0">
              <a:spcBef>
                <a:spcPts val="0"/>
              </a:spcBef>
              <a:spcAft>
                <a:spcPts val="0"/>
              </a:spcAft>
            </a:pPr>
            <a:endParaRPr lang="en-GB" sz="1800" dirty="0">
              <a:latin typeface="Calibri" panose="020F0502020204030204" pitchFamily="34" charset="0"/>
            </a:endParaRPr>
          </a:p>
          <a:p>
            <a:pPr marL="182880" marR="0">
              <a:spcBef>
                <a:spcPts val="0"/>
              </a:spcBef>
              <a:spcAft>
                <a:spcPts val="0"/>
              </a:spcAft>
            </a:pPr>
            <a:endParaRPr lang="en-GB" sz="1800" dirty="0">
              <a:latin typeface="Calibri" panose="020F0502020204030204" pitchFamily="34" charset="0"/>
            </a:endParaRPr>
          </a:p>
          <a:p>
            <a:pPr marL="182880" marR="0">
              <a:spcBef>
                <a:spcPts val="0"/>
              </a:spcBef>
              <a:spcAft>
                <a:spcPts val="0"/>
              </a:spcAft>
            </a:pPr>
            <a:endParaRPr lang="en-GB" sz="1800" dirty="0">
              <a:latin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5534D-2ED8-F214-E166-FE5CAE18BDEE}"/>
              </a:ext>
            </a:extLst>
          </p:cNvPr>
          <p:cNvSpPr txBox="1"/>
          <p:nvPr/>
        </p:nvSpPr>
        <p:spPr>
          <a:xfrm>
            <a:off x="629920" y="1582341"/>
            <a:ext cx="6096000" cy="32932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.</a:t>
            </a:r>
            <a:r>
              <a:rPr lang="en-GB" sz="1600" dirty="0" err="1">
                <a:solidFill>
                  <a:srgbClr val="800000"/>
                </a:solidFill>
                <a:latin typeface="Consolas" panose="020B0609020204030204" pitchFamily="49" charset="0"/>
              </a:rPr>
              <a:t>qaClass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</a:rPr>
              <a:t>background-color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lightblue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</a:rPr>
              <a:t>font-size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x-large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#qaCourse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</a:rPr>
              <a:t>background-color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yellow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h3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</a:rPr>
              <a:t>border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1px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solid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green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</a:rPr>
              <a:t>text-align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center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5110FD8-E587-62BB-D928-29F6FDA9AA0E}"/>
              </a:ext>
            </a:extLst>
          </p:cNvPr>
          <p:cNvSpPr/>
          <p:nvPr/>
        </p:nvSpPr>
        <p:spPr>
          <a:xfrm>
            <a:off x="5242560" y="1422400"/>
            <a:ext cx="1310640" cy="355600"/>
          </a:xfrm>
          <a:prstGeom prst="roundRect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qaStyle.css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5251-4C4F-C69C-55DA-5813F467166B}"/>
              </a:ext>
            </a:extLst>
          </p:cNvPr>
          <p:cNvSpPr txBox="1"/>
          <p:nvPr/>
        </p:nvSpPr>
        <p:spPr>
          <a:xfrm>
            <a:off x="5161280" y="2275344"/>
            <a:ext cx="6207760" cy="4216539"/>
          </a:xfrm>
          <a:prstGeom prst="rect">
            <a:avLst/>
          </a:prstGeom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meta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</a:rPr>
              <a:t>charset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="utf-8"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/&gt;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title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QA Training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title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link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href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="qaStyle.css"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rel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="stylesheet"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/&gt;</a:t>
            </a:r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="</a:t>
            </a:r>
            <a:r>
              <a:rPr lang="en-GB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qaClass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"&gt;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QA Training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id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="</a:t>
            </a:r>
            <a:r>
              <a:rPr lang="en-GB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qaCourse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"&gt;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Web Development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Trainer: Bob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h3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Students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h3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 err="1">
                <a:solidFill>
                  <a:srgbClr val="800000"/>
                </a:solidFill>
                <a:latin typeface="Consolas" panose="020B0609020204030204" pitchFamily="49" charset="0"/>
              </a:rPr>
              <a:t>ol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Steve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Linda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Russell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li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 err="1">
                <a:solidFill>
                  <a:srgbClr val="800000"/>
                </a:solidFill>
                <a:latin typeface="Consolas" panose="020B0609020204030204" pitchFamily="49" charset="0"/>
              </a:rPr>
              <a:t>ol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/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F3EBA3A0-562D-A7F3-00F0-CB556678DFD4}"/>
              </a:ext>
            </a:extLst>
          </p:cNvPr>
          <p:cNvSpPr/>
          <p:nvPr/>
        </p:nvSpPr>
        <p:spPr>
          <a:xfrm>
            <a:off x="10373359" y="2703385"/>
            <a:ext cx="1484429" cy="491380"/>
          </a:xfrm>
          <a:prstGeom prst="wedgeRoundRectCallout">
            <a:avLst>
              <a:gd name="adj1" fmla="val -63919"/>
              <a:gd name="adj2" fmla="val 46756"/>
              <a:gd name="adj3" fmla="val 16667"/>
            </a:avLst>
          </a:prstGeom>
          <a:solidFill>
            <a:schemeClr val="accent1">
              <a:lumMod val="25000"/>
              <a:lumOff val="75000"/>
            </a:scheme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</a:rPr>
              <a:t>Include style from a file</a:t>
            </a:r>
            <a:endParaRPr lang="en-GB" sz="16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66475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During your pre-learning, you may have used the Cloud Academy HTML/CSS editor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This has some restriction</a:t>
            </a:r>
            <a:r>
              <a:rPr lang="en-GB" dirty="0"/>
              <a:t>s</a:t>
            </a:r>
          </a:p>
          <a:p>
            <a:pPr marL="684900" lvl="1" indent="-342900">
              <a:buSzPct val="115000"/>
              <a:buFont typeface="Arial" panose="020B0604020202020204" pitchFamily="34" charset="0"/>
              <a:buChar char="•"/>
            </a:pPr>
            <a:r>
              <a:rPr lang="en-GB" dirty="0"/>
              <a:t>The biggest restrictions are that it only allows you to work on one page; and the page can only be shown as part of the editor</a:t>
            </a:r>
          </a:p>
          <a:p>
            <a:pPr lvl="1"/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In this lab, you will:</a:t>
            </a:r>
          </a:p>
          <a:p>
            <a:pPr marL="684900" lvl="1" indent="-342900">
              <a:buSzPct val="115000"/>
              <a:buFont typeface="Arial" panose="020B0604020202020204" pitchFamily="34" charset="0"/>
              <a:buChar char="•"/>
            </a:pPr>
            <a:r>
              <a:rPr lang="en-GB" dirty="0"/>
              <a:t>Learn that HTML files are simply plain text</a:t>
            </a:r>
          </a:p>
          <a:p>
            <a:pPr marL="684900" lvl="1" indent="-342900">
              <a:buSzPct val="115000"/>
              <a:buFont typeface="Arial" panose="020B0604020202020204" pitchFamily="34" charset="0"/>
              <a:buChar char="•"/>
            </a:pPr>
            <a:r>
              <a:rPr lang="en-GB" dirty="0"/>
              <a:t>Learn that using an IDE can simplify the task of writing HTML</a:t>
            </a:r>
          </a:p>
          <a:p>
            <a:pPr marL="684900" lvl="1" indent="-342900">
              <a:buSzPct val="115000"/>
              <a:buFont typeface="Arial" panose="020B0604020202020204" pitchFamily="34" charset="0"/>
              <a:buChar char="•"/>
            </a:pPr>
            <a:r>
              <a:rPr lang="en-GB" dirty="0"/>
              <a:t>Move your pre-learning into Visual Studio Code, which is an IDE that supports many languages including HTML/CSS</a:t>
            </a:r>
          </a:p>
          <a:p>
            <a:pPr marL="684000" lvl="1" indent="-342000">
              <a:buSzPct val="115000"/>
            </a:pPr>
            <a:endParaRPr lang="en-GB" dirty="0"/>
          </a:p>
          <a:p>
            <a:pPr marL="684000" lvl="1" indent="0">
              <a:buSzPct val="115000"/>
              <a:buNone/>
            </a:pPr>
            <a:r>
              <a:rPr lang="en-GB" b="1" dirty="0"/>
              <a:t>Chapter 1 - HTML and CSS Revision.docx</a:t>
            </a:r>
          </a:p>
          <a:p>
            <a:pPr marL="684000" lvl="1" indent="-342000">
              <a:buSzPct val="115000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37258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7F8AF7-06BF-3355-4259-7EFDE87172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F892D59-8F09-EF4B-AD6D-DA609442F868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CA6EF1-61F4-D547-787D-93AF80A07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Set padding, margin and display style – Another example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E92B1B-95E6-8DBD-0D2E-1587EB1AA62C}"/>
              </a:ext>
            </a:extLst>
          </p:cNvPr>
          <p:cNvSpPr txBox="1"/>
          <p:nvPr/>
        </p:nvSpPr>
        <p:spPr>
          <a:xfrm>
            <a:off x="315827" y="1225797"/>
            <a:ext cx="4833688" cy="2677656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.box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background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#f5f5f5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border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1px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solid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#ccc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margin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20px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   </a:t>
            </a:r>
            <a:r>
              <a:rPr lang="en-GB" sz="1400" dirty="0">
                <a:solidFill>
                  <a:srgbClr val="006400"/>
                </a:solidFill>
                <a:latin typeface="Consolas" panose="020B0609020204030204" pitchFamily="49" charset="0"/>
              </a:rPr>
              <a:t>/*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006400"/>
                </a:solidFill>
                <a:latin typeface="Consolas" panose="020B0609020204030204" pitchFamily="49" charset="0"/>
              </a:rPr>
              <a:t>space outside the box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006400"/>
                </a:solidFill>
                <a:latin typeface="Consolas" panose="020B0609020204030204" pitchFamily="49" charset="0"/>
              </a:rPr>
              <a:t>*/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padding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15px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  <a:r>
              <a:rPr lang="en-GB" sz="1400" dirty="0">
                <a:solidFill>
                  <a:srgbClr val="006400"/>
                </a:solidFill>
                <a:latin typeface="Consolas" panose="020B0609020204030204" pitchFamily="49" charset="0"/>
              </a:rPr>
              <a:t>/*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006400"/>
                </a:solidFill>
                <a:latin typeface="Consolas" panose="020B0609020204030204" pitchFamily="49" charset="0"/>
              </a:rPr>
              <a:t>space inside the box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006400"/>
                </a:solidFill>
                <a:latin typeface="Consolas" panose="020B0609020204030204" pitchFamily="49" charset="0"/>
              </a:rPr>
              <a:t>*/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.inline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display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inline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background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#ffe5d9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margin-right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10px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padding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5px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FB0AB5-6DAD-B344-99E4-66C27C12C44D}"/>
              </a:ext>
            </a:extLst>
          </p:cNvPr>
          <p:cNvSpPr txBox="1"/>
          <p:nvPr/>
        </p:nvSpPr>
        <p:spPr>
          <a:xfrm>
            <a:off x="5252727" y="1212340"/>
            <a:ext cx="3049061" cy="1384995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.block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display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block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background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#d1e7dd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margin-bottom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10px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padding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10px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E502EC-61F5-F214-BAD0-D4C718A1DCA3}"/>
              </a:ext>
            </a:extLst>
          </p:cNvPr>
          <p:cNvSpPr txBox="1"/>
          <p:nvPr/>
        </p:nvSpPr>
        <p:spPr>
          <a:xfrm>
            <a:off x="262355" y="3996279"/>
            <a:ext cx="7377698" cy="267765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="box"&gt;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h2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Box with margin &amp; padding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h2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p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This box has </a:t>
            </a:r>
            <a:r>
              <a:rPr lang="en-GB" sz="12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200" dirty="0">
                <a:solidFill>
                  <a:srgbClr val="800000"/>
                </a:solidFill>
                <a:latin typeface="Consolas" panose="020B0609020204030204" pitchFamily="49" charset="0"/>
              </a:rPr>
              <a:t>code</a:t>
            </a:r>
            <a:r>
              <a:rPr lang="en-GB" sz="12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200" dirty="0">
                <a:solidFill>
                  <a:srgbClr val="000000"/>
                </a:solidFill>
                <a:latin typeface="Consolas" panose="020B0609020204030204" pitchFamily="49" charset="0"/>
              </a:rPr>
              <a:t>margin: 20px</a:t>
            </a:r>
            <a:r>
              <a:rPr lang="en-GB" sz="12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200" dirty="0">
                <a:solidFill>
                  <a:srgbClr val="800000"/>
                </a:solidFill>
                <a:latin typeface="Consolas" panose="020B0609020204030204" pitchFamily="49" charset="0"/>
              </a:rPr>
              <a:t>code</a:t>
            </a:r>
            <a:r>
              <a:rPr lang="en-GB" sz="12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2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GB" sz="12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200" dirty="0">
                <a:solidFill>
                  <a:srgbClr val="800000"/>
                </a:solidFill>
                <a:latin typeface="Consolas" panose="020B0609020204030204" pitchFamily="49" charset="0"/>
              </a:rPr>
              <a:t>code</a:t>
            </a:r>
            <a:r>
              <a:rPr lang="en-GB" sz="12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200" dirty="0">
                <a:solidFill>
                  <a:srgbClr val="000000"/>
                </a:solidFill>
                <a:latin typeface="Consolas" panose="020B0609020204030204" pitchFamily="49" charset="0"/>
              </a:rPr>
              <a:t>padding: 15px</a:t>
            </a:r>
            <a:r>
              <a:rPr lang="en-GB" sz="12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200" dirty="0">
                <a:solidFill>
                  <a:srgbClr val="800000"/>
                </a:solidFill>
                <a:latin typeface="Consolas" panose="020B0609020204030204" pitchFamily="49" charset="0"/>
              </a:rPr>
              <a:t>code</a:t>
            </a:r>
            <a:r>
              <a:rPr lang="en-GB" sz="12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p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="box"&gt;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="block"&gt;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Block (takes full width)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="inline"&gt;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Inline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="inline"&gt;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Inline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span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="inline-block"&gt;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Inline-Block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="inline-block"&gt;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Inline-Block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A9A12E-93BD-65A9-DF1A-73C3E96D0F5F}"/>
              </a:ext>
            </a:extLst>
          </p:cNvPr>
          <p:cNvSpPr txBox="1"/>
          <p:nvPr/>
        </p:nvSpPr>
        <p:spPr>
          <a:xfrm>
            <a:off x="8466184" y="1225797"/>
            <a:ext cx="3259256" cy="2031325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800000"/>
                </a:solidFill>
                <a:latin typeface="Consolas" panose="020B0609020204030204" pitchFamily="49" charset="0"/>
              </a:rPr>
              <a:t>.inline-block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display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inline-block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background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#cfe2f3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100px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50px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margin-right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10px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padding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8px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</a:rPr>
              <a:t>vertical-align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400" dirty="0">
                <a:solidFill>
                  <a:srgbClr val="0000FF"/>
                </a:solidFill>
                <a:latin typeface="Consolas" panose="020B0609020204030204" pitchFamily="49" charset="0"/>
              </a:rPr>
              <a:t>top</a:t>
            </a:r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58C099D-F5CC-9E34-2B0E-26B51F9F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419" y="3545568"/>
            <a:ext cx="4078370" cy="30221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Oval 4">
            <a:hlinkClick r:id="rId3" action="ppaction://hlinkfile"/>
            <a:extLst>
              <a:ext uri="{FF2B5EF4-FFF2-40B4-BE49-F238E27FC236}">
                <a16:creationId xmlns:a16="http://schemas.microsoft.com/office/drawing/2014/main" id="{4AF62FF1-2ED7-FADD-CD0F-5F81EF1FD8FA}"/>
              </a:ext>
            </a:extLst>
          </p:cNvPr>
          <p:cNvSpPr/>
          <p:nvPr/>
        </p:nvSpPr>
        <p:spPr>
          <a:xfrm>
            <a:off x="6089668" y="3257122"/>
            <a:ext cx="718181" cy="393291"/>
          </a:xfrm>
          <a:prstGeom prst="ellipse">
            <a:avLst/>
          </a:prstGeom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800" b="1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9349012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861ba5a240904b86632099fc56e12dead204a13"/>
</p:tagLst>
</file>

<file path=ppt/theme/theme1.xml><?xml version="1.0" encoding="utf-8"?>
<a:theme xmlns:a="http://schemas.openxmlformats.org/drawingml/2006/main" name="Master">
  <a:themeElements>
    <a:clrScheme name="QA Branding Custom Colour Set">
      <a:dk1>
        <a:srgbClr val="004050"/>
      </a:dk1>
      <a:lt1>
        <a:srgbClr val="FFFFFF"/>
      </a:lt1>
      <a:dk2>
        <a:srgbClr val="00EDB5"/>
      </a:dk2>
      <a:lt2>
        <a:srgbClr val="FFFFFF"/>
      </a:lt2>
      <a:accent1>
        <a:srgbClr val="004050"/>
      </a:accent1>
      <a:accent2>
        <a:srgbClr val="00EDB5"/>
      </a:accent2>
      <a:accent3>
        <a:srgbClr val="7F007D"/>
      </a:accent3>
      <a:accent4>
        <a:srgbClr val="FF004C"/>
      </a:accent4>
      <a:accent5>
        <a:srgbClr val="F8D237"/>
      </a:accent5>
      <a:accent6>
        <a:srgbClr val="F3612C"/>
      </a:accent6>
      <a:hlink>
        <a:srgbClr val="004050"/>
      </a:hlink>
      <a:folHlink>
        <a:srgbClr val="00EDB5"/>
      </a:folHlink>
    </a:clrScheme>
    <a:fontScheme name="QA Brand Fonts 2019">
      <a:majorFont>
        <a:latin typeface="Krana Fat B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 anchor="t" anchorCtr="0">
        <a:normAutofit/>
      </a:bodyPr>
      <a:lstStyle>
        <a:defPPr algn="l">
          <a:defRPr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rainer Slidedeck Template DRAFT v0.1" id="{7AC1CA74-4441-42CA-9897-72DF6ED83A1A}" vid="{6017FA94-E546-4DB4-BF25-6AABB84AA0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ookTypeField0 xmlns="B42EA499-AA80-4ED5-9ED5-37A17D3EB549">
      <Terms xmlns="http://schemas.microsoft.com/office/infopath/2007/PartnerControls">
        <TermInfo xmlns="http://schemas.microsoft.com/office/infopath/2007/PartnerControls">
          <TermName xmlns="http://schemas.microsoft.com/office/infopath/2007/PartnerControls">IK</TermName>
          <TermId xmlns="http://schemas.microsoft.com/office/infopath/2007/PartnerControls">5abe6401-e87a-4499-80b4-3d21a1a6ebd7</TermId>
        </TermInfo>
      </Terms>
    </BookTypeField0>
    <IsBuildFile xmlns="B42EA499-AA80-4ED5-9ED5-37A17D3EB549" xsi:nil="true"/>
    <SequenceNumber xmlns="B42EA499-AA80-4ED5-9ED5-37A17D3EB549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Courseware" ma:contentTypeID="0x010100F0967B7CEE8D417F966757887D9466FB005CB7CECC996A5B448C70C3215DE65491" ma:contentTypeVersion="0" ma:contentTypeDescription="Base content type which represents courseware documents" ma:contentTypeScope="" ma:versionID="633ed7bf8a9769dc10b8af609c2e65e8">
  <xsd:schema xmlns:xsd="http://www.w3.org/2001/XMLSchema" xmlns:xs="http://www.w3.org/2001/XMLSchema" xmlns:p="http://schemas.microsoft.com/office/2006/metadata/properties" xmlns:ns2="B42EA499-AA80-4ED5-9ED5-37A17D3EB549" targetNamespace="http://schemas.microsoft.com/office/2006/metadata/properties" ma:root="true" ma:fieldsID="6641bdc0935a9ffdc34b1682c1e0febc" ns2:_="">
    <xsd:import namespace="B42EA499-AA80-4ED5-9ED5-37A17D3EB549"/>
    <xsd:element name="properties">
      <xsd:complexType>
        <xsd:sequence>
          <xsd:element name="documentManagement">
            <xsd:complexType>
              <xsd:all>
                <xsd:element ref="ns2:BookTypeField0" minOccurs="0"/>
                <xsd:element ref="ns2:SequenceNumber" minOccurs="0"/>
                <xsd:element ref="ns2:IsBuildFil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2EA499-AA80-4ED5-9ED5-37A17D3EB549" elementFormDefault="qualified">
    <xsd:import namespace="http://schemas.microsoft.com/office/2006/documentManagement/types"/>
    <xsd:import namespace="http://schemas.microsoft.com/office/infopath/2007/PartnerControls"/>
    <xsd:element name="BookTypeField0" ma:index="9" nillable="true" ma:taxonomy="true" ma:internalName="BookTypeField0" ma:taxonomyFieldName="BookType" ma:displayName="Book Type" ma:fieldId="{e7c6b654-e04e-4e45-9cfd-676dbef3a3c6}" ma:sspId="63102202-80dd-4165-b1ca-d09cf2756dc1" ma:termSetId="3300959e-7346-4208-831a-90b552f1677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equenceNumber" ma:index="10" nillable="true" ma:displayName="Sequence Number" ma:decimals="0" ma:internalName="SequenceNumber">
      <xsd:simpleType>
        <xsd:restriction base="dms:Number"/>
      </xsd:simpleType>
    </xsd:element>
    <xsd:element name="IsBuildFile" ma:index="11" nillable="true" ma:displayName="Is Build File" ma:hidden="true" ma:internalName="IsBuildFil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6C9D03F-9495-4B67-824A-62063EE68A9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1EC94F4-4A12-4CBE-88D0-D83683647547}">
  <ds:schemaRefs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purl.org/dc/dcmitype/"/>
    <ds:schemaRef ds:uri="B42EA499-AA80-4ED5-9ED5-37A17D3EB549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220B072D-41B9-49A6-AB49-C984E780EE7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42EA499-AA80-4ED5-9ED5-37A17D3EB54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3274</Words>
  <Application>Microsoft Office PowerPoint</Application>
  <PresentationFormat>Widescreen</PresentationFormat>
  <Paragraphs>595</Paragraphs>
  <Slides>26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Arial</vt:lpstr>
      <vt:lpstr>Calibri</vt:lpstr>
      <vt:lpstr>Consolas</vt:lpstr>
      <vt:lpstr>Krana Fat B</vt:lpstr>
      <vt:lpstr>Lato</vt:lpstr>
      <vt:lpstr>Montserrat</vt:lpstr>
      <vt:lpstr>Verdana</vt:lpstr>
      <vt:lpstr>Master</vt:lpstr>
      <vt:lpstr>Web Fundamentals </vt:lpstr>
      <vt:lpstr>HTML and CSS Revision</vt:lpstr>
      <vt:lpstr>PowerPoint Presentation</vt:lpstr>
      <vt:lpstr>HTML Tags</vt:lpstr>
      <vt:lpstr>HTML5 page  (Hypertext Markup Language)</vt:lpstr>
      <vt:lpstr>Revision: Tags for displaying data</vt:lpstr>
      <vt:lpstr>Basic formatting</vt:lpstr>
      <vt:lpstr>Displaying images – Using relative and absolute path </vt:lpstr>
      <vt:lpstr>Hyperlink</vt:lpstr>
      <vt:lpstr>Lists</vt:lpstr>
      <vt:lpstr>Table – For displaying data and basic positioning</vt:lpstr>
      <vt:lpstr>Controls for inputting and selecting data</vt:lpstr>
      <vt:lpstr>PowerPoint Presentation</vt:lpstr>
      <vt:lpstr>CSS Selectors – A few examples</vt:lpstr>
      <vt:lpstr>CSS Selectors – A few examples</vt:lpstr>
      <vt:lpstr>Change font colour, size, style and background colour</vt:lpstr>
      <vt:lpstr>margin and padding properties</vt:lpstr>
      <vt:lpstr>Text, font CSS properties</vt:lpstr>
      <vt:lpstr>CSS - positioning elements</vt:lpstr>
      <vt:lpstr>Float and clear properties</vt:lpstr>
      <vt:lpstr>Float and clear – more example</vt:lpstr>
      <vt:lpstr>Position elements</vt:lpstr>
      <vt:lpstr>PowerPoint Presentation</vt:lpstr>
      <vt:lpstr>CSS – Put your code in a separate style file </vt:lpstr>
      <vt:lpstr>Lab</vt:lpstr>
      <vt:lpstr>Set padding, margin and display style – Another example  </vt:lpstr>
    </vt:vector>
  </TitlesOfParts>
  <Manager/>
  <Company>QA Ltd</Company>
  <LinksUpToDate>false</LinksUpToDate>
  <SharedDoc>false</SharedDoc>
  <HyperlinkBase>http://localhost:5055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Singh, Vaishali</dc:creator>
  <cp:keywords/>
  <dc:description/>
  <cp:lastModifiedBy>mike baradaran</cp:lastModifiedBy>
  <cp:revision>169</cp:revision>
  <cp:lastPrinted>2019-07-03T09:46:41Z</cp:lastPrinted>
  <dcterms:created xsi:type="dcterms:W3CDTF">2019-09-05T08:17:12Z</dcterms:created>
  <dcterms:modified xsi:type="dcterms:W3CDTF">2026-05-18T13:43:40Z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0x010100F0967B7CEE8D417F966757887D9466FB005CB7CECC996A5B448C70C3215DE65491</vt:lpwstr>
  </property>
  <property fmtid="{D5CDD505-2E9C-101B-9397-08002B2CF9AE}" pid="3" name="BookType">
    <vt:lpwstr>4</vt:lpwstr>
  </property>
</Properties>
</file>