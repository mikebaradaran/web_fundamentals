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610" r:id="rId5"/>
    <p:sldId id="611" r:id="rId6"/>
    <p:sldId id="612" r:id="rId7"/>
    <p:sldId id="606" r:id="rId8"/>
    <p:sldId id="854" r:id="rId9"/>
    <p:sldId id="855" r:id="rId10"/>
    <p:sldId id="892" r:id="rId11"/>
    <p:sldId id="607" r:id="rId12"/>
    <p:sldId id="608" r:id="rId13"/>
    <p:sldId id="893" r:id="rId14"/>
    <p:sldId id="604" r:id="rId15"/>
    <p:sldId id="605" r:id="rId16"/>
  </p:sldIdLst>
  <p:sldSz cx="12192000" cy="6858000"/>
  <p:notesSz cx="6645275" cy="9775825"/>
  <p:custDataLst>
    <p:tags r:id="rId1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37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79">
          <p15:clr>
            <a:srgbClr val="A4A3A4"/>
          </p15:clr>
        </p15:guide>
        <p15:guide id="2" pos="2093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arrow, Joshua" initials="BJ" lastIdx="30" clrIdx="0">
    <p:extLst>
      <p:ext uri="{19B8F6BF-5375-455C-9EA6-DF929625EA0E}">
        <p15:presenceInfo xmlns:p15="http://schemas.microsoft.com/office/powerpoint/2012/main" userId="S-1-5-21-3476036342-1731177862-1559577602-51474" providerId="AD"/>
      </p:ext>
    </p:extLst>
  </p:cmAuthor>
  <p:cmAuthor id="2" name="Singh, Vaishali" initials="SV" lastIdx="7" clrIdx="1">
    <p:extLst>
      <p:ext uri="{19B8F6BF-5375-455C-9EA6-DF929625EA0E}">
        <p15:presenceInfo xmlns:p15="http://schemas.microsoft.com/office/powerpoint/2012/main" userId="S-1-5-21-3476036342-1731177862-1559577602-1552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622C"/>
    <a:srgbClr val="09EDB8"/>
    <a:srgbClr val="004050"/>
    <a:srgbClr val="F91258"/>
    <a:srgbClr val="7E007C"/>
    <a:srgbClr val="28CFF9"/>
    <a:srgbClr val="31D3AE"/>
    <a:srgbClr val="F3F3F3"/>
    <a:srgbClr val="F4F4F4"/>
    <a:srgbClr val="3D6E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34" autoAdjust="0"/>
    <p:restoredTop sz="92750" autoAdjust="0"/>
  </p:normalViewPr>
  <p:slideViewPr>
    <p:cSldViewPr snapToGrid="0" snapToObjects="1" showGuides="1">
      <p:cViewPr varScale="1">
        <p:scale>
          <a:sx n="59" d="100"/>
          <a:sy n="59" d="100"/>
        </p:scale>
        <p:origin x="1234" y="58"/>
      </p:cViewPr>
      <p:guideLst>
        <p:guide pos="3840"/>
        <p:guide orient="horz" pos="377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 showGuides="1">
      <p:cViewPr varScale="1">
        <p:scale>
          <a:sx n="91" d="100"/>
          <a:sy n="91" d="100"/>
        </p:scale>
        <p:origin x="-3804" y="-108"/>
      </p:cViewPr>
      <p:guideLst>
        <p:guide orient="horz" pos="3079"/>
        <p:guide pos="2093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879725" cy="4905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763964" y="1"/>
            <a:ext cx="2879725" cy="4905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D088FE-3E68-47FE-8BA4-634CD34BABBC}" type="datetimeFigureOut">
              <a:rPr lang="en-GB" smtClean="0"/>
              <a:pPr/>
              <a:t>08/09/2022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285289"/>
            <a:ext cx="2879725" cy="49053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763964" y="9285289"/>
            <a:ext cx="2879725" cy="49053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B31C5D-0DE0-4486-9782-41885BE5816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308254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79619" cy="4904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64119" y="0"/>
            <a:ext cx="2879619" cy="4904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1D6B66C6-1E92-0F4E-A300-9D4ED1F0C23F}" type="datetimeFigureOut">
              <a:rPr lang="en-GB" smtClean="0"/>
              <a:pPr/>
              <a:t>08/09/2022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8938" y="1220788"/>
            <a:ext cx="5867400" cy="33004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4528" y="4704617"/>
            <a:ext cx="5316220" cy="384923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285339"/>
            <a:ext cx="2879619" cy="4904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64119" y="9285339"/>
            <a:ext cx="2879619" cy="4904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548901C6-1DA1-FB44-ABEE-06A0FEB7738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767479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83106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0810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22470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80350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71500" y="581025"/>
            <a:ext cx="5715000" cy="3216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en-GB" dirty="0"/>
              <a:t>CONTINUED </a:t>
            </a:r>
            <a:fld id="{993982D2-741D-4BC6-8F8E-84F7C8891268}" type="slidenum">
              <a:rPr smtClean="0"/>
              <a:pPr>
                <a:defRPr/>
              </a:pPr>
              <a:t>5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815882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71500" y="581025"/>
            <a:ext cx="5715000" cy="3216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CONTINUED </a:t>
            </a:r>
            <a:fld id="{993982D2-741D-4BC6-8F8E-84F7C8891268}" type="slidenum">
              <a:rPr smtClean="0"/>
              <a:pPr>
                <a:defRPr/>
              </a:pPr>
              <a:t>6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283999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71500" y="581025"/>
            <a:ext cx="5715000" cy="3216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CONTINUED </a:t>
            </a:r>
            <a:fld id="{993982D2-741D-4BC6-8F8E-84F7C8891268}" type="slidenum">
              <a:rPr smtClean="0"/>
              <a:pPr>
                <a:defRPr/>
              </a:pPr>
              <a:t>7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996702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14081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65383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55975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10185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0247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&amp;A/what's next">
    <p:bg>
      <p:bgPr>
        <a:solidFill>
          <a:srgbClr val="EDCD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35880" y="0"/>
            <a:ext cx="7056120" cy="685800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2212809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llow us">
    <p:bg>
      <p:bgPr>
        <a:solidFill>
          <a:srgbClr val="28C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75020" y="0"/>
            <a:ext cx="6316980" cy="685800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9864344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ction Tips">
    <p:bg>
      <p:bgPr>
        <a:solidFill>
          <a:srgbClr val="EB62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54240" y="0"/>
            <a:ext cx="4937760" cy="685800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198876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">
    <p:bg>
      <p:bgPr>
        <a:solidFill>
          <a:srgbClr val="09ED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44640" y="15240"/>
            <a:ext cx="5547360" cy="684276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8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16" name="Group 15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6561057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ousekeep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>
            <a:extLst>
              <a:ext uri="{FF2B5EF4-FFF2-40B4-BE49-F238E27FC236}">
                <a16:creationId xmlns:a16="http://schemas.microsoft.com/office/drawing/2014/main" id="{3344A4B7-0EC8-AD4A-8611-5B12AB419DC2}"/>
              </a:ext>
            </a:extLst>
          </p:cNvPr>
          <p:cNvSpPr/>
          <p:nvPr userDrawn="1"/>
        </p:nvSpPr>
        <p:spPr>
          <a:xfrm>
            <a:off x="0" y="0"/>
            <a:ext cx="11808125" cy="4657785"/>
          </a:xfrm>
          <a:custGeom>
            <a:avLst/>
            <a:gdLst/>
            <a:ahLst/>
            <a:cxnLst/>
            <a:rect l="l" t="t" r="r" b="b"/>
            <a:pathLst>
              <a:path w="15645765" h="6171565">
                <a:moveTo>
                  <a:pt x="12954792" y="0"/>
                </a:moveTo>
                <a:lnTo>
                  <a:pt x="9989330" y="0"/>
                </a:lnTo>
                <a:lnTo>
                  <a:pt x="11612737" y="1621505"/>
                </a:lnTo>
                <a:lnTo>
                  <a:pt x="11603898" y="1638231"/>
                </a:lnTo>
                <a:lnTo>
                  <a:pt x="0" y="1638231"/>
                </a:lnTo>
                <a:lnTo>
                  <a:pt x="0" y="3701600"/>
                </a:lnTo>
                <a:lnTo>
                  <a:pt x="11623393" y="3701600"/>
                </a:lnTo>
                <a:lnTo>
                  <a:pt x="9157358" y="6164994"/>
                </a:lnTo>
                <a:lnTo>
                  <a:pt x="9229199" y="6169201"/>
                </a:lnTo>
                <a:lnTo>
                  <a:pt x="9246778" y="6169604"/>
                </a:lnTo>
                <a:lnTo>
                  <a:pt x="12044487" y="6171255"/>
                </a:lnTo>
                <a:lnTo>
                  <a:pt x="12085365" y="6167625"/>
                </a:lnTo>
                <a:lnTo>
                  <a:pt x="12120998" y="6156469"/>
                </a:lnTo>
                <a:lnTo>
                  <a:pt x="12153240" y="6137640"/>
                </a:lnTo>
                <a:lnTo>
                  <a:pt x="12183945" y="6110993"/>
                </a:lnTo>
                <a:lnTo>
                  <a:pt x="15546143" y="2748262"/>
                </a:lnTo>
                <a:lnTo>
                  <a:pt x="15566761" y="2730440"/>
                </a:lnTo>
                <a:lnTo>
                  <a:pt x="15590311" y="2713899"/>
                </a:lnTo>
                <a:lnTo>
                  <a:pt x="15616627" y="2696820"/>
                </a:lnTo>
                <a:lnTo>
                  <a:pt x="15645546" y="2677383"/>
                </a:lnTo>
                <a:lnTo>
                  <a:pt x="15617183" y="2654144"/>
                </a:lnTo>
                <a:lnTo>
                  <a:pt x="15594873" y="2636172"/>
                </a:lnTo>
                <a:lnTo>
                  <a:pt x="15577002" y="2621305"/>
                </a:lnTo>
                <a:lnTo>
                  <a:pt x="15561955" y="2607381"/>
                </a:lnTo>
                <a:lnTo>
                  <a:pt x="12954792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 sz="1029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4" y="3433680"/>
            <a:ext cx="5627171" cy="968987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Housekeeping</a:t>
            </a:r>
            <a:endParaRPr lang="en-GB" noProof="0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4784" y="4894524"/>
            <a:ext cx="5627171" cy="1186921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Char char="•"/>
              <a:tabLst/>
              <a:defRPr sz="2000" b="0">
                <a:solidFill>
                  <a:schemeClr val="bg1"/>
                </a:solidFill>
              </a:defRPr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</p:spTree>
    <p:extLst>
      <p:ext uri="{BB962C8B-B14F-4D97-AF65-F5344CB8AC3E}">
        <p14:creationId xmlns:p14="http://schemas.microsoft.com/office/powerpoint/2010/main" val="4276879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eet &amp; Greet 1">
    <p:bg>
      <p:bgPr>
        <a:solidFill>
          <a:srgbClr val="38E2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08881" y="-11575"/>
            <a:ext cx="8079261" cy="6875362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5" y="1706477"/>
            <a:ext cx="5002556" cy="808123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360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Meet &amp; Greet</a:t>
            </a:r>
            <a:endParaRPr lang="en-GB" noProof="0" dirty="0"/>
          </a:p>
        </p:txBody>
      </p:sp>
      <p:sp>
        <p:nvSpPr>
          <p:cNvPr id="1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2915404"/>
            <a:ext cx="4278655" cy="34015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4045959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03 Section Divi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9" y="1556247"/>
            <a:ext cx="581025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3600" spc="60" baseline="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CLICK TO EDIT </a:t>
            </a:r>
            <a:br>
              <a:rPr lang="en-US" noProof="0" dirty="0"/>
            </a:br>
            <a:r>
              <a:rPr lang="en-US" noProof="0" dirty="0"/>
              <a:t>MASTER TITLE STYLE</a:t>
            </a:r>
            <a:endParaRPr lang="en-GB" noProof="0" dirty="0"/>
          </a:p>
        </p:txBody>
      </p:sp>
      <p:grpSp>
        <p:nvGrpSpPr>
          <p:cNvPr id="27" name="Group 26"/>
          <p:cNvGrpSpPr/>
          <p:nvPr userDrawn="1"/>
        </p:nvGrpSpPr>
        <p:grpSpPr>
          <a:xfrm>
            <a:off x="-2229" y="2361812"/>
            <a:ext cx="11067619" cy="4502135"/>
            <a:chOff x="-2229" y="2361812"/>
            <a:chExt cx="11067619" cy="4502135"/>
          </a:xfrm>
          <a:solidFill>
            <a:srgbClr val="004050"/>
          </a:solidFill>
        </p:grpSpPr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2229" y="49513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002921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7" y="1349984"/>
            <a:ext cx="6770688" cy="5119407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lnSpc>
                <a:spcPct val="100000"/>
              </a:lnSpc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 sz="2000"/>
            </a:lvl4pPr>
            <a:lvl5pPr marL="180000" indent="-180000"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DF3D0604-3EEB-7547-A86F-8B3EFC40A3EC}"/>
              </a:ext>
            </a:extLst>
          </p:cNvPr>
          <p:cNvSpPr/>
          <p:nvPr userDrawn="1"/>
        </p:nvSpPr>
        <p:spPr>
          <a:xfrm>
            <a:off x="384784" y="4504759"/>
            <a:ext cx="4321328" cy="1964632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rgbClr val="09EDB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rgbClr val="09EDB8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</p:spTree>
    <p:extLst>
      <p:ext uri="{BB962C8B-B14F-4D97-AF65-F5344CB8AC3E}">
        <p14:creationId xmlns:p14="http://schemas.microsoft.com/office/powerpoint/2010/main" val="35899453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9" name="Group 18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  <a:solidFill>
            <a:srgbClr val="09EDB8"/>
          </a:solidFill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3703584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00EDB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21148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ctivity 1">
    <p:bg>
      <p:bgPr>
        <a:solidFill>
          <a:srgbClr val="0EEE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rgbClr val="004050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68870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01 Section Divi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-609" y="0"/>
            <a:ext cx="12192609" cy="685800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3344A4B7-0EC8-AD4A-8611-5B12AB419DC2}"/>
              </a:ext>
            </a:extLst>
          </p:cNvPr>
          <p:cNvSpPr/>
          <p:nvPr userDrawn="1"/>
        </p:nvSpPr>
        <p:spPr>
          <a:xfrm>
            <a:off x="0" y="0"/>
            <a:ext cx="11808125" cy="4657785"/>
          </a:xfrm>
          <a:custGeom>
            <a:avLst/>
            <a:gdLst/>
            <a:ahLst/>
            <a:cxnLst/>
            <a:rect l="l" t="t" r="r" b="b"/>
            <a:pathLst>
              <a:path w="15645765" h="6171565">
                <a:moveTo>
                  <a:pt x="12954792" y="0"/>
                </a:moveTo>
                <a:lnTo>
                  <a:pt x="9989330" y="0"/>
                </a:lnTo>
                <a:lnTo>
                  <a:pt x="11612737" y="1621505"/>
                </a:lnTo>
                <a:lnTo>
                  <a:pt x="11603898" y="1638231"/>
                </a:lnTo>
                <a:lnTo>
                  <a:pt x="0" y="1638231"/>
                </a:lnTo>
                <a:lnTo>
                  <a:pt x="0" y="3701600"/>
                </a:lnTo>
                <a:lnTo>
                  <a:pt x="11623393" y="3701600"/>
                </a:lnTo>
                <a:lnTo>
                  <a:pt x="9157358" y="6164994"/>
                </a:lnTo>
                <a:lnTo>
                  <a:pt x="9229199" y="6169201"/>
                </a:lnTo>
                <a:lnTo>
                  <a:pt x="9246778" y="6169604"/>
                </a:lnTo>
                <a:lnTo>
                  <a:pt x="12044487" y="6171255"/>
                </a:lnTo>
                <a:lnTo>
                  <a:pt x="12085365" y="6167625"/>
                </a:lnTo>
                <a:lnTo>
                  <a:pt x="12120998" y="6156469"/>
                </a:lnTo>
                <a:lnTo>
                  <a:pt x="12153240" y="6137640"/>
                </a:lnTo>
                <a:lnTo>
                  <a:pt x="12183945" y="6110993"/>
                </a:lnTo>
                <a:lnTo>
                  <a:pt x="15546143" y="2748262"/>
                </a:lnTo>
                <a:lnTo>
                  <a:pt x="15566761" y="2730440"/>
                </a:lnTo>
                <a:lnTo>
                  <a:pt x="15590311" y="2713899"/>
                </a:lnTo>
                <a:lnTo>
                  <a:pt x="15616627" y="2696820"/>
                </a:lnTo>
                <a:lnTo>
                  <a:pt x="15645546" y="2677383"/>
                </a:lnTo>
                <a:lnTo>
                  <a:pt x="15617183" y="2654144"/>
                </a:lnTo>
                <a:lnTo>
                  <a:pt x="15594873" y="2636172"/>
                </a:lnTo>
                <a:lnTo>
                  <a:pt x="15577002" y="2621305"/>
                </a:lnTo>
                <a:lnTo>
                  <a:pt x="15561955" y="2607381"/>
                </a:lnTo>
                <a:lnTo>
                  <a:pt x="12954792" y="0"/>
                </a:lnTo>
                <a:close/>
              </a:path>
            </a:pathLst>
          </a:custGeom>
          <a:solidFill>
            <a:srgbClr val="004050"/>
          </a:solidFill>
        </p:spPr>
        <p:txBody>
          <a:bodyPr wrap="square" lIns="0" tIns="0" rIns="0" bIns="0" rtlCol="0"/>
          <a:lstStyle/>
          <a:p>
            <a:endParaRPr sz="1029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8" y="2779800"/>
            <a:ext cx="5627171" cy="1682133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3600" spc="60" baseline="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405" y="399619"/>
            <a:ext cx="857393" cy="522401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>
          <a:xfrm>
            <a:off x="758190" y="769620"/>
            <a:ext cx="379608" cy="11049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61448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35B5D0DF-4895-DB4F-85D9-C3FFDE55B8C8}"/>
              </a:ext>
            </a:extLst>
          </p:cNvPr>
          <p:cNvSpPr/>
          <p:nvPr userDrawn="1"/>
        </p:nvSpPr>
        <p:spPr>
          <a:xfrm>
            <a:off x="384784" y="4708688"/>
            <a:ext cx="4136901" cy="1728688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rgbClr val="00405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8870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ext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8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grpSp>
        <p:nvGrpSpPr>
          <p:cNvPr id="21" name="Group 20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  <a:solidFill>
            <a:srgbClr val="28CFF9"/>
          </a:solidFill>
        </p:grpSpPr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822106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28CFF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47252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ctivity 1">
    <p:bg>
      <p:bgPr>
        <a:solidFill>
          <a:srgbClr val="28C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rgbClr val="004050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19289476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03 Section Divider">
    <p:bg>
      <p:bgPr>
        <a:solidFill>
          <a:srgbClr val="F362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760859" y="768561"/>
            <a:ext cx="379608" cy="110490"/>
          </a:xfrm>
          <a:prstGeom prst="rect">
            <a:avLst/>
          </a:prstGeom>
          <a:solidFill>
            <a:srgbClr val="F362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376239" y="1556247"/>
            <a:ext cx="581025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3600" spc="6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EDIT </a:t>
            </a:r>
            <a:br>
              <a:rPr lang="en-US" noProof="0" dirty="0"/>
            </a:br>
            <a:r>
              <a:rPr lang="en-US" noProof="0" dirty="0"/>
              <a:t>MASTER TITLE STYLE</a:t>
            </a:r>
            <a:endParaRPr lang="en-GB" noProof="0" dirty="0"/>
          </a:p>
        </p:txBody>
      </p:sp>
      <p:grpSp>
        <p:nvGrpSpPr>
          <p:cNvPr id="6" name="Group 5"/>
          <p:cNvGrpSpPr/>
          <p:nvPr userDrawn="1"/>
        </p:nvGrpSpPr>
        <p:grpSpPr>
          <a:xfrm>
            <a:off x="-2229" y="2361812"/>
            <a:ext cx="11067619" cy="4502135"/>
            <a:chOff x="-2229" y="2361812"/>
            <a:chExt cx="11067619" cy="4502135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513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2235614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F362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chemeClr val="bg1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-1717" y="4568506"/>
            <a:ext cx="4628886" cy="1406446"/>
            <a:chOff x="-1717" y="4568506"/>
            <a:chExt cx="4628886" cy="1406446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717" y="4568506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3713028" y="4568727"/>
              <a:ext cx="914141" cy="1401463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717" y="5379567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998918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ext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grpSp>
        <p:nvGrpSpPr>
          <p:cNvPr id="28" name="Group 27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</p:grpSpPr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3622C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solidFill>
              <a:srgbClr val="F3622C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3622C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4161484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F1612C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08657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Activity 1">
    <p:bg>
      <p:bgPr>
        <a:solidFill>
          <a:srgbClr val="F362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rgbClr val="004050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19377112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02 Section Divider">
    <p:bg>
      <p:bgPr>
        <a:solidFill>
          <a:srgbClr val="7E00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A0DD6AED-2202-DD48-A2D6-60CCC5F07320}"/>
              </a:ext>
            </a:extLst>
          </p:cNvPr>
          <p:cNvSpPr/>
          <p:nvPr userDrawn="1"/>
        </p:nvSpPr>
        <p:spPr>
          <a:xfrm>
            <a:off x="-609" y="2116538"/>
            <a:ext cx="11411496" cy="5526322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rgbClr val="F9125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8" y="2067007"/>
            <a:ext cx="5627171" cy="2353439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3600" spc="6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996745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7E00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chemeClr val="bg1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grpSp>
        <p:nvGrpSpPr>
          <p:cNvPr id="33" name="Group 32"/>
          <p:cNvGrpSpPr/>
          <p:nvPr userDrawn="1"/>
        </p:nvGrpSpPr>
        <p:grpSpPr>
          <a:xfrm>
            <a:off x="-1717" y="4568506"/>
            <a:ext cx="4628886" cy="1406446"/>
            <a:chOff x="-1717" y="4568506"/>
            <a:chExt cx="4628886" cy="1406446"/>
          </a:xfrm>
          <a:solidFill>
            <a:srgbClr val="F91258"/>
          </a:solidFill>
        </p:grpSpPr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717" y="4568506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3713028" y="4568727"/>
              <a:ext cx="914141" cy="1401463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717" y="5379567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345788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ext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  <a:solidFill>
            <a:srgbClr val="7E007C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5961484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7E007C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4640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Activity 1">
    <p:bg>
      <p:bgPr>
        <a:solidFill>
          <a:srgbClr val="7E00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bg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chemeClr val="bg1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31756808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623AAC1-38C0-EC41-AF66-7EC76ACCB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272" y="1368256"/>
            <a:ext cx="11516239" cy="495535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12588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3940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154460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con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1059427" y="3673998"/>
            <a:ext cx="2124159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0" indent="0">
              <a:buFont typeface="Arial" panose="020B0604020202020204" pitchFamily="34" charset="0"/>
              <a:buNone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3639645" y="3673998"/>
            <a:ext cx="2068065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6149996" y="3673998"/>
            <a:ext cx="2130523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7" name="Picture Placeholder 21"/>
          <p:cNvSpPr>
            <a:spLocks noGrp="1"/>
          </p:cNvSpPr>
          <p:nvPr>
            <p:ph type="pic" sz="quarter" idx="18" hasCustomPrompt="1"/>
          </p:nvPr>
        </p:nvSpPr>
        <p:spPr>
          <a:xfrm>
            <a:off x="1059428" y="1993484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8" name="Picture Placeholder 21"/>
          <p:cNvSpPr>
            <a:spLocks noGrp="1"/>
          </p:cNvSpPr>
          <p:nvPr>
            <p:ph type="pic" sz="quarter" idx="19" hasCustomPrompt="1"/>
          </p:nvPr>
        </p:nvSpPr>
        <p:spPr>
          <a:xfrm>
            <a:off x="3639646" y="1986408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9" name="Picture Placeholder 21"/>
          <p:cNvSpPr>
            <a:spLocks noGrp="1"/>
          </p:cNvSpPr>
          <p:nvPr>
            <p:ph type="pic" sz="quarter" idx="20" hasCustomPrompt="1"/>
          </p:nvPr>
        </p:nvSpPr>
        <p:spPr>
          <a:xfrm>
            <a:off x="6149997" y="1993484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8637070" y="3688989"/>
            <a:ext cx="2183449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1" name="Picture Placeholder 21"/>
          <p:cNvSpPr>
            <a:spLocks noGrp="1"/>
          </p:cNvSpPr>
          <p:nvPr>
            <p:ph type="pic" sz="quarter" idx="22" hasCustomPrompt="1"/>
          </p:nvPr>
        </p:nvSpPr>
        <p:spPr>
          <a:xfrm>
            <a:off x="8637071" y="2008475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89683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ext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1065907" y="1986354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511826" y="1986354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5957745" y="1986353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8403664" y="1986352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7195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ext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5915467" y="1992793"/>
            <a:ext cx="464600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069809" y="1992792"/>
            <a:ext cx="464600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6117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/>
          <p:cNvSpPr>
            <a:spLocks noGrp="1"/>
          </p:cNvSpPr>
          <p:nvPr>
            <p:ph type="body" sz="quarter" idx="17" hasCustomPrompt="1"/>
          </p:nvPr>
        </p:nvSpPr>
        <p:spPr>
          <a:xfrm>
            <a:off x="1080209" y="4307356"/>
            <a:ext cx="4646004" cy="2072171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buFont typeface="Arial" panose="020B0604020202020204" pitchFamily="34" charset="0"/>
              <a:buChar char="•"/>
              <a:defRPr sz="1800"/>
            </a:lvl2pPr>
            <a:lvl3pPr marL="0" indent="0">
              <a:buNone/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80209" y="2003204"/>
            <a:ext cx="4645958" cy="20721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925914" y="2003203"/>
            <a:ext cx="4645958" cy="20721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5925868" y="4307356"/>
            <a:ext cx="4646004" cy="2072171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625944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Rectangle 2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79135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Hope you enjoyed">
    <p:bg>
      <p:bgPr>
        <a:solidFill>
          <a:srgbClr val="09ED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63440" y="0"/>
            <a:ext cx="752856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0" y="2311970"/>
            <a:ext cx="3138017" cy="1908338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/>
            </a:lvl1pPr>
          </a:lstStyle>
          <a:p>
            <a:r>
              <a:rPr lang="en-US" noProof="0" dirty="0"/>
              <a:t>THANK YOU</a:t>
            </a:r>
            <a:endParaRPr lang="en-GB" noProof="0" dirty="0"/>
          </a:p>
        </p:txBody>
      </p:sp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8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1" y="5306004"/>
            <a:ext cx="4269826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b="0" baseline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Hope you enjoyed this learning journey.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-1698" y="3508800"/>
            <a:ext cx="7016130" cy="2425241"/>
            <a:chOff x="683" y="3508800"/>
            <a:chExt cx="7016130" cy="2425241"/>
          </a:xfrm>
          <a:solidFill>
            <a:srgbClr val="004050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683" y="3508800"/>
              <a:ext cx="5938619" cy="102700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566 w 1668566"/>
                <a:gd name="connsiteY0" fmla="*/ 248186 h 248186"/>
                <a:gd name="connsiteX1" fmla="*/ 1 w 1668566"/>
                <a:gd name="connsiteY1" fmla="*/ 248186 h 248186"/>
                <a:gd name="connsiteX2" fmla="*/ 229815 w 1668566"/>
                <a:gd name="connsiteY2" fmla="*/ 194032 h 248186"/>
                <a:gd name="connsiteX3" fmla="*/ 1522580 w 1668566"/>
                <a:gd name="connsiteY3" fmla="*/ 192497 h 248186"/>
                <a:gd name="connsiteX4" fmla="*/ 1375895 w 1668566"/>
                <a:gd name="connsiteY4" fmla="*/ 219 h 248186"/>
                <a:gd name="connsiteX5" fmla="*/ 1433934 w 1668566"/>
                <a:gd name="connsiteY5" fmla="*/ 219 h 248186"/>
                <a:gd name="connsiteX6" fmla="*/ 1454190 w 1668566"/>
                <a:gd name="connsiteY6" fmla="*/ 12347 h 248186"/>
                <a:gd name="connsiteX7" fmla="*/ 1518706 w 1668566"/>
                <a:gd name="connsiteY7" fmla="*/ 105057 h 248186"/>
                <a:gd name="connsiteX8" fmla="*/ 1662725 w 1668566"/>
                <a:gd name="connsiteY8" fmla="*/ 242090 h 248186"/>
                <a:gd name="connsiteX9" fmla="*/ 1667931 w 1668566"/>
                <a:gd name="connsiteY9" fmla="*/ 246535 h 248186"/>
                <a:gd name="connsiteX10" fmla="*/ 1668566 w 1668566"/>
                <a:gd name="connsiteY10" fmla="*/ 248186 h 248186"/>
                <a:gd name="connsiteX0" fmla="*/ 1440017 w 1440017"/>
                <a:gd name="connsiteY0" fmla="*/ 248186 h 248186"/>
                <a:gd name="connsiteX1" fmla="*/ 62 w 1440017"/>
                <a:gd name="connsiteY1" fmla="*/ 248186 h 248186"/>
                <a:gd name="connsiteX2" fmla="*/ 1266 w 1440017"/>
                <a:gd name="connsiteY2" fmla="*/ 194032 h 248186"/>
                <a:gd name="connsiteX3" fmla="*/ 1294031 w 1440017"/>
                <a:gd name="connsiteY3" fmla="*/ 192497 h 248186"/>
                <a:gd name="connsiteX4" fmla="*/ 1147346 w 1440017"/>
                <a:gd name="connsiteY4" fmla="*/ 219 h 248186"/>
                <a:gd name="connsiteX5" fmla="*/ 1205385 w 1440017"/>
                <a:gd name="connsiteY5" fmla="*/ 219 h 248186"/>
                <a:gd name="connsiteX6" fmla="*/ 1225641 w 1440017"/>
                <a:gd name="connsiteY6" fmla="*/ 12347 h 248186"/>
                <a:gd name="connsiteX7" fmla="*/ 1290157 w 1440017"/>
                <a:gd name="connsiteY7" fmla="*/ 105057 h 248186"/>
                <a:gd name="connsiteX8" fmla="*/ 1434176 w 1440017"/>
                <a:gd name="connsiteY8" fmla="*/ 242090 h 248186"/>
                <a:gd name="connsiteX9" fmla="*/ 1439382 w 1440017"/>
                <a:gd name="connsiteY9" fmla="*/ 246535 h 248186"/>
                <a:gd name="connsiteX10" fmla="*/ 1440017 w 1440017"/>
                <a:gd name="connsiteY10" fmla="*/ 248186 h 248186"/>
                <a:gd name="connsiteX0" fmla="*/ 1439987 w 1439987"/>
                <a:gd name="connsiteY0" fmla="*/ 248186 h 248186"/>
                <a:gd name="connsiteX1" fmla="*/ 32 w 1439987"/>
                <a:gd name="connsiteY1" fmla="*/ 248186 h 248186"/>
                <a:gd name="connsiteX2" fmla="*/ 3538 w 1439987"/>
                <a:gd name="connsiteY2" fmla="*/ 192881 h 248186"/>
                <a:gd name="connsiteX3" fmla="*/ 1294001 w 1439987"/>
                <a:gd name="connsiteY3" fmla="*/ 192497 h 248186"/>
                <a:gd name="connsiteX4" fmla="*/ 1147316 w 1439987"/>
                <a:gd name="connsiteY4" fmla="*/ 219 h 248186"/>
                <a:gd name="connsiteX5" fmla="*/ 1205355 w 1439987"/>
                <a:gd name="connsiteY5" fmla="*/ 219 h 248186"/>
                <a:gd name="connsiteX6" fmla="*/ 1225611 w 1439987"/>
                <a:gd name="connsiteY6" fmla="*/ 12347 h 248186"/>
                <a:gd name="connsiteX7" fmla="*/ 1290127 w 1439987"/>
                <a:gd name="connsiteY7" fmla="*/ 105057 h 248186"/>
                <a:gd name="connsiteX8" fmla="*/ 1434146 w 1439987"/>
                <a:gd name="connsiteY8" fmla="*/ 242090 h 248186"/>
                <a:gd name="connsiteX9" fmla="*/ 1439352 w 1439987"/>
                <a:gd name="connsiteY9" fmla="*/ 246535 h 248186"/>
                <a:gd name="connsiteX10" fmla="*/ 1439987 w 1439987"/>
                <a:gd name="connsiteY10" fmla="*/ 248186 h 248186"/>
                <a:gd name="connsiteX0" fmla="*/ 1436625 w 1436625"/>
                <a:gd name="connsiteY0" fmla="*/ 248186 h 248186"/>
                <a:gd name="connsiteX1" fmla="*/ 122 w 1436625"/>
                <a:gd name="connsiteY1" fmla="*/ 248186 h 248186"/>
                <a:gd name="connsiteX2" fmla="*/ 176 w 1436625"/>
                <a:gd name="connsiteY2" fmla="*/ 192881 h 248186"/>
                <a:gd name="connsiteX3" fmla="*/ 1290639 w 1436625"/>
                <a:gd name="connsiteY3" fmla="*/ 192497 h 248186"/>
                <a:gd name="connsiteX4" fmla="*/ 1143954 w 1436625"/>
                <a:gd name="connsiteY4" fmla="*/ 219 h 248186"/>
                <a:gd name="connsiteX5" fmla="*/ 1201993 w 1436625"/>
                <a:gd name="connsiteY5" fmla="*/ 219 h 248186"/>
                <a:gd name="connsiteX6" fmla="*/ 1222249 w 1436625"/>
                <a:gd name="connsiteY6" fmla="*/ 12347 h 248186"/>
                <a:gd name="connsiteX7" fmla="*/ 1286765 w 1436625"/>
                <a:gd name="connsiteY7" fmla="*/ 105057 h 248186"/>
                <a:gd name="connsiteX8" fmla="*/ 1430784 w 1436625"/>
                <a:gd name="connsiteY8" fmla="*/ 242090 h 248186"/>
                <a:gd name="connsiteX9" fmla="*/ 1435990 w 1436625"/>
                <a:gd name="connsiteY9" fmla="*/ 246535 h 248186"/>
                <a:gd name="connsiteX10" fmla="*/ 1436625 w 1436625"/>
                <a:gd name="connsiteY10" fmla="*/ 248186 h 248186"/>
                <a:gd name="connsiteX0" fmla="*/ 1436553 w 1436553"/>
                <a:gd name="connsiteY0" fmla="*/ 248186 h 248186"/>
                <a:gd name="connsiteX1" fmla="*/ 50 w 1436553"/>
                <a:gd name="connsiteY1" fmla="*/ 248186 h 248186"/>
                <a:gd name="connsiteX2" fmla="*/ 1830 w 1436553"/>
                <a:gd name="connsiteY2" fmla="*/ 192881 h 248186"/>
                <a:gd name="connsiteX3" fmla="*/ 1290567 w 1436553"/>
                <a:gd name="connsiteY3" fmla="*/ 192497 h 248186"/>
                <a:gd name="connsiteX4" fmla="*/ 1143882 w 1436553"/>
                <a:gd name="connsiteY4" fmla="*/ 219 h 248186"/>
                <a:gd name="connsiteX5" fmla="*/ 1201921 w 1436553"/>
                <a:gd name="connsiteY5" fmla="*/ 219 h 248186"/>
                <a:gd name="connsiteX6" fmla="*/ 1222177 w 1436553"/>
                <a:gd name="connsiteY6" fmla="*/ 12347 h 248186"/>
                <a:gd name="connsiteX7" fmla="*/ 1286693 w 1436553"/>
                <a:gd name="connsiteY7" fmla="*/ 105057 h 248186"/>
                <a:gd name="connsiteX8" fmla="*/ 1430712 w 1436553"/>
                <a:gd name="connsiteY8" fmla="*/ 242090 h 248186"/>
                <a:gd name="connsiteX9" fmla="*/ 1435918 w 1436553"/>
                <a:gd name="connsiteY9" fmla="*/ 246535 h 248186"/>
                <a:gd name="connsiteX10" fmla="*/ 1436553 w 1436553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34899" h="248186">
                  <a:moveTo>
                    <a:pt x="1434899" y="248186"/>
                  </a:moveTo>
                  <a:lnTo>
                    <a:pt x="122" y="248186"/>
                  </a:lnTo>
                  <a:cubicBezTo>
                    <a:pt x="-319" y="229623"/>
                    <a:pt x="617" y="211444"/>
                    <a:pt x="176" y="192881"/>
                  </a:cubicBezTo>
                  <a:lnTo>
                    <a:pt x="1288913" y="192497"/>
                  </a:lnTo>
                  <a:cubicBezTo>
                    <a:pt x="1231064" y="134140"/>
                    <a:pt x="1177788" y="74768"/>
                    <a:pt x="1142228" y="219"/>
                  </a:cubicBezTo>
                  <a:cubicBezTo>
                    <a:pt x="1162611" y="219"/>
                    <a:pt x="1181471" y="854"/>
                    <a:pt x="1200267" y="219"/>
                  </a:cubicBezTo>
                  <a:cubicBezTo>
                    <a:pt x="1209059" y="-1141"/>
                    <a:pt x="1217571" y="3956"/>
                    <a:pt x="1220523" y="12347"/>
                  </a:cubicBezTo>
                  <a:cubicBezTo>
                    <a:pt x="1238085" y="45816"/>
                    <a:pt x="1259758" y="76961"/>
                    <a:pt x="1285039" y="105057"/>
                  </a:cubicBezTo>
                  <a:cubicBezTo>
                    <a:pt x="1328667" y="155126"/>
                    <a:pt x="1376883" y="201004"/>
                    <a:pt x="1429058" y="242090"/>
                  </a:cubicBezTo>
                  <a:cubicBezTo>
                    <a:pt x="1430836" y="243551"/>
                    <a:pt x="1432613" y="245011"/>
                    <a:pt x="1434264" y="246535"/>
                  </a:cubicBezTo>
                  <a:cubicBezTo>
                    <a:pt x="1434582" y="246599"/>
                    <a:pt x="1434582" y="247170"/>
                    <a:pt x="1434899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 userDrawn="1"/>
          </p:nvSpPr>
          <p:spPr>
            <a:xfrm>
              <a:off x="5439970" y="3509181"/>
              <a:ext cx="1576843" cy="2417447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683" y="4907035"/>
              <a:ext cx="5938619" cy="102700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566 w 1668566"/>
                <a:gd name="connsiteY0" fmla="*/ 248186 h 248186"/>
                <a:gd name="connsiteX1" fmla="*/ 1 w 1668566"/>
                <a:gd name="connsiteY1" fmla="*/ 248186 h 248186"/>
                <a:gd name="connsiteX2" fmla="*/ 229815 w 1668566"/>
                <a:gd name="connsiteY2" fmla="*/ 194032 h 248186"/>
                <a:gd name="connsiteX3" fmla="*/ 1522580 w 1668566"/>
                <a:gd name="connsiteY3" fmla="*/ 192497 h 248186"/>
                <a:gd name="connsiteX4" fmla="*/ 1375895 w 1668566"/>
                <a:gd name="connsiteY4" fmla="*/ 219 h 248186"/>
                <a:gd name="connsiteX5" fmla="*/ 1433934 w 1668566"/>
                <a:gd name="connsiteY5" fmla="*/ 219 h 248186"/>
                <a:gd name="connsiteX6" fmla="*/ 1454190 w 1668566"/>
                <a:gd name="connsiteY6" fmla="*/ 12347 h 248186"/>
                <a:gd name="connsiteX7" fmla="*/ 1518706 w 1668566"/>
                <a:gd name="connsiteY7" fmla="*/ 105057 h 248186"/>
                <a:gd name="connsiteX8" fmla="*/ 1662725 w 1668566"/>
                <a:gd name="connsiteY8" fmla="*/ 242090 h 248186"/>
                <a:gd name="connsiteX9" fmla="*/ 1667931 w 1668566"/>
                <a:gd name="connsiteY9" fmla="*/ 246535 h 248186"/>
                <a:gd name="connsiteX10" fmla="*/ 1668566 w 1668566"/>
                <a:gd name="connsiteY10" fmla="*/ 248186 h 248186"/>
                <a:gd name="connsiteX0" fmla="*/ 1440017 w 1440017"/>
                <a:gd name="connsiteY0" fmla="*/ 248186 h 248186"/>
                <a:gd name="connsiteX1" fmla="*/ 62 w 1440017"/>
                <a:gd name="connsiteY1" fmla="*/ 248186 h 248186"/>
                <a:gd name="connsiteX2" fmla="*/ 1266 w 1440017"/>
                <a:gd name="connsiteY2" fmla="*/ 194032 h 248186"/>
                <a:gd name="connsiteX3" fmla="*/ 1294031 w 1440017"/>
                <a:gd name="connsiteY3" fmla="*/ 192497 h 248186"/>
                <a:gd name="connsiteX4" fmla="*/ 1147346 w 1440017"/>
                <a:gd name="connsiteY4" fmla="*/ 219 h 248186"/>
                <a:gd name="connsiteX5" fmla="*/ 1205385 w 1440017"/>
                <a:gd name="connsiteY5" fmla="*/ 219 h 248186"/>
                <a:gd name="connsiteX6" fmla="*/ 1225641 w 1440017"/>
                <a:gd name="connsiteY6" fmla="*/ 12347 h 248186"/>
                <a:gd name="connsiteX7" fmla="*/ 1290157 w 1440017"/>
                <a:gd name="connsiteY7" fmla="*/ 105057 h 248186"/>
                <a:gd name="connsiteX8" fmla="*/ 1434176 w 1440017"/>
                <a:gd name="connsiteY8" fmla="*/ 242090 h 248186"/>
                <a:gd name="connsiteX9" fmla="*/ 1439382 w 1440017"/>
                <a:gd name="connsiteY9" fmla="*/ 246535 h 248186"/>
                <a:gd name="connsiteX10" fmla="*/ 1440017 w 1440017"/>
                <a:gd name="connsiteY10" fmla="*/ 248186 h 248186"/>
                <a:gd name="connsiteX0" fmla="*/ 1439987 w 1439987"/>
                <a:gd name="connsiteY0" fmla="*/ 248186 h 248186"/>
                <a:gd name="connsiteX1" fmla="*/ 32 w 1439987"/>
                <a:gd name="connsiteY1" fmla="*/ 248186 h 248186"/>
                <a:gd name="connsiteX2" fmla="*/ 3538 w 1439987"/>
                <a:gd name="connsiteY2" fmla="*/ 192881 h 248186"/>
                <a:gd name="connsiteX3" fmla="*/ 1294001 w 1439987"/>
                <a:gd name="connsiteY3" fmla="*/ 192497 h 248186"/>
                <a:gd name="connsiteX4" fmla="*/ 1147316 w 1439987"/>
                <a:gd name="connsiteY4" fmla="*/ 219 h 248186"/>
                <a:gd name="connsiteX5" fmla="*/ 1205355 w 1439987"/>
                <a:gd name="connsiteY5" fmla="*/ 219 h 248186"/>
                <a:gd name="connsiteX6" fmla="*/ 1225611 w 1439987"/>
                <a:gd name="connsiteY6" fmla="*/ 12347 h 248186"/>
                <a:gd name="connsiteX7" fmla="*/ 1290127 w 1439987"/>
                <a:gd name="connsiteY7" fmla="*/ 105057 h 248186"/>
                <a:gd name="connsiteX8" fmla="*/ 1434146 w 1439987"/>
                <a:gd name="connsiteY8" fmla="*/ 242090 h 248186"/>
                <a:gd name="connsiteX9" fmla="*/ 1439352 w 1439987"/>
                <a:gd name="connsiteY9" fmla="*/ 246535 h 248186"/>
                <a:gd name="connsiteX10" fmla="*/ 1439987 w 1439987"/>
                <a:gd name="connsiteY10" fmla="*/ 248186 h 248186"/>
                <a:gd name="connsiteX0" fmla="*/ 1436625 w 1436625"/>
                <a:gd name="connsiteY0" fmla="*/ 248186 h 248186"/>
                <a:gd name="connsiteX1" fmla="*/ 122 w 1436625"/>
                <a:gd name="connsiteY1" fmla="*/ 248186 h 248186"/>
                <a:gd name="connsiteX2" fmla="*/ 176 w 1436625"/>
                <a:gd name="connsiteY2" fmla="*/ 192881 h 248186"/>
                <a:gd name="connsiteX3" fmla="*/ 1290639 w 1436625"/>
                <a:gd name="connsiteY3" fmla="*/ 192497 h 248186"/>
                <a:gd name="connsiteX4" fmla="*/ 1143954 w 1436625"/>
                <a:gd name="connsiteY4" fmla="*/ 219 h 248186"/>
                <a:gd name="connsiteX5" fmla="*/ 1201993 w 1436625"/>
                <a:gd name="connsiteY5" fmla="*/ 219 h 248186"/>
                <a:gd name="connsiteX6" fmla="*/ 1222249 w 1436625"/>
                <a:gd name="connsiteY6" fmla="*/ 12347 h 248186"/>
                <a:gd name="connsiteX7" fmla="*/ 1286765 w 1436625"/>
                <a:gd name="connsiteY7" fmla="*/ 105057 h 248186"/>
                <a:gd name="connsiteX8" fmla="*/ 1430784 w 1436625"/>
                <a:gd name="connsiteY8" fmla="*/ 242090 h 248186"/>
                <a:gd name="connsiteX9" fmla="*/ 1435990 w 1436625"/>
                <a:gd name="connsiteY9" fmla="*/ 246535 h 248186"/>
                <a:gd name="connsiteX10" fmla="*/ 1436625 w 1436625"/>
                <a:gd name="connsiteY10" fmla="*/ 248186 h 248186"/>
                <a:gd name="connsiteX0" fmla="*/ 1436553 w 1436553"/>
                <a:gd name="connsiteY0" fmla="*/ 248186 h 248186"/>
                <a:gd name="connsiteX1" fmla="*/ 50 w 1436553"/>
                <a:gd name="connsiteY1" fmla="*/ 248186 h 248186"/>
                <a:gd name="connsiteX2" fmla="*/ 1830 w 1436553"/>
                <a:gd name="connsiteY2" fmla="*/ 192881 h 248186"/>
                <a:gd name="connsiteX3" fmla="*/ 1290567 w 1436553"/>
                <a:gd name="connsiteY3" fmla="*/ 192497 h 248186"/>
                <a:gd name="connsiteX4" fmla="*/ 1143882 w 1436553"/>
                <a:gd name="connsiteY4" fmla="*/ 219 h 248186"/>
                <a:gd name="connsiteX5" fmla="*/ 1201921 w 1436553"/>
                <a:gd name="connsiteY5" fmla="*/ 219 h 248186"/>
                <a:gd name="connsiteX6" fmla="*/ 1222177 w 1436553"/>
                <a:gd name="connsiteY6" fmla="*/ 12347 h 248186"/>
                <a:gd name="connsiteX7" fmla="*/ 1286693 w 1436553"/>
                <a:gd name="connsiteY7" fmla="*/ 105057 h 248186"/>
                <a:gd name="connsiteX8" fmla="*/ 1430712 w 1436553"/>
                <a:gd name="connsiteY8" fmla="*/ 242090 h 248186"/>
                <a:gd name="connsiteX9" fmla="*/ 1435918 w 1436553"/>
                <a:gd name="connsiteY9" fmla="*/ 246535 h 248186"/>
                <a:gd name="connsiteX10" fmla="*/ 1436553 w 1436553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34899" h="248186">
                  <a:moveTo>
                    <a:pt x="1434899" y="248186"/>
                  </a:moveTo>
                  <a:lnTo>
                    <a:pt x="122" y="248186"/>
                  </a:lnTo>
                  <a:cubicBezTo>
                    <a:pt x="-319" y="229623"/>
                    <a:pt x="617" y="211444"/>
                    <a:pt x="176" y="192881"/>
                  </a:cubicBezTo>
                  <a:lnTo>
                    <a:pt x="1288913" y="192497"/>
                  </a:lnTo>
                  <a:cubicBezTo>
                    <a:pt x="1231064" y="134140"/>
                    <a:pt x="1177788" y="74768"/>
                    <a:pt x="1142228" y="219"/>
                  </a:cubicBezTo>
                  <a:cubicBezTo>
                    <a:pt x="1162611" y="219"/>
                    <a:pt x="1181471" y="854"/>
                    <a:pt x="1200267" y="219"/>
                  </a:cubicBezTo>
                  <a:cubicBezTo>
                    <a:pt x="1209059" y="-1141"/>
                    <a:pt x="1217571" y="3956"/>
                    <a:pt x="1220523" y="12347"/>
                  </a:cubicBezTo>
                  <a:cubicBezTo>
                    <a:pt x="1238085" y="45816"/>
                    <a:pt x="1259758" y="76961"/>
                    <a:pt x="1285039" y="105057"/>
                  </a:cubicBezTo>
                  <a:cubicBezTo>
                    <a:pt x="1328667" y="155126"/>
                    <a:pt x="1376883" y="201004"/>
                    <a:pt x="1429058" y="242090"/>
                  </a:cubicBezTo>
                  <a:cubicBezTo>
                    <a:pt x="1430836" y="243551"/>
                    <a:pt x="1432613" y="245011"/>
                    <a:pt x="1434264" y="246535"/>
                  </a:cubicBezTo>
                  <a:cubicBezTo>
                    <a:pt x="1434582" y="246599"/>
                    <a:pt x="1434582" y="247170"/>
                    <a:pt x="1434899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887849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3AAC1-38C0-EC41-AF66-7EC76ACCB83E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41272" y="1368256"/>
            <a:ext cx="11516239" cy="495535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4" y="6584738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 b="1" i="0">
                <a:solidFill>
                  <a:schemeClr val="bg1">
                    <a:lumMod val="50000"/>
                  </a:schemeClr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0464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798" r:id="rId4"/>
    <p:sldLayoutId id="2147483806" r:id="rId5"/>
    <p:sldLayoutId id="2147483709" r:id="rId6"/>
    <p:sldLayoutId id="2147483822" r:id="rId7"/>
    <p:sldLayoutId id="2147483802" r:id="rId8"/>
    <p:sldLayoutId id="2147483792" r:id="rId9"/>
    <p:sldLayoutId id="2147483810" r:id="rId10"/>
    <p:sldLayoutId id="2147483804" r:id="rId11"/>
    <p:sldLayoutId id="2147483821" r:id="rId12"/>
    <p:sldLayoutId id="2147483824" r:id="rId13"/>
    <p:sldLayoutId id="2147483828" r:id="rId14"/>
    <p:sldLayoutId id="2147483853" r:id="rId15"/>
    <p:sldLayoutId id="2147483899" r:id="rId16"/>
    <p:sldLayoutId id="2147483832" r:id="rId17"/>
    <p:sldLayoutId id="2147483833" r:id="rId18"/>
    <p:sldLayoutId id="2147483836" r:id="rId19"/>
    <p:sldLayoutId id="2147483852" r:id="rId20"/>
    <p:sldLayoutId id="2147483900" r:id="rId21"/>
    <p:sldLayoutId id="2147483820" r:id="rId22"/>
    <p:sldLayoutId id="2147483842" r:id="rId23"/>
    <p:sldLayoutId id="2147483845" r:id="rId24"/>
    <p:sldLayoutId id="2147483851" r:id="rId25"/>
    <p:sldLayoutId id="2147483901" r:id="rId26"/>
    <p:sldLayoutId id="2147483650" r:id="rId27"/>
    <p:sldLayoutId id="2147483734" r:id="rId28"/>
    <p:sldLayoutId id="2147483796" r:id="rId29"/>
    <p:sldLayoutId id="2147483719" r:id="rId30"/>
    <p:sldLayoutId id="2147483721" r:id="rId31"/>
    <p:sldLayoutId id="2147483724" r:id="rId32"/>
    <p:sldLayoutId id="2147483797" r:id="rId33"/>
    <p:sldLayoutId id="2147483814" r:id="rId34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0" i="0" kern="1200" cap="none" baseline="0">
          <a:solidFill>
            <a:schemeClr val="tx1"/>
          </a:solidFill>
          <a:latin typeface="Krana Fat B" panose="00000B00000000000000" pitchFamily="50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15000"/>
        <a:buFontTx/>
        <a:buNone/>
        <a:defRPr sz="20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1pPr>
      <a:lvl2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5000"/>
        <a:buFontTx/>
        <a:buBlip>
          <a:blip r:embed="rId36"/>
        </a:buBlip>
        <a:tabLst/>
        <a:defRPr sz="20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2pPr>
      <a:lvl3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0000"/>
        <a:buFontTx/>
        <a:buBlip>
          <a:blip r:embed="rId36"/>
        </a:buBlip>
        <a:tabLst/>
        <a:defRPr sz="20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3pPr>
      <a:lvl4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0000"/>
        <a:buFontTx/>
        <a:buBlip>
          <a:blip r:embed="rId36"/>
        </a:buBlip>
        <a:tabLst/>
        <a:defRPr sz="20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4pPr>
      <a:lvl5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5000"/>
        <a:buFontTx/>
        <a:buBlip>
          <a:blip r:embed="rId36"/>
        </a:buBlip>
        <a:tabLst/>
        <a:defRPr sz="20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8" userDrawn="1">
          <p15:clr>
            <a:srgbClr val="F26B43"/>
          </p15:clr>
        </p15:guide>
        <p15:guide id="2" orient="horz" pos="4081" userDrawn="1">
          <p15:clr>
            <a:srgbClr val="F26B43"/>
          </p15:clr>
        </p15:guide>
        <p15:guide id="3" pos="237" userDrawn="1">
          <p15:clr>
            <a:srgbClr val="F26B43"/>
          </p15:clr>
        </p15:guide>
        <p15:guide id="4" pos="732" userDrawn="1">
          <p15:clr>
            <a:srgbClr val="F26B43"/>
          </p15:clr>
        </p15:guide>
        <p15:guide id="5" pos="850" userDrawn="1">
          <p15:clr>
            <a:srgbClr val="F26B43"/>
          </p15:clr>
        </p15:guide>
        <p15:guide id="6" pos="1345" userDrawn="1">
          <p15:clr>
            <a:srgbClr val="F26B43"/>
          </p15:clr>
        </p15:guide>
        <p15:guide id="7" pos="1460" userDrawn="1">
          <p15:clr>
            <a:srgbClr val="F26B43"/>
          </p15:clr>
        </p15:guide>
        <p15:guide id="8" pos="1954" userDrawn="1">
          <p15:clr>
            <a:srgbClr val="F26B43"/>
          </p15:clr>
        </p15:guide>
        <p15:guide id="9" pos="2069" userDrawn="1">
          <p15:clr>
            <a:srgbClr val="F26B43"/>
          </p15:clr>
        </p15:guide>
        <p15:guide id="10" pos="2564" userDrawn="1">
          <p15:clr>
            <a:srgbClr val="F26B43"/>
          </p15:clr>
        </p15:guide>
        <p15:guide id="11" pos="2683" userDrawn="1">
          <p15:clr>
            <a:srgbClr val="F26B43"/>
          </p15:clr>
        </p15:guide>
        <p15:guide id="12" pos="3173" userDrawn="1">
          <p15:clr>
            <a:srgbClr val="F26B43"/>
          </p15:clr>
        </p15:guide>
        <p15:guide id="13" pos="3288" userDrawn="1">
          <p15:clr>
            <a:srgbClr val="F26B43"/>
          </p15:clr>
        </p15:guide>
        <p15:guide id="14" pos="3782" userDrawn="1">
          <p15:clr>
            <a:srgbClr val="F26B43"/>
          </p15:clr>
        </p15:guide>
        <p15:guide id="15" pos="3897" userDrawn="1">
          <p15:clr>
            <a:srgbClr val="F26B43"/>
          </p15:clr>
        </p15:guide>
        <p15:guide id="16" pos="4392" userDrawn="1">
          <p15:clr>
            <a:srgbClr val="F26B43"/>
          </p15:clr>
        </p15:guide>
        <p15:guide id="17" pos="4506" userDrawn="1">
          <p15:clr>
            <a:srgbClr val="F26B43"/>
          </p15:clr>
        </p15:guide>
        <p15:guide id="18" pos="5001" userDrawn="1">
          <p15:clr>
            <a:srgbClr val="F26B43"/>
          </p15:clr>
        </p15:guide>
        <p15:guide id="19" pos="5115" userDrawn="1">
          <p15:clr>
            <a:srgbClr val="F26B43"/>
          </p15:clr>
        </p15:guide>
        <p15:guide id="20" pos="5610" userDrawn="1">
          <p15:clr>
            <a:srgbClr val="F26B43"/>
          </p15:clr>
        </p15:guide>
        <p15:guide id="21" pos="5725" userDrawn="1">
          <p15:clr>
            <a:srgbClr val="F26B43"/>
          </p15:clr>
        </p15:guide>
        <p15:guide id="22" pos="6220" userDrawn="1">
          <p15:clr>
            <a:srgbClr val="F26B43"/>
          </p15:clr>
        </p15:guide>
        <p15:guide id="23" pos="6334" userDrawn="1">
          <p15:clr>
            <a:srgbClr val="F26B43"/>
          </p15:clr>
        </p15:guide>
        <p15:guide id="24" pos="6829" userDrawn="1">
          <p15:clr>
            <a:srgbClr val="F26B43"/>
          </p15:clr>
        </p15:guide>
        <p15:guide id="25" pos="6943" userDrawn="1">
          <p15:clr>
            <a:srgbClr val="F26B43"/>
          </p15:clr>
        </p15:guide>
        <p15:guide id="26" pos="7438" userDrawn="1">
          <p15:clr>
            <a:srgbClr val="F26B43"/>
          </p15:clr>
        </p15:guide>
        <p15:guide id="27" pos="3840" userDrawn="1">
          <p15:clr>
            <a:srgbClr val="9FCC3B"/>
          </p15:clr>
        </p15:guide>
        <p15:guide id="28" orient="horz" pos="2160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1981F4-150A-4024-9F5E-63623AF69A6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sz="2000" dirty="0"/>
              <a:t>HTML and CSS</a:t>
            </a:r>
          </a:p>
          <a:p>
            <a:endParaRPr lang="en-IN" sz="2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5791D9A-0056-42B3-8A51-E938340824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Web Fundamentals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7139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76C9B-E1F0-4A77-A04A-7F5733AF42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6238" y="1556247"/>
            <a:ext cx="6265861" cy="2277604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buSzPct val="115000"/>
            </a:pPr>
            <a:r>
              <a:rPr lang="en-GB" dirty="0">
                <a:ea typeface="+mn-ea"/>
                <a:cs typeface="+mn-cs"/>
              </a:rPr>
              <a:t>HTML and CSS Revision</a:t>
            </a:r>
            <a:endParaRPr lang="en-IN" dirty="0"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2638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11AE46C-9457-4C9B-ADBD-6F66616841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Objectives</a:t>
            </a:r>
            <a:endParaRPr lang="en-IN" dirty="0"/>
          </a:p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043E85-2956-4A25-9DBF-10584849EEB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 b="1" dirty="0"/>
              <a:t>In this chapter, you will:</a:t>
            </a:r>
          </a:p>
          <a:p>
            <a:pPr marL="342900" lvl="1" indent="-342900">
              <a:buSzPct val="115000"/>
            </a:pPr>
            <a:r>
              <a:rPr lang="en-GB" dirty="0"/>
              <a:t>Revise the HTML and CSS that you covered in the pre-learning</a:t>
            </a:r>
          </a:p>
          <a:p>
            <a:pPr marL="342900" indent="-342900">
              <a:buChar char="•"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1154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</p:spPr>
        <p:txBody>
          <a:bodyPr/>
          <a:lstStyle/>
          <a:p>
            <a:r>
              <a:rPr lang="en-GB" dirty="0"/>
              <a:t>HTML Tags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D3F0650F-7AEC-42DB-85D1-2FF28C76D1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GB" b="1" dirty="0"/>
              <a:t>HTML consists of text, combined with tags like &lt;this&gt;</a:t>
            </a:r>
          </a:p>
          <a:p>
            <a:pPr marL="698500" lvl="1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F3622C"/>
                </a:solidFill>
              </a:rPr>
              <a:t>Write down as many tags as you can remember</a:t>
            </a:r>
          </a:p>
          <a:p>
            <a:pPr>
              <a:spcAft>
                <a:spcPts val="400"/>
              </a:spcAft>
            </a:pPr>
            <a:endParaRPr lang="en-GB" dirty="0"/>
          </a:p>
          <a:p>
            <a:pPr marL="34290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GB" b="1" dirty="0"/>
              <a:t>Look at the tags you’ve written down</a:t>
            </a:r>
          </a:p>
          <a:p>
            <a:pPr marL="68400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GB" dirty="0"/>
              <a:t>Do any of them need to come in a specific order, or in specific places?</a:t>
            </a:r>
          </a:p>
          <a:p>
            <a:pPr marL="68400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GB" dirty="0"/>
              <a:t>Do any of them need to be “closed”? How would you do that?</a:t>
            </a:r>
          </a:p>
          <a:p>
            <a:pPr marL="34290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GB" b="1" dirty="0"/>
              <a:t>General page layout :</a:t>
            </a:r>
          </a:p>
          <a:p>
            <a:pPr marL="360000" lvl="1" indent="0">
              <a:spcAft>
                <a:spcPts val="400"/>
              </a:spcAft>
              <a:buNone/>
            </a:pPr>
            <a:endParaRPr lang="en-GB" dirty="0"/>
          </a:p>
          <a:p>
            <a:pPr marL="360000" lvl="1" indent="0">
              <a:spcAft>
                <a:spcPts val="400"/>
              </a:spcAft>
              <a:buNone/>
            </a:pPr>
            <a:endParaRPr lang="en-GB" dirty="0"/>
          </a:p>
          <a:p>
            <a:pPr marL="360000" lvl="1" indent="0">
              <a:spcAft>
                <a:spcPts val="400"/>
              </a:spcAft>
              <a:buNone/>
            </a:pPr>
            <a:endParaRPr lang="en-GB" dirty="0"/>
          </a:p>
          <a:p>
            <a:pPr marL="360000" lvl="1" indent="0">
              <a:spcAft>
                <a:spcPts val="400"/>
              </a:spcAft>
              <a:buNone/>
            </a:pPr>
            <a:endParaRPr lang="en-GB" dirty="0"/>
          </a:p>
          <a:p>
            <a:pPr marL="34290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GB" b="1" dirty="0"/>
              <a:t>Within this general layout:</a:t>
            </a:r>
          </a:p>
          <a:p>
            <a:pPr marL="684000" lvl="1" indent="-342900">
              <a:spcAft>
                <a:spcPts val="400"/>
              </a:spcAft>
              <a:buSzPct val="115000"/>
              <a:buFont typeface="Arial" panose="020B0604020202020204" pitchFamily="34" charset="0"/>
              <a:buChar char="•"/>
            </a:pPr>
            <a:r>
              <a:rPr lang="en-GB" dirty="0"/>
              <a:t>Many tags need to be closed - repeat the tag with a /</a:t>
            </a:r>
          </a:p>
          <a:p>
            <a:pPr marL="684000" lvl="1" indent="-342900">
              <a:spcAft>
                <a:spcPts val="400"/>
              </a:spcAft>
              <a:buSzPct val="115000"/>
              <a:buFont typeface="Arial" panose="020B0604020202020204" pitchFamily="34" charset="0"/>
              <a:buChar char="•"/>
            </a:pPr>
            <a:r>
              <a:rPr lang="en-GB" dirty="0"/>
              <a:t>Some tags can’t be placed within other tags</a:t>
            </a:r>
          </a:p>
          <a:p>
            <a:pPr marL="1026000" lvl="1" indent="-342900">
              <a:spcAft>
                <a:spcPts val="400"/>
              </a:spcAft>
              <a:buSzPct val="115000"/>
              <a:buFont typeface="Arial" panose="020B0604020202020204" pitchFamily="34" charset="0"/>
              <a:buChar char="•"/>
            </a:pPr>
            <a:r>
              <a:rPr lang="en-GB" dirty="0"/>
              <a:t>E.g. it doesn’t make sense to put a &lt;p&gt; within a &lt;span&gt;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E45D6-8AF6-4BF0-AEF6-B2B427D62ACA}"/>
              </a:ext>
            </a:extLst>
          </p:cNvPr>
          <p:cNvSpPr/>
          <p:nvPr/>
        </p:nvSpPr>
        <p:spPr>
          <a:xfrm>
            <a:off x="3746292" y="3630120"/>
            <a:ext cx="4699416" cy="1477328"/>
          </a:xfrm>
          <a:prstGeom prst="rect">
            <a:avLst/>
          </a:prstGeom>
          <a:ln w="254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b="1" dirty="0">
                <a:solidFill>
                  <a:srgbClr val="800000"/>
                </a:solidFill>
                <a:latin typeface="Consolas" panose="020B0609020204030204" pitchFamily="49" charset="0"/>
              </a:rPr>
              <a:t>&lt;!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DOCTYPE html</a:t>
            </a:r>
            <a:r>
              <a:rPr lang="en-GB" b="1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GB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b="1" dirty="0">
                <a:solidFill>
                  <a:srgbClr val="800000"/>
                </a:solidFill>
                <a:latin typeface="Consolas" panose="020B0609020204030204" pitchFamily="49" charset="0"/>
              </a:rPr>
              <a:t>&lt;html&gt;</a:t>
            </a:r>
            <a:endParaRPr lang="en-GB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b="1" dirty="0">
                <a:solidFill>
                  <a:srgbClr val="800000"/>
                </a:solidFill>
                <a:latin typeface="Consolas" panose="020B0609020204030204" pitchFamily="49" charset="0"/>
              </a:rPr>
              <a:t>&lt;head&gt;&lt;title&gt;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Title</a:t>
            </a:r>
            <a:r>
              <a:rPr lang="en-GB" b="1" dirty="0">
                <a:solidFill>
                  <a:srgbClr val="800000"/>
                </a:solidFill>
                <a:latin typeface="Consolas" panose="020B0609020204030204" pitchFamily="49" charset="0"/>
              </a:rPr>
              <a:t>&lt;/title&gt;&lt;/head&gt;</a:t>
            </a:r>
            <a:endParaRPr lang="en-GB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b="1" dirty="0">
                <a:solidFill>
                  <a:srgbClr val="800000"/>
                </a:solidFill>
                <a:latin typeface="Consolas" panose="020B0609020204030204" pitchFamily="49" charset="0"/>
              </a:rPr>
              <a:t>&lt;body&gt;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Body of page goes here</a:t>
            </a:r>
            <a:r>
              <a:rPr lang="en-GB" b="1" dirty="0">
                <a:solidFill>
                  <a:srgbClr val="800000"/>
                </a:solidFill>
                <a:latin typeface="Consolas" panose="020B0609020204030204" pitchFamily="49" charset="0"/>
              </a:rPr>
              <a:t>&lt;/body&gt;</a:t>
            </a:r>
            <a:endParaRPr lang="en-GB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b="1" dirty="0">
                <a:solidFill>
                  <a:srgbClr val="800000"/>
                </a:solidFill>
                <a:latin typeface="Consolas" panose="020B0609020204030204" pitchFamily="49" charset="0"/>
              </a:rPr>
              <a:t>&lt;/html&gt;</a:t>
            </a:r>
            <a:endParaRPr lang="en-GB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2064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6F948DE-9BA4-4416-B213-36446EDA8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HTML5 page  (</a:t>
            </a:r>
            <a:r>
              <a:rPr lang="en-GB" sz="2800" dirty="0">
                <a:solidFill>
                  <a:schemeClr val="accent4">
                    <a:lumMod val="75000"/>
                  </a:schemeClr>
                </a:solidFill>
              </a:rPr>
              <a:t>H</a:t>
            </a:r>
            <a:r>
              <a:rPr lang="en-GB" sz="2800" dirty="0"/>
              <a:t>ypertext </a:t>
            </a:r>
            <a:r>
              <a:rPr lang="en-GB" sz="2800" dirty="0">
                <a:solidFill>
                  <a:schemeClr val="accent4">
                    <a:lumMod val="75000"/>
                  </a:schemeClr>
                </a:solidFill>
              </a:rPr>
              <a:t>M</a:t>
            </a:r>
            <a:r>
              <a:rPr lang="en-GB" sz="2800" dirty="0"/>
              <a:t>arkup </a:t>
            </a:r>
            <a:r>
              <a:rPr lang="en-GB" sz="2800" dirty="0">
                <a:solidFill>
                  <a:schemeClr val="accent4">
                    <a:lumMod val="75000"/>
                  </a:schemeClr>
                </a:solidFill>
              </a:rPr>
              <a:t>L</a:t>
            </a:r>
            <a:r>
              <a:rPr lang="en-GB" sz="2800" dirty="0"/>
              <a:t>anguage)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CF3F18-9A57-48FB-9F81-38AFD43FABE6}"/>
              </a:ext>
            </a:extLst>
          </p:cNvPr>
          <p:cNvSpPr txBox="1"/>
          <p:nvPr/>
        </p:nvSpPr>
        <p:spPr>
          <a:xfrm>
            <a:off x="665251" y="1482317"/>
            <a:ext cx="9639729" cy="39703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!DOCTYPE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html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html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lang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="en"&gt;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head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meta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charset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="UTF-8"&gt;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meta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name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="viewport"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content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="width=device-width, initial-scale=1.0"&gt;</a:t>
            </a:r>
            <a:endParaRPr lang="it-IT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title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Document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title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</a:p>
          <a:p>
            <a:endParaRPr lang="en-GB" sz="18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endParaRPr lang="en-GB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endParaRPr lang="en-GB" sz="18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head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body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body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html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dirty="0"/>
          </a:p>
        </p:txBody>
      </p:sp>
      <p:sp>
        <p:nvSpPr>
          <p:cNvPr id="8" name="Callout: Line 7">
            <a:extLst>
              <a:ext uri="{FF2B5EF4-FFF2-40B4-BE49-F238E27FC236}">
                <a16:creationId xmlns:a16="http://schemas.microsoft.com/office/drawing/2014/main" id="{994CB837-CB58-487A-9B1A-3AA2AD7D7FFC}"/>
              </a:ext>
            </a:extLst>
          </p:cNvPr>
          <p:cNvSpPr/>
          <p:nvPr/>
        </p:nvSpPr>
        <p:spPr>
          <a:xfrm>
            <a:off x="3456138" y="1383196"/>
            <a:ext cx="4439164" cy="555157"/>
          </a:xfrm>
          <a:prstGeom prst="borderCallout1">
            <a:avLst>
              <a:gd name="adj1" fmla="val 50893"/>
              <a:gd name="adj2" fmla="val -505"/>
              <a:gd name="adj3" fmla="val 50699"/>
              <a:gd name="adj4" fmla="val -16334"/>
            </a:avLst>
          </a:prstGeom>
          <a:solidFill>
            <a:schemeClr val="bg2">
              <a:lumMod val="95000"/>
            </a:schemeClr>
          </a:solidFill>
          <a:ln w="19050">
            <a:headEnd type="none" w="med" len="med"/>
            <a:tailEnd type="arrow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rgbClr val="000000"/>
                </a:solidFill>
                <a:latin typeface="Verdana" panose="020B0604030504040204" pitchFamily="34" charset="0"/>
              </a:rPr>
              <a:t>I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nformation to the browser to ensure </a:t>
            </a:r>
            <a:r>
              <a:rPr lang="en-GB" sz="1400" b="1" i="0" dirty="0">
                <a:solidFill>
                  <a:srgbClr val="0A0A23"/>
                </a:solidFill>
                <a:effectLst/>
                <a:latin typeface="Lato" panose="020F0502020204030203" pitchFamily="34" charset="0"/>
              </a:rPr>
              <a:t>web page is parsed the same way by different web browsers</a:t>
            </a:r>
            <a:endParaRPr lang="en-GB" sz="1400" b="1" dirty="0"/>
          </a:p>
        </p:txBody>
      </p:sp>
      <p:sp>
        <p:nvSpPr>
          <p:cNvPr id="9" name="Callout: Line 8">
            <a:extLst>
              <a:ext uri="{FF2B5EF4-FFF2-40B4-BE49-F238E27FC236}">
                <a16:creationId xmlns:a16="http://schemas.microsoft.com/office/drawing/2014/main" id="{A69AE4D4-41F1-4697-8498-A7586FD1F3CF}"/>
              </a:ext>
            </a:extLst>
          </p:cNvPr>
          <p:cNvSpPr/>
          <p:nvPr/>
        </p:nvSpPr>
        <p:spPr>
          <a:xfrm>
            <a:off x="7897949" y="3334677"/>
            <a:ext cx="3340322" cy="452197"/>
          </a:xfrm>
          <a:prstGeom prst="borderCallout1">
            <a:avLst>
              <a:gd name="adj1" fmla="val 52602"/>
              <a:gd name="adj2" fmla="val 1"/>
              <a:gd name="adj3" fmla="val -60637"/>
              <a:gd name="adj4" fmla="val -9081"/>
            </a:avLst>
          </a:prstGeom>
          <a:solidFill>
            <a:schemeClr val="tx1">
              <a:lumMod val="10000"/>
              <a:lumOff val="90000"/>
            </a:schemeClr>
          </a:solidFill>
          <a:ln w="19050">
            <a:headEnd type="none" w="med" len="med"/>
            <a:tailEnd type="arrow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rgbClr val="000000"/>
                </a:solidFill>
                <a:latin typeface="Verdana" panose="020B0604030504040204" pitchFamily="34" charset="0"/>
              </a:rPr>
              <a:t>Best display for the user’s viewport</a:t>
            </a:r>
            <a:endParaRPr lang="en-GB" sz="1400" dirty="0"/>
          </a:p>
        </p:txBody>
      </p:sp>
      <p:sp>
        <p:nvSpPr>
          <p:cNvPr id="12" name="Callout: Line 11">
            <a:extLst>
              <a:ext uri="{FF2B5EF4-FFF2-40B4-BE49-F238E27FC236}">
                <a16:creationId xmlns:a16="http://schemas.microsoft.com/office/drawing/2014/main" id="{19B05585-8233-452A-B86C-F6073F6B39DA}"/>
              </a:ext>
            </a:extLst>
          </p:cNvPr>
          <p:cNvSpPr/>
          <p:nvPr/>
        </p:nvSpPr>
        <p:spPr>
          <a:xfrm>
            <a:off x="3879150" y="4042986"/>
            <a:ext cx="2747905" cy="371694"/>
          </a:xfrm>
          <a:prstGeom prst="borderCallout1">
            <a:avLst>
              <a:gd name="adj1" fmla="val 50893"/>
              <a:gd name="adj2" fmla="val -505"/>
              <a:gd name="adj3" fmla="val -42128"/>
              <a:gd name="adj4" fmla="val -14300"/>
            </a:avLst>
          </a:prstGeom>
          <a:solidFill>
            <a:schemeClr val="accent5">
              <a:lumMod val="40000"/>
              <a:lumOff val="60000"/>
            </a:schemeClr>
          </a:solidFill>
          <a:ln>
            <a:headEnd type="none" w="med" len="med"/>
            <a:tailEnd type="arrow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rgbClr val="000000"/>
                </a:solidFill>
                <a:latin typeface="Verdana" panose="020B0604030504040204" pitchFamily="34" charset="0"/>
              </a:rPr>
              <a:t>Best in a separate files</a:t>
            </a:r>
            <a:endParaRPr lang="en-GB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28D976-12AB-4347-AC14-305B82A74B11}"/>
              </a:ext>
            </a:extLst>
          </p:cNvPr>
          <p:cNvSpPr txBox="1"/>
          <p:nvPr/>
        </p:nvSpPr>
        <p:spPr>
          <a:xfrm>
            <a:off x="337091" y="5778132"/>
            <a:ext cx="11354900" cy="73866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l"/>
            <a:r>
              <a:rPr lang="en-GB" sz="14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In older documents (like HTML 4 or XHTML), the 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DOCTYPE</a:t>
            </a:r>
            <a:r>
              <a:rPr lang="en-GB" sz="14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refers to a DTD (Document Type Definition).</a:t>
            </a:r>
          </a:p>
          <a:p>
            <a:pPr algn="l"/>
            <a:r>
              <a:rPr lang="en-GB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HTML 4.01: </a:t>
            </a:r>
            <a:r>
              <a:rPr lang="en-GB" sz="1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sz="1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!DOCTYPE</a:t>
            </a:r>
            <a:r>
              <a:rPr lang="en-GB" sz="1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HTML PUBLIC "-//W3C//DTD HTML 4.01 Transitional//EN" "http://www.w3.org/TR/html4/loose.dtd"</a:t>
            </a:r>
            <a:r>
              <a:rPr lang="en-GB" sz="1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endParaRPr lang="en-GB" sz="14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GB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XHTML 1.1: </a:t>
            </a:r>
            <a:r>
              <a:rPr lang="en-GB" sz="1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sz="1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!DOCTYPE</a:t>
            </a:r>
            <a:r>
              <a:rPr lang="en-GB" sz="1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html PUBLIC "-//W3C//DTD XHTML 1.1//EN" "http://www.w3.org/TR/xhtml11/DTD/xhtml11.dtd"</a:t>
            </a:r>
            <a:r>
              <a:rPr lang="en-GB" sz="1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endParaRPr lang="en-GB" sz="14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82B27D-57DB-4C44-B11D-B128F2BF2205}"/>
              </a:ext>
            </a:extLst>
          </p:cNvPr>
          <p:cNvSpPr txBox="1"/>
          <p:nvPr/>
        </p:nvSpPr>
        <p:spPr>
          <a:xfrm>
            <a:off x="1178585" y="3202099"/>
            <a:ext cx="5104228" cy="584775"/>
          </a:xfrm>
          <a:prstGeom prst="rect">
            <a:avLst/>
          </a:prstGeom>
          <a:noFill/>
          <a:ln w="9525">
            <a:solidFill>
              <a:schemeClr val="accent1">
                <a:lumMod val="50000"/>
                <a:lumOff val="50000"/>
              </a:schemeClr>
            </a:solidFill>
            <a:prstDash val="sysDash"/>
          </a:ln>
        </p:spPr>
        <p:txBody>
          <a:bodyPr wrap="square">
            <a:spAutoFit/>
          </a:bodyPr>
          <a:lstStyle/>
          <a:p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src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="qaScript.js"&gt;&lt;/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link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href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="qaStyle.css"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rel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="stylesheet"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/&gt;</a:t>
            </a:r>
            <a:endParaRPr lang="en-GB" sz="1600" b="1" dirty="0"/>
          </a:p>
        </p:txBody>
      </p:sp>
    </p:spTree>
    <p:extLst>
      <p:ext uri="{BB962C8B-B14F-4D97-AF65-F5344CB8AC3E}">
        <p14:creationId xmlns:p14="http://schemas.microsoft.com/office/powerpoint/2010/main" val="722615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6F948DE-9BA4-4416-B213-36446EDA8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Revision: Tags for displaying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23549-8E19-40A1-A106-9740BFD046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272" y="1319255"/>
            <a:ext cx="11516239" cy="4955354"/>
          </a:xfrm>
        </p:spPr>
        <p:txBody>
          <a:bodyPr/>
          <a:lstStyle/>
          <a:p>
            <a:pPr marL="285750" marR="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 b="1" dirty="0">
                <a:effectLst/>
                <a:latin typeface="Calibri" panose="020F0502020204030204" pitchFamily="34" charset="0"/>
              </a:rPr>
              <a:t>Displaying text and </a:t>
            </a:r>
          </a:p>
          <a:p>
            <a:pPr marL="6413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span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&gt; </a:t>
            </a:r>
            <a:r>
              <a:rPr lang="en-GB" sz="1800" b="1" dirty="0">
                <a:effectLst/>
                <a:latin typeface="Calibri" panose="020F0502020204030204" pitchFamily="34" charset="0"/>
              </a:rPr>
              <a:t>	</a:t>
            </a:r>
          </a:p>
          <a:p>
            <a:pPr marL="6413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h1,2,3,4,5,6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800" b="1" dirty="0">
                <a:effectLst/>
                <a:latin typeface="Calibri" panose="020F0502020204030204" pitchFamily="34" charset="0"/>
              </a:rPr>
              <a:t> </a:t>
            </a:r>
          </a:p>
          <a:p>
            <a:pPr marL="6413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sz="1800" b="1" dirty="0">
              <a:effectLst/>
              <a:latin typeface="Calibri" panose="020F0502020204030204" pitchFamily="34" charset="0"/>
            </a:endParaRPr>
          </a:p>
          <a:p>
            <a:pPr marL="28575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 b="1" dirty="0">
                <a:latin typeface="Calibri" panose="020F0502020204030204" pitchFamily="34" charset="0"/>
              </a:rPr>
              <a:t>Container</a:t>
            </a:r>
          </a:p>
          <a:p>
            <a:pPr marL="6413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800" b="1" dirty="0">
                <a:effectLst/>
                <a:latin typeface="Calibri" panose="020F0502020204030204" pitchFamily="34" charset="0"/>
              </a:rPr>
              <a:t> 	</a:t>
            </a:r>
          </a:p>
          <a:p>
            <a:pPr marL="6413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b="1" dirty="0">
              <a:effectLst/>
              <a:latin typeface="Calibri" panose="020F0502020204030204" pitchFamily="34" charset="0"/>
            </a:endParaRPr>
          </a:p>
          <a:p>
            <a:pPr marL="285750" marR="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sz="1800" b="1" dirty="0">
              <a:latin typeface="Calibri" panose="020F0502020204030204" pitchFamily="34" charset="0"/>
            </a:endParaRPr>
          </a:p>
          <a:p>
            <a:pPr marL="285750" marR="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 b="1" dirty="0">
                <a:latin typeface="Calibri" panose="020F0502020204030204" pitchFamily="34" charset="0"/>
              </a:rPr>
              <a:t>Breaks and lines</a:t>
            </a:r>
            <a:endParaRPr lang="en-GB" sz="1800" b="1" dirty="0">
              <a:effectLst/>
              <a:latin typeface="Calibri" panose="020F0502020204030204" pitchFamily="34" charset="0"/>
            </a:endParaRPr>
          </a:p>
          <a:p>
            <a:pPr marL="6413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hr /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 </a:t>
            </a:r>
            <a:r>
              <a:rPr lang="en-GB" sz="1800" b="1" dirty="0">
                <a:effectLst/>
                <a:latin typeface="Calibri" panose="020F0502020204030204" pitchFamily="34" charset="0"/>
              </a:rPr>
              <a:t> </a:t>
            </a:r>
          </a:p>
          <a:p>
            <a:pPr marL="6413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 err="1">
                <a:solidFill>
                  <a:srgbClr val="800000"/>
                </a:solidFill>
                <a:latin typeface="Consolas" panose="020B0609020204030204" pitchFamily="49" charset="0"/>
              </a:rPr>
              <a:t>br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 /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</a:p>
          <a:p>
            <a:pPr marL="6413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sz="1800" b="1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 marR="0">
              <a:spcBef>
                <a:spcPts val="0"/>
              </a:spcBef>
              <a:spcAft>
                <a:spcPts val="0"/>
              </a:spcAft>
            </a:pPr>
            <a:endParaRPr lang="en-GB" sz="1800" b="1" dirty="0">
              <a:effectLst/>
              <a:latin typeface="Calibri" panose="020F0502020204030204" pitchFamily="34" charset="0"/>
            </a:endParaRPr>
          </a:p>
          <a:p>
            <a:pPr marL="285750" marR="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sz="1800" b="1" dirty="0">
              <a:effectLst/>
              <a:latin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E24FB9-B73A-4AD7-9638-058CF7068604}"/>
              </a:ext>
            </a:extLst>
          </p:cNvPr>
          <p:cNvSpPr txBox="1"/>
          <p:nvPr/>
        </p:nvSpPr>
        <p:spPr>
          <a:xfrm>
            <a:off x="4980037" y="1583366"/>
            <a:ext cx="2703871" cy="452431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h1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Heading 1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h1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h2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Heading 2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h2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h3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Heading 3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h3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h4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Heading 4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h4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h5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Heading 5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h5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h6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Heading 6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h6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span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span1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span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span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span2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span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span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span3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span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 err="1">
                <a:solidFill>
                  <a:srgbClr val="800000"/>
                </a:solidFill>
                <a:latin typeface="Consolas" panose="020B0609020204030204" pitchFamily="49" charset="0"/>
              </a:rPr>
              <a:t>br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/&gt;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div1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div2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hr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/&gt;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Paragrap1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Paragrap2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871AF5-ABE0-47E9-8384-286A431108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9330" y="995362"/>
            <a:ext cx="3009900" cy="54768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190DE9D1-FCD5-4A25-94AC-5F93A5186992}"/>
              </a:ext>
            </a:extLst>
          </p:cNvPr>
          <p:cNvSpPr/>
          <p:nvPr/>
        </p:nvSpPr>
        <p:spPr>
          <a:xfrm>
            <a:off x="7688825" y="3274139"/>
            <a:ext cx="452284" cy="452284"/>
          </a:xfrm>
          <a:prstGeom prst="rightArrow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5867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6F948DE-9BA4-4416-B213-36446EDA8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Controls for inputting and selecting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23549-8E19-40A1-A106-9740BFD04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marR="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b="1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285750" marR="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b="1" dirty="0">
                <a:solidFill>
                  <a:srgbClr val="800000"/>
                </a:solidFill>
                <a:latin typeface="Consolas" panose="020B0609020204030204" pitchFamily="49" charset="0"/>
              </a:rPr>
              <a:t>input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="___"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/&gt;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413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413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413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413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Other attributes</a:t>
            </a:r>
          </a:p>
          <a:p>
            <a:pPr marL="641350" lvl="4" indent="-285750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min, max   	</a:t>
            </a:r>
          </a:p>
          <a:p>
            <a:pPr marL="641350" lvl="4" indent="-285750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autocomplete	</a:t>
            </a:r>
            <a:r>
              <a:rPr lang="en-GB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off/on </a:t>
            </a:r>
          </a:p>
          <a:p>
            <a:pPr marL="641350" lvl="4" indent="-285750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spellcheck	</a:t>
            </a:r>
            <a:r>
              <a:rPr lang="en-GB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true/false</a:t>
            </a:r>
          </a:p>
          <a:p>
            <a:pPr marL="641350" lvl="4" indent="-285750"/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maxlength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41350" lvl="4" indent="-285750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placeholder</a:t>
            </a:r>
          </a:p>
          <a:p>
            <a:pPr marL="641350" lvl="4" indent="-285750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disabled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8A3690-CD5B-4ACE-A7B2-99D2617BF97F}"/>
              </a:ext>
            </a:extLst>
          </p:cNvPr>
          <p:cNvSpPr txBox="1"/>
          <p:nvPr/>
        </p:nvSpPr>
        <p:spPr>
          <a:xfrm>
            <a:off x="3048885" y="4810385"/>
            <a:ext cx="8808903" cy="954107"/>
          </a:xfrm>
          <a:prstGeom prst="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dirty="0">
                <a:solidFill>
                  <a:srgbClr val="800000"/>
                </a:solidFill>
                <a:latin typeface="Consolas" panose="020B0609020204030204" pitchFamily="49" charset="0"/>
              </a:rPr>
              <a:t>input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="number"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min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="1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max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="50"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placeholder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="type a number (1-50)"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/&gt;</a:t>
            </a:r>
            <a:endParaRPr lang="en-GB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dirty="0">
                <a:solidFill>
                  <a:srgbClr val="800000"/>
                </a:solidFill>
                <a:latin typeface="Consolas" panose="020B0609020204030204" pitchFamily="49" charset="0"/>
              </a:rPr>
              <a:t>input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="text"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maxlength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="10"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</a:rPr>
              <a:t>placeholder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="type password (1-10)"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</a:rPr>
              <a:t>required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/&gt;</a:t>
            </a:r>
          </a:p>
          <a:p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dirty="0">
                <a:solidFill>
                  <a:srgbClr val="800000"/>
                </a:solidFill>
                <a:latin typeface="Consolas" panose="020B0609020204030204" pitchFamily="49" charset="0"/>
              </a:rPr>
              <a:t>input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="text"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</a:rPr>
              <a:t>placeholder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="type your name"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spellcheck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="false"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autocomplete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="off"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/&gt;</a:t>
            </a:r>
          </a:p>
          <a:p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dirty="0">
                <a:solidFill>
                  <a:srgbClr val="800000"/>
                </a:solidFill>
                <a:latin typeface="Consolas" panose="020B0609020204030204" pitchFamily="49" charset="0"/>
              </a:rPr>
              <a:t>button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</a:rPr>
              <a:t>disabled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OK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dirty="0">
                <a:solidFill>
                  <a:srgbClr val="800000"/>
                </a:solidFill>
                <a:latin typeface="Consolas" panose="020B0609020204030204" pitchFamily="49" charset="0"/>
              </a:rPr>
              <a:t>button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C1B4408-0756-40C2-A83E-8A054BBB1FD3}"/>
              </a:ext>
            </a:extLst>
          </p:cNvPr>
          <p:cNvSpPr/>
          <p:nvPr/>
        </p:nvSpPr>
        <p:spPr>
          <a:xfrm>
            <a:off x="3687099" y="1524002"/>
            <a:ext cx="5525728" cy="1494503"/>
          </a:xfrm>
          <a:prstGeom prst="roundRect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text 	number 	email 	URL 	password</a:t>
            </a:r>
            <a:b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date 	datetime 	time 	day	month 	week</a:t>
            </a:r>
            <a:b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submit	reset		</a:t>
            </a:r>
            <a:b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File</a:t>
            </a:r>
            <a:b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range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087C1BB-E8EF-4905-865D-059296401BD5}"/>
              </a:ext>
            </a:extLst>
          </p:cNvPr>
          <p:cNvSpPr/>
          <p:nvPr/>
        </p:nvSpPr>
        <p:spPr>
          <a:xfrm>
            <a:off x="2566735" y="1956618"/>
            <a:ext cx="1041702" cy="600587"/>
          </a:xfrm>
          <a:custGeom>
            <a:avLst/>
            <a:gdLst>
              <a:gd name="connsiteX0" fmla="*/ 19148 w 1041702"/>
              <a:gd name="connsiteY0" fmla="*/ 0 h 600587"/>
              <a:gd name="connsiteX1" fmla="*/ 137135 w 1041702"/>
              <a:gd name="connsiteY1" fmla="*/ 521110 h 600587"/>
              <a:gd name="connsiteX2" fmla="*/ 1041702 w 1041702"/>
              <a:gd name="connsiteY2" fmla="*/ 589935 h 600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41702" h="600587">
                <a:moveTo>
                  <a:pt x="19148" y="0"/>
                </a:moveTo>
                <a:cubicBezTo>
                  <a:pt x="-7072" y="211394"/>
                  <a:pt x="-33291" y="422788"/>
                  <a:pt x="137135" y="521110"/>
                </a:cubicBezTo>
                <a:cubicBezTo>
                  <a:pt x="307561" y="619432"/>
                  <a:pt x="674631" y="604683"/>
                  <a:pt x="1041702" y="589935"/>
                </a:cubicBezTo>
              </a:path>
            </a:pathLst>
          </a:custGeom>
          <a:ln w="28575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75633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04B69F7-779F-418B-9987-14F1786A86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CSS Selectors</a:t>
            </a:r>
            <a:endParaRPr lang="en-IN" b="1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19662BF-5EE9-4D76-B077-72C8FB62A10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8146" y="579549"/>
            <a:ext cx="5763653" cy="4591000"/>
          </a:xfrm>
        </p:spPr>
        <p:txBody>
          <a:bodyPr wrap="square">
            <a:spAutoFit/>
          </a:bodyPr>
          <a:lstStyle/>
          <a:p>
            <a:pPr marL="342900" indent="-342900"/>
            <a:r>
              <a:rPr lang="en-GB" b="1" dirty="0">
                <a:latin typeface="+mn-lt"/>
              </a:rPr>
              <a:t>CSS consists of selectors</a:t>
            </a:r>
          </a:p>
          <a:p>
            <a:pPr marL="342900" lvl="1" indent="-342900">
              <a:spcAft>
                <a:spcPts val="650"/>
              </a:spcAft>
              <a:buSzPct val="115000"/>
            </a:pPr>
            <a:r>
              <a:rPr lang="en-GB" dirty="0">
                <a:latin typeface="+mn-lt"/>
              </a:rPr>
              <a:t>The selector chooses the elements </a:t>
            </a:r>
          </a:p>
          <a:p>
            <a:pPr marL="342900" lvl="1" indent="-342900">
              <a:spcAft>
                <a:spcPts val="650"/>
              </a:spcAft>
              <a:buSzPct val="115000"/>
            </a:pPr>
            <a:r>
              <a:rPr lang="en-GB" dirty="0">
                <a:latin typeface="+mn-lt"/>
              </a:rPr>
              <a:t>You can then change attributes</a:t>
            </a:r>
          </a:p>
          <a:p>
            <a:pPr marL="342900" lvl="1" indent="-342900">
              <a:spcAft>
                <a:spcPts val="650"/>
              </a:spcAft>
              <a:buSzPct val="115000"/>
            </a:pPr>
            <a:r>
              <a:rPr lang="en-GB" b="1" dirty="0">
                <a:latin typeface="+mn-lt"/>
              </a:rPr>
              <a:t>Selectors are based on:</a:t>
            </a:r>
          </a:p>
          <a:p>
            <a:pPr marL="342900" lvl="1" indent="-342900">
              <a:spcAft>
                <a:spcPts val="650"/>
              </a:spcAft>
              <a:buSzPct val="115000"/>
            </a:pPr>
            <a:r>
              <a:rPr lang="en-GB" dirty="0">
                <a:latin typeface="+mn-lt"/>
              </a:rPr>
              <a:t>The </a:t>
            </a:r>
            <a:r>
              <a:rPr lang="en-GB" b="1" dirty="0">
                <a:latin typeface="+mn-lt"/>
              </a:rPr>
              <a:t>name</a:t>
            </a:r>
            <a:r>
              <a:rPr lang="en-GB" dirty="0">
                <a:latin typeface="+mn-lt"/>
              </a:rPr>
              <a:t> of the tag</a:t>
            </a:r>
          </a:p>
          <a:p>
            <a:pPr marL="342900" lvl="1" indent="-342900">
              <a:spcAft>
                <a:spcPts val="650"/>
              </a:spcAft>
              <a:buSzPct val="115000"/>
            </a:pPr>
            <a:r>
              <a:rPr lang="en-GB" dirty="0">
                <a:latin typeface="+mn-lt"/>
              </a:rPr>
              <a:t>The </a:t>
            </a:r>
            <a:r>
              <a:rPr lang="en-GB" b="1" dirty="0">
                <a:latin typeface="+mn-lt"/>
              </a:rPr>
              <a:t>id</a:t>
            </a:r>
            <a:r>
              <a:rPr lang="en-GB" dirty="0">
                <a:latin typeface="+mn-lt"/>
              </a:rPr>
              <a:t> of the tag</a:t>
            </a:r>
          </a:p>
          <a:p>
            <a:pPr marL="342900" lvl="1" indent="-342900">
              <a:spcAft>
                <a:spcPts val="650"/>
              </a:spcAft>
              <a:buSzPct val="115000"/>
            </a:pPr>
            <a:r>
              <a:rPr lang="en-GB" dirty="0">
                <a:latin typeface="+mn-lt"/>
              </a:rPr>
              <a:t>The </a:t>
            </a:r>
            <a:r>
              <a:rPr lang="en-GB" dirty="0" err="1">
                <a:latin typeface="+mn-lt"/>
              </a:rPr>
              <a:t>css</a:t>
            </a:r>
            <a:r>
              <a:rPr lang="en-GB" dirty="0">
                <a:latin typeface="+mn-lt"/>
              </a:rPr>
              <a:t> </a:t>
            </a:r>
            <a:r>
              <a:rPr lang="en-GB" b="1" dirty="0">
                <a:latin typeface="+mn-lt"/>
              </a:rPr>
              <a:t>class </a:t>
            </a:r>
            <a:r>
              <a:rPr lang="en-GB" dirty="0">
                <a:latin typeface="+mn-lt"/>
              </a:rPr>
              <a:t>of the tag</a:t>
            </a:r>
          </a:p>
          <a:p>
            <a:pPr indent="-342900"/>
            <a:endParaRPr lang="en-GB" b="1" dirty="0">
              <a:solidFill>
                <a:srgbClr val="F3622C"/>
              </a:solidFill>
              <a:latin typeface="+mn-lt"/>
            </a:endParaRPr>
          </a:p>
          <a:p>
            <a:pPr indent="-342900"/>
            <a:r>
              <a:rPr lang="en-GB" b="1" dirty="0">
                <a:solidFill>
                  <a:srgbClr val="F3622C"/>
                </a:solidFill>
                <a:latin typeface="+mn-lt"/>
              </a:rPr>
              <a:t>Write a few of these selectors.</a:t>
            </a:r>
          </a:p>
          <a:p>
            <a:pPr marL="342900" lvl="1" indent="-342900">
              <a:spcAft>
                <a:spcPts val="650"/>
              </a:spcAft>
              <a:buSzPct val="115000"/>
            </a:pPr>
            <a:r>
              <a:rPr lang="en-GB" dirty="0">
                <a:latin typeface="+mn-lt"/>
              </a:rPr>
              <a:t>How many ways do you know of to join items together within a selector?</a:t>
            </a:r>
          </a:p>
          <a:p>
            <a:pPr marL="342900" indent="-342900">
              <a:buChar char="•"/>
            </a:pPr>
            <a:endParaRPr lang="en-IN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914964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CSS Selectors – A few examples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C2F041-80D5-4440-BB33-BFC3161D3C50}"/>
              </a:ext>
            </a:extLst>
          </p:cNvPr>
          <p:cNvSpPr txBox="1"/>
          <p:nvPr/>
        </p:nvSpPr>
        <p:spPr>
          <a:xfrm>
            <a:off x="196300" y="1417967"/>
            <a:ext cx="5899700" cy="452431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h1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QA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h1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</a:p>
          <a:p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Paragraph text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GB" sz="18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some text in a div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GB" sz="18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id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="div1"&gt;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div with id=div1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GB" sz="18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="note"&gt;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div with class=note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GB" sz="18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span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span contained in a div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span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GB" sz="18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 err="1">
                <a:solidFill>
                  <a:srgbClr val="800000"/>
                </a:solidFill>
                <a:latin typeface="Consolas" panose="020B0609020204030204" pitchFamily="49" charset="0"/>
              </a:rPr>
              <a:t>br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/&gt;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span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span NOT contained in a div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span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57E709-927C-4958-A2F5-55B58FBA7AAF}"/>
              </a:ext>
            </a:extLst>
          </p:cNvPr>
          <p:cNvSpPr txBox="1"/>
          <p:nvPr/>
        </p:nvSpPr>
        <p:spPr>
          <a:xfrm>
            <a:off x="6281936" y="1417967"/>
            <a:ext cx="5575853" cy="452431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h1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text-align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center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;  }</a:t>
            </a:r>
          </a:p>
          <a:p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background-color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lightblue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border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1px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dashed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blue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padding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10px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#div1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color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red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;  }</a:t>
            </a:r>
          </a:p>
          <a:p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.note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background-color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gray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endParaRPr lang="en-GB" sz="1800" dirty="0">
              <a:solidFill>
                <a:srgbClr val="8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border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1px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solid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red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;   }</a:t>
            </a:r>
          </a:p>
          <a:p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span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background-color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lightyellow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margin-left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20px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6313D79-94C9-4B95-9FD8-D8AA0202D041}"/>
              </a:ext>
            </a:extLst>
          </p:cNvPr>
          <p:cNvCxnSpPr/>
          <p:nvPr/>
        </p:nvCxnSpPr>
        <p:spPr>
          <a:xfrm flipH="1">
            <a:off x="5168348" y="3260035"/>
            <a:ext cx="1113588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1454AA1-AD77-4F4D-9521-228D747724D3}"/>
              </a:ext>
            </a:extLst>
          </p:cNvPr>
          <p:cNvCxnSpPr>
            <a:cxnSpLocks/>
          </p:cNvCxnSpPr>
          <p:nvPr/>
        </p:nvCxnSpPr>
        <p:spPr>
          <a:xfrm flipH="1">
            <a:off x="5725142" y="3829877"/>
            <a:ext cx="570047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38762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CSS Selectors – A few examples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C2F041-80D5-4440-BB33-BFC3161D3C50}"/>
              </a:ext>
            </a:extLst>
          </p:cNvPr>
          <p:cNvSpPr txBox="1"/>
          <p:nvPr/>
        </p:nvSpPr>
        <p:spPr>
          <a:xfrm>
            <a:off x="196300" y="1417967"/>
            <a:ext cx="5899700" cy="452431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h1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QA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h1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</a:p>
          <a:p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Paragraph text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GB" sz="18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some text in a div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GB" sz="18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id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="div1"&gt;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div with id=div1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GB" sz="18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="note"&gt;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div with class=note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GB" sz="18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span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span contained in a div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span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GB" sz="18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 err="1">
                <a:solidFill>
                  <a:srgbClr val="800000"/>
                </a:solidFill>
                <a:latin typeface="Consolas" panose="020B0609020204030204" pitchFamily="49" charset="0"/>
              </a:rPr>
              <a:t>br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/&gt;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span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span NOT contained in a div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span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57E709-927C-4958-A2F5-55B58FBA7AAF}"/>
              </a:ext>
            </a:extLst>
          </p:cNvPr>
          <p:cNvSpPr txBox="1"/>
          <p:nvPr/>
        </p:nvSpPr>
        <p:spPr>
          <a:xfrm>
            <a:off x="6301409" y="1119525"/>
            <a:ext cx="5555978" cy="507831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GB" sz="1800" dirty="0">
              <a:solidFill>
                <a:srgbClr val="8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border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1px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dashed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black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box-shadow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2px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2px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2px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gray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padding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10px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span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background-color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8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lightgreen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GB" b="1" dirty="0">
              <a:solidFill>
                <a:srgbClr val="8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body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*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width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20%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GB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 err="1">
                <a:solidFill>
                  <a:srgbClr val="800000"/>
                </a:solidFill>
                <a:latin typeface="Consolas" panose="020B0609020204030204" pitchFamily="49" charset="0"/>
              </a:rPr>
              <a:t>div:hover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background-color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yellow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GB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28033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15CDF92-2DE1-4668-A80B-4D54096FF7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Summary</a:t>
            </a:r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AEB78BA-03BA-461B-AA4E-0B0ADAD6A05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8147" y="579549"/>
            <a:ext cx="5436128" cy="5899039"/>
          </a:xfrm>
        </p:spPr>
        <p:txBody>
          <a:bodyPr anchor="ctr" anchorCtr="0"/>
          <a:lstStyle/>
          <a:p>
            <a:r>
              <a:rPr lang="en-GB" b="1" dirty="0"/>
              <a:t>In this chapter, you:</a:t>
            </a:r>
          </a:p>
          <a:p>
            <a:pPr marL="342000" lvl="1" indent="-342000">
              <a:spcAft>
                <a:spcPts val="650"/>
              </a:spcAft>
              <a:buSzPct val="115000"/>
            </a:pPr>
            <a:endParaRPr lang="en-GB" dirty="0"/>
          </a:p>
          <a:p>
            <a:pPr marL="342000" lvl="1" indent="-342000">
              <a:spcAft>
                <a:spcPts val="650"/>
              </a:spcAft>
              <a:buSzPct val="115000"/>
            </a:pPr>
            <a:r>
              <a:rPr lang="en-GB" dirty="0"/>
              <a:t>Revised the </a:t>
            </a:r>
            <a:r>
              <a:rPr lang="en-GB" b="1" dirty="0"/>
              <a:t>HTML</a:t>
            </a:r>
            <a:r>
              <a:rPr lang="en-GB" dirty="0"/>
              <a:t> you learned on the pre-learning</a:t>
            </a:r>
            <a:br>
              <a:rPr lang="en-GB" dirty="0"/>
            </a:br>
            <a:endParaRPr lang="en-GB" dirty="0"/>
          </a:p>
          <a:p>
            <a:pPr marL="342000" lvl="1" indent="-342000">
              <a:spcAft>
                <a:spcPts val="650"/>
              </a:spcAft>
              <a:buSzPct val="115000"/>
            </a:pPr>
            <a:r>
              <a:rPr lang="en-GB" dirty="0"/>
              <a:t>Revised the </a:t>
            </a:r>
            <a:r>
              <a:rPr lang="en-GB" b="1" dirty="0"/>
              <a:t>CSS </a:t>
            </a:r>
            <a:r>
              <a:rPr lang="en-GB" dirty="0"/>
              <a:t>you learned on the pre-learning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18799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During your pre-learning, you may have used the Cloud Academy HTML/CSS editor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This has some restriction</a:t>
            </a:r>
            <a:r>
              <a:rPr lang="en-GB" dirty="0"/>
              <a:t>s</a:t>
            </a:r>
          </a:p>
          <a:p>
            <a:pPr marL="684900" lvl="1" indent="-342900">
              <a:buSzPct val="115000"/>
              <a:buFont typeface="Arial" panose="020B0604020202020204" pitchFamily="34" charset="0"/>
              <a:buChar char="•"/>
            </a:pPr>
            <a:r>
              <a:rPr lang="en-GB" dirty="0"/>
              <a:t>The biggest restrictions are that it only allows you to work on one page; and the page can only be shown as part of the editor</a:t>
            </a:r>
          </a:p>
          <a:p>
            <a:pPr lvl="1"/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In this lab, you will:</a:t>
            </a:r>
          </a:p>
          <a:p>
            <a:pPr marL="684900" lvl="1" indent="-342900">
              <a:buSzPct val="115000"/>
              <a:buFont typeface="Arial" panose="020B0604020202020204" pitchFamily="34" charset="0"/>
              <a:buChar char="•"/>
            </a:pPr>
            <a:r>
              <a:rPr lang="en-GB" dirty="0"/>
              <a:t>Learn that HTML files are simply plain text</a:t>
            </a:r>
          </a:p>
          <a:p>
            <a:pPr marL="684900" lvl="1" indent="-342900">
              <a:buSzPct val="115000"/>
              <a:buFont typeface="Arial" panose="020B0604020202020204" pitchFamily="34" charset="0"/>
              <a:buChar char="•"/>
            </a:pPr>
            <a:r>
              <a:rPr lang="en-GB" dirty="0"/>
              <a:t>Learn that using an IDE can simplify the task of writing HTML</a:t>
            </a:r>
          </a:p>
          <a:p>
            <a:pPr marL="684900" lvl="1" indent="-342900">
              <a:buSzPct val="115000"/>
              <a:buFont typeface="Arial" panose="020B0604020202020204" pitchFamily="34" charset="0"/>
              <a:buChar char="•"/>
            </a:pPr>
            <a:r>
              <a:rPr lang="en-GB" dirty="0"/>
              <a:t>Move your pre-learning into Visual Studio Code, which is an IDE that supports many languages including HTML/CSS</a:t>
            </a:r>
          </a:p>
          <a:p>
            <a:pPr marL="684000" lvl="1" indent="-342000">
              <a:buSzPct val="115000"/>
            </a:pPr>
            <a:endParaRPr lang="en-GB" dirty="0"/>
          </a:p>
          <a:p>
            <a:pPr marL="684000" lvl="1" indent="0">
              <a:buSzPct val="115000"/>
              <a:buNone/>
            </a:pPr>
            <a:r>
              <a:rPr lang="en-GB" b="1" dirty="0"/>
              <a:t>Chapter 1 - HTML and CSS Revision.docx</a:t>
            </a:r>
          </a:p>
          <a:p>
            <a:pPr marL="684000" lvl="1" indent="-342000">
              <a:buSzPct val="115000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5372585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861ba5a240904b86632099fc56e12dead204a13"/>
</p:tagLst>
</file>

<file path=ppt/theme/theme1.xml><?xml version="1.0" encoding="utf-8"?>
<a:theme xmlns:a="http://schemas.openxmlformats.org/drawingml/2006/main" name="Master">
  <a:themeElements>
    <a:clrScheme name="QA Branding Custom Colour Set">
      <a:dk1>
        <a:srgbClr val="004050"/>
      </a:dk1>
      <a:lt1>
        <a:srgbClr val="FFFFFF"/>
      </a:lt1>
      <a:dk2>
        <a:srgbClr val="00EDB5"/>
      </a:dk2>
      <a:lt2>
        <a:srgbClr val="FFFFFF"/>
      </a:lt2>
      <a:accent1>
        <a:srgbClr val="004050"/>
      </a:accent1>
      <a:accent2>
        <a:srgbClr val="00EDB5"/>
      </a:accent2>
      <a:accent3>
        <a:srgbClr val="7F007D"/>
      </a:accent3>
      <a:accent4>
        <a:srgbClr val="FF004C"/>
      </a:accent4>
      <a:accent5>
        <a:srgbClr val="F8D237"/>
      </a:accent5>
      <a:accent6>
        <a:srgbClr val="F3612C"/>
      </a:accent6>
      <a:hlink>
        <a:srgbClr val="004050"/>
      </a:hlink>
      <a:folHlink>
        <a:srgbClr val="00EDB5"/>
      </a:folHlink>
    </a:clrScheme>
    <a:fontScheme name="QA Brand Fonts 2019">
      <a:majorFont>
        <a:latin typeface="Krana Fat B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0" tIns="0" rIns="0" bIns="0" rtlCol="0" anchor="t" anchorCtr="0">
        <a:norm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rainer Slidedeck Template DRAFT v0.1" id="{7AC1CA74-4441-42CA-9897-72DF6ED83A1A}" vid="{6017FA94-E546-4DB4-BF25-6AABB84AA04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Courseware" ma:contentTypeID="0x010100F0967B7CEE8D417F966757887D9466FB005CB7CECC996A5B448C70C3215DE65491" ma:contentTypeVersion="0" ma:contentTypeDescription="Base content type which represents courseware documents" ma:contentTypeScope="" ma:versionID="633ed7bf8a9769dc10b8af609c2e65e8">
  <xsd:schema xmlns:xsd="http://www.w3.org/2001/XMLSchema" xmlns:xs="http://www.w3.org/2001/XMLSchema" xmlns:p="http://schemas.microsoft.com/office/2006/metadata/properties" xmlns:ns2="B42EA499-AA80-4ED5-9ED5-37A17D3EB549" targetNamespace="http://schemas.microsoft.com/office/2006/metadata/properties" ma:root="true" ma:fieldsID="6641bdc0935a9ffdc34b1682c1e0febc" ns2:_="">
    <xsd:import namespace="B42EA499-AA80-4ED5-9ED5-37A17D3EB549"/>
    <xsd:element name="properties">
      <xsd:complexType>
        <xsd:sequence>
          <xsd:element name="documentManagement">
            <xsd:complexType>
              <xsd:all>
                <xsd:element ref="ns2:BookTypeField0" minOccurs="0"/>
                <xsd:element ref="ns2:SequenceNumber" minOccurs="0"/>
                <xsd:element ref="ns2:IsBuildFil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2EA499-AA80-4ED5-9ED5-37A17D3EB549" elementFormDefault="qualified">
    <xsd:import namespace="http://schemas.microsoft.com/office/2006/documentManagement/types"/>
    <xsd:import namespace="http://schemas.microsoft.com/office/infopath/2007/PartnerControls"/>
    <xsd:element name="BookTypeField0" ma:index="9" nillable="true" ma:taxonomy="true" ma:internalName="BookTypeField0" ma:taxonomyFieldName="BookType" ma:displayName="Book Type" ma:fieldId="{e7c6b654-e04e-4e45-9cfd-676dbef3a3c6}" ma:sspId="63102202-80dd-4165-b1ca-d09cf2756dc1" ma:termSetId="3300959e-7346-4208-831a-90b552f1677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equenceNumber" ma:index="10" nillable="true" ma:displayName="Sequence Number" ma:decimals="0" ma:internalName="SequenceNumber">
      <xsd:simpleType>
        <xsd:restriction base="dms:Number"/>
      </xsd:simpleType>
    </xsd:element>
    <xsd:element name="IsBuildFile" ma:index="11" nillable="true" ma:displayName="Is Build File" ma:hidden="true" ma:internalName="IsBuildFil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ookTypeField0 xmlns="B42EA499-AA80-4ED5-9ED5-37A17D3EB549">
      <Terms xmlns="http://schemas.microsoft.com/office/infopath/2007/PartnerControls">
        <TermInfo xmlns="http://schemas.microsoft.com/office/infopath/2007/PartnerControls">
          <TermName xmlns="http://schemas.microsoft.com/office/infopath/2007/PartnerControls">IK</TermName>
          <TermId xmlns="http://schemas.microsoft.com/office/infopath/2007/PartnerControls">5abe6401-e87a-4499-80b4-3d21a1a6ebd7</TermId>
        </TermInfo>
      </Terms>
    </BookTypeField0>
    <IsBuildFile xmlns="B42EA499-AA80-4ED5-9ED5-37A17D3EB549" xsi:nil="true"/>
    <SequenceNumber xmlns="B42EA499-AA80-4ED5-9ED5-37A17D3EB549" xsi:nil="true"/>
  </documentManagement>
</p:properties>
</file>

<file path=customXml/itemProps1.xml><?xml version="1.0" encoding="utf-8"?>
<ds:datastoreItem xmlns:ds="http://schemas.openxmlformats.org/officeDocument/2006/customXml" ds:itemID="{220B072D-41B9-49A6-AB49-C984E780EE7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42EA499-AA80-4ED5-9ED5-37A17D3EB5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6C9D03F-9495-4B67-824A-62063EE68A9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1EC94F4-4A12-4CBE-88D0-D83683647547}">
  <ds:schemaRefs>
    <ds:schemaRef ds:uri="http://www.w3.org/XML/1998/namespace"/>
    <ds:schemaRef ds:uri="http://schemas.openxmlformats.org/package/2006/metadata/core-properties"/>
    <ds:schemaRef ds:uri="http://purl.org/dc/elements/1.1/"/>
    <ds:schemaRef ds:uri="http://purl.org/dc/dcmitype/"/>
    <ds:schemaRef ds:uri="http://schemas.microsoft.com/office/2006/documentManagement/types"/>
    <ds:schemaRef ds:uri="67D003FF-473B-44DF-AA49-3DBF65443EE2"/>
    <ds:schemaRef ds:uri="http://schemas.microsoft.com/office/infopath/2007/PartnerControls"/>
    <ds:schemaRef ds:uri="http://schemas.microsoft.com/office/2006/metadata/properties"/>
    <ds:schemaRef ds:uri="http://purl.org/dc/terms/"/>
    <ds:schemaRef ds:uri="B42EA499-AA80-4ED5-9ED5-37A17D3EB549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1422</TotalTime>
  <Words>1163</Words>
  <Application>Microsoft Office PowerPoint</Application>
  <PresentationFormat>Widescreen</PresentationFormat>
  <Paragraphs>206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Consolas</vt:lpstr>
      <vt:lpstr>Krana Fat B</vt:lpstr>
      <vt:lpstr>Lato</vt:lpstr>
      <vt:lpstr>Montserrat</vt:lpstr>
      <vt:lpstr>Verdana</vt:lpstr>
      <vt:lpstr>Master</vt:lpstr>
      <vt:lpstr>Web Fundamentals </vt:lpstr>
      <vt:lpstr>HTML and CSS Revision</vt:lpstr>
      <vt:lpstr>PowerPoint Presentation</vt:lpstr>
      <vt:lpstr>HTML Tags</vt:lpstr>
      <vt:lpstr>HTML5 page  (Hypertext Markup Language)</vt:lpstr>
      <vt:lpstr>Revision: Tags for displaying data</vt:lpstr>
      <vt:lpstr>Controls for inputting and selecting data</vt:lpstr>
      <vt:lpstr>PowerPoint Presentation</vt:lpstr>
      <vt:lpstr>CSS Selectors – A few examples</vt:lpstr>
      <vt:lpstr>CSS Selectors – A few examples</vt:lpstr>
      <vt:lpstr>PowerPoint Presentation</vt:lpstr>
      <vt:lpstr>Lab</vt:lpstr>
    </vt:vector>
  </TitlesOfParts>
  <Manager/>
  <Company>QA Ltd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Singh, Vaishali</dc:creator>
  <cp:keywords/>
  <dc:description/>
  <cp:lastModifiedBy>Mike Baradaran</cp:lastModifiedBy>
  <cp:revision>143</cp:revision>
  <cp:lastPrinted>2019-07-03T09:46:41Z</cp:lastPrinted>
  <dcterms:created xsi:type="dcterms:W3CDTF">2019-09-05T08:17:12Z</dcterms:created>
  <dcterms:modified xsi:type="dcterms:W3CDTF">2022-09-08T07:44:16Z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0x010100F0967B7CEE8D417F966757887D9466FB005CB7CECC996A5B448C70C3215DE65491</vt:lpwstr>
  </property>
  <property fmtid="{D5CDD505-2E9C-101B-9397-08002B2CF9AE}" pid="3" name="BookType">
    <vt:lpwstr>4</vt:lpwstr>
  </property>
</Properties>
</file>