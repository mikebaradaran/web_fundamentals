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277" r:id="rId5"/>
    <p:sldId id="278" r:id="rId6"/>
    <p:sldId id="279" r:id="rId7"/>
    <p:sldId id="280" r:id="rId8"/>
    <p:sldId id="614" r:id="rId9"/>
    <p:sldId id="615" r:id="rId10"/>
    <p:sldId id="616" r:id="rId11"/>
    <p:sldId id="617" r:id="rId12"/>
    <p:sldId id="285" r:id="rId13"/>
    <p:sldId id="286" r:id="rId14"/>
    <p:sldId id="287" r:id="rId15"/>
    <p:sldId id="288" r:id="rId16"/>
    <p:sldId id="611" r:id="rId17"/>
    <p:sldId id="290" r:id="rId18"/>
    <p:sldId id="291" r:id="rId19"/>
    <p:sldId id="612" r:id="rId20"/>
    <p:sldId id="613" r:id="rId21"/>
    <p:sldId id="294" r:id="rId22"/>
    <p:sldId id="295" r:id="rId23"/>
    <p:sldId id="296" r:id="rId24"/>
    <p:sldId id="297" r:id="rId25"/>
    <p:sldId id="610" r:id="rId26"/>
  </p:sldIdLst>
  <p:sldSz cx="12192000" cy="6858000"/>
  <p:notesSz cx="6645275" cy="9775825"/>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7E007C"/>
    <a:srgbClr val="F91258"/>
    <a:srgbClr val="09EDB8"/>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17" autoAdjust="0"/>
    <p:restoredTop sz="92750" autoAdjust="0"/>
  </p:normalViewPr>
  <p:slideViewPr>
    <p:cSldViewPr snapToGrid="0" snapToObjects="1" showGuides="1">
      <p:cViewPr varScale="1">
        <p:scale>
          <a:sx n="59" d="100"/>
          <a:sy n="59" d="100"/>
        </p:scale>
        <p:origin x="1315" y="34"/>
      </p:cViewPr>
      <p:guideLst>
        <p:guide pos="3840"/>
        <p:guide orient="horz" pos="377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2" d="100"/>
          <a:sy n="82" d="100"/>
        </p:scale>
        <p:origin x="400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commentAuthors" Target="commen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pPr/>
              <a:t>05/09/2022</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pPr/>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05/09/2022</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6"/>
          <p:cNvSpPr>
            <a:spLocks noGrp="1" noRot="1" noChangeAspect="1" noTextEdit="1"/>
          </p:cNvSpPr>
          <p:nvPr>
            <p:ph type="sldImg"/>
          </p:nvPr>
        </p:nvSpPr>
        <p:spPr>
          <a:ln/>
        </p:spPr>
      </p:sp>
      <p:sp>
        <p:nvSpPr>
          <p:cNvPr id="22531" name="Notes Placeholder 7"/>
          <p:cNvSpPr>
            <a:spLocks noGrp="1"/>
          </p:cNvSpPr>
          <p:nvPr>
            <p:ph type="body" idx="1"/>
          </p:nvPr>
        </p:nvSpPr>
        <p:spPr>
          <a:noFill/>
          <a:ln/>
        </p:spPr>
        <p:txBody>
          <a:bodyPr/>
          <a:lstStyle/>
          <a:p>
            <a:endParaRPr lang="en-US" dirty="0"/>
          </a:p>
        </p:txBody>
      </p:sp>
      <p:sp>
        <p:nvSpPr>
          <p:cNvPr id="2" name="Slide Number Placeholder 1">
            <a:extLst>
              <a:ext uri="{FF2B5EF4-FFF2-40B4-BE49-F238E27FC236}">
                <a16:creationId xmlns:a16="http://schemas.microsoft.com/office/drawing/2014/main" id="{3DA7533B-A58D-4AF5-83FC-91BB9FB6C7B7}"/>
              </a:ext>
            </a:extLst>
          </p:cNvPr>
          <p:cNvSpPr>
            <a:spLocks noGrp="1"/>
          </p:cNvSpPr>
          <p:nvPr>
            <p:ph type="sldNum" sz="quarter" idx="5"/>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3227322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2148883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1612510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3694303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GB" dirty="0"/>
              <a:t>The core protocol of the TCP/IP protocol suite is IP, the Internet Protocol. </a:t>
            </a:r>
          </a:p>
          <a:p>
            <a:pPr>
              <a:lnSpc>
                <a:spcPct val="90000"/>
              </a:lnSpc>
            </a:pPr>
            <a:r>
              <a:rPr lang="en-GB" dirty="0"/>
              <a:t>IP is a connectionless, datagram-oriented packet-forwarding protocol.  Data is passed to IP from higher-level transport protocols for delivery.  IP sends a packet on the next stage of its journey to its ultimate destination, based on the destination IP address and routing information that is held internally within the protocol.  An IP packet may pass through several routers, or "hops" before reaching its destination.</a:t>
            </a:r>
          </a:p>
          <a:p>
            <a:pPr>
              <a:lnSpc>
                <a:spcPct val="90000"/>
              </a:lnSpc>
            </a:pPr>
            <a:r>
              <a:rPr lang="en-GB" dirty="0"/>
              <a:t>An Internet address in IPv4 is a 32-bit unsigned integer value (4 Giga).  A typical example is shown in the slide.  The value has a component that describes the network address and one that describes the address of the individual host on that network.  Details of how these components are included in the address are described later.</a:t>
            </a:r>
          </a:p>
          <a:p>
            <a:pPr>
              <a:lnSpc>
                <a:spcPct val="90000"/>
              </a:lnSpc>
            </a:pPr>
            <a:r>
              <a:rPr lang="en-GB" dirty="0"/>
              <a:t>This type of value is often difficult to remember and to use in dealing with the network.  Even if the binary representation is converted straight to decimal, or hexadecimal, the result is a large and unwieldy number.  Moreover, it is not easy to distinguish the network address component from the host address component using this single value representation.</a:t>
            </a:r>
          </a:p>
          <a:p>
            <a:pPr>
              <a:lnSpc>
                <a:spcPct val="90000"/>
              </a:lnSpc>
            </a:pPr>
            <a:r>
              <a:rPr lang="en-GB" dirty="0"/>
              <a:t>For these reasons, Internet addresses are usually described in a notation known as "dotted decimal".  The four bytes (or "octets") that make up the 32-bit word are each translated into decimal numbers, in isolation.  The result is a sequence of four decimal numbers, separated by dots.</a:t>
            </a:r>
          </a:p>
          <a:p>
            <a:r>
              <a:rPr lang="en-GB" dirty="0"/>
              <a:t>IP version 6, also known as IP next generation (</a:t>
            </a:r>
            <a:r>
              <a:rPr lang="en-GB" dirty="0" err="1"/>
              <a:t>IPng</a:t>
            </a:r>
            <a:r>
              <a:rPr lang="en-GB" dirty="0"/>
              <a:t>), is the successor to the current Internet Protocol (version 4).  RFC 2460 is the main standard, many other RFCs cover related issues.  The new features within IPv6 are designed to overcome the current problems within today’s Internet protocol.  The major enhancements are summarised as follows:</a:t>
            </a:r>
          </a:p>
          <a:p>
            <a:r>
              <a:rPr lang="en-GB" dirty="0"/>
              <a:t>IPv6 has significantly larger addressing capabilities over current IP.  The original 32-bit address field has been expanded to 128 bits. </a:t>
            </a:r>
            <a:r>
              <a:rPr lang="en-US" dirty="0"/>
              <a:t>This theoretically means there could be a total of 340,282,366,920,938,463,463,374,607,431,768,211,456 devices connected to the Internet under IPv6. Which works out to be 665,570,793,348,866,943,898,599 addresses per square meter of the earth's surface.  </a:t>
            </a:r>
            <a:endParaRPr lang="en-GB" dirty="0"/>
          </a:p>
          <a:p>
            <a:r>
              <a:rPr lang="en-GB" dirty="0"/>
              <a:t>Support for authentication and privacy has also been incorporated using digital signature technology.  Auto configuration protocols such as Microsoft’s DHCP (discussed later) are also directly supported.</a:t>
            </a:r>
          </a:p>
          <a:p>
            <a:r>
              <a:rPr lang="en-GB" dirty="0"/>
              <a:t>All new Internet standards must now include support for IPv6.  As yet, it is uncertain when the transition from IPv4 to IPv6 will be complete, if ever.  However, as IPv6 is fully backwardly compatible with existing Internet protocols, systems that are not upgraded should experience no loss of functionality. </a:t>
            </a:r>
          </a:p>
          <a:p>
            <a:r>
              <a:rPr lang="en-GB" dirty="0"/>
              <a:t>Virtually all manufacturers include IPv6 support in their products, and all major operating systems have IPv6 support, or can have it retrofitted.</a:t>
            </a:r>
          </a:p>
        </p:txBody>
      </p:sp>
      <p:sp>
        <p:nvSpPr>
          <p:cNvPr id="4" name="Slide Number Placeholder 3"/>
          <p:cNvSpPr>
            <a:spLocks noGrp="1"/>
          </p:cNvSpPr>
          <p:nvPr>
            <p:ph type="sldNum" sz="quarter" idx="10"/>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2013331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6" name="Slide Image Placeholder 11"/>
          <p:cNvSpPr>
            <a:spLocks noGrp="1" noRot="1" noChangeAspect="1" noTextEdit="1"/>
          </p:cNvSpPr>
          <p:nvPr>
            <p:ph type="sldImg"/>
          </p:nvPr>
        </p:nvSpPr>
        <p:spPr>
          <a:ln/>
        </p:spPr>
      </p:sp>
      <p:sp>
        <p:nvSpPr>
          <p:cNvPr id="22537" name="Notes Placeholder 12"/>
          <p:cNvSpPr>
            <a:spLocks noGrp="1"/>
          </p:cNvSpPr>
          <p:nvPr>
            <p:ph type="body" idx="1"/>
          </p:nvPr>
        </p:nvSpPr>
        <p:spPr>
          <a:noFill/>
          <a:ln/>
        </p:spPr>
        <p:txBody>
          <a:bodyPr/>
          <a:lstStyle/>
          <a:p>
            <a:pPr>
              <a:lnSpc>
                <a:spcPct val="90000"/>
              </a:lnSpc>
            </a:pPr>
            <a:r>
              <a:rPr lang="en-GB" dirty="0"/>
              <a:t>The acronym TCP/IP stands for the initials of two protocols, the Transmission Control Protocol and the Internet Protocol.  These are just two members of the family of protocols known as the </a:t>
            </a:r>
            <a:r>
              <a:rPr lang="en-GB" i="1" dirty="0"/>
              <a:t>Internet</a:t>
            </a:r>
            <a:r>
              <a:rPr lang="en-GB" dirty="0"/>
              <a:t> </a:t>
            </a:r>
            <a:r>
              <a:rPr lang="en-GB" i="1" dirty="0"/>
              <a:t>Protocols</a:t>
            </a:r>
            <a:r>
              <a:rPr lang="en-GB" dirty="0"/>
              <a:t>. </a:t>
            </a:r>
          </a:p>
          <a:p>
            <a:pPr>
              <a:lnSpc>
                <a:spcPct val="90000"/>
              </a:lnSpc>
            </a:pPr>
            <a:r>
              <a:rPr lang="en-GB" dirty="0"/>
              <a:t>However, in early usage the most common were TCP, which stands for Transmission Control Protocol, and IP, which stands for Internet Protocol.  Hence, the acronym TCP/IP is commonly used to refer to the whole family of protocols.  In reality there are over twenty protocols in the suite, covering all aspects of network usage and management.  Some of the other protocols defined within the suite are:-</a:t>
            </a:r>
          </a:p>
          <a:p>
            <a:pPr>
              <a:lnSpc>
                <a:spcPct val="90000"/>
              </a:lnSpc>
            </a:pPr>
            <a:endParaRPr lang="en-GB" dirty="0"/>
          </a:p>
          <a:p>
            <a:pPr lvl="1">
              <a:lnSpc>
                <a:spcPct val="90000"/>
              </a:lnSpc>
            </a:pPr>
            <a:r>
              <a:rPr lang="en-GB" dirty="0"/>
              <a:t>File Transfer Protocol			Exchange files between hosts</a:t>
            </a:r>
          </a:p>
          <a:p>
            <a:pPr lvl="1">
              <a:lnSpc>
                <a:spcPct val="90000"/>
              </a:lnSpc>
            </a:pPr>
            <a:r>
              <a:rPr lang="en-GB" dirty="0"/>
              <a:t>Simple Mail Transfer Protocol	Send electronic mail</a:t>
            </a:r>
          </a:p>
          <a:p>
            <a:pPr lvl="1">
              <a:lnSpc>
                <a:spcPct val="90000"/>
              </a:lnSpc>
            </a:pPr>
            <a:r>
              <a:rPr lang="en-GB" dirty="0"/>
              <a:t>Domain Name Service			Convert names to addresses</a:t>
            </a:r>
          </a:p>
          <a:p>
            <a:pPr lvl="1">
              <a:lnSpc>
                <a:spcPct val="90000"/>
              </a:lnSpc>
            </a:pPr>
            <a:r>
              <a:rPr lang="en-GB" dirty="0"/>
              <a:t>Network File System				Remote file system sharing</a:t>
            </a:r>
          </a:p>
          <a:p>
            <a:pPr lvl="1">
              <a:lnSpc>
                <a:spcPct val="90000"/>
              </a:lnSpc>
            </a:pPr>
            <a:r>
              <a:rPr lang="en-GB" dirty="0"/>
              <a:t>Hyper Text Transfer Protocol	Basis of the World Wide Web</a:t>
            </a:r>
          </a:p>
        </p:txBody>
      </p:sp>
      <p:sp>
        <p:nvSpPr>
          <p:cNvPr id="2" name="Slide Number Placeholder 1">
            <a:extLst>
              <a:ext uri="{FF2B5EF4-FFF2-40B4-BE49-F238E27FC236}">
                <a16:creationId xmlns:a16="http://schemas.microsoft.com/office/drawing/2014/main" id="{0D620427-A681-4A98-84DC-47A47B2111FE}"/>
              </a:ext>
            </a:extLst>
          </p:cNvPr>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2428335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5" name="Slide Image Placeholder 14"/>
          <p:cNvSpPr>
            <a:spLocks noGrp="1" noRot="1" noChangeAspect="1" noTextEdit="1"/>
          </p:cNvSpPr>
          <p:nvPr>
            <p:ph type="sldImg"/>
          </p:nvPr>
        </p:nvSpPr>
        <p:spPr>
          <a:ln/>
        </p:spPr>
      </p:sp>
      <p:sp>
        <p:nvSpPr>
          <p:cNvPr id="26636" name="Notes Placeholder 15"/>
          <p:cNvSpPr>
            <a:spLocks noGrp="1"/>
          </p:cNvSpPr>
          <p:nvPr>
            <p:ph type="body" idx="1"/>
          </p:nvPr>
        </p:nvSpPr>
        <p:spPr>
          <a:noFill/>
          <a:ln/>
        </p:spPr>
        <p:txBody>
          <a:bodyPr/>
          <a:lstStyle/>
          <a:p>
            <a:r>
              <a:rPr lang="en-GB" dirty="0"/>
              <a:t>IP delivers packets to a particular host and passes them up to TCP( or UDP).  These protocols in turn inspect the port number in the header and use this to determine which process the data is intended for.</a:t>
            </a:r>
          </a:p>
          <a:p>
            <a:r>
              <a:rPr lang="en-GB" dirty="0"/>
              <a:t>Some processes use “well-known addresses”, or predetermined port numbers, which enable a remote client to easily locate them.  For example, the FTP server process (“daemon” on UNIX or service on NT) always receives data on port 21; the http process used by World Wide Web servers listens on port 80; and so on.  The list of standard addresses is continually being added to and is defined in the latest version of the Assigned Numbers RFC (e.g. RFC1010).  Many TCP/IP implementations store this information in a file called </a:t>
            </a:r>
            <a:r>
              <a:rPr lang="en-GB" b="1" dirty="0"/>
              <a:t>services</a:t>
            </a:r>
            <a:r>
              <a:rPr lang="en-GB" dirty="0"/>
              <a:t>.</a:t>
            </a:r>
          </a:p>
          <a:p>
            <a:r>
              <a:rPr lang="en-GB" dirty="0"/>
              <a:t>Other processes will use port addresses, which are assigned dynamically.  For example, a Telnet client will connect to a Telnet server somewhere.  The Telnet server needs a well-known address so that the client can connect to it.  However, the client is not expecting to receive data from anyone that it has not spoken to first and so can choose a port to use at random.  When it connects to a Telnet server, the first message it sends will include the port address that it is currently using. </a:t>
            </a:r>
          </a:p>
          <a:p>
            <a:endParaRPr lang="en-GB" dirty="0"/>
          </a:p>
        </p:txBody>
      </p:sp>
      <p:sp>
        <p:nvSpPr>
          <p:cNvPr id="2" name="Slide Number Placeholder 1">
            <a:extLst>
              <a:ext uri="{FF2B5EF4-FFF2-40B4-BE49-F238E27FC236}">
                <a16:creationId xmlns:a16="http://schemas.microsoft.com/office/drawing/2014/main" id="{685EA3CD-C807-46FC-BAED-FB1BE5B89FC4}"/>
              </a:ext>
            </a:extLst>
          </p:cNvPr>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1546947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noFill/>
          <a:ln/>
        </p:spPr>
        <p:txBody>
          <a:bodyPr lIns="87259" tIns="43629" rIns="87259" bIns="43629"/>
          <a:lstStyle/>
          <a:p>
            <a:r>
              <a:rPr lang="en-US" dirty="0"/>
              <a:t>A URL is divided into two parts separated by a colon.  The basic syntax is:</a:t>
            </a:r>
          </a:p>
          <a:p>
            <a:r>
              <a:rPr lang="en-US" b="1" dirty="0" err="1">
                <a:latin typeface="Courier New" pitchFamily="49" charset="0"/>
              </a:rPr>
              <a:t>Scheme:Path</a:t>
            </a:r>
            <a:endParaRPr lang="en-US" dirty="0"/>
          </a:p>
          <a:p>
            <a:r>
              <a:rPr lang="en-US" dirty="0"/>
              <a:t>The scheme specifies the protocol to be used to retrieve the document (e.g. ftp, http, gopher) and the path specifies the location of the server and the resource.  The path format is dependent on the scheme used.</a:t>
            </a:r>
          </a:p>
          <a:p>
            <a:r>
              <a:rPr lang="en-US" dirty="0"/>
              <a:t>Some examples of valid URLs</a:t>
            </a:r>
          </a:p>
          <a:p>
            <a:r>
              <a:rPr lang="en-US" b="1" dirty="0">
                <a:latin typeface="Courier New" pitchFamily="49" charset="0"/>
              </a:rPr>
              <a:t>http://www.microsoft.com/ie</a:t>
            </a:r>
            <a:br>
              <a:rPr lang="en-US" b="1" dirty="0">
                <a:latin typeface="Courier New" pitchFamily="49" charset="0"/>
              </a:rPr>
            </a:br>
            <a:r>
              <a:rPr lang="en-US" b="1" dirty="0">
                <a:latin typeface="Courier New" pitchFamily="49" charset="0"/>
              </a:rPr>
              <a:t>ftp://ftp.demon.co.uk</a:t>
            </a:r>
            <a:br>
              <a:rPr lang="en-US" b="1" dirty="0">
                <a:latin typeface="Courier New" pitchFamily="49" charset="0"/>
              </a:rPr>
            </a:br>
            <a:r>
              <a:rPr lang="en-US" b="1" dirty="0">
                <a:latin typeface="Courier New" pitchFamily="49" charset="0"/>
              </a:rPr>
              <a:t>news:comp.infosys.www.announce</a:t>
            </a:r>
            <a:br>
              <a:rPr lang="en-US" b="1" dirty="0">
                <a:latin typeface="Courier New" pitchFamily="49" charset="0"/>
              </a:rPr>
            </a:br>
            <a:r>
              <a:rPr lang="en-US" b="1" dirty="0">
                <a:latin typeface="Courier New" pitchFamily="49" charset="0"/>
              </a:rPr>
              <a:t>mailto:billg@microsoft.com</a:t>
            </a:r>
            <a:endParaRPr lang="en-US" dirty="0"/>
          </a:p>
          <a:p>
            <a:r>
              <a:rPr lang="en-US" dirty="0"/>
              <a:t>Text strings without a scheme, such as </a:t>
            </a:r>
            <a:r>
              <a:rPr lang="en-US" b="1" dirty="0">
                <a:latin typeface="Courier New" pitchFamily="49" charset="0"/>
              </a:rPr>
              <a:t>www.bbc.co.uk</a:t>
            </a:r>
            <a:r>
              <a:rPr lang="en-US" dirty="0"/>
              <a:t>, are not really valid URLs because the scheme is required.  However, most browsers will accept such URLs if they are typed in by the user and will assume a scheme of http these cases.</a:t>
            </a:r>
          </a:p>
        </p:txBody>
      </p:sp>
      <p:sp>
        <p:nvSpPr>
          <p:cNvPr id="27651"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141CB54C-5CF1-4D11-830C-02860F70CC2C}"/>
              </a:ext>
            </a:extLst>
          </p:cNvPr>
          <p:cNvSpPr>
            <a:spLocks noGrp="1"/>
          </p:cNvSpPr>
          <p:nvPr>
            <p:ph type="sldNum" sz="quarter" idx="5"/>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1016985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a:noFill/>
          <a:ln/>
        </p:spPr>
        <p:txBody>
          <a:bodyPr lIns="87259" tIns="43629" rIns="87259" bIns="43629"/>
          <a:lstStyle/>
          <a:p>
            <a:r>
              <a:rPr lang="en-US" dirty="0"/>
              <a:t>The Web uses HTTP to retrieve documents, the URL format is:</a:t>
            </a:r>
          </a:p>
          <a:p>
            <a:r>
              <a:rPr lang="en-US" b="1" dirty="0">
                <a:latin typeface="Courier New" pitchFamily="49" charset="0"/>
              </a:rPr>
              <a:t>http://Hostname[:Port]/Document-Path</a:t>
            </a:r>
          </a:p>
          <a:p>
            <a:r>
              <a:rPr lang="en-US" dirty="0"/>
              <a:t>The hostname is the textual name of the machine on the internet or Intranet.  This name is usually resolved by a domain name server (DNS) into a numeric address.  Numeric addresses can be used although this is less flexible as it doesn’t allow the server’s address to be changed without changing all the URLs which reference it.</a:t>
            </a:r>
          </a:p>
          <a:p>
            <a:r>
              <a:rPr lang="en-US" dirty="0"/>
              <a:t>Hostnames often begin with </a:t>
            </a:r>
            <a:r>
              <a:rPr lang="en-US" b="1" dirty="0">
                <a:latin typeface="Courier New" pitchFamily="49" charset="0"/>
              </a:rPr>
              <a:t>www</a:t>
            </a:r>
            <a:r>
              <a:rPr lang="en-US" dirty="0"/>
              <a:t> although this is by no means essential.  It’s just a convention which many sites adhere to.</a:t>
            </a:r>
          </a:p>
          <a:p>
            <a:r>
              <a:rPr lang="en-US" dirty="0"/>
              <a:t>The host name can be followed by a colon and a port number.  Web servers normally use the “well-known” HTTP port number 80.  This is the default value if no port is specified.  A common alternative port number is 443, which is used by several security systems.  Port number 8080 is another popular alternative as it allows a normal Unix users (not the administrator) to run a Web server.</a:t>
            </a:r>
          </a:p>
          <a:p>
            <a:r>
              <a:rPr lang="en-US" dirty="0"/>
              <a:t>The document path is the location of the resource under the Web server’s directory tree, the root of which may differ from that on the local machine.  </a:t>
            </a:r>
            <a:r>
              <a:rPr lang="en-US" dirty="0" err="1"/>
              <a:t>Posix</a:t>
            </a:r>
            <a:r>
              <a:rPr lang="en-US" dirty="0"/>
              <a:t> (Unix) backslash characters are used as directory separators and the names are case-sensitive where this is important to the server’s file-system.  Unix servers have case-sensitive file servers but Windows NT server’s don’t.</a:t>
            </a:r>
          </a:p>
          <a:p>
            <a:r>
              <a:rPr lang="en-US" dirty="0"/>
              <a:t>If the document path is omitted the URL is taken to refer to the home page for that site.  The home page is very server-dependent and configuration-dependent, but often refers to a file such as </a:t>
            </a:r>
            <a:r>
              <a:rPr lang="en-US" b="1" dirty="0">
                <a:latin typeface="Courier New" pitchFamily="49" charset="0"/>
              </a:rPr>
              <a:t>index.html</a:t>
            </a:r>
            <a:r>
              <a:rPr lang="en-US" dirty="0"/>
              <a:t> or </a:t>
            </a:r>
            <a:r>
              <a:rPr lang="en-US" b="1" dirty="0">
                <a:latin typeface="Courier New" pitchFamily="49" charset="0"/>
              </a:rPr>
              <a:t>default.html</a:t>
            </a:r>
            <a:r>
              <a:rPr lang="en-US" dirty="0"/>
              <a:t>.</a:t>
            </a:r>
          </a:p>
        </p:txBody>
      </p:sp>
      <p:sp>
        <p:nvSpPr>
          <p:cNvPr id="28675"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572C4650-DAD1-4D14-8357-252B2D9D250E}"/>
              </a:ext>
            </a:extLst>
          </p:cNvPr>
          <p:cNvSpPr>
            <a:spLocks noGrp="1"/>
          </p:cNvSpPr>
          <p:nvPr>
            <p:ph type="sldNum" sz="quarter" idx="5"/>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3706401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a URL such as:</a:t>
            </a:r>
          </a:p>
          <a:p>
            <a:pPr lvl="1"/>
            <a:r>
              <a:rPr lang="en-US" b="1" dirty="0">
                <a:latin typeface="Courier New" pitchFamily="49" charset="0"/>
              </a:rPr>
              <a:t>http://www.qa.com/index.html</a:t>
            </a:r>
            <a:endParaRPr lang="en-US" b="1" i="1" dirty="0"/>
          </a:p>
          <a:p>
            <a:r>
              <a:rPr lang="en-US" dirty="0"/>
              <a:t>The browser first contacts a domain name server (DNS) to resolve the hostname into a numeric IP address. </a:t>
            </a:r>
          </a:p>
          <a:p>
            <a:r>
              <a:rPr lang="en-US" dirty="0"/>
              <a:t>The browser will then attempt to open a TCP connection to the remote server.  Internet packets will travel through many gateways to reach the server.  For example, between a client in the UK and a server situated on the western US seaboard there may be a dozen intermediate networks.  Fortunately, this is transparent to the browser software and to the user. </a:t>
            </a:r>
          </a:p>
          <a:p>
            <a:r>
              <a:rPr lang="en-US" dirty="0"/>
              <a:t>Once the connection is established the browser will send the name of the resource it requires; the Web server will return this document.  The connection will then be closed and the browser will parse and display the retrieved HTML file.  This retrieval processes is repeated for every reference to an image contained within the document.  Small wonder that many modem-based users turn off automatic image loading.</a:t>
            </a:r>
          </a:p>
          <a:p>
            <a:r>
              <a:rPr lang="en-US" dirty="0"/>
              <a:t>The World Wide Web puts a heavy load on the Internet.  A whole series of operations are required to retrieve even a simple document.  An HTML document will consist of some text and may contain references to images.  Indeed it was the image extensions introduced by Bina and Andreessen which lead to ‘</a:t>
            </a:r>
            <a:r>
              <a:rPr lang="en-US" i="1" dirty="0"/>
              <a:t>death of the net</a:t>
            </a:r>
            <a:r>
              <a:rPr lang="en-US" dirty="0"/>
              <a:t>’ worries and earned them </a:t>
            </a:r>
            <a:r>
              <a:rPr lang="en-US" dirty="0" err="1"/>
              <a:t>disfavour</a:t>
            </a:r>
            <a:r>
              <a:rPr lang="en-US" dirty="0"/>
              <a:t> from their NCSA colleagues.</a:t>
            </a:r>
          </a:p>
        </p:txBody>
      </p:sp>
      <p:sp>
        <p:nvSpPr>
          <p:cNvPr id="4" name="Slide Number Placeholder 3"/>
          <p:cNvSpPr>
            <a:spLocks noGrp="1"/>
          </p:cNvSpPr>
          <p:nvPr>
            <p:ph type="sldNum" sz="quarter" idx="10"/>
          </p:nvPr>
        </p:nvSpPr>
        <p:spPr/>
        <p:txBody>
          <a:bodyPr/>
          <a:lstStyle/>
          <a:p>
            <a:fld id="{548901C6-1DA1-FB44-ABEE-06A0FEB7738E}" type="slidenum">
              <a:rPr lang="en-GB" smtClean="0"/>
              <a:t>13</a:t>
            </a:fld>
            <a:endParaRPr lang="en-GB"/>
          </a:p>
        </p:txBody>
      </p:sp>
    </p:spTree>
    <p:extLst>
      <p:ext uri="{BB962C8B-B14F-4D97-AF65-F5344CB8AC3E}">
        <p14:creationId xmlns:p14="http://schemas.microsoft.com/office/powerpoint/2010/main" val="457209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tabLst/>
            </a:pPr>
            <a:r>
              <a:rPr lang="en-US" dirty="0"/>
              <a:t>HTTP is stateless.  This means that each request for a resource from the Web server, such as that for an HTML page, is seen as being completely independent of any previous request.  </a:t>
            </a:r>
          </a:p>
          <a:p>
            <a:pPr>
              <a:tabLst/>
            </a:pPr>
            <a:endParaRPr lang="en-US" dirty="0"/>
          </a:p>
          <a:p>
            <a:pPr>
              <a:tabLst/>
            </a:pPr>
            <a:r>
              <a:rPr lang="en-US" dirty="0"/>
              <a:t>The Web server doesn’t store any information that associates the different requests, which in turn means that the Web server can scale well to deliver extremely large numbers of requests.</a:t>
            </a:r>
          </a:p>
          <a:p>
            <a:pPr>
              <a:tabLst/>
            </a:pPr>
            <a:endParaRPr lang="en-US" dirty="0"/>
          </a:p>
          <a:p>
            <a:pPr>
              <a:tabLst/>
            </a:pPr>
            <a:r>
              <a:rPr lang="en-US" dirty="0"/>
              <a:t>HTTP follows a simple request/response paradigm:</a:t>
            </a:r>
          </a:p>
          <a:p>
            <a:pPr>
              <a:tabLst/>
            </a:pPr>
            <a:endParaRPr lang="en-US" dirty="0"/>
          </a:p>
          <a:p>
            <a:pPr>
              <a:buFont typeface="Calibri" pitchFamily="34" charset="0"/>
              <a:buAutoNum type="arabicPeriod"/>
              <a:tabLst/>
            </a:pPr>
            <a:r>
              <a:rPr lang="en-US" dirty="0"/>
              <a:t>The connection is opened.</a:t>
            </a:r>
          </a:p>
          <a:p>
            <a:pPr>
              <a:buFont typeface="Calibri" pitchFamily="34" charset="0"/>
              <a:buAutoNum type="arabicPeriod"/>
              <a:tabLst/>
            </a:pPr>
            <a:r>
              <a:rPr lang="en-US" dirty="0"/>
              <a:t>The browser sends an HTTP request for a resource.</a:t>
            </a:r>
          </a:p>
          <a:p>
            <a:pPr>
              <a:buFont typeface="Calibri" pitchFamily="34" charset="0"/>
              <a:buAutoNum type="arabicPeriod"/>
              <a:tabLst/>
            </a:pPr>
            <a:r>
              <a:rPr lang="en-US" dirty="0"/>
              <a:t>The server sends an HTTP response containing the resource.</a:t>
            </a:r>
          </a:p>
          <a:p>
            <a:pPr>
              <a:buFont typeface="Calibri" pitchFamily="34" charset="0"/>
              <a:buAutoNum type="arabicPeriod"/>
              <a:tabLst/>
            </a:pPr>
            <a:r>
              <a:rPr lang="en-US" dirty="0"/>
              <a:t>The connection is closed.</a:t>
            </a:r>
          </a:p>
          <a:p>
            <a:pPr>
              <a:tabLst/>
            </a:pPr>
            <a:endParaRPr lang="en-US" dirty="0"/>
          </a:p>
          <a:p>
            <a:pPr>
              <a:tabLst/>
            </a:pPr>
            <a:r>
              <a:rPr lang="en-US" i="1" dirty="0"/>
              <a:t>In HTTP version 1.1, the browser can request that the server keep the connection alive for a short while so that the browser can request another resource without opening another connection to the server.</a:t>
            </a:r>
          </a:p>
        </p:txBody>
      </p:sp>
      <p:sp>
        <p:nvSpPr>
          <p:cNvPr id="6" name="Slide Image Placeholder 5"/>
          <p:cNvSpPr>
            <a:spLocks noGrp="1" noRot="1" noChangeAspect="1"/>
          </p:cNvSpPr>
          <p:nvPr>
            <p:ph type="sldImg"/>
          </p:nvPr>
        </p:nvSpPr>
        <p:spPr/>
      </p:sp>
      <p:sp>
        <p:nvSpPr>
          <p:cNvPr id="2" name="Slide Number Placeholder 1">
            <a:extLst>
              <a:ext uri="{FF2B5EF4-FFF2-40B4-BE49-F238E27FC236}">
                <a16:creationId xmlns:a16="http://schemas.microsoft.com/office/drawing/2014/main" id="{5247F049-456E-4DA8-9260-9C6439A4654F}"/>
              </a:ext>
            </a:extLst>
          </p:cNvPr>
          <p:cNvSpPr>
            <a:spLocks noGrp="1"/>
          </p:cNvSpPr>
          <p:nvPr>
            <p:ph type="sldNum" sz="quarter" idx="5"/>
          </p:nvPr>
        </p:nvSpPr>
        <p:spPr/>
        <p:txBody>
          <a:bodyPr/>
          <a:lstStyle/>
          <a:p>
            <a:fld id="{548901C6-1DA1-FB44-ABEE-06A0FEB7738E}" type="slidenum">
              <a:rPr lang="en-GB" smtClean="0"/>
              <a:pPr/>
              <a:t>14</a:t>
            </a:fld>
            <a:endParaRPr lang="en-GB"/>
          </a:p>
        </p:txBody>
      </p:sp>
    </p:spTree>
    <p:extLst>
      <p:ext uri="{BB962C8B-B14F-4D97-AF65-F5344CB8AC3E}">
        <p14:creationId xmlns:p14="http://schemas.microsoft.com/office/powerpoint/2010/main" val="4118900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tabLst/>
            </a:pPr>
            <a:r>
              <a:rPr lang="en-US" dirty="0"/>
              <a:t>Browser vendors started to support lightweight scripting languages such as JavaScript and VBScript (IE only and not really used today) to allow developers to create interactivity on the client.</a:t>
            </a:r>
          </a:p>
          <a:p>
            <a:pPr>
              <a:tabLst/>
            </a:pPr>
            <a:endParaRPr lang="en-US" dirty="0"/>
          </a:p>
          <a:p>
            <a:pPr>
              <a:tabLst/>
            </a:pPr>
            <a:r>
              <a:rPr lang="en-US" dirty="0"/>
              <a:t>Client-side script really comes into its own in two areas:  offering instant feedback to users, such as enabling or disabling controls based on user selections, and in performing validation checks prior to sending data back to the server.</a:t>
            </a:r>
          </a:p>
          <a:p>
            <a:pPr>
              <a:tabLst/>
            </a:pPr>
            <a:endParaRPr lang="en-US" dirty="0"/>
          </a:p>
          <a:p>
            <a:pPr>
              <a:tabLst/>
            </a:pPr>
            <a:r>
              <a:rPr lang="en-US" dirty="0"/>
              <a:t>The validation story is particularly interesting.  While the server still has to validate the user input, by validating on the client, you can drastically reduce the workload of the server because you can ensure that the majority of requests contain valid data.  Of course, there is only so much that you can validate.  For example whether mandatory fields have been populated, or whether a birth date is in an acceptable range of values.  You’re not able to validate that a user ha an account  with your company until you check on the server, however you might be able to check that the account number is at least in the correct format.</a:t>
            </a:r>
          </a:p>
          <a:p>
            <a:pPr>
              <a:tabLst/>
            </a:pPr>
            <a:endParaRPr lang="en-US" dirty="0"/>
          </a:p>
          <a:p>
            <a:pPr>
              <a:tabLst/>
            </a:pPr>
            <a:r>
              <a:rPr lang="en-US" dirty="0"/>
              <a:t>Scripting has many other uses including providing the functionality for rich dynamic controls such as menus that we see today.  It also is a main part of the AJAX technology that is covered later.</a:t>
            </a:r>
          </a:p>
        </p:txBody>
      </p:sp>
      <p:sp>
        <p:nvSpPr>
          <p:cNvPr id="6" name="Slide Image Placeholder 5"/>
          <p:cNvSpPr>
            <a:spLocks noGrp="1" noRot="1" noChangeAspect="1"/>
          </p:cNvSpPr>
          <p:nvPr>
            <p:ph type="sldImg"/>
          </p:nvPr>
        </p:nvSpPr>
        <p:spPr/>
      </p:sp>
      <p:sp>
        <p:nvSpPr>
          <p:cNvPr id="2" name="Slide Number Placeholder 1">
            <a:extLst>
              <a:ext uri="{FF2B5EF4-FFF2-40B4-BE49-F238E27FC236}">
                <a16:creationId xmlns:a16="http://schemas.microsoft.com/office/drawing/2014/main" id="{7032B8DC-3882-49EE-83F3-6AE06DE7C928}"/>
              </a:ext>
            </a:extLst>
          </p:cNvPr>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3467310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tabLst/>
            </a:pPr>
            <a:r>
              <a:rPr lang="en-US" dirty="0"/>
              <a:t>As with everything, the novelty of the Web soon wore off and people looked to extend it to more than a simple document publishing system.  Since many businesses had massive amounts of data stored in enterprise databases, it made little sense to create web pages from these data by hand.</a:t>
            </a:r>
          </a:p>
          <a:p>
            <a:pPr>
              <a:tabLst/>
            </a:pPr>
            <a:endParaRPr lang="en-US" dirty="0"/>
          </a:p>
          <a:p>
            <a:pPr>
              <a:tabLst/>
            </a:pPr>
            <a:r>
              <a:rPr lang="en-US" dirty="0"/>
              <a:t>Instead it made a lot more sense to dynamically generate the Web pages from the database.  One option was the overnight batch process but this was clearly only a stopgap solution.  It is much better to create pages dynamically as the HTTP request comes in, and for this to happen you need to execute code to process the request.</a:t>
            </a:r>
          </a:p>
          <a:p>
            <a:pPr>
              <a:tabLst/>
            </a:pPr>
            <a:endParaRPr lang="en-US" dirty="0"/>
          </a:p>
          <a:p>
            <a:pPr>
              <a:tabLst/>
            </a:pPr>
            <a:r>
              <a:rPr lang="en-US" dirty="0"/>
              <a:t>If the server is going to run a program to process the request dynamically, why not go one better and let the created page depend on user input?  With this in mind, we needed to be able to allow the user to enter data into the web page.  Then when they submit their request to the server, it can process that submitted data and provide a </a:t>
            </a:r>
            <a:r>
              <a:rPr lang="en-US" dirty="0" err="1"/>
              <a:t>personalised</a:t>
            </a:r>
            <a:r>
              <a:rPr lang="en-US" dirty="0"/>
              <a:t> response.  Consequently HTML forms were invented.</a:t>
            </a:r>
          </a:p>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33794538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739775">
              <a:tabLst/>
            </a:pPr>
            <a:r>
              <a:rPr lang="en-US" dirty="0"/>
              <a:t>An HTML form allows us to gather information from the user (using various input types) and send those values back to server with the next request.</a:t>
            </a:r>
          </a:p>
          <a:p>
            <a:pPr defTabSz="739775">
              <a:tabLst/>
            </a:pPr>
            <a:endParaRPr lang="en-US" dirty="0"/>
          </a:p>
          <a:p>
            <a:pPr defTabSz="739775">
              <a:tabLst/>
            </a:pPr>
            <a:r>
              <a:rPr lang="en-US" dirty="0"/>
              <a:t>The URL that is going to process those data is found in the action attribute of the form element.</a:t>
            </a:r>
          </a:p>
          <a:p>
            <a:pPr defTabSz="739775">
              <a:tabLst/>
            </a:pPr>
            <a:endParaRPr lang="en-US" dirty="0"/>
          </a:p>
          <a:p>
            <a:pPr defTabSz="739775">
              <a:tabLst/>
            </a:pPr>
            <a:r>
              <a:rPr lang="en-US" dirty="0"/>
              <a:t>The method dictates how we will send the data to the server.</a:t>
            </a:r>
          </a:p>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17</a:t>
            </a:fld>
            <a:endParaRPr lang="en-GB"/>
          </a:p>
        </p:txBody>
      </p:sp>
    </p:spTree>
    <p:extLst>
      <p:ext uri="{BB962C8B-B14F-4D97-AF65-F5344CB8AC3E}">
        <p14:creationId xmlns:p14="http://schemas.microsoft.com/office/powerpoint/2010/main" val="1579902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There are two methods that can be used to submit HTML form data:</a:t>
            </a:r>
          </a:p>
          <a:p>
            <a:endParaRPr lang="en-US" dirty="0"/>
          </a:p>
          <a:p>
            <a:r>
              <a:rPr lang="en-US" dirty="0"/>
              <a:t>GET</a:t>
            </a:r>
          </a:p>
          <a:p>
            <a:r>
              <a:rPr lang="en-US" dirty="0"/>
              <a:t>If the method on a form is GET then the data is sent in the </a:t>
            </a:r>
            <a:r>
              <a:rPr lang="en-US" dirty="0" err="1"/>
              <a:t>QueryString</a:t>
            </a:r>
            <a:r>
              <a:rPr lang="en-US" dirty="0"/>
              <a:t>  portion of the URL.  This is limited in length but can be bookmarked – which can be a good or bad thing.  The data is also clearly visible and so can easily be tampered with.</a:t>
            </a:r>
          </a:p>
          <a:p>
            <a:endParaRPr lang="en-US" dirty="0"/>
          </a:p>
          <a:p>
            <a:r>
              <a:rPr lang="en-US" dirty="0"/>
              <a:t>POST</a:t>
            </a:r>
          </a:p>
          <a:p>
            <a:r>
              <a:rPr lang="en-US" dirty="0"/>
              <a:t>If the POST method is used then the data is “hidden” from the user – it can still be tampered with but this is far more difficult.  It is also unlimited in length and is sent as the body of the HTTP Request.</a:t>
            </a:r>
          </a:p>
        </p:txBody>
      </p:sp>
      <p:sp>
        <p:nvSpPr>
          <p:cNvPr id="6" name="Slide Image Placeholder 5"/>
          <p:cNvSpPr>
            <a:spLocks noGrp="1" noRot="1" noChangeAspect="1"/>
          </p:cNvSpPr>
          <p:nvPr>
            <p:ph type="sldImg"/>
          </p:nvPr>
        </p:nvSpPr>
        <p:spPr/>
      </p:sp>
      <p:sp>
        <p:nvSpPr>
          <p:cNvPr id="2" name="Slide Number Placeholder 1">
            <a:extLst>
              <a:ext uri="{FF2B5EF4-FFF2-40B4-BE49-F238E27FC236}">
                <a16:creationId xmlns:a16="http://schemas.microsoft.com/office/drawing/2014/main" id="{7CE28C08-1585-40CD-B67D-20AFA175712D}"/>
              </a:ext>
            </a:extLst>
          </p:cNvPr>
          <p:cNvSpPr>
            <a:spLocks noGrp="1"/>
          </p:cNvSpPr>
          <p:nvPr>
            <p:ph type="sldNum" sz="quarter" idx="5"/>
          </p:nvPr>
        </p:nvSpPr>
        <p:spPr/>
        <p:txBody>
          <a:bodyPr/>
          <a:lstStyle/>
          <a:p>
            <a:fld id="{548901C6-1DA1-FB44-ABEE-06A0FEB7738E}" type="slidenum">
              <a:rPr lang="en-GB" smtClean="0"/>
              <a:pPr/>
              <a:t>18</a:t>
            </a:fld>
            <a:endParaRPr lang="en-GB"/>
          </a:p>
        </p:txBody>
      </p:sp>
    </p:spTree>
    <p:extLst>
      <p:ext uri="{BB962C8B-B14F-4D97-AF65-F5344CB8AC3E}">
        <p14:creationId xmlns:p14="http://schemas.microsoft.com/office/powerpoint/2010/main" val="1322648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tabLst/>
            </a:pPr>
            <a:r>
              <a:rPr lang="en-US" dirty="0"/>
              <a:t>Cookies are small pieces of data, passed in the HTTP header.  They are initially generated on the server and are sent back to the client as part of a response to some request.  Thereafter, the client will pass the cookie back to the server during subsequent requests.</a:t>
            </a:r>
          </a:p>
          <a:p>
            <a:pPr>
              <a:tabLst/>
            </a:pPr>
            <a:endParaRPr lang="en-US" dirty="0"/>
          </a:p>
          <a:p>
            <a:pPr>
              <a:tabLst/>
            </a:pPr>
            <a:r>
              <a:rPr lang="en-US" dirty="0"/>
              <a:t>The data in a cookie is held as name/value pairs, where the value can be any textual data you like up to a maximum of four kilobytes.  Cookies are not sent to the server with every request;  exactly when the cookie is sent back to the server is subject to the following conditions, which are set by the server:</a:t>
            </a:r>
          </a:p>
          <a:p>
            <a:pPr>
              <a:tabLst/>
            </a:pPr>
            <a:endParaRPr lang="en-US" dirty="0"/>
          </a:p>
          <a:p>
            <a:pPr>
              <a:buFont typeface="Calibri" pitchFamily="34" charset="0"/>
              <a:buAutoNum type="arabicPeriod"/>
              <a:tabLst/>
            </a:pPr>
            <a:r>
              <a:rPr lang="en-US" dirty="0"/>
              <a:t>The domain with which the cookie is associated (see note below)</a:t>
            </a:r>
          </a:p>
          <a:p>
            <a:pPr>
              <a:buFont typeface="Calibri" pitchFamily="34" charset="0"/>
              <a:buAutoNum type="arabicPeriod"/>
              <a:tabLst/>
            </a:pPr>
            <a:r>
              <a:rPr lang="en-US" dirty="0"/>
              <a:t>The path on the server under which the resource must reside.</a:t>
            </a:r>
          </a:p>
          <a:p>
            <a:pPr>
              <a:buFont typeface="Calibri" pitchFamily="34" charset="0"/>
              <a:buAutoNum type="arabicPeriod"/>
              <a:tabLst/>
            </a:pPr>
            <a:r>
              <a:rPr lang="en-US" dirty="0"/>
              <a:t>The length of time until the cookie expires.</a:t>
            </a:r>
          </a:p>
          <a:p>
            <a:pPr>
              <a:buFont typeface="Calibri" pitchFamily="34" charset="0"/>
              <a:buAutoNum type="arabicPeriod"/>
              <a:tabLst/>
            </a:pPr>
            <a:r>
              <a:rPr lang="en-US" dirty="0"/>
              <a:t>If the cookie can only be passed back over an HTTPS link.</a:t>
            </a:r>
          </a:p>
          <a:p>
            <a:pPr>
              <a:tabLst/>
            </a:pPr>
            <a:endParaRPr lang="en-US" dirty="0"/>
          </a:p>
          <a:p>
            <a:pPr>
              <a:tabLst/>
            </a:pPr>
            <a:r>
              <a:rPr lang="en-US" b="1" dirty="0"/>
              <a:t>Note</a:t>
            </a:r>
            <a:r>
              <a:rPr lang="en-US" dirty="0"/>
              <a:t>: </a:t>
            </a:r>
            <a:r>
              <a:rPr lang="en-US" i="1" dirty="0"/>
              <a:t>www.bbc.co.uk </a:t>
            </a:r>
            <a:r>
              <a:rPr lang="en-US" dirty="0"/>
              <a:t>can set a cookie to the </a:t>
            </a:r>
            <a:r>
              <a:rPr lang="en-US" i="1" dirty="0"/>
              <a:t>bbc.co.uk </a:t>
            </a:r>
            <a:r>
              <a:rPr lang="en-US" dirty="0"/>
              <a:t>domain so that it could also be sent back with requests to </a:t>
            </a:r>
            <a:r>
              <a:rPr lang="en-US" i="1" dirty="0"/>
              <a:t>news.bbc.co.uk,</a:t>
            </a:r>
            <a:r>
              <a:rPr lang="en-US" dirty="0"/>
              <a:t> but they can’t set the domain of the cookie to </a:t>
            </a:r>
            <a:r>
              <a:rPr lang="en-US" i="1" dirty="0"/>
              <a:t>sky.co.uk</a:t>
            </a:r>
            <a:r>
              <a:rPr lang="en-US" dirty="0"/>
              <a:t>.</a:t>
            </a:r>
          </a:p>
        </p:txBody>
      </p:sp>
      <p:sp>
        <p:nvSpPr>
          <p:cNvPr id="6" name="Slide Image Placeholder 5"/>
          <p:cNvSpPr>
            <a:spLocks noGrp="1" noRot="1" noChangeAspect="1"/>
          </p:cNvSpPr>
          <p:nvPr>
            <p:ph type="sldImg"/>
          </p:nvPr>
        </p:nvSpPr>
        <p:spPr/>
      </p:sp>
      <p:sp>
        <p:nvSpPr>
          <p:cNvPr id="2" name="Slide Number Placeholder 1">
            <a:extLst>
              <a:ext uri="{FF2B5EF4-FFF2-40B4-BE49-F238E27FC236}">
                <a16:creationId xmlns:a16="http://schemas.microsoft.com/office/drawing/2014/main" id="{8FBAF97B-7F62-4D92-BA7D-E3FC1B49A7AB}"/>
              </a:ext>
            </a:extLst>
          </p:cNvPr>
          <p:cNvSpPr>
            <a:spLocks noGrp="1"/>
          </p:cNvSpPr>
          <p:nvPr>
            <p:ph type="sldNum" sz="quarter" idx="5"/>
          </p:nvPr>
        </p:nvSpPr>
        <p:spPr/>
        <p:txBody>
          <a:bodyPr/>
          <a:lstStyle/>
          <a:p>
            <a:fld id="{548901C6-1DA1-FB44-ABEE-06A0FEB7738E}" type="slidenum">
              <a:rPr lang="en-GB" smtClean="0"/>
              <a:pPr/>
              <a:t>19</a:t>
            </a:fld>
            <a:endParaRPr lang="en-GB"/>
          </a:p>
        </p:txBody>
      </p:sp>
    </p:spTree>
    <p:extLst>
      <p:ext uri="{BB962C8B-B14F-4D97-AF65-F5344CB8AC3E}">
        <p14:creationId xmlns:p14="http://schemas.microsoft.com/office/powerpoint/2010/main" val="14067220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739775">
              <a:tabLst/>
            </a:pPr>
            <a:r>
              <a:rPr lang="en-US" dirty="0"/>
              <a:t>Internet Information Server (IIS) is Microsoft’s enterprise Web Server solution.  Windows Server 2003 came with IIS6, in Windows Server 2008 there is a new version, IIS7, that integrates completely with ASP.NET.</a:t>
            </a:r>
          </a:p>
          <a:p>
            <a:pPr defTabSz="739775">
              <a:tabLst/>
            </a:pPr>
            <a:endParaRPr lang="en-US" dirty="0"/>
          </a:p>
          <a:p>
            <a:pPr defTabSz="739775">
              <a:tabLst/>
            </a:pPr>
            <a:r>
              <a:rPr lang="en-US" dirty="0"/>
              <a:t>Both of these are managed through Internet Services Manager, although the user interfaces are very different.</a:t>
            </a:r>
          </a:p>
          <a:p>
            <a:pPr defTabSz="739775">
              <a:tabLst/>
            </a:pPr>
            <a:endParaRPr lang="en-US" dirty="0"/>
          </a:p>
          <a:p>
            <a:pPr defTabSz="739775">
              <a:tabLst/>
            </a:pPr>
            <a:r>
              <a:rPr lang="en-US" dirty="0"/>
              <a:t>Web pages (and supporting files) are stored in a directory on the Web Server – these include all the static and dynamic files required for the Web site.</a:t>
            </a:r>
          </a:p>
          <a:p>
            <a:pPr defTabSz="739775">
              <a:tabLst/>
            </a:pPr>
            <a:endParaRPr lang="en-US" dirty="0"/>
          </a:p>
          <a:p>
            <a:pPr defTabSz="739775">
              <a:tabLst/>
            </a:pPr>
            <a:r>
              <a:rPr lang="en-US" dirty="0"/>
              <a:t>IIS allows for the creation of a Virtual Directory that points to this directory but IIS will expose this to the user with a well-known HTTP address.</a:t>
            </a:r>
          </a:p>
          <a:p>
            <a:pPr defTabSz="739775">
              <a:tabLst/>
            </a:pPr>
            <a:endParaRPr lang="en-US" dirty="0"/>
          </a:p>
          <a:p>
            <a:pPr defTabSz="739775">
              <a:tabLst/>
            </a:pPr>
            <a:r>
              <a:rPr lang="en-US" dirty="0"/>
              <a:t>In order for ASP.NET to function within a Virtual Directory it is necessary to ensure that the Virtual Directory is set as an application.</a:t>
            </a:r>
          </a:p>
          <a:p>
            <a:pPr defTabSz="739775">
              <a:tabLst/>
            </a:pPr>
            <a:endParaRPr lang="en-US" dirty="0"/>
          </a:p>
          <a:p>
            <a:pPr defTabSz="739775">
              <a:tabLst/>
            </a:pPr>
            <a:r>
              <a:rPr lang="en-US" dirty="0"/>
              <a:t>In both IIS6 and IIS7 there are Application Pools that allow isolation, among other things.  These are the process spaces in which the ASP.NET applications will run.</a:t>
            </a:r>
          </a:p>
        </p:txBody>
      </p:sp>
      <p:sp>
        <p:nvSpPr>
          <p:cNvPr id="6" name="Slide Image Placeholder 5"/>
          <p:cNvSpPr>
            <a:spLocks noGrp="1" noRot="1" noChangeAspect="1"/>
          </p:cNvSpPr>
          <p:nvPr>
            <p:ph type="sldImg"/>
          </p:nvPr>
        </p:nvSpPr>
        <p:spPr/>
      </p:sp>
      <p:sp>
        <p:nvSpPr>
          <p:cNvPr id="2" name="Slide Number Placeholder 1">
            <a:extLst>
              <a:ext uri="{FF2B5EF4-FFF2-40B4-BE49-F238E27FC236}">
                <a16:creationId xmlns:a16="http://schemas.microsoft.com/office/drawing/2014/main" id="{049C02C5-A5DD-4EDA-BD51-EF3213522D09}"/>
              </a:ext>
            </a:extLst>
          </p:cNvPr>
          <p:cNvSpPr>
            <a:spLocks noGrp="1"/>
          </p:cNvSpPr>
          <p:nvPr>
            <p:ph type="sldNum" sz="quarter" idx="5"/>
          </p:nvPr>
        </p:nvSpPr>
        <p:spPr/>
        <p:txBody>
          <a:bodyPr/>
          <a:lstStyle/>
          <a:p>
            <a:fld id="{548901C6-1DA1-FB44-ABEE-06A0FEB7738E}" type="slidenum">
              <a:rPr lang="en-GB" smtClean="0"/>
              <a:pPr/>
              <a:t>20</a:t>
            </a:fld>
            <a:endParaRPr lang="en-GB"/>
          </a:p>
        </p:txBody>
      </p:sp>
    </p:spTree>
    <p:extLst>
      <p:ext uri="{BB962C8B-B14F-4D97-AF65-F5344CB8AC3E}">
        <p14:creationId xmlns:p14="http://schemas.microsoft.com/office/powerpoint/2010/main" val="8697386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Notes Placeholder 2"/>
          <p:cNvSpPr>
            <a:spLocks noGrp="1"/>
          </p:cNvSpPr>
          <p:nvPr>
            <p:ph type="body" idx="1"/>
          </p:nvPr>
        </p:nvSpPr>
        <p:spPr>
          <a:noFill/>
          <a:ln/>
        </p:spPr>
        <p:txBody>
          <a:bodyPr/>
          <a:lstStyle/>
          <a:p>
            <a:endParaRPr lang="en-US">
              <a:latin typeface="Arial" charset="0"/>
              <a:cs typeface="Arial" charset="0"/>
            </a:endParaRPr>
          </a:p>
        </p:txBody>
      </p:sp>
      <p:sp>
        <p:nvSpPr>
          <p:cNvPr id="6" name="Slide Image Placeholder 5"/>
          <p:cNvSpPr>
            <a:spLocks noGrp="1" noRot="1" noChangeAspect="1"/>
          </p:cNvSpPr>
          <p:nvPr>
            <p:ph type="sldImg"/>
          </p:nvPr>
        </p:nvSpPr>
        <p:spPr/>
      </p:sp>
      <p:sp>
        <p:nvSpPr>
          <p:cNvPr id="2" name="Slide Number Placeholder 1">
            <a:extLst>
              <a:ext uri="{FF2B5EF4-FFF2-40B4-BE49-F238E27FC236}">
                <a16:creationId xmlns:a16="http://schemas.microsoft.com/office/drawing/2014/main" id="{962206CF-CA17-48DF-AD77-1B5EAEB14CA6}"/>
              </a:ext>
            </a:extLst>
          </p:cNvPr>
          <p:cNvSpPr>
            <a:spLocks noGrp="1"/>
          </p:cNvSpPr>
          <p:nvPr>
            <p:ph type="sldNum" sz="quarter" idx="5"/>
          </p:nvPr>
        </p:nvSpPr>
        <p:spPr/>
        <p:txBody>
          <a:bodyPr/>
          <a:lstStyle/>
          <a:p>
            <a:fld id="{548901C6-1DA1-FB44-ABEE-06A0FEB7738E}" type="slidenum">
              <a:rPr lang="en-GB" smtClean="0"/>
              <a:pPr/>
              <a:t>21</a:t>
            </a:fld>
            <a:endParaRPr lang="en-GB"/>
          </a:p>
        </p:txBody>
      </p:sp>
    </p:spTree>
    <p:extLst>
      <p:ext uri="{BB962C8B-B14F-4D97-AF65-F5344CB8AC3E}">
        <p14:creationId xmlns:p14="http://schemas.microsoft.com/office/powerpoint/2010/main" val="39893331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All slides titled ‘Lab’ (Normally the last slide in the deck).</a:t>
            </a:r>
          </a:p>
        </p:txBody>
      </p:sp>
      <p:sp>
        <p:nvSpPr>
          <p:cNvPr id="4" name="Slide Number Placeholder 3"/>
          <p:cNvSpPr>
            <a:spLocks noGrp="1"/>
          </p:cNvSpPr>
          <p:nvPr>
            <p:ph type="sldNum" sz="quarter" idx="10"/>
          </p:nvPr>
        </p:nvSpPr>
        <p:spPr/>
        <p:txBody>
          <a:bodyPr/>
          <a:lstStyle/>
          <a:p>
            <a:fld id="{548901C6-1DA1-FB44-ABEE-06A0FEB7738E}" type="slidenum">
              <a:rPr lang="en-GB" smtClean="0"/>
              <a:pPr/>
              <a:t>22</a:t>
            </a:fld>
            <a:endParaRPr lang="en-GB"/>
          </a:p>
        </p:txBody>
      </p:sp>
    </p:spTree>
    <p:extLst>
      <p:ext uri="{BB962C8B-B14F-4D97-AF65-F5344CB8AC3E}">
        <p14:creationId xmlns:p14="http://schemas.microsoft.com/office/powerpoint/2010/main" val="7360609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2_Orange Background C">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5300" y="2311970"/>
            <a:ext cx="5627171" cy="2277604"/>
          </a:xfrm>
        </p:spPr>
        <p:txBody>
          <a:bodyPr anchor="b" anchorCtr="0">
            <a:noAutofit/>
          </a:bodyPr>
          <a:lstStyle>
            <a:lvl1pPr algn="l">
              <a:lnSpc>
                <a:spcPts val="6000"/>
              </a:lnSpc>
              <a:defRPr sz="5600">
                <a:solidFill>
                  <a:srgbClr val="004050"/>
                </a:solidFill>
              </a:defRPr>
            </a:lvl1pPr>
          </a:lstStyle>
          <a:p>
            <a:r>
              <a:rPr lang="en-US" noProof="0"/>
              <a:t>Click to edit Master title style</a:t>
            </a:r>
            <a:endParaRPr lang="en-GB" noProof="0" dirty="0"/>
          </a:p>
        </p:txBody>
      </p:sp>
      <p:sp>
        <p:nvSpPr>
          <p:cNvPr id="20" name="object 5">
            <a:extLst>
              <a:ext uri="{FF2B5EF4-FFF2-40B4-BE49-F238E27FC236}">
                <a16:creationId xmlns:a16="http://schemas.microsoft.com/office/drawing/2014/main" id="{28E4C95E-5280-3241-AF7F-04C2329AE56E}"/>
              </a:ext>
            </a:extLst>
          </p:cNvPr>
          <p:cNvSpPr/>
          <p:nvPr userDrawn="1"/>
        </p:nvSpPr>
        <p:spPr>
          <a:xfrm>
            <a:off x="0" y="4401989"/>
            <a:ext cx="6977811" cy="982453"/>
          </a:xfrm>
          <a:custGeom>
            <a:avLst/>
            <a:gdLst/>
            <a:ahLst/>
            <a:cxnLst/>
            <a:rect l="l" t="t" r="r" b="b"/>
            <a:pathLst>
              <a:path w="9245600" h="1301750">
                <a:moveTo>
                  <a:pt x="8673461" y="0"/>
                </a:moveTo>
                <a:lnTo>
                  <a:pt x="8505236" y="0"/>
                </a:lnTo>
                <a:lnTo>
                  <a:pt x="8507088" y="52226"/>
                </a:lnTo>
                <a:lnTo>
                  <a:pt x="8512559" y="103477"/>
                </a:lnTo>
                <a:lnTo>
                  <a:pt x="8521524" y="153629"/>
                </a:lnTo>
                <a:lnTo>
                  <a:pt x="8533859" y="202558"/>
                </a:lnTo>
                <a:lnTo>
                  <a:pt x="8549439" y="250138"/>
                </a:lnTo>
                <a:lnTo>
                  <a:pt x="8568137" y="296245"/>
                </a:lnTo>
                <a:lnTo>
                  <a:pt x="8589830" y="340755"/>
                </a:lnTo>
                <a:lnTo>
                  <a:pt x="8614392" y="383542"/>
                </a:lnTo>
                <a:lnTo>
                  <a:pt x="8641698" y="424483"/>
                </a:lnTo>
                <a:lnTo>
                  <a:pt x="8671623" y="463451"/>
                </a:lnTo>
                <a:lnTo>
                  <a:pt x="8704041" y="500324"/>
                </a:lnTo>
                <a:lnTo>
                  <a:pt x="8738829" y="534976"/>
                </a:lnTo>
                <a:lnTo>
                  <a:pt x="8775861" y="567283"/>
                </a:lnTo>
                <a:lnTo>
                  <a:pt x="0" y="567283"/>
                </a:lnTo>
                <a:lnTo>
                  <a:pt x="0" y="734250"/>
                </a:lnTo>
                <a:lnTo>
                  <a:pt x="8775797" y="734250"/>
                </a:lnTo>
                <a:lnTo>
                  <a:pt x="8738779" y="766556"/>
                </a:lnTo>
                <a:lnTo>
                  <a:pt x="8704003" y="801206"/>
                </a:lnTo>
                <a:lnTo>
                  <a:pt x="8671594" y="838075"/>
                </a:lnTo>
                <a:lnTo>
                  <a:pt x="8641677" y="877039"/>
                </a:lnTo>
                <a:lnTo>
                  <a:pt x="8614377" y="917973"/>
                </a:lnTo>
                <a:lnTo>
                  <a:pt x="8589820" y="960755"/>
                </a:lnTo>
                <a:lnTo>
                  <a:pt x="8568131" y="1005257"/>
                </a:lnTo>
                <a:lnTo>
                  <a:pt x="8549435" y="1051358"/>
                </a:lnTo>
                <a:lnTo>
                  <a:pt x="8533857" y="1098932"/>
                </a:lnTo>
                <a:lnTo>
                  <a:pt x="8521524" y="1147854"/>
                </a:lnTo>
                <a:lnTo>
                  <a:pt x="8512559" y="1198001"/>
                </a:lnTo>
                <a:lnTo>
                  <a:pt x="8507088" y="1249248"/>
                </a:lnTo>
                <a:lnTo>
                  <a:pt x="8505236" y="1301470"/>
                </a:lnTo>
                <a:lnTo>
                  <a:pt x="8673461" y="1301470"/>
                </a:lnTo>
                <a:lnTo>
                  <a:pt x="8675562" y="1252598"/>
                </a:lnTo>
                <a:lnTo>
                  <a:pt x="8681752" y="1204867"/>
                </a:lnTo>
                <a:lnTo>
                  <a:pt x="8691858" y="1158448"/>
                </a:lnTo>
                <a:lnTo>
                  <a:pt x="8705706" y="1113513"/>
                </a:lnTo>
                <a:lnTo>
                  <a:pt x="8723124" y="1070235"/>
                </a:lnTo>
                <a:lnTo>
                  <a:pt x="8743939" y="1028783"/>
                </a:lnTo>
                <a:lnTo>
                  <a:pt x="8767978" y="989330"/>
                </a:lnTo>
                <a:lnTo>
                  <a:pt x="8795069" y="952048"/>
                </a:lnTo>
                <a:lnTo>
                  <a:pt x="8825038" y="917108"/>
                </a:lnTo>
                <a:lnTo>
                  <a:pt x="8857713" y="884681"/>
                </a:lnTo>
                <a:lnTo>
                  <a:pt x="8892921" y="854939"/>
                </a:lnTo>
                <a:lnTo>
                  <a:pt x="8930489" y="828053"/>
                </a:lnTo>
                <a:lnTo>
                  <a:pt x="8970245" y="804196"/>
                </a:lnTo>
                <a:lnTo>
                  <a:pt x="9012015" y="783538"/>
                </a:lnTo>
                <a:lnTo>
                  <a:pt x="9055627" y="766252"/>
                </a:lnTo>
                <a:lnTo>
                  <a:pt x="9100908" y="752508"/>
                </a:lnTo>
                <a:lnTo>
                  <a:pt x="9147685" y="742479"/>
                </a:lnTo>
                <a:lnTo>
                  <a:pt x="9195786" y="736336"/>
                </a:lnTo>
                <a:lnTo>
                  <a:pt x="9245037" y="734250"/>
                </a:lnTo>
                <a:lnTo>
                  <a:pt x="9245037" y="567283"/>
                </a:lnTo>
                <a:lnTo>
                  <a:pt x="9195786" y="565197"/>
                </a:lnTo>
                <a:lnTo>
                  <a:pt x="9147685" y="559052"/>
                </a:lnTo>
                <a:lnTo>
                  <a:pt x="9100908" y="549020"/>
                </a:lnTo>
                <a:lnTo>
                  <a:pt x="9055627" y="535274"/>
                </a:lnTo>
                <a:lnTo>
                  <a:pt x="9012015" y="517984"/>
                </a:lnTo>
                <a:lnTo>
                  <a:pt x="8970245" y="497322"/>
                </a:lnTo>
                <a:lnTo>
                  <a:pt x="8930489" y="473460"/>
                </a:lnTo>
                <a:lnTo>
                  <a:pt x="8892921" y="446570"/>
                </a:lnTo>
                <a:lnTo>
                  <a:pt x="8857713" y="416823"/>
                </a:lnTo>
                <a:lnTo>
                  <a:pt x="8825038" y="384391"/>
                </a:lnTo>
                <a:lnTo>
                  <a:pt x="8795069" y="349446"/>
                </a:lnTo>
                <a:lnTo>
                  <a:pt x="8767978" y="312159"/>
                </a:lnTo>
                <a:lnTo>
                  <a:pt x="8743939" y="272701"/>
                </a:lnTo>
                <a:lnTo>
                  <a:pt x="8723124" y="231246"/>
                </a:lnTo>
                <a:lnTo>
                  <a:pt x="8705706" y="187963"/>
                </a:lnTo>
                <a:lnTo>
                  <a:pt x="8691858" y="143026"/>
                </a:lnTo>
                <a:lnTo>
                  <a:pt x="8681752" y="96605"/>
                </a:lnTo>
                <a:lnTo>
                  <a:pt x="8675562" y="48872"/>
                </a:lnTo>
                <a:lnTo>
                  <a:pt x="8673461" y="0"/>
                </a:lnTo>
                <a:close/>
              </a:path>
            </a:pathLst>
          </a:custGeom>
          <a:solidFill>
            <a:srgbClr val="FFFFFF"/>
          </a:solidFill>
        </p:spPr>
        <p:txBody>
          <a:bodyPr wrap="square" lIns="0" tIns="0" rIns="0" bIns="0" rtlCol="0"/>
          <a:lstStyle/>
          <a:p>
            <a:endParaRPr sz="1029"/>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Content Placeholder 3"/>
          <p:cNvSpPr>
            <a:spLocks noGrp="1"/>
          </p:cNvSpPr>
          <p:nvPr>
            <p:ph sz="quarter" idx="10"/>
          </p:nvPr>
        </p:nvSpPr>
        <p:spPr>
          <a:xfrm>
            <a:off x="385299" y="5768975"/>
            <a:ext cx="5627171" cy="709613"/>
          </a:xfrm>
        </p:spPr>
        <p:txBody>
          <a:bodyPr/>
          <a:lstStyle/>
          <a:p>
            <a:pPr lvl="0"/>
            <a:r>
              <a:rPr lang="en-US"/>
              <a:t>Edit Master text styles</a:t>
            </a:r>
          </a:p>
        </p:txBody>
      </p:sp>
      <p:sp>
        <p:nvSpPr>
          <p:cNvPr id="9" name="Slide Number Placeholder 3"/>
          <p:cNvSpPr>
            <a:spLocks noGrp="1"/>
          </p:cNvSpPr>
          <p:nvPr>
            <p:ph type="sldNum" sz="quarter" idx="4"/>
          </p:nvPr>
        </p:nvSpPr>
        <p:spPr>
          <a:xfrm>
            <a:off x="9229437" y="6356350"/>
            <a:ext cx="2743200" cy="365125"/>
          </a:xfrm>
          <a:prstGeom prst="rect">
            <a:avLst/>
          </a:prstGeom>
        </p:spPr>
        <p:txBody>
          <a:bodyPr vert="horz" lIns="91440" tIns="45720" rIns="91440" bIns="45720" rtlCol="0" anchor="ctr"/>
          <a:lstStyle>
            <a:lvl1pPr algn="r">
              <a:defRPr sz="1200" b="1">
                <a:solidFill>
                  <a:schemeClr val="bg1"/>
                </a:solidFill>
              </a:defRPr>
            </a:lvl1pPr>
          </a:lstStyle>
          <a:p>
            <a:fld id="{59A9DB25-FDD1-47D4-AFDB-AF6782549F92}" type="slidenum">
              <a:rPr lang="en-GB" smtClean="0"/>
              <a:pPr/>
              <a:t>‹#›</a:t>
            </a:fld>
            <a:endParaRPr lang="en-GB" dirty="0"/>
          </a:p>
        </p:txBody>
      </p:sp>
    </p:spTree>
    <p:extLst>
      <p:ext uri="{BB962C8B-B14F-4D97-AF65-F5344CB8AC3E}">
        <p14:creationId xmlns:p14="http://schemas.microsoft.com/office/powerpoint/2010/main" val="39677022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1_Text Slide - With side bar C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4800" cap="all"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7" name="Text Placeholder 4"/>
          <p:cNvSpPr>
            <a:spLocks noGrp="1"/>
          </p:cNvSpPr>
          <p:nvPr>
            <p:ph type="body" sz="quarter" idx="15" hasCustomPrompt="1"/>
          </p:nvPr>
        </p:nvSpPr>
        <p:spPr>
          <a:xfrm>
            <a:off x="5037138" y="1349984"/>
            <a:ext cx="290195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Text Placeholder 4"/>
          <p:cNvSpPr>
            <a:spLocks noGrp="1"/>
          </p:cNvSpPr>
          <p:nvPr>
            <p:ph type="body" sz="quarter" idx="16" hasCustomPrompt="1"/>
          </p:nvPr>
        </p:nvSpPr>
        <p:spPr>
          <a:xfrm>
            <a:off x="8517222" y="1349984"/>
            <a:ext cx="290195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6238" y="4446884"/>
            <a:ext cx="4375225" cy="1964632"/>
          </a:xfrm>
          <a:prstGeom prst="rect">
            <a:avLst/>
          </a:prstGeom>
        </p:spPr>
      </p:pic>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0" name="Slide Number Placeholder 3"/>
          <p:cNvSpPr>
            <a:spLocks noGrp="1"/>
          </p:cNvSpPr>
          <p:nvPr>
            <p:ph type="sldNum" sz="quarter" idx="4"/>
          </p:nvPr>
        </p:nvSpPr>
        <p:spPr>
          <a:xfrm>
            <a:off x="9229437" y="6356350"/>
            <a:ext cx="2743200" cy="365125"/>
          </a:xfrm>
          <a:prstGeom prst="rect">
            <a:avLst/>
          </a:prstGeom>
        </p:spPr>
        <p:txBody>
          <a:bodyPr vert="horz" lIns="91440" tIns="45720" rIns="91440" bIns="45720" rtlCol="0" anchor="ctr"/>
          <a:lstStyle>
            <a:lvl1pPr algn="r">
              <a:defRPr sz="1200" b="1">
                <a:solidFill>
                  <a:schemeClr val="tx1"/>
                </a:solidFill>
              </a:defRPr>
            </a:lvl1pPr>
          </a:lstStyle>
          <a:p>
            <a:fld id="{59A9DB25-FDD1-47D4-AFDB-AF6782549F92}" type="slidenum">
              <a:rPr lang="en-GB" smtClean="0"/>
              <a:pPr/>
              <a:t>‹#›</a:t>
            </a:fld>
            <a:endParaRPr lang="en-GB" dirty="0"/>
          </a:p>
        </p:txBody>
      </p:sp>
    </p:spTree>
    <p:extLst>
      <p:ext uri="{BB962C8B-B14F-4D97-AF65-F5344CB8AC3E}">
        <p14:creationId xmlns:p14="http://schemas.microsoft.com/office/powerpoint/2010/main" val="427549552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8"/>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8"/>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8"/>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8"/>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76238" y="2067007"/>
            <a:ext cx="5627171" cy="2353439"/>
          </a:xfrm>
        </p:spPr>
        <p:txBody>
          <a:bodyPr>
            <a:normAutofit/>
          </a:bodyPr>
          <a:lstStyle/>
          <a:p>
            <a:r>
              <a:rPr lang="en-GB" dirty="0"/>
              <a:t>Web Development</a:t>
            </a:r>
            <a:br>
              <a:rPr lang="en-GB" dirty="0"/>
            </a:br>
            <a:r>
              <a:rPr lang="en-GB" dirty="0"/>
              <a:t>HTML and CSS</a:t>
            </a:r>
            <a:endParaRPr lang="en-US" dirty="0"/>
          </a:p>
        </p:txBody>
      </p:sp>
    </p:spTree>
    <p:extLst>
      <p:ext uri="{BB962C8B-B14F-4D97-AF65-F5344CB8AC3E}">
        <p14:creationId xmlns:p14="http://schemas.microsoft.com/office/powerpoint/2010/main" val="1122218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76238" y="2067007"/>
            <a:ext cx="6120815" cy="2353439"/>
          </a:xfrm>
        </p:spPr>
        <p:txBody>
          <a:bodyPr/>
          <a:lstStyle/>
          <a:p>
            <a:pPr>
              <a:lnSpc>
                <a:spcPct val="100000"/>
              </a:lnSpc>
              <a:spcBef>
                <a:spcPts val="0"/>
              </a:spcBef>
              <a:buSzPct val="115000"/>
            </a:pPr>
            <a:r>
              <a:rPr lang="en-GB" b="1">
                <a:ea typeface="+mn-ea"/>
                <a:cs typeface="+mn-cs"/>
              </a:rPr>
              <a:t>How </a:t>
            </a:r>
            <a:r>
              <a:rPr lang="en-GB" b="1" dirty="0">
                <a:ea typeface="+mn-ea"/>
                <a:cs typeface="+mn-cs"/>
              </a:rPr>
              <a:t>the Internet works</a:t>
            </a:r>
          </a:p>
        </p:txBody>
      </p:sp>
    </p:spTree>
    <p:extLst>
      <p:ext uri="{BB962C8B-B14F-4D97-AF65-F5344CB8AC3E}">
        <p14:creationId xmlns:p14="http://schemas.microsoft.com/office/powerpoint/2010/main" val="703721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70646CD-1D66-4E68-8450-5401D6CCCDF6}"/>
              </a:ext>
            </a:extLst>
          </p:cNvPr>
          <p:cNvSpPr>
            <a:spLocks noGrp="1"/>
          </p:cNvSpPr>
          <p:nvPr>
            <p:ph type="body" sz="quarter" idx="10"/>
          </p:nvPr>
        </p:nvSpPr>
        <p:spPr/>
        <p:txBody>
          <a:bodyPr/>
          <a:lstStyle/>
          <a:p>
            <a:r>
              <a:rPr lang="en-GB" dirty="0"/>
              <a:t>Objectives</a:t>
            </a:r>
            <a:endParaRPr lang="en-IN" dirty="0"/>
          </a:p>
        </p:txBody>
      </p:sp>
      <p:sp>
        <p:nvSpPr>
          <p:cNvPr id="5" name="Text Placeholder 4">
            <a:extLst>
              <a:ext uri="{FF2B5EF4-FFF2-40B4-BE49-F238E27FC236}">
                <a16:creationId xmlns:a16="http://schemas.microsoft.com/office/drawing/2014/main" id="{9D0CCBD5-AF4F-408A-9C84-18BC7533D7DF}"/>
              </a:ext>
            </a:extLst>
          </p:cNvPr>
          <p:cNvSpPr>
            <a:spLocks noGrp="1"/>
          </p:cNvSpPr>
          <p:nvPr>
            <p:ph type="body" sz="quarter" idx="15"/>
          </p:nvPr>
        </p:nvSpPr>
        <p:spPr>
          <a:xfrm>
            <a:off x="5037137" y="774835"/>
            <a:ext cx="6561827" cy="5586208"/>
          </a:xfrm>
        </p:spPr>
        <p:txBody>
          <a:bodyPr/>
          <a:lstStyle/>
          <a:p>
            <a:r>
              <a:rPr lang="en-GB" b="1" dirty="0"/>
              <a:t>After completing this module you will be able to describe:</a:t>
            </a:r>
          </a:p>
          <a:p>
            <a:endParaRPr lang="en-GB" b="1" dirty="0"/>
          </a:p>
          <a:p>
            <a:pPr marL="342900" indent="-342900">
              <a:buFont typeface="Arial" panose="020B0604020202020204" pitchFamily="34" charset="0"/>
              <a:buChar char="•"/>
            </a:pPr>
            <a:r>
              <a:rPr lang="en-GB" dirty="0"/>
              <a:t>The fundamentals of how the internet works</a:t>
            </a:r>
          </a:p>
          <a:p>
            <a:pPr marL="684000" lvl="1" indent="-342900">
              <a:buSzPct val="115000"/>
            </a:pPr>
            <a:r>
              <a:rPr lang="en-GB" dirty="0"/>
              <a:t>How the World Wide Web came about</a:t>
            </a:r>
          </a:p>
          <a:p>
            <a:pPr marL="342900" indent="-342900">
              <a:buFont typeface="Arial" panose="020B0604020202020204" pitchFamily="34" charset="0"/>
              <a:buChar char="•"/>
            </a:pPr>
            <a:r>
              <a:rPr lang="en-GB" dirty="0"/>
              <a:t>How information is sent through the web</a:t>
            </a:r>
          </a:p>
          <a:p>
            <a:pPr marL="342900" indent="-342900">
              <a:buFont typeface="Arial" panose="020B0604020202020204" pitchFamily="34" charset="0"/>
              <a:buChar char="•"/>
            </a:pPr>
            <a:r>
              <a:rPr lang="en-GB" dirty="0"/>
              <a:t>What is </a:t>
            </a:r>
            <a:r>
              <a:rPr lang="en-GB" b="1" dirty="0"/>
              <a:t>HTTP, TCP/IP</a:t>
            </a:r>
            <a:r>
              <a:rPr lang="en-GB" dirty="0"/>
              <a:t> and </a:t>
            </a:r>
            <a:r>
              <a:rPr lang="en-GB" b="1" dirty="0"/>
              <a:t>IP </a:t>
            </a:r>
            <a:r>
              <a:rPr lang="en-GB" dirty="0"/>
              <a:t>addresses</a:t>
            </a:r>
          </a:p>
          <a:p>
            <a:pPr marL="522900" lvl="1" indent="-342900"/>
            <a:r>
              <a:rPr lang="en-GB" dirty="0"/>
              <a:t>What ports are used for</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r>
              <a:rPr lang="en-GB" dirty="0"/>
              <a:t>The use of </a:t>
            </a:r>
            <a:r>
              <a:rPr lang="en-GB" b="1" dirty="0"/>
              <a:t>client-side</a:t>
            </a:r>
            <a:r>
              <a:rPr lang="en-GB" dirty="0"/>
              <a:t> and </a:t>
            </a:r>
            <a:r>
              <a:rPr lang="en-GB" b="1" dirty="0"/>
              <a:t>server-side</a:t>
            </a:r>
            <a:r>
              <a:rPr lang="en-GB" dirty="0"/>
              <a:t> processing</a:t>
            </a:r>
          </a:p>
          <a:p>
            <a:pPr marL="684000" lvl="1" indent="-342900">
              <a:buSzPct val="115000"/>
            </a:pPr>
            <a:r>
              <a:rPr lang="en-GB" dirty="0"/>
              <a:t>As well as Get and Put verbs</a:t>
            </a:r>
          </a:p>
          <a:p>
            <a:pPr marL="341100" lvl="1" indent="0">
              <a:buSzPct val="115000"/>
              <a:buNone/>
            </a:pPr>
            <a:endParaRPr lang="en-GB" dirty="0"/>
          </a:p>
          <a:p>
            <a:pPr marL="342900" indent="-342900">
              <a:buFont typeface="Arial" panose="020B0604020202020204" pitchFamily="34" charset="0"/>
              <a:buChar char="•"/>
            </a:pPr>
            <a:r>
              <a:rPr lang="en-GB" dirty="0"/>
              <a:t>The use of </a:t>
            </a:r>
            <a:r>
              <a:rPr lang="en-GB" b="1" dirty="0"/>
              <a:t>Cookies</a:t>
            </a:r>
          </a:p>
          <a:p>
            <a:endParaRPr lang="en-IN" dirty="0"/>
          </a:p>
        </p:txBody>
      </p:sp>
    </p:spTree>
    <p:extLst>
      <p:ext uri="{BB962C8B-B14F-4D97-AF65-F5344CB8AC3E}">
        <p14:creationId xmlns:p14="http://schemas.microsoft.com/office/powerpoint/2010/main" val="312643298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a:spLocks noGrp="1"/>
          </p:cNvSpPr>
          <p:nvPr>
            <p:ph type="title"/>
          </p:nvPr>
        </p:nvSpPr>
        <p:spPr/>
        <p:txBody>
          <a:bodyPr/>
          <a:lstStyle/>
          <a:p>
            <a:r>
              <a:rPr lang="en-GB" dirty="0"/>
              <a:t>What is The World Wide Web (WWW)</a:t>
            </a:r>
          </a:p>
        </p:txBody>
      </p:sp>
      <p:sp>
        <p:nvSpPr>
          <p:cNvPr id="2" name="Content Placeholder 1"/>
          <p:cNvSpPr>
            <a:spLocks noGrp="1"/>
          </p:cNvSpPr>
          <p:nvPr>
            <p:ph idx="1"/>
          </p:nvPr>
        </p:nvSpPr>
        <p:spPr>
          <a:xfrm>
            <a:off x="341272" y="1368256"/>
            <a:ext cx="11516239" cy="3928021"/>
          </a:xfrm>
        </p:spPr>
        <p:txBody>
          <a:bodyPr/>
          <a:lstStyle/>
          <a:p>
            <a:pPr marL="0" indent="0">
              <a:buNone/>
            </a:pPr>
            <a:r>
              <a:rPr lang="en-GB" b="1" dirty="0"/>
              <a:t>What is WWW, When it was invented, Who created it?</a:t>
            </a:r>
            <a:br>
              <a:rPr lang="en-GB" b="1" dirty="0"/>
            </a:br>
            <a:endParaRPr lang="en-GB" b="1" dirty="0"/>
          </a:p>
          <a:p>
            <a:pPr marL="0" indent="0">
              <a:buNone/>
            </a:pPr>
            <a:r>
              <a:rPr lang="en-GB" b="1" dirty="0"/>
              <a:t>Proposed by physicist Sir Tim Berners-Lee in 1980 </a:t>
            </a:r>
          </a:p>
          <a:p>
            <a:pPr marL="342000" indent="-342900">
              <a:buFont typeface="Arial" panose="020B0604020202020204" pitchFamily="34" charset="0"/>
              <a:buChar char="•"/>
            </a:pPr>
            <a:r>
              <a:rPr lang="en-GB" dirty="0"/>
              <a:t>In </a:t>
            </a:r>
            <a:r>
              <a:rPr lang="en-GB" b="1" dirty="0"/>
              <a:t>1989</a:t>
            </a:r>
            <a:r>
              <a:rPr lang="en-GB" dirty="0"/>
              <a:t>, he published a paper called </a:t>
            </a:r>
            <a:r>
              <a:rPr lang="en-GB" i="1" dirty="0"/>
              <a:t>'</a:t>
            </a:r>
            <a:r>
              <a:rPr lang="en-GB" b="1" i="1" dirty="0">
                <a:solidFill>
                  <a:schemeClr val="accent1">
                    <a:lumMod val="90000"/>
                    <a:lumOff val="10000"/>
                  </a:schemeClr>
                </a:solidFill>
              </a:rPr>
              <a:t>Information Management: A Proposal</a:t>
            </a:r>
            <a:r>
              <a:rPr lang="en-GB" i="1" dirty="0"/>
              <a:t>'</a:t>
            </a:r>
            <a:r>
              <a:rPr lang="en-GB" dirty="0"/>
              <a:t> </a:t>
            </a:r>
            <a:br>
              <a:rPr lang="en-GB" dirty="0"/>
            </a:br>
            <a:r>
              <a:rPr lang="en-GB" dirty="0"/>
              <a:t>in which he used </a:t>
            </a:r>
            <a:r>
              <a:rPr lang="en-GB" b="1" dirty="0"/>
              <a:t>hypertext </a:t>
            </a:r>
            <a:r>
              <a:rPr lang="en-GB" dirty="0"/>
              <a:t>with the </a:t>
            </a:r>
            <a:r>
              <a:rPr lang="en-GB" b="1" dirty="0"/>
              <a:t>Internet</a:t>
            </a:r>
            <a:r>
              <a:rPr lang="en-GB" dirty="0"/>
              <a:t> to create a system for sharing and distributing information not just within a company, but </a:t>
            </a:r>
            <a:r>
              <a:rPr lang="en-GB" b="1" dirty="0"/>
              <a:t>globally </a:t>
            </a:r>
            <a:br>
              <a:rPr lang="en-GB" dirty="0"/>
            </a:br>
            <a:endParaRPr lang="en-GB" dirty="0"/>
          </a:p>
          <a:p>
            <a:pPr marL="342000" indent="-342900"/>
            <a:r>
              <a:rPr lang="en-GB" sz="2400" dirty="0">
                <a:solidFill>
                  <a:srgbClr val="7E007C"/>
                </a:solidFill>
              </a:rPr>
              <a:t>	</a:t>
            </a:r>
            <a:r>
              <a:rPr lang="en-GB" sz="2400" b="1" dirty="0">
                <a:solidFill>
                  <a:srgbClr val="7E007C"/>
                </a:solidFill>
              </a:rPr>
              <a:t>He named it the World Wide Web</a:t>
            </a:r>
            <a:br>
              <a:rPr lang="en-GB" dirty="0"/>
            </a:br>
            <a:endParaRPr lang="en-GB" dirty="0"/>
          </a:p>
          <a:p>
            <a:pPr marL="76200" indent="-342900">
              <a:buFont typeface="Arial" panose="020B0604020202020204" pitchFamily="34" charset="0"/>
              <a:buChar char="•"/>
            </a:pPr>
            <a:r>
              <a:rPr lang="en-GB" dirty="0"/>
              <a:t>Wrote a browser and server software in </a:t>
            </a:r>
            <a:r>
              <a:rPr lang="en-GB" b="1" dirty="0"/>
              <a:t>1990</a:t>
            </a:r>
          </a:p>
        </p:txBody>
      </p:sp>
      <p:pic>
        <p:nvPicPr>
          <p:cNvPr id="1026" name="Picture 2" descr="https://cdn.history101.com/wp-content/uploads/2019/05/25306-155451967038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3694" y="3761198"/>
            <a:ext cx="2887165" cy="186863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8710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nvSpPr>
        <p:spPr>
          <a:xfrm>
            <a:off x="9339118" y="58952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9A9DB25-FDD1-47D4-AFDB-AF6782549F92}" type="slidenum">
              <a:rPr lang="en-GB" smtClean="0"/>
              <a:pPr/>
              <a:t>5</a:t>
            </a:fld>
            <a:endParaRPr lang="en-GB" dirty="0"/>
          </a:p>
        </p:txBody>
      </p:sp>
      <p:pic>
        <p:nvPicPr>
          <p:cNvPr id="6" name="Picture 5"/>
          <p:cNvPicPr>
            <a:picLocks noChangeAspect="1"/>
          </p:cNvPicPr>
          <p:nvPr/>
        </p:nvPicPr>
        <p:blipFill>
          <a:blip r:embed="rId2"/>
          <a:stretch>
            <a:fillRect/>
          </a:stretch>
        </p:blipFill>
        <p:spPr>
          <a:xfrm>
            <a:off x="0" y="1058755"/>
            <a:ext cx="4018002" cy="2343020"/>
          </a:xfrm>
          <a:prstGeom prst="rect">
            <a:avLst/>
          </a:prstGeom>
        </p:spPr>
      </p:pic>
      <p:sp>
        <p:nvSpPr>
          <p:cNvPr id="7" name="Text Placeholder 2"/>
          <p:cNvSpPr>
            <a:spLocks noGrp="1"/>
          </p:cNvSpPr>
          <p:nvPr/>
        </p:nvSpPr>
        <p:spPr>
          <a:xfrm>
            <a:off x="5146819" y="597653"/>
            <a:ext cx="6744184" cy="5380521"/>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 typeface="Arial" panose="020B0604020202020204" pitchFamily="34" charset="0"/>
              <a:buNone/>
              <a:defRPr sz="1600" b="0"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 typeface="Arial" panose="020B0604020202020204" pitchFamily="34" charset="0"/>
              <a:buChar char="•"/>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 typeface="Arial" panose="020B0604020202020204" pitchFamily="34" charset="0"/>
              <a:buChar char="•"/>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 typeface="Arial" panose="020B0604020202020204" pitchFamily="34" charset="0"/>
              <a:buChar char="•"/>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 typeface="Arial" panose="020B0604020202020204" pitchFamily="34" charset="0"/>
              <a:buChar char="•"/>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4000" b="1" dirty="0"/>
              <a:t>What is the internet?</a:t>
            </a:r>
          </a:p>
          <a:p>
            <a:endParaRPr lang="en-GB" b="1" dirty="0"/>
          </a:p>
          <a:p>
            <a:pPr marL="285750" indent="-285750">
              <a:buFont typeface="Arial" panose="020B0604020202020204" pitchFamily="34" charset="0"/>
              <a:buChar char="•"/>
            </a:pPr>
            <a:r>
              <a:rPr lang="en-GB" dirty="0"/>
              <a:t>The World Wide Web (WWW) or the Web is not the same as Internet</a:t>
            </a:r>
          </a:p>
          <a:p>
            <a:pPr marL="285750" indent="-285750">
              <a:buFont typeface="Arial" panose="020B0604020202020204" pitchFamily="34" charset="0"/>
              <a:buChar char="•"/>
            </a:pPr>
            <a:r>
              <a:rPr lang="en-GB" dirty="0"/>
              <a:t>Conceived by the Advanced Research Projects Agency of the U.S. government in 1969 and was called </a:t>
            </a:r>
            <a:r>
              <a:rPr lang="en-GB" b="1" dirty="0"/>
              <a:t>ARPANET</a:t>
            </a:r>
            <a:r>
              <a:rPr lang="en-GB" dirty="0"/>
              <a:t>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Worldwide system of computer networks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Is a way of accessing information over the Internet </a:t>
            </a:r>
          </a:p>
          <a:p>
            <a:pPr marL="465750" lvl="1" indent="-285750"/>
            <a:r>
              <a:rPr lang="en-GB" sz="1600" dirty="0"/>
              <a:t>Any computer can get information from any other computer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Uses a set of protocols called </a:t>
            </a:r>
            <a:r>
              <a:rPr lang="en-GB" b="1" dirty="0"/>
              <a:t>TCP/IP</a:t>
            </a:r>
          </a:p>
          <a:p>
            <a:pPr marL="465750" lvl="1" indent="-285750"/>
            <a:r>
              <a:rPr lang="en-GB" sz="1600" b="1" dirty="0"/>
              <a:t>T</a:t>
            </a:r>
            <a:r>
              <a:rPr lang="en-GB" sz="1600" dirty="0"/>
              <a:t>ransmission </a:t>
            </a:r>
            <a:r>
              <a:rPr lang="en-GB" sz="1600" b="1" dirty="0"/>
              <a:t>C</a:t>
            </a:r>
            <a:r>
              <a:rPr lang="en-GB" sz="1600" dirty="0"/>
              <a:t>ontrol </a:t>
            </a:r>
            <a:r>
              <a:rPr lang="en-GB" sz="1600" b="1" dirty="0"/>
              <a:t>P</a:t>
            </a:r>
            <a:r>
              <a:rPr lang="en-GB" sz="1600" dirty="0"/>
              <a:t>rotocol/</a:t>
            </a:r>
            <a:r>
              <a:rPr lang="en-GB" sz="1600" b="1" dirty="0"/>
              <a:t>I</a:t>
            </a:r>
            <a:r>
              <a:rPr lang="en-GB" sz="1600" dirty="0"/>
              <a:t>nternet </a:t>
            </a:r>
            <a:r>
              <a:rPr lang="en-GB" sz="1600" b="1" dirty="0"/>
              <a:t>P</a:t>
            </a:r>
            <a:r>
              <a:rPr lang="en-GB" sz="1600" dirty="0"/>
              <a:t>rotocol</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No one owns it or controls it</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521292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nvSpPr>
        <p:spPr>
          <a:xfrm>
            <a:off x="9229437" y="624544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9A9DB25-FDD1-47D4-AFDB-AF6782549F92}" type="slidenum">
              <a:rPr lang="en-GB" smtClean="0"/>
              <a:pPr/>
              <a:t>6</a:t>
            </a:fld>
            <a:endParaRPr lang="en-GB" dirty="0"/>
          </a:p>
        </p:txBody>
      </p:sp>
      <p:sp>
        <p:nvSpPr>
          <p:cNvPr id="6" name="Text Placeholder 2"/>
          <p:cNvSpPr>
            <a:spLocks noGrp="1"/>
          </p:cNvSpPr>
          <p:nvPr/>
        </p:nvSpPr>
        <p:spPr>
          <a:xfrm>
            <a:off x="5037138" y="247436"/>
            <a:ext cx="6744184" cy="6080955"/>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 typeface="Arial" panose="020B0604020202020204" pitchFamily="34" charset="0"/>
              <a:buNone/>
              <a:defRPr sz="1600" b="0"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 typeface="Arial" panose="020B0604020202020204" pitchFamily="34" charset="0"/>
              <a:buChar char="•"/>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 typeface="Arial" panose="020B0604020202020204" pitchFamily="34" charset="0"/>
              <a:buChar char="•"/>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 typeface="Arial" panose="020B0604020202020204" pitchFamily="34" charset="0"/>
              <a:buChar char="•"/>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 typeface="Arial" panose="020B0604020202020204" pitchFamily="34" charset="0"/>
              <a:buChar char="•"/>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200" b="1" dirty="0"/>
              <a:t>What are IP addresses?</a:t>
            </a:r>
          </a:p>
          <a:p>
            <a:endParaRPr lang="en-GB" b="1" dirty="0"/>
          </a:p>
          <a:p>
            <a:r>
              <a:rPr lang="en-GB" b="1" dirty="0"/>
              <a:t>IP address </a:t>
            </a:r>
            <a:r>
              <a:rPr lang="en-GB" dirty="0"/>
              <a:t>(Internet Protocol address)</a:t>
            </a:r>
          </a:p>
          <a:p>
            <a:pPr marL="285750" indent="-285750">
              <a:buFont typeface="Arial" panose="020B0604020202020204" pitchFamily="34" charset="0"/>
              <a:buChar char="•"/>
            </a:pPr>
            <a:r>
              <a:rPr lang="en-GB" b="1" dirty="0"/>
              <a:t>IP</a:t>
            </a:r>
            <a:r>
              <a:rPr lang="en-GB" dirty="0"/>
              <a:t> is a Packet-forwarding protocol </a:t>
            </a:r>
          </a:p>
          <a:p>
            <a:pPr marL="285750" indent="-285750">
              <a:buFont typeface="Arial" panose="020B0604020202020204" pitchFamily="34" charset="0"/>
              <a:buChar char="•"/>
            </a:pPr>
            <a:r>
              <a:rPr lang="en-GB" dirty="0"/>
              <a:t>Each connected device uses an IP address to identify itself. Like your postcode and door number. </a:t>
            </a:r>
          </a:p>
          <a:p>
            <a:pPr marL="285750" indent="-285750">
              <a:buFont typeface="Arial" panose="020B0604020202020204" pitchFamily="34" charset="0"/>
              <a:buChar char="•"/>
            </a:pPr>
            <a:r>
              <a:rPr lang="en-GB" dirty="0"/>
              <a:t>Is a set of numbers that might look like: 198.167.55.12</a:t>
            </a:r>
          </a:p>
          <a:p>
            <a:endParaRPr lang="en-GB" dirty="0"/>
          </a:p>
          <a:p>
            <a:r>
              <a:rPr lang="en-GB" b="1" dirty="0"/>
              <a:t>IPv4</a:t>
            </a:r>
            <a:r>
              <a:rPr lang="en-GB" dirty="0"/>
              <a:t> is an Internet protocol used to connect devices</a:t>
            </a:r>
          </a:p>
          <a:p>
            <a:pPr marL="285750" indent="-285750">
              <a:buFont typeface="Arial" panose="020B0604020202020204" pitchFamily="34" charset="0"/>
              <a:buChar char="•"/>
            </a:pPr>
            <a:r>
              <a:rPr lang="en-GB" dirty="0"/>
              <a:t>32bit address scheme  =  4.3 billion addresses. </a:t>
            </a:r>
          </a:p>
          <a:p>
            <a:pPr marL="285750" indent="-285750">
              <a:buFont typeface="Arial" panose="020B0604020202020204" pitchFamily="34" charset="0"/>
              <a:buChar char="•"/>
            </a:pPr>
            <a:r>
              <a:rPr lang="en-GB" dirty="0"/>
              <a:t>We are running out of addresses!</a:t>
            </a:r>
          </a:p>
          <a:p>
            <a:endParaRPr lang="en-GB" dirty="0"/>
          </a:p>
          <a:p>
            <a:r>
              <a:rPr lang="en-GB" b="1" dirty="0"/>
              <a:t>IPv6</a:t>
            </a:r>
            <a:r>
              <a:rPr lang="en-GB" dirty="0"/>
              <a:t> (next generation Internet standards) </a:t>
            </a:r>
          </a:p>
          <a:p>
            <a:pPr marL="285750" indent="-285750">
              <a:buFont typeface="Arial" panose="020B0604020202020204" pitchFamily="34" charset="0"/>
              <a:buChar char="•"/>
            </a:pPr>
            <a:r>
              <a:rPr lang="en-GB" dirty="0"/>
              <a:t>Uses a 128 bit address scheme. </a:t>
            </a:r>
          </a:p>
          <a:p>
            <a:pPr marL="285750" indent="-285750">
              <a:buFont typeface="Arial" panose="020B0604020202020204" pitchFamily="34" charset="0"/>
              <a:buChar char="•"/>
            </a:pPr>
            <a:r>
              <a:rPr lang="en-GB" dirty="0"/>
              <a:t>Can address 2000 devices for </a:t>
            </a:r>
            <a:br>
              <a:rPr lang="en-GB" dirty="0"/>
            </a:br>
            <a:r>
              <a:rPr lang="en-GB" dirty="0"/>
              <a:t>every square inch of our planet!</a:t>
            </a:r>
          </a:p>
          <a:p>
            <a:pPr marL="285750" indent="-285750">
              <a:buFont typeface="Arial" panose="020B0604020202020204" pitchFamily="34" charset="0"/>
              <a:buChar char="•"/>
            </a:pPr>
            <a:r>
              <a:rPr lang="en-GB" dirty="0"/>
              <a:t>Provides technological changes too</a:t>
            </a:r>
          </a:p>
          <a:p>
            <a:pPr marL="285750" indent="-285750">
              <a:buFont typeface="Arial" panose="020B0604020202020204" pitchFamily="34" charset="0"/>
              <a:buChar char="•"/>
            </a:pPr>
            <a:r>
              <a:rPr lang="en-GB" dirty="0"/>
              <a:t>IPv6 and IPv4 run alongside each other</a:t>
            </a:r>
          </a:p>
        </p:txBody>
      </p:sp>
      <p:pic>
        <p:nvPicPr>
          <p:cNvPr id="7" name="Picture 6"/>
          <p:cNvPicPr>
            <a:picLocks noChangeAspect="1"/>
          </p:cNvPicPr>
          <p:nvPr/>
        </p:nvPicPr>
        <p:blipFill>
          <a:blip r:embed="rId3"/>
          <a:stretch>
            <a:fillRect/>
          </a:stretch>
        </p:blipFill>
        <p:spPr>
          <a:xfrm>
            <a:off x="0" y="1450698"/>
            <a:ext cx="4015946" cy="2148378"/>
          </a:xfrm>
          <a:prstGeom prst="rect">
            <a:avLst/>
          </a:prstGeom>
        </p:spPr>
      </p:pic>
    </p:spTree>
    <p:extLst>
      <p:ext uri="{BB962C8B-B14F-4D97-AF65-F5344CB8AC3E}">
        <p14:creationId xmlns:p14="http://schemas.microsoft.com/office/powerpoint/2010/main" val="1648011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nvSpPr>
        <p:spPr>
          <a:xfrm>
            <a:off x="9229437" y="624544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9A9DB25-FDD1-47D4-AFDB-AF6782549F92}" type="slidenum">
              <a:rPr lang="en-GB" smtClean="0"/>
              <a:pPr/>
              <a:t>7</a:t>
            </a:fld>
            <a:endParaRPr lang="en-GB" dirty="0"/>
          </a:p>
        </p:txBody>
      </p:sp>
      <p:sp>
        <p:nvSpPr>
          <p:cNvPr id="6" name="Text Placeholder 2"/>
          <p:cNvSpPr>
            <a:spLocks noGrp="1"/>
          </p:cNvSpPr>
          <p:nvPr/>
        </p:nvSpPr>
        <p:spPr>
          <a:xfrm>
            <a:off x="5037137" y="247436"/>
            <a:ext cx="6935499" cy="6080955"/>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 typeface="Arial" panose="020B0604020202020204" pitchFamily="34" charset="0"/>
              <a:buNone/>
              <a:defRPr sz="1600" b="0"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 typeface="Arial" panose="020B0604020202020204" pitchFamily="34" charset="0"/>
              <a:buChar char="•"/>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 typeface="Arial" panose="020B0604020202020204" pitchFamily="34" charset="0"/>
              <a:buChar char="•"/>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 typeface="Arial" panose="020B0604020202020204" pitchFamily="34" charset="0"/>
              <a:buChar char="•"/>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 typeface="Arial" panose="020B0604020202020204" pitchFamily="34" charset="0"/>
              <a:buChar char="•"/>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200" b="1" dirty="0"/>
              <a:t>What is DNS?</a:t>
            </a:r>
          </a:p>
          <a:p>
            <a:endParaRPr lang="en-GB" b="1" dirty="0"/>
          </a:p>
          <a:p>
            <a:r>
              <a:rPr lang="en-GB" b="1" dirty="0"/>
              <a:t>DNS</a:t>
            </a:r>
            <a:endParaRPr lang="en-GB" dirty="0"/>
          </a:p>
          <a:p>
            <a:pPr marL="285750" indent="-285750">
              <a:buFont typeface="Arial" panose="020B0604020202020204" pitchFamily="34" charset="0"/>
              <a:buChar char="•"/>
            </a:pPr>
            <a:r>
              <a:rPr lang="en-GB" dirty="0"/>
              <a:t>Stands for Domain Name Servers</a:t>
            </a:r>
          </a:p>
          <a:p>
            <a:pPr marL="285750" indent="-285750">
              <a:buFont typeface="Arial" panose="020B0604020202020204" pitchFamily="34" charset="0"/>
              <a:buChar char="•"/>
            </a:pPr>
            <a:r>
              <a:rPr lang="en-GB" dirty="0"/>
              <a:t>Is the Internet's equivalent of a phone book. </a:t>
            </a:r>
          </a:p>
          <a:p>
            <a:pPr marL="285750" indent="-285750">
              <a:buFont typeface="Arial" panose="020B0604020202020204" pitchFamily="34" charset="0"/>
              <a:buChar char="•"/>
            </a:pPr>
            <a:r>
              <a:rPr lang="en-GB" dirty="0"/>
              <a:t>They maintain a directory of domain names and their IP addresses</a:t>
            </a:r>
          </a:p>
          <a:p>
            <a:pPr marL="285750" indent="-285750">
              <a:buFont typeface="Arial" panose="020B0604020202020204" pitchFamily="34" charset="0"/>
              <a:buChar char="•"/>
            </a:pPr>
            <a:r>
              <a:rPr lang="en-GB" dirty="0"/>
              <a:t>They translate a domain name like </a:t>
            </a:r>
            <a:r>
              <a:rPr lang="en-GB" b="1" dirty="0"/>
              <a:t>www.qa.com</a:t>
            </a:r>
            <a:r>
              <a:rPr lang="en-GB" dirty="0"/>
              <a:t> into an IP address</a:t>
            </a:r>
          </a:p>
          <a:p>
            <a:endParaRPr lang="en-GB" dirty="0"/>
          </a:p>
          <a:p>
            <a:r>
              <a:rPr lang="en-GB" b="1" dirty="0"/>
              <a:t>How</a:t>
            </a:r>
            <a:endParaRPr lang="en-GB" dirty="0"/>
          </a:p>
          <a:p>
            <a:pPr marL="285750" indent="-285750">
              <a:buFont typeface="Arial" panose="020B0604020202020204" pitchFamily="34" charset="0"/>
              <a:buChar char="•"/>
            </a:pPr>
            <a:r>
              <a:rPr lang="en-GB" dirty="0"/>
              <a:t>In the first place your computer looks in its local DNS cache. This may be stored on your computer’s recently visited sites.</a:t>
            </a:r>
          </a:p>
          <a:p>
            <a:pPr marL="285750" indent="-285750">
              <a:buFont typeface="Arial" panose="020B0604020202020204" pitchFamily="34" charset="0"/>
              <a:buChar char="•"/>
            </a:pPr>
            <a:r>
              <a:rPr lang="en-GB" dirty="0"/>
              <a:t>Eventually your request gets to a network of server to find the address</a:t>
            </a:r>
          </a:p>
          <a:p>
            <a:endParaRPr lang="en-GB" dirty="0"/>
          </a:p>
          <a:p>
            <a:r>
              <a:rPr lang="en-GB" b="1" dirty="0"/>
              <a:t>If you register a new domain name or update an existing one</a:t>
            </a:r>
            <a:br>
              <a:rPr lang="en-GB" b="1" dirty="0"/>
            </a:br>
            <a:r>
              <a:rPr lang="en-GB" b="1" dirty="0"/>
              <a:t>it takes about 12-36 hours for the DNS world-wide to be updated. </a:t>
            </a:r>
          </a:p>
        </p:txBody>
      </p:sp>
      <p:pic>
        <p:nvPicPr>
          <p:cNvPr id="7" name="Picture 6"/>
          <p:cNvPicPr>
            <a:picLocks noChangeAspect="1"/>
          </p:cNvPicPr>
          <p:nvPr/>
        </p:nvPicPr>
        <p:blipFill>
          <a:blip r:embed="rId2"/>
          <a:stretch>
            <a:fillRect/>
          </a:stretch>
        </p:blipFill>
        <p:spPr>
          <a:xfrm>
            <a:off x="0" y="1408971"/>
            <a:ext cx="3986263" cy="2682831"/>
          </a:xfrm>
          <a:prstGeom prst="rect">
            <a:avLst/>
          </a:prstGeom>
        </p:spPr>
      </p:pic>
    </p:spTree>
    <p:extLst>
      <p:ext uri="{BB962C8B-B14F-4D97-AF65-F5344CB8AC3E}">
        <p14:creationId xmlns:p14="http://schemas.microsoft.com/office/powerpoint/2010/main" val="1864538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nvSpPr>
        <p:spPr>
          <a:xfrm>
            <a:off x="9229437" y="617747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9A9DB25-FDD1-47D4-AFDB-AF6782549F92}" type="slidenum">
              <a:rPr lang="en-GB" smtClean="0"/>
              <a:pPr/>
              <a:t>8</a:t>
            </a:fld>
            <a:endParaRPr lang="en-GB" dirty="0"/>
          </a:p>
        </p:txBody>
      </p:sp>
      <p:sp>
        <p:nvSpPr>
          <p:cNvPr id="6" name="Text Placeholder 2"/>
          <p:cNvSpPr>
            <a:spLocks noGrp="1"/>
          </p:cNvSpPr>
          <p:nvPr/>
        </p:nvSpPr>
        <p:spPr>
          <a:xfrm>
            <a:off x="5037138" y="315398"/>
            <a:ext cx="6744184" cy="5945031"/>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 typeface="Arial" panose="020B0604020202020204" pitchFamily="34" charset="0"/>
              <a:buNone/>
              <a:defRPr sz="1600" b="0"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 typeface="Arial" panose="020B0604020202020204" pitchFamily="34" charset="0"/>
              <a:buChar char="•"/>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 typeface="Arial" panose="020B0604020202020204" pitchFamily="34" charset="0"/>
              <a:buChar char="•"/>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 typeface="Arial" panose="020B0604020202020204" pitchFamily="34" charset="0"/>
              <a:buChar char="•"/>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 typeface="Arial" panose="020B0604020202020204" pitchFamily="34" charset="0"/>
              <a:buChar char="•"/>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200" b="1" dirty="0"/>
              <a:t>What is HTTP?</a:t>
            </a:r>
          </a:p>
          <a:p>
            <a:endParaRPr lang="en-GB" b="1" dirty="0"/>
          </a:p>
          <a:p>
            <a:r>
              <a:rPr lang="en-GB" b="1" dirty="0"/>
              <a:t>Hypertext Transfer Protocol</a:t>
            </a:r>
            <a:r>
              <a:rPr lang="en-GB" dirty="0"/>
              <a:t> is a network protocol used to deliver data</a:t>
            </a:r>
          </a:p>
          <a:p>
            <a:endParaRPr lang="en-GB" dirty="0"/>
          </a:p>
          <a:p>
            <a:r>
              <a:rPr lang="en-GB" dirty="0"/>
              <a:t>Data can be HTML files, images, query results. These are resources</a:t>
            </a:r>
          </a:p>
          <a:p>
            <a:endParaRPr lang="en-GB" dirty="0"/>
          </a:p>
          <a:p>
            <a:r>
              <a:rPr lang="en-GB" dirty="0"/>
              <a:t>A browser is an HTTP client because </a:t>
            </a:r>
          </a:p>
          <a:p>
            <a:pPr marL="285750" indent="-285750">
              <a:buFont typeface="Arial" panose="020B0604020202020204" pitchFamily="34" charset="0"/>
              <a:buChar char="•"/>
            </a:pPr>
            <a:r>
              <a:rPr lang="en-GB" dirty="0"/>
              <a:t>It sends requests to an HTTP server (Web server), </a:t>
            </a:r>
          </a:p>
          <a:p>
            <a:pPr marL="285750" indent="-285750">
              <a:buFont typeface="Arial" panose="020B0604020202020204" pitchFamily="34" charset="0"/>
              <a:buChar char="•"/>
            </a:pPr>
            <a:r>
              <a:rPr lang="en-GB" dirty="0"/>
              <a:t>Gets a response back to the client. </a:t>
            </a:r>
          </a:p>
          <a:p>
            <a:endParaRPr lang="en-GB" dirty="0"/>
          </a:p>
          <a:p>
            <a:r>
              <a:rPr lang="en-GB" dirty="0"/>
              <a:t>HTTP is Stateless and a very thin protocol</a:t>
            </a:r>
          </a:p>
          <a:p>
            <a:endParaRPr lang="en-GB" dirty="0"/>
          </a:p>
          <a:p>
            <a:r>
              <a:rPr lang="en-GB" dirty="0"/>
              <a:t>Request and Response have a Header, Body</a:t>
            </a:r>
          </a:p>
          <a:p>
            <a:endParaRPr lang="en-GB" dirty="0"/>
          </a:p>
          <a:p>
            <a:r>
              <a:rPr lang="en-GB" dirty="0"/>
              <a:t>Response Codes indicate if a request is successfully completed</a:t>
            </a:r>
          </a:p>
          <a:p>
            <a:pPr marL="285750" indent="-285750">
              <a:buFont typeface="Arial" panose="020B0604020202020204" pitchFamily="34" charset="0"/>
              <a:buChar char="•"/>
            </a:pPr>
            <a:r>
              <a:rPr lang="en-GB" dirty="0"/>
              <a:t>codes (200, 404, 500)…</a:t>
            </a:r>
          </a:p>
          <a:p>
            <a:endParaRPr lang="en-GB" dirty="0"/>
          </a:p>
        </p:txBody>
      </p:sp>
      <p:pic>
        <p:nvPicPr>
          <p:cNvPr id="7" name="Picture 6"/>
          <p:cNvPicPr>
            <a:picLocks noChangeAspect="1"/>
          </p:cNvPicPr>
          <p:nvPr/>
        </p:nvPicPr>
        <p:blipFill>
          <a:blip r:embed="rId2"/>
          <a:stretch>
            <a:fillRect/>
          </a:stretch>
        </p:blipFill>
        <p:spPr>
          <a:xfrm>
            <a:off x="0" y="1612857"/>
            <a:ext cx="4035591" cy="1977081"/>
          </a:xfrm>
          <a:prstGeom prst="rect">
            <a:avLst/>
          </a:prstGeom>
        </p:spPr>
      </p:pic>
    </p:spTree>
    <p:extLst>
      <p:ext uri="{BB962C8B-B14F-4D97-AF65-F5344CB8AC3E}">
        <p14:creationId xmlns:p14="http://schemas.microsoft.com/office/powerpoint/2010/main" val="805203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ChangeArrowheads="1"/>
          </p:cNvSpPr>
          <p:nvPr/>
        </p:nvSpPr>
        <p:spPr bwMode="auto">
          <a:xfrm>
            <a:off x="2238376" y="6227764"/>
            <a:ext cx="1858963" cy="515937"/>
          </a:xfrm>
          <a:prstGeom prst="rect">
            <a:avLst/>
          </a:prstGeom>
          <a:noFill/>
          <a:ln w="12700">
            <a:noFill/>
            <a:miter lim="800000"/>
            <a:headEnd/>
            <a:tailEnd/>
          </a:ln>
        </p:spPr>
        <p:txBody>
          <a:bodyPr wrap="none" anchor="ctr"/>
          <a:lstStyle/>
          <a:p>
            <a:endParaRPr lang="en-US"/>
          </a:p>
        </p:txBody>
      </p:sp>
      <p:sp>
        <p:nvSpPr>
          <p:cNvPr id="8196" name="Rectangle 3"/>
          <p:cNvSpPr>
            <a:spLocks noChangeArrowheads="1"/>
          </p:cNvSpPr>
          <p:nvPr/>
        </p:nvSpPr>
        <p:spPr bwMode="auto">
          <a:xfrm>
            <a:off x="4648201" y="6227764"/>
            <a:ext cx="2894013" cy="515937"/>
          </a:xfrm>
          <a:prstGeom prst="rect">
            <a:avLst/>
          </a:prstGeom>
          <a:noFill/>
          <a:ln w="12700">
            <a:noFill/>
            <a:miter lim="800000"/>
            <a:headEnd/>
            <a:tailEnd/>
          </a:ln>
        </p:spPr>
        <p:txBody>
          <a:bodyPr wrap="none" anchor="ctr"/>
          <a:lstStyle/>
          <a:p>
            <a:endParaRPr lang="en-US"/>
          </a:p>
        </p:txBody>
      </p:sp>
      <p:sp>
        <p:nvSpPr>
          <p:cNvPr id="8198" name="Rectangle 5"/>
          <p:cNvSpPr>
            <a:spLocks noChangeArrowheads="1"/>
          </p:cNvSpPr>
          <p:nvPr/>
        </p:nvSpPr>
        <p:spPr bwMode="auto">
          <a:xfrm>
            <a:off x="4676776" y="6267450"/>
            <a:ext cx="2835275" cy="438150"/>
          </a:xfrm>
          <a:prstGeom prst="rect">
            <a:avLst/>
          </a:prstGeom>
          <a:noFill/>
          <a:ln w="12700">
            <a:noFill/>
            <a:miter lim="800000"/>
            <a:headEnd/>
            <a:tailEnd/>
          </a:ln>
        </p:spPr>
        <p:txBody>
          <a:bodyPr wrap="none" anchor="ctr"/>
          <a:lstStyle/>
          <a:p>
            <a:endParaRPr lang="en-US"/>
          </a:p>
        </p:txBody>
      </p:sp>
      <p:sp>
        <p:nvSpPr>
          <p:cNvPr id="2" name="Text Placeholder 1">
            <a:extLst>
              <a:ext uri="{FF2B5EF4-FFF2-40B4-BE49-F238E27FC236}">
                <a16:creationId xmlns:a16="http://schemas.microsoft.com/office/drawing/2014/main" id="{B4DB9C8F-275F-4343-824A-7EEDF29501CB}"/>
              </a:ext>
            </a:extLst>
          </p:cNvPr>
          <p:cNvSpPr>
            <a:spLocks noGrp="1"/>
          </p:cNvSpPr>
          <p:nvPr>
            <p:ph type="body" sz="quarter" idx="10"/>
          </p:nvPr>
        </p:nvSpPr>
        <p:spPr/>
        <p:txBody>
          <a:bodyPr/>
          <a:lstStyle/>
          <a:p>
            <a:r>
              <a:rPr lang="en-GB" dirty="0"/>
              <a:t>What is TCP/IP?</a:t>
            </a:r>
            <a:endParaRPr lang="en-IN" dirty="0"/>
          </a:p>
        </p:txBody>
      </p:sp>
      <p:sp>
        <p:nvSpPr>
          <p:cNvPr id="3" name="Text Placeholder 2">
            <a:extLst>
              <a:ext uri="{FF2B5EF4-FFF2-40B4-BE49-F238E27FC236}">
                <a16:creationId xmlns:a16="http://schemas.microsoft.com/office/drawing/2014/main" id="{88AA2EE3-B2F4-4F26-967E-1CB14388E804}"/>
              </a:ext>
            </a:extLst>
          </p:cNvPr>
          <p:cNvSpPr>
            <a:spLocks noGrp="1"/>
          </p:cNvSpPr>
          <p:nvPr>
            <p:ph type="body" sz="quarter" idx="15"/>
          </p:nvPr>
        </p:nvSpPr>
        <p:spPr>
          <a:xfrm>
            <a:off x="5037137" y="1349984"/>
            <a:ext cx="6496978" cy="5185287"/>
          </a:xfrm>
        </p:spPr>
        <p:txBody>
          <a:bodyPr/>
          <a:lstStyle/>
          <a:p>
            <a:pPr marL="342900" indent="-342900">
              <a:buFont typeface="Arial" panose="020B0604020202020204" pitchFamily="34" charset="0"/>
              <a:buChar char="•"/>
            </a:pPr>
            <a:r>
              <a:rPr lang="en-GB" b="1" dirty="0"/>
              <a:t>Transmission Control Protocol / Internet Protocol</a:t>
            </a:r>
          </a:p>
          <a:p>
            <a:pPr marL="684000" lvl="1" indent="-342900">
              <a:buSzPct val="115000"/>
            </a:pPr>
            <a:r>
              <a:rPr lang="en-GB" dirty="0"/>
              <a:t>Two of a family of protocols</a:t>
            </a:r>
          </a:p>
          <a:p>
            <a:pPr marL="342900" lvl="2" indent="-342900">
              <a:buSzPct val="115000"/>
            </a:pPr>
            <a:r>
              <a:rPr lang="en-GB" b="1" dirty="0"/>
              <a:t>Also known as the "Internet Protocols"</a:t>
            </a:r>
          </a:p>
          <a:p>
            <a:pPr marL="342900" lvl="2" indent="-342900">
              <a:buSzPct val="115000"/>
            </a:pPr>
            <a:r>
              <a:rPr lang="en-GB" b="1" dirty="0"/>
              <a:t>Stack of protocols from the network layer (OSI layer 3) upwards</a:t>
            </a:r>
          </a:p>
          <a:p>
            <a:pPr marL="342900" lvl="2" indent="-342900">
              <a:buSzPct val="115000"/>
            </a:pPr>
            <a:r>
              <a:rPr lang="en-GB" b="1" dirty="0"/>
              <a:t>TCP and IP were most widely used originally</a:t>
            </a:r>
          </a:p>
          <a:p>
            <a:pPr marL="684000" lvl="1" indent="-342900">
              <a:buSzPct val="115000"/>
            </a:pPr>
            <a:r>
              <a:rPr lang="en-GB" dirty="0"/>
              <a:t>Others include:</a:t>
            </a:r>
          </a:p>
          <a:p>
            <a:pPr marL="342900" lvl="2" indent="-342900">
              <a:buSzPct val="115000"/>
            </a:pPr>
            <a:r>
              <a:rPr lang="en-GB" b="1" dirty="0"/>
              <a:t>User Datagram Protocol (UDP)</a:t>
            </a:r>
          </a:p>
          <a:p>
            <a:pPr marL="342900" lvl="2" indent="-342900">
              <a:buSzPct val="115000"/>
            </a:pPr>
            <a:r>
              <a:rPr lang="en-GB" b="1" dirty="0"/>
              <a:t>File Transfer Protocol (FTP)</a:t>
            </a:r>
          </a:p>
          <a:p>
            <a:pPr marL="342900" lvl="2" indent="-342900">
              <a:buSzPct val="115000"/>
            </a:pPr>
            <a:r>
              <a:rPr lang="en-GB" b="1" dirty="0"/>
              <a:t>Simple Mail Transfer Protocol (SMTP)</a:t>
            </a:r>
          </a:p>
          <a:p>
            <a:pPr marL="342900" indent="-342900">
              <a:buFont typeface="Arial" panose="020B0604020202020204" pitchFamily="34" charset="0"/>
              <a:buChar char="•"/>
            </a:pPr>
            <a:r>
              <a:rPr lang="en-GB" b="1" dirty="0"/>
              <a:t>These protocols form the basis of the Internet</a:t>
            </a:r>
          </a:p>
          <a:p>
            <a:endParaRPr lang="en-IN" dirty="0"/>
          </a:p>
        </p:txBody>
      </p:sp>
    </p:spTree>
    <p:extLst>
      <p:ext uri="{BB962C8B-B14F-4D97-AF65-F5344CB8AC3E}">
        <p14:creationId xmlns:p14="http://schemas.microsoft.com/office/powerpoint/2010/main" val="224776927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6635311" y="1140056"/>
            <a:ext cx="1023937" cy="704850"/>
          </a:xfrm>
          <a:prstGeom prst="rect">
            <a:avLst/>
          </a:prstGeom>
          <a:solidFill>
            <a:schemeClr val="bg1"/>
          </a:solidFill>
          <a:ln w="25400">
            <a:solidFill>
              <a:srgbClr val="FF004C"/>
            </a:solidFill>
            <a:headEnd/>
            <a:tailEnd/>
          </a:ln>
        </p:spPr>
        <p:style>
          <a:lnRef idx="1">
            <a:schemeClr val="dk1"/>
          </a:lnRef>
          <a:fillRef idx="2">
            <a:schemeClr val="dk1"/>
          </a:fillRef>
          <a:effectRef idx="1">
            <a:schemeClr val="dk1"/>
          </a:effectRef>
          <a:fontRef idx="minor">
            <a:schemeClr val="dk1"/>
          </a:fontRef>
        </p:style>
        <p:txBody>
          <a:bodyPr wrap="none" anchor="ctr"/>
          <a:lstStyle/>
          <a:p>
            <a:pPr algn="ctr"/>
            <a:r>
              <a:rPr lang="en-US" sz="2000" b="1" dirty="0"/>
              <a:t>FTP</a:t>
            </a:r>
          </a:p>
        </p:txBody>
      </p:sp>
      <p:sp>
        <p:nvSpPr>
          <p:cNvPr id="12292" name="Rectangle 4"/>
          <p:cNvSpPr>
            <a:spLocks noChangeArrowheads="1"/>
          </p:cNvSpPr>
          <p:nvPr/>
        </p:nvSpPr>
        <p:spPr bwMode="auto">
          <a:xfrm>
            <a:off x="8129147" y="1140056"/>
            <a:ext cx="1041400" cy="704850"/>
          </a:xfrm>
          <a:prstGeom prst="rect">
            <a:avLst/>
          </a:prstGeom>
          <a:solidFill>
            <a:schemeClr val="bg1"/>
          </a:solidFill>
          <a:ln w="25400">
            <a:solidFill>
              <a:srgbClr val="FF004C"/>
            </a:solidFill>
            <a:headEnd/>
            <a:tailEnd/>
          </a:ln>
        </p:spPr>
        <p:style>
          <a:lnRef idx="1">
            <a:schemeClr val="dk1"/>
          </a:lnRef>
          <a:fillRef idx="2">
            <a:schemeClr val="dk1"/>
          </a:fillRef>
          <a:effectRef idx="1">
            <a:schemeClr val="dk1"/>
          </a:effectRef>
          <a:fontRef idx="minor">
            <a:schemeClr val="dk1"/>
          </a:fontRef>
        </p:style>
        <p:txBody>
          <a:bodyPr wrap="none" anchor="ctr"/>
          <a:lstStyle/>
          <a:p>
            <a:pPr algn="ctr"/>
            <a:r>
              <a:rPr lang="en-GB" sz="2000" b="1" dirty="0"/>
              <a:t>HTTP</a:t>
            </a:r>
          </a:p>
        </p:txBody>
      </p:sp>
      <p:sp>
        <p:nvSpPr>
          <p:cNvPr id="12294" name="Rectangle 6"/>
          <p:cNvSpPr>
            <a:spLocks noChangeArrowheads="1"/>
          </p:cNvSpPr>
          <p:nvPr/>
        </p:nvSpPr>
        <p:spPr bwMode="auto">
          <a:xfrm>
            <a:off x="9588061" y="1136881"/>
            <a:ext cx="1081087" cy="704850"/>
          </a:xfrm>
          <a:prstGeom prst="rect">
            <a:avLst/>
          </a:prstGeom>
          <a:solidFill>
            <a:schemeClr val="bg1"/>
          </a:solidFill>
          <a:ln w="25400">
            <a:solidFill>
              <a:srgbClr val="FF004C"/>
            </a:solidFill>
            <a:headEnd/>
            <a:tailEnd/>
          </a:ln>
        </p:spPr>
        <p:style>
          <a:lnRef idx="1">
            <a:schemeClr val="dk1"/>
          </a:lnRef>
          <a:fillRef idx="2">
            <a:schemeClr val="dk1"/>
          </a:fillRef>
          <a:effectRef idx="1">
            <a:schemeClr val="dk1"/>
          </a:effectRef>
          <a:fontRef idx="minor">
            <a:schemeClr val="dk1"/>
          </a:fontRef>
        </p:style>
        <p:txBody>
          <a:bodyPr wrap="none" anchor="ctr"/>
          <a:lstStyle/>
          <a:p>
            <a:pPr algn="ctr"/>
            <a:r>
              <a:rPr lang="en-GB" sz="2000" b="1" dirty="0"/>
              <a:t>SMTP</a:t>
            </a:r>
          </a:p>
        </p:txBody>
      </p:sp>
      <p:sp>
        <p:nvSpPr>
          <p:cNvPr id="12296" name="AutoShape 8"/>
          <p:cNvSpPr>
            <a:spLocks noChangeArrowheads="1"/>
          </p:cNvSpPr>
          <p:nvPr/>
        </p:nvSpPr>
        <p:spPr bwMode="auto">
          <a:xfrm>
            <a:off x="6928997" y="1846004"/>
            <a:ext cx="452438" cy="1166813"/>
          </a:xfrm>
          <a:prstGeom prst="upArrow">
            <a:avLst>
              <a:gd name="adj1" fmla="val 50000"/>
              <a:gd name="adj2" fmla="val 64474"/>
            </a:avLst>
          </a:prstGeom>
          <a:solidFill>
            <a:srgbClr val="004050"/>
          </a:solidFill>
          <a:ln w="12700">
            <a:noFill/>
            <a:miter lim="800000"/>
            <a:headEnd/>
            <a:tailEnd/>
          </a:ln>
        </p:spPr>
        <p:txBody>
          <a:bodyPr wrap="none" anchor="ctr"/>
          <a:lstStyle/>
          <a:p>
            <a:endParaRPr lang="en-US"/>
          </a:p>
        </p:txBody>
      </p:sp>
      <p:sp>
        <p:nvSpPr>
          <p:cNvPr id="12297" name="AutoShape 9"/>
          <p:cNvSpPr>
            <a:spLocks noChangeArrowheads="1"/>
          </p:cNvSpPr>
          <p:nvPr/>
        </p:nvSpPr>
        <p:spPr bwMode="auto">
          <a:xfrm>
            <a:off x="8424422" y="1846004"/>
            <a:ext cx="450850" cy="1166813"/>
          </a:xfrm>
          <a:prstGeom prst="upArrow">
            <a:avLst>
              <a:gd name="adj1" fmla="val 50000"/>
              <a:gd name="adj2" fmla="val 64701"/>
            </a:avLst>
          </a:prstGeom>
          <a:solidFill>
            <a:srgbClr val="004050"/>
          </a:solidFill>
          <a:ln w="12700">
            <a:noFill/>
            <a:miter lim="800000"/>
            <a:headEnd/>
            <a:tailEnd/>
          </a:ln>
        </p:spPr>
        <p:txBody>
          <a:bodyPr wrap="none" anchor="ctr"/>
          <a:lstStyle/>
          <a:p>
            <a:endParaRPr lang="en-US"/>
          </a:p>
        </p:txBody>
      </p:sp>
      <p:sp>
        <p:nvSpPr>
          <p:cNvPr id="12298" name="AutoShape 10"/>
          <p:cNvSpPr>
            <a:spLocks noChangeArrowheads="1"/>
          </p:cNvSpPr>
          <p:nvPr/>
        </p:nvSpPr>
        <p:spPr bwMode="auto">
          <a:xfrm>
            <a:off x="9936666" y="1846004"/>
            <a:ext cx="450850" cy="1166813"/>
          </a:xfrm>
          <a:prstGeom prst="upArrow">
            <a:avLst>
              <a:gd name="adj1" fmla="val 50000"/>
              <a:gd name="adj2" fmla="val 64701"/>
            </a:avLst>
          </a:prstGeom>
          <a:solidFill>
            <a:srgbClr val="004050"/>
          </a:solidFill>
          <a:ln w="12700">
            <a:noFill/>
            <a:miter lim="800000"/>
            <a:headEnd/>
            <a:tailEnd/>
          </a:ln>
        </p:spPr>
        <p:txBody>
          <a:bodyPr wrap="none" anchor="ctr"/>
          <a:lstStyle/>
          <a:p>
            <a:endParaRPr lang="en-US"/>
          </a:p>
        </p:txBody>
      </p:sp>
      <p:sp>
        <p:nvSpPr>
          <p:cNvPr id="12299" name="Rectangle 11"/>
          <p:cNvSpPr>
            <a:spLocks noChangeArrowheads="1"/>
          </p:cNvSpPr>
          <p:nvPr/>
        </p:nvSpPr>
        <p:spPr bwMode="auto">
          <a:xfrm>
            <a:off x="2238376" y="6227764"/>
            <a:ext cx="1858963" cy="515937"/>
          </a:xfrm>
          <a:prstGeom prst="rect">
            <a:avLst/>
          </a:prstGeom>
          <a:noFill/>
          <a:ln w="12700">
            <a:noFill/>
            <a:miter lim="800000"/>
            <a:headEnd/>
            <a:tailEnd/>
          </a:ln>
        </p:spPr>
        <p:txBody>
          <a:bodyPr wrap="none" anchor="ctr"/>
          <a:lstStyle/>
          <a:p>
            <a:endParaRPr lang="en-US"/>
          </a:p>
        </p:txBody>
      </p:sp>
      <p:sp>
        <p:nvSpPr>
          <p:cNvPr id="12300" name="Rectangle 12"/>
          <p:cNvSpPr>
            <a:spLocks noChangeArrowheads="1"/>
          </p:cNvSpPr>
          <p:nvPr/>
        </p:nvSpPr>
        <p:spPr bwMode="auto">
          <a:xfrm>
            <a:off x="4648201" y="6227764"/>
            <a:ext cx="2894013" cy="515937"/>
          </a:xfrm>
          <a:prstGeom prst="rect">
            <a:avLst/>
          </a:prstGeom>
          <a:noFill/>
          <a:ln w="12700">
            <a:noFill/>
            <a:miter lim="800000"/>
            <a:headEnd/>
            <a:tailEnd/>
          </a:ln>
        </p:spPr>
        <p:txBody>
          <a:bodyPr wrap="none" anchor="ctr"/>
          <a:lstStyle/>
          <a:p>
            <a:endParaRPr lang="en-US"/>
          </a:p>
        </p:txBody>
      </p:sp>
      <p:sp>
        <p:nvSpPr>
          <p:cNvPr id="12301" name="Rectangle 13"/>
          <p:cNvSpPr>
            <a:spLocks noChangeArrowheads="1"/>
          </p:cNvSpPr>
          <p:nvPr/>
        </p:nvSpPr>
        <p:spPr bwMode="auto">
          <a:xfrm>
            <a:off x="2236788" y="6227764"/>
            <a:ext cx="1858962" cy="515937"/>
          </a:xfrm>
          <a:prstGeom prst="rect">
            <a:avLst/>
          </a:prstGeom>
          <a:noFill/>
          <a:ln w="12700">
            <a:noFill/>
            <a:miter lim="800000"/>
            <a:headEnd/>
            <a:tailEnd/>
          </a:ln>
        </p:spPr>
        <p:txBody>
          <a:bodyPr wrap="none" anchor="ctr"/>
          <a:lstStyle/>
          <a:p>
            <a:endParaRPr lang="en-US"/>
          </a:p>
        </p:txBody>
      </p:sp>
      <p:sp>
        <p:nvSpPr>
          <p:cNvPr id="12302" name="Rectangle 14"/>
          <p:cNvSpPr>
            <a:spLocks noChangeArrowheads="1"/>
          </p:cNvSpPr>
          <p:nvPr/>
        </p:nvSpPr>
        <p:spPr bwMode="auto">
          <a:xfrm>
            <a:off x="4646613" y="6227764"/>
            <a:ext cx="2894012" cy="515937"/>
          </a:xfrm>
          <a:prstGeom prst="rect">
            <a:avLst/>
          </a:prstGeom>
          <a:noFill/>
          <a:ln w="12700">
            <a:noFill/>
            <a:miter lim="800000"/>
            <a:headEnd/>
            <a:tailEnd/>
          </a:ln>
        </p:spPr>
        <p:txBody>
          <a:bodyPr wrap="none" anchor="ctr"/>
          <a:lstStyle/>
          <a:p>
            <a:endParaRPr lang="en-US"/>
          </a:p>
        </p:txBody>
      </p:sp>
      <p:sp>
        <p:nvSpPr>
          <p:cNvPr id="12303" name="Rectangle 15"/>
          <p:cNvSpPr>
            <a:spLocks noChangeArrowheads="1"/>
          </p:cNvSpPr>
          <p:nvPr/>
        </p:nvSpPr>
        <p:spPr bwMode="auto">
          <a:xfrm>
            <a:off x="2235201" y="6227764"/>
            <a:ext cx="1858963" cy="515937"/>
          </a:xfrm>
          <a:prstGeom prst="rect">
            <a:avLst/>
          </a:prstGeom>
          <a:noFill/>
          <a:ln w="12700">
            <a:noFill/>
            <a:miter lim="800000"/>
            <a:headEnd/>
            <a:tailEnd/>
          </a:ln>
        </p:spPr>
        <p:txBody>
          <a:bodyPr wrap="none" anchor="ctr"/>
          <a:lstStyle/>
          <a:p>
            <a:endParaRPr lang="en-US"/>
          </a:p>
        </p:txBody>
      </p:sp>
      <p:sp>
        <p:nvSpPr>
          <p:cNvPr id="12304" name="Rectangle 16"/>
          <p:cNvSpPr>
            <a:spLocks noChangeArrowheads="1"/>
          </p:cNvSpPr>
          <p:nvPr/>
        </p:nvSpPr>
        <p:spPr bwMode="auto">
          <a:xfrm>
            <a:off x="4645026" y="6227764"/>
            <a:ext cx="2894013" cy="515937"/>
          </a:xfrm>
          <a:prstGeom prst="rect">
            <a:avLst/>
          </a:prstGeom>
          <a:noFill/>
          <a:ln w="12700">
            <a:noFill/>
            <a:miter lim="800000"/>
            <a:headEnd/>
            <a:tailEnd/>
          </a:ln>
        </p:spPr>
        <p:txBody>
          <a:bodyPr wrap="none" anchor="ctr"/>
          <a:lstStyle/>
          <a:p>
            <a:endParaRPr lang="en-US"/>
          </a:p>
        </p:txBody>
      </p:sp>
      <p:sp>
        <p:nvSpPr>
          <p:cNvPr id="4" name="Text Placeholder 3">
            <a:extLst>
              <a:ext uri="{FF2B5EF4-FFF2-40B4-BE49-F238E27FC236}">
                <a16:creationId xmlns:a16="http://schemas.microsoft.com/office/drawing/2014/main" id="{7AC4AE8B-1D97-42AB-8364-11DAC8F304BE}"/>
              </a:ext>
            </a:extLst>
          </p:cNvPr>
          <p:cNvSpPr>
            <a:spLocks noGrp="1"/>
          </p:cNvSpPr>
          <p:nvPr>
            <p:ph type="body" sz="quarter" idx="10"/>
          </p:nvPr>
        </p:nvSpPr>
        <p:spPr/>
        <p:txBody>
          <a:bodyPr/>
          <a:lstStyle/>
          <a:p>
            <a:r>
              <a:rPr lang="en-GB" dirty="0"/>
              <a:t>Ports in Action</a:t>
            </a:r>
            <a:endParaRPr lang="en-IN" dirty="0"/>
          </a:p>
        </p:txBody>
      </p:sp>
      <p:sp>
        <p:nvSpPr>
          <p:cNvPr id="5" name="Text Placeholder 4">
            <a:extLst>
              <a:ext uri="{FF2B5EF4-FFF2-40B4-BE49-F238E27FC236}">
                <a16:creationId xmlns:a16="http://schemas.microsoft.com/office/drawing/2014/main" id="{6B7C1039-11BE-4403-84D7-AF5D8885FAED}"/>
              </a:ext>
            </a:extLst>
          </p:cNvPr>
          <p:cNvSpPr>
            <a:spLocks noGrp="1"/>
          </p:cNvSpPr>
          <p:nvPr>
            <p:ph type="body" sz="quarter" idx="11"/>
          </p:nvPr>
        </p:nvSpPr>
        <p:spPr>
          <a:xfrm>
            <a:off x="6098146" y="579549"/>
            <a:ext cx="4883707" cy="401757"/>
          </a:xfrm>
        </p:spPr>
        <p:txBody>
          <a:bodyPr/>
          <a:lstStyle/>
          <a:p>
            <a:r>
              <a:rPr lang="en-GB" b="1" dirty="0"/>
              <a:t>Each process uses a different port:</a:t>
            </a:r>
          </a:p>
          <a:p>
            <a:endParaRPr lang="en-IN" dirty="0"/>
          </a:p>
        </p:txBody>
      </p:sp>
      <p:sp>
        <p:nvSpPr>
          <p:cNvPr id="98323" name="Rectangle 19"/>
          <p:cNvSpPr>
            <a:spLocks noChangeArrowheads="1"/>
          </p:cNvSpPr>
          <p:nvPr/>
        </p:nvSpPr>
        <p:spPr bwMode="auto">
          <a:xfrm>
            <a:off x="6944872" y="2766767"/>
            <a:ext cx="3409950" cy="490525"/>
          </a:xfrm>
          <a:prstGeom prst="rect">
            <a:avLst/>
          </a:prstGeom>
          <a:solidFill>
            <a:srgbClr val="7E007C"/>
          </a:solidFill>
          <a:ln>
            <a:headEnd/>
            <a:tailEnd/>
          </a:ln>
          <a:effectLst/>
        </p:spPr>
        <p:style>
          <a:lnRef idx="0">
            <a:schemeClr val="accent4"/>
          </a:lnRef>
          <a:fillRef idx="3">
            <a:schemeClr val="accent4"/>
          </a:fillRef>
          <a:effectRef idx="3">
            <a:schemeClr val="accent4"/>
          </a:effectRef>
          <a:fontRef idx="minor">
            <a:schemeClr val="lt1"/>
          </a:fontRef>
        </p:style>
        <p:txBody>
          <a:bodyPr wrap="none" anchor="ctr"/>
          <a:lstStyle/>
          <a:p>
            <a:pPr algn="ctr">
              <a:defRPr/>
            </a:pPr>
            <a:r>
              <a:rPr lang="en-GB" sz="2400" b="1" dirty="0">
                <a:solidFill>
                  <a:schemeClr val="bg1"/>
                </a:solidFill>
              </a:rPr>
              <a:t>TCP / UDP</a:t>
            </a:r>
            <a:endParaRPr lang="en-GB" sz="1100" b="1" dirty="0">
              <a:solidFill>
                <a:schemeClr val="bg1"/>
              </a:solidFill>
            </a:endParaRPr>
          </a:p>
        </p:txBody>
      </p:sp>
      <p:sp>
        <p:nvSpPr>
          <p:cNvPr id="98324" name="Rectangle 20"/>
          <p:cNvSpPr>
            <a:spLocks noChangeArrowheads="1"/>
          </p:cNvSpPr>
          <p:nvPr/>
        </p:nvSpPr>
        <p:spPr bwMode="auto">
          <a:xfrm>
            <a:off x="6948841" y="3416042"/>
            <a:ext cx="3402012" cy="1019175"/>
          </a:xfrm>
          <a:prstGeom prst="rect">
            <a:avLst/>
          </a:prstGeom>
          <a:solidFill>
            <a:schemeClr val="bg1"/>
          </a:solidFill>
          <a:ln w="25400">
            <a:solidFill>
              <a:srgbClr val="FF004C"/>
            </a:solidFill>
            <a:headEnd/>
            <a:tailEnd/>
          </a:ln>
          <a:effectLst/>
        </p:spPr>
        <p:style>
          <a:lnRef idx="0">
            <a:schemeClr val="accent6"/>
          </a:lnRef>
          <a:fillRef idx="3">
            <a:schemeClr val="accent6"/>
          </a:fillRef>
          <a:effectRef idx="3">
            <a:schemeClr val="accent6"/>
          </a:effectRef>
          <a:fontRef idx="minor">
            <a:schemeClr val="lt1"/>
          </a:fontRef>
        </p:style>
        <p:txBody>
          <a:bodyPr wrap="none" anchor="ctr"/>
          <a:lstStyle/>
          <a:p>
            <a:pPr algn="ctr">
              <a:defRPr/>
            </a:pPr>
            <a:r>
              <a:rPr lang="en-GB" sz="4000" b="1" dirty="0">
                <a:solidFill>
                  <a:schemeClr val="tx1"/>
                </a:solidFill>
              </a:rPr>
              <a:t>IP</a:t>
            </a:r>
            <a:endParaRPr lang="en-GB" b="1" dirty="0">
              <a:solidFill>
                <a:schemeClr val="tx1"/>
              </a:solidFill>
            </a:endParaRPr>
          </a:p>
        </p:txBody>
      </p:sp>
      <p:sp>
        <p:nvSpPr>
          <p:cNvPr id="12311" name="Rectangle 23"/>
          <p:cNvSpPr>
            <a:spLocks noChangeArrowheads="1"/>
          </p:cNvSpPr>
          <p:nvPr/>
        </p:nvSpPr>
        <p:spPr bwMode="auto">
          <a:xfrm>
            <a:off x="8064061" y="2222242"/>
            <a:ext cx="418442" cy="281333"/>
          </a:xfrm>
          <a:prstGeom prst="rect">
            <a:avLst/>
          </a:prstGeom>
          <a:noFill/>
          <a:ln w="12700">
            <a:noFill/>
            <a:miter lim="800000"/>
            <a:headEnd/>
            <a:tailEnd/>
          </a:ln>
        </p:spPr>
        <p:txBody>
          <a:bodyPr wrap="none" lIns="88135" tIns="43294" rIns="88135" bIns="43294">
            <a:spAutoFit/>
          </a:bodyPr>
          <a:lstStyle/>
          <a:p>
            <a:pPr marL="260350" indent="-260350" defTabSz="690563">
              <a:lnSpc>
                <a:spcPct val="90000"/>
              </a:lnSpc>
              <a:spcBef>
                <a:spcPct val="30000"/>
              </a:spcBef>
            </a:pPr>
            <a:r>
              <a:rPr lang="en-GB" sz="1400" b="1" dirty="0"/>
              <a:t>80</a:t>
            </a:r>
          </a:p>
        </p:txBody>
      </p:sp>
      <p:sp>
        <p:nvSpPr>
          <p:cNvPr id="12312" name="Rectangle 24"/>
          <p:cNvSpPr>
            <a:spLocks noChangeArrowheads="1"/>
          </p:cNvSpPr>
          <p:nvPr/>
        </p:nvSpPr>
        <p:spPr bwMode="auto">
          <a:xfrm>
            <a:off x="9627490" y="2215892"/>
            <a:ext cx="391191" cy="281333"/>
          </a:xfrm>
          <a:prstGeom prst="rect">
            <a:avLst/>
          </a:prstGeom>
          <a:noFill/>
          <a:ln w="12700">
            <a:noFill/>
            <a:miter lim="800000"/>
            <a:headEnd/>
            <a:tailEnd/>
          </a:ln>
        </p:spPr>
        <p:txBody>
          <a:bodyPr wrap="none" lIns="88135" tIns="43294" rIns="88135" bIns="43294">
            <a:spAutoFit/>
          </a:bodyPr>
          <a:lstStyle/>
          <a:p>
            <a:pPr marL="260350" indent="-260350" defTabSz="690563">
              <a:lnSpc>
                <a:spcPct val="90000"/>
              </a:lnSpc>
              <a:spcBef>
                <a:spcPct val="30000"/>
              </a:spcBef>
            </a:pPr>
            <a:r>
              <a:rPr lang="en-GB" sz="1400" b="1" dirty="0"/>
              <a:t>25</a:t>
            </a:r>
          </a:p>
        </p:txBody>
      </p:sp>
      <p:sp>
        <p:nvSpPr>
          <p:cNvPr id="12324" name="Rectangle 55"/>
          <p:cNvSpPr>
            <a:spLocks noChangeArrowheads="1"/>
          </p:cNvSpPr>
          <p:nvPr/>
        </p:nvSpPr>
        <p:spPr bwMode="auto">
          <a:xfrm>
            <a:off x="6621023" y="2222242"/>
            <a:ext cx="354322" cy="281333"/>
          </a:xfrm>
          <a:prstGeom prst="rect">
            <a:avLst/>
          </a:prstGeom>
          <a:noFill/>
          <a:ln w="12700">
            <a:noFill/>
            <a:miter lim="800000"/>
            <a:headEnd/>
            <a:tailEnd/>
          </a:ln>
        </p:spPr>
        <p:txBody>
          <a:bodyPr wrap="none" lIns="88135" tIns="43294" rIns="88135" bIns="43294">
            <a:spAutoFit/>
          </a:bodyPr>
          <a:lstStyle/>
          <a:p>
            <a:pPr marL="260350" indent="-260350" defTabSz="690563">
              <a:lnSpc>
                <a:spcPct val="90000"/>
              </a:lnSpc>
              <a:spcBef>
                <a:spcPct val="30000"/>
              </a:spcBef>
            </a:pPr>
            <a:r>
              <a:rPr lang="en-GB" sz="1400" b="1" dirty="0"/>
              <a:t>21</a:t>
            </a:r>
          </a:p>
        </p:txBody>
      </p:sp>
      <p:sp>
        <p:nvSpPr>
          <p:cNvPr id="12325" name="Rectangle 56"/>
          <p:cNvSpPr>
            <a:spLocks noChangeArrowheads="1"/>
          </p:cNvSpPr>
          <p:nvPr/>
        </p:nvSpPr>
        <p:spPr bwMode="auto">
          <a:xfrm>
            <a:off x="5174623" y="2188191"/>
            <a:ext cx="1564768" cy="336733"/>
          </a:xfrm>
          <a:prstGeom prst="rect">
            <a:avLst/>
          </a:prstGeom>
          <a:noFill/>
          <a:ln w="12700">
            <a:noFill/>
            <a:miter lim="800000"/>
            <a:headEnd/>
            <a:tailEnd/>
          </a:ln>
        </p:spPr>
        <p:txBody>
          <a:bodyPr wrap="square" lIns="88135" tIns="43294" rIns="88135" bIns="43294">
            <a:spAutoFit/>
          </a:bodyPr>
          <a:lstStyle/>
          <a:p>
            <a:pPr marL="260350" indent="-260350" defTabSz="690563">
              <a:lnSpc>
                <a:spcPct val="90000"/>
              </a:lnSpc>
              <a:spcBef>
                <a:spcPct val="30000"/>
              </a:spcBef>
            </a:pPr>
            <a:r>
              <a:rPr lang="en-GB" sz="1400" b="1" dirty="0">
                <a:solidFill>
                  <a:srgbClr val="004050"/>
                </a:solidFill>
              </a:rPr>
              <a:t>Port Number </a:t>
            </a:r>
            <a:r>
              <a:rPr lang="en-GB" b="1" dirty="0">
                <a:solidFill>
                  <a:srgbClr val="004050"/>
                </a:solidFill>
              </a:rPr>
              <a:t>:</a:t>
            </a:r>
          </a:p>
        </p:txBody>
      </p:sp>
    </p:spTree>
    <p:extLst>
      <p:ext uri="{BB962C8B-B14F-4D97-AF65-F5344CB8AC3E}">
        <p14:creationId xmlns:p14="http://schemas.microsoft.com/office/powerpoint/2010/main" val="392054023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dirty="0"/>
              <a:t>URL Syntax</a:t>
            </a:r>
          </a:p>
        </p:txBody>
      </p:sp>
      <p:sp>
        <p:nvSpPr>
          <p:cNvPr id="94211" name="Rectangle 3"/>
          <p:cNvSpPr>
            <a:spLocks noChangeArrowheads="1"/>
          </p:cNvSpPr>
          <p:nvPr/>
        </p:nvSpPr>
        <p:spPr bwMode="auto">
          <a:xfrm>
            <a:off x="2862307" y="2528888"/>
            <a:ext cx="5435600" cy="2576512"/>
          </a:xfrm>
          <a:prstGeom prst="rect">
            <a:avLst/>
          </a:prstGeom>
          <a:solidFill>
            <a:schemeClr val="bg1"/>
          </a:solidFill>
          <a:ln w="25400">
            <a:solidFill>
              <a:schemeClr val="tx1"/>
            </a:solidFill>
            <a:miter lim="800000"/>
            <a:headEnd/>
            <a:tailEnd/>
          </a:ln>
          <a:effectLst>
            <a:outerShdw dist="107763" dir="2700000" algn="ctr" rotWithShape="0">
              <a:schemeClr val="bg2"/>
            </a:outerShdw>
          </a:effectLst>
        </p:spPr>
        <p:txBody>
          <a:bodyPr lIns="92075" tIns="46038" rIns="92075" bIns="46038">
            <a:spAutoFit/>
          </a:bodyPr>
          <a:lstStyle/>
          <a:p>
            <a:pPr>
              <a:spcBef>
                <a:spcPct val="0"/>
              </a:spcBef>
              <a:defRPr/>
            </a:pPr>
            <a:r>
              <a:rPr lang="en-US" b="1" dirty="0">
                <a:latin typeface="Lucida Console" pitchFamily="49" charset="0"/>
              </a:rPr>
              <a:t>http://www.microsoft.com/ie/page.html</a:t>
            </a:r>
          </a:p>
          <a:p>
            <a:pPr>
              <a:spcBef>
                <a:spcPct val="0"/>
              </a:spcBef>
              <a:defRPr/>
            </a:pPr>
            <a:endParaRPr lang="en-US" b="1" dirty="0">
              <a:latin typeface="Lucida Console" pitchFamily="49" charset="0"/>
            </a:endParaRPr>
          </a:p>
          <a:p>
            <a:pPr>
              <a:spcBef>
                <a:spcPct val="0"/>
              </a:spcBef>
              <a:defRPr/>
            </a:pPr>
            <a:r>
              <a:rPr lang="en-US" b="1" dirty="0">
                <a:latin typeface="Lucida Console" pitchFamily="49" charset="0"/>
              </a:rPr>
              <a:t>ftp://ftp.demon.co.uk</a:t>
            </a:r>
          </a:p>
          <a:p>
            <a:pPr>
              <a:spcBef>
                <a:spcPct val="0"/>
              </a:spcBef>
              <a:defRPr/>
            </a:pPr>
            <a:endParaRPr lang="en-US" b="1" dirty="0">
              <a:latin typeface="Lucida Console" pitchFamily="49" charset="0"/>
            </a:endParaRPr>
          </a:p>
          <a:p>
            <a:pPr>
              <a:spcBef>
                <a:spcPct val="0"/>
              </a:spcBef>
              <a:defRPr/>
            </a:pPr>
            <a:r>
              <a:rPr lang="en-US" b="1" dirty="0">
                <a:latin typeface="Lucida Console" pitchFamily="49" charset="0"/>
              </a:rPr>
              <a:t>news:comp.infosys.www.announce</a:t>
            </a:r>
          </a:p>
          <a:p>
            <a:pPr>
              <a:spcBef>
                <a:spcPct val="0"/>
              </a:spcBef>
              <a:defRPr/>
            </a:pPr>
            <a:endParaRPr lang="en-US" b="1" dirty="0">
              <a:latin typeface="Lucida Console" pitchFamily="49" charset="0"/>
            </a:endParaRPr>
          </a:p>
          <a:p>
            <a:pPr>
              <a:spcBef>
                <a:spcPct val="0"/>
              </a:spcBef>
              <a:defRPr/>
            </a:pPr>
            <a:r>
              <a:rPr lang="en-US" b="1" dirty="0">
                <a:latin typeface="Lucida Console" pitchFamily="49" charset="0"/>
              </a:rPr>
              <a:t>mailto:billg@microsoft.com</a:t>
            </a:r>
          </a:p>
          <a:p>
            <a:pPr>
              <a:spcBef>
                <a:spcPct val="0"/>
              </a:spcBef>
              <a:defRPr/>
            </a:pPr>
            <a:endParaRPr lang="en-US" b="1" dirty="0">
              <a:latin typeface="Lucida Console" pitchFamily="49" charset="0"/>
            </a:endParaRPr>
          </a:p>
          <a:p>
            <a:pPr>
              <a:spcBef>
                <a:spcPct val="0"/>
              </a:spcBef>
              <a:defRPr/>
            </a:pPr>
            <a:r>
              <a:rPr lang="en-US" b="1" dirty="0">
                <a:latin typeface="Lucida Console" pitchFamily="49" charset="0"/>
              </a:rPr>
              <a:t>www.bbc.co.uk</a:t>
            </a:r>
          </a:p>
        </p:txBody>
      </p:sp>
      <p:sp>
        <p:nvSpPr>
          <p:cNvPr id="13316" name="Rectangle 4"/>
          <p:cNvSpPr>
            <a:spLocks noChangeArrowheads="1"/>
          </p:cNvSpPr>
          <p:nvPr/>
        </p:nvSpPr>
        <p:spPr bwMode="auto">
          <a:xfrm>
            <a:off x="2917857" y="2583617"/>
            <a:ext cx="984472" cy="252000"/>
          </a:xfrm>
          <a:prstGeom prst="rect">
            <a:avLst/>
          </a:prstGeom>
          <a:noFill/>
          <a:ln w="12700">
            <a:solidFill>
              <a:srgbClr val="FF004C"/>
            </a:solidFill>
            <a:miter lim="800000"/>
            <a:headEnd/>
            <a:tailEnd/>
          </a:ln>
        </p:spPr>
        <p:txBody>
          <a:bodyPr wrap="none" anchor="ctr"/>
          <a:lstStyle/>
          <a:p>
            <a:endParaRPr lang="en-US"/>
          </a:p>
        </p:txBody>
      </p:sp>
      <p:sp>
        <p:nvSpPr>
          <p:cNvPr id="13317" name="Rectangle 5"/>
          <p:cNvSpPr>
            <a:spLocks noChangeArrowheads="1"/>
          </p:cNvSpPr>
          <p:nvPr/>
        </p:nvSpPr>
        <p:spPr bwMode="auto">
          <a:xfrm>
            <a:off x="3931041" y="2589605"/>
            <a:ext cx="2475611" cy="252000"/>
          </a:xfrm>
          <a:prstGeom prst="rect">
            <a:avLst/>
          </a:prstGeom>
          <a:noFill/>
          <a:ln w="12700">
            <a:solidFill>
              <a:srgbClr val="FF004C"/>
            </a:solidFill>
            <a:miter lim="800000"/>
            <a:headEnd/>
            <a:tailEnd/>
          </a:ln>
        </p:spPr>
        <p:txBody>
          <a:bodyPr wrap="none" anchor="ctr"/>
          <a:lstStyle/>
          <a:p>
            <a:endParaRPr lang="en-US"/>
          </a:p>
        </p:txBody>
      </p:sp>
      <p:sp>
        <p:nvSpPr>
          <p:cNvPr id="13318" name="Rectangle 6"/>
          <p:cNvSpPr>
            <a:spLocks noChangeArrowheads="1"/>
          </p:cNvSpPr>
          <p:nvPr/>
        </p:nvSpPr>
        <p:spPr bwMode="auto">
          <a:xfrm>
            <a:off x="963382" y="1751071"/>
            <a:ext cx="2075889" cy="400752"/>
          </a:xfrm>
          <a:prstGeom prst="rect">
            <a:avLst/>
          </a:prstGeom>
          <a:noFill/>
          <a:ln w="9525">
            <a:noFill/>
            <a:miter lim="800000"/>
            <a:headEnd/>
            <a:tailEnd/>
          </a:ln>
        </p:spPr>
        <p:txBody>
          <a:bodyPr wrap="none" lIns="92075" tIns="46038" rIns="92075" bIns="46038">
            <a:spAutoFit/>
          </a:bodyPr>
          <a:lstStyle/>
          <a:p>
            <a:pPr>
              <a:spcBef>
                <a:spcPct val="0"/>
              </a:spcBef>
            </a:pPr>
            <a:r>
              <a:rPr lang="en-US" sz="2000" dirty="0">
                <a:solidFill>
                  <a:srgbClr val="7E007C"/>
                </a:solidFill>
              </a:rPr>
              <a:t>Scheme (How)</a:t>
            </a:r>
          </a:p>
        </p:txBody>
      </p:sp>
      <p:sp>
        <p:nvSpPr>
          <p:cNvPr id="13319" name="Arc 7"/>
          <p:cNvSpPr>
            <a:spLocks/>
          </p:cNvSpPr>
          <p:nvPr/>
        </p:nvSpPr>
        <p:spPr bwMode="auto">
          <a:xfrm>
            <a:off x="2967082" y="1944721"/>
            <a:ext cx="354012" cy="591520"/>
          </a:xfrm>
          <a:custGeom>
            <a:avLst/>
            <a:gdLst>
              <a:gd name="T0" fmla="*/ 0 w 21690"/>
              <a:gd name="T1" fmla="*/ 0 h 21600"/>
              <a:gd name="T2" fmla="*/ 2147483647 w 21690"/>
              <a:gd name="T3" fmla="*/ 2147483647 h 21600"/>
              <a:gd name="T4" fmla="*/ 2147483647 w 21690"/>
              <a:gd name="T5" fmla="*/ 2147483647 h 21600"/>
              <a:gd name="T6" fmla="*/ 0 60000 65536"/>
              <a:gd name="T7" fmla="*/ 0 60000 65536"/>
              <a:gd name="T8" fmla="*/ 0 60000 65536"/>
              <a:gd name="T9" fmla="*/ 0 w 21690"/>
              <a:gd name="T10" fmla="*/ 0 h 21600"/>
              <a:gd name="T11" fmla="*/ 21690 w 21690"/>
              <a:gd name="T12" fmla="*/ 21600 h 21600"/>
            </a:gdLst>
            <a:ahLst/>
            <a:cxnLst>
              <a:cxn ang="T6">
                <a:pos x="T0" y="T1"/>
              </a:cxn>
              <a:cxn ang="T7">
                <a:pos x="T2" y="T3"/>
              </a:cxn>
              <a:cxn ang="T8">
                <a:pos x="T4" y="T5"/>
              </a:cxn>
            </a:cxnLst>
            <a:rect l="T9" t="T10" r="T11" b="T12"/>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25400" cap="rnd">
            <a:solidFill>
              <a:srgbClr val="F91258"/>
            </a:solidFill>
            <a:round/>
            <a:headEnd type="none" w="med" len="med"/>
            <a:tailEnd type="triangle" w="med" len="med"/>
          </a:ln>
        </p:spPr>
        <p:txBody>
          <a:bodyPr wrap="none" anchor="ctr"/>
          <a:lstStyle/>
          <a:p>
            <a:endParaRPr lang="en-GB" dirty="0"/>
          </a:p>
        </p:txBody>
      </p:sp>
      <p:sp>
        <p:nvSpPr>
          <p:cNvPr id="13320" name="Rectangle 8"/>
          <p:cNvSpPr>
            <a:spLocks noChangeArrowheads="1"/>
          </p:cNvSpPr>
          <p:nvPr/>
        </p:nvSpPr>
        <p:spPr bwMode="auto">
          <a:xfrm>
            <a:off x="5101413" y="1653492"/>
            <a:ext cx="5063887" cy="400752"/>
          </a:xfrm>
          <a:prstGeom prst="rect">
            <a:avLst/>
          </a:prstGeom>
          <a:noFill/>
          <a:ln w="9525">
            <a:noFill/>
            <a:miter lim="800000"/>
            <a:headEnd/>
            <a:tailEnd/>
          </a:ln>
        </p:spPr>
        <p:txBody>
          <a:bodyPr wrap="none" lIns="92075" tIns="46038" rIns="92075" bIns="46038">
            <a:spAutoFit/>
          </a:bodyPr>
          <a:lstStyle/>
          <a:p>
            <a:pPr>
              <a:spcBef>
                <a:spcPct val="0"/>
              </a:spcBef>
            </a:pPr>
            <a:r>
              <a:rPr lang="en-US" sz="2000" dirty="0">
                <a:solidFill>
                  <a:srgbClr val="7E007C"/>
                </a:solidFill>
              </a:rPr>
              <a:t>Path (Where: scheme-specific format)</a:t>
            </a:r>
          </a:p>
        </p:txBody>
      </p:sp>
      <p:sp>
        <p:nvSpPr>
          <p:cNvPr id="13321" name="Arc 9"/>
          <p:cNvSpPr>
            <a:spLocks/>
          </p:cNvSpPr>
          <p:nvPr/>
        </p:nvSpPr>
        <p:spPr bwMode="auto">
          <a:xfrm>
            <a:off x="4794560" y="1842420"/>
            <a:ext cx="352425" cy="685800"/>
          </a:xfrm>
          <a:custGeom>
            <a:avLst/>
            <a:gdLst>
              <a:gd name="T0" fmla="*/ 0 w 21600"/>
              <a:gd name="T1" fmla="*/ 2147483647 h 21600"/>
              <a:gd name="T2" fmla="*/ 2147483647 w 21600"/>
              <a:gd name="T3" fmla="*/ 0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5"/>
                  <a:pt x="9615" y="49"/>
                  <a:pt x="21510" y="0"/>
                </a:cubicBezTo>
              </a:path>
              <a:path w="21600" h="21600" stroke="0" extrusionOk="0">
                <a:moveTo>
                  <a:pt x="0" y="21600"/>
                </a:moveTo>
                <a:cubicBezTo>
                  <a:pt x="0" y="9705"/>
                  <a:pt x="9615" y="49"/>
                  <a:pt x="21510" y="0"/>
                </a:cubicBezTo>
                <a:lnTo>
                  <a:pt x="21600" y="21600"/>
                </a:lnTo>
                <a:close/>
              </a:path>
            </a:pathLst>
          </a:custGeom>
          <a:noFill/>
          <a:ln w="25400" cap="rnd">
            <a:solidFill>
              <a:srgbClr val="F91258"/>
            </a:solidFill>
            <a:round/>
            <a:headEnd type="triangle" w="med" len="med"/>
            <a:tailEnd type="none" w="med" len="med"/>
          </a:ln>
        </p:spPr>
        <p:txBody>
          <a:bodyPr wrap="none" anchor="ctr"/>
          <a:lstStyle/>
          <a:p>
            <a:endParaRPr lang="en-GB"/>
          </a:p>
        </p:txBody>
      </p:sp>
      <p:sp>
        <p:nvSpPr>
          <p:cNvPr id="13322" name="Rectangle 10"/>
          <p:cNvSpPr>
            <a:spLocks noChangeArrowheads="1"/>
          </p:cNvSpPr>
          <p:nvPr/>
        </p:nvSpPr>
        <p:spPr bwMode="auto">
          <a:xfrm>
            <a:off x="2714669" y="5329217"/>
            <a:ext cx="6513001" cy="708528"/>
          </a:xfrm>
          <a:prstGeom prst="rect">
            <a:avLst/>
          </a:prstGeom>
          <a:noFill/>
          <a:ln w="9525">
            <a:noFill/>
            <a:miter lim="800000"/>
            <a:headEnd/>
            <a:tailEnd/>
          </a:ln>
        </p:spPr>
        <p:txBody>
          <a:bodyPr wrap="none" lIns="92075" tIns="46038" rIns="92075" bIns="46038">
            <a:spAutoFit/>
          </a:bodyPr>
          <a:lstStyle/>
          <a:p>
            <a:pPr>
              <a:spcBef>
                <a:spcPct val="0"/>
              </a:spcBef>
            </a:pPr>
            <a:r>
              <a:rPr lang="en-US" sz="2000" dirty="0">
                <a:solidFill>
                  <a:srgbClr val="7E007C"/>
                </a:solidFill>
              </a:rPr>
              <a:t>This is </a:t>
            </a:r>
            <a:r>
              <a:rPr lang="en-US" sz="2000" i="1" dirty="0">
                <a:solidFill>
                  <a:srgbClr val="7E007C"/>
                </a:solidFill>
              </a:rPr>
              <a:t>not</a:t>
            </a:r>
            <a:r>
              <a:rPr lang="en-US" sz="2000" dirty="0">
                <a:solidFill>
                  <a:srgbClr val="7E007C"/>
                </a:solidFill>
              </a:rPr>
              <a:t> a valid URL, but many browsers accept</a:t>
            </a:r>
          </a:p>
          <a:p>
            <a:pPr>
              <a:spcBef>
                <a:spcPct val="0"/>
              </a:spcBef>
            </a:pPr>
            <a:r>
              <a:rPr lang="en-US" sz="2000" dirty="0">
                <a:solidFill>
                  <a:srgbClr val="7E007C"/>
                </a:solidFill>
              </a:rPr>
              <a:t>it as equivalent to </a:t>
            </a:r>
            <a:r>
              <a:rPr lang="en-US" sz="2000" b="1" dirty="0">
                <a:solidFill>
                  <a:srgbClr val="7E007C"/>
                </a:solidFill>
                <a:latin typeface="Courier New" pitchFamily="49" charset="0"/>
              </a:rPr>
              <a:t>http://www.bbc.co.uk</a:t>
            </a:r>
            <a:r>
              <a:rPr lang="en-US" sz="2000" dirty="0">
                <a:solidFill>
                  <a:srgbClr val="7E007C"/>
                </a:solidFill>
              </a:rPr>
              <a:t> </a:t>
            </a:r>
          </a:p>
        </p:txBody>
      </p:sp>
      <p:sp>
        <p:nvSpPr>
          <p:cNvPr id="13323" name="Arc 11"/>
          <p:cNvSpPr>
            <a:spLocks/>
          </p:cNvSpPr>
          <p:nvPr/>
        </p:nvSpPr>
        <p:spPr bwMode="auto">
          <a:xfrm>
            <a:off x="4961569" y="4935204"/>
            <a:ext cx="633413" cy="381000"/>
          </a:xfrm>
          <a:custGeom>
            <a:avLst/>
            <a:gdLst>
              <a:gd name="T0" fmla="*/ 0 w 21650"/>
              <a:gd name="T1" fmla="*/ 0 h 21600"/>
              <a:gd name="T2" fmla="*/ 2147483647 w 21650"/>
              <a:gd name="T3" fmla="*/ 2147483647 h 21600"/>
              <a:gd name="T4" fmla="*/ 2147483647 w 21650"/>
              <a:gd name="T5" fmla="*/ 2147483647 h 21600"/>
              <a:gd name="T6" fmla="*/ 0 60000 65536"/>
              <a:gd name="T7" fmla="*/ 0 60000 65536"/>
              <a:gd name="T8" fmla="*/ 0 60000 65536"/>
              <a:gd name="T9" fmla="*/ 0 w 21650"/>
              <a:gd name="T10" fmla="*/ 0 h 21600"/>
              <a:gd name="T11" fmla="*/ 21650 w 21650"/>
              <a:gd name="T12" fmla="*/ 21600 h 21600"/>
            </a:gdLst>
            <a:ahLst/>
            <a:cxnLst>
              <a:cxn ang="T6">
                <a:pos x="T0" y="T1"/>
              </a:cxn>
              <a:cxn ang="T7">
                <a:pos x="T2" y="T3"/>
              </a:cxn>
              <a:cxn ang="T8">
                <a:pos x="T4" y="T5"/>
              </a:cxn>
            </a:cxnLst>
            <a:rect l="T9" t="T10" r="T11" b="T12"/>
            <a:pathLst>
              <a:path w="21650" h="21600" fill="none" extrusionOk="0">
                <a:moveTo>
                  <a:pt x="0" y="0"/>
                </a:moveTo>
                <a:cubicBezTo>
                  <a:pt x="16" y="0"/>
                  <a:pt x="33" y="-1"/>
                  <a:pt x="50" y="0"/>
                </a:cubicBezTo>
                <a:cubicBezTo>
                  <a:pt x="11979" y="0"/>
                  <a:pt x="21650" y="9670"/>
                  <a:pt x="21650" y="21600"/>
                </a:cubicBezTo>
              </a:path>
              <a:path w="21650" h="21600" stroke="0" extrusionOk="0">
                <a:moveTo>
                  <a:pt x="0" y="0"/>
                </a:moveTo>
                <a:cubicBezTo>
                  <a:pt x="16" y="0"/>
                  <a:pt x="33" y="-1"/>
                  <a:pt x="50" y="0"/>
                </a:cubicBezTo>
                <a:cubicBezTo>
                  <a:pt x="11979" y="0"/>
                  <a:pt x="21650" y="9670"/>
                  <a:pt x="21650" y="21600"/>
                </a:cubicBezTo>
                <a:lnTo>
                  <a:pt x="50" y="21600"/>
                </a:lnTo>
                <a:close/>
              </a:path>
            </a:pathLst>
          </a:custGeom>
          <a:noFill/>
          <a:ln w="25400" cap="rnd">
            <a:solidFill>
              <a:srgbClr val="F91258"/>
            </a:solidFill>
            <a:round/>
            <a:headEnd type="triangle" w="med" len="med"/>
            <a:tailEnd type="none" w="med" len="med"/>
          </a:ln>
        </p:spPr>
        <p:txBody>
          <a:bodyPr wrap="none" anchor="ctr"/>
          <a:lstStyle/>
          <a:p>
            <a:endParaRPr lang="en-GB"/>
          </a:p>
        </p:txBody>
      </p:sp>
      <p:sp>
        <p:nvSpPr>
          <p:cNvPr id="13324" name="Rectangle 12"/>
          <p:cNvSpPr>
            <a:spLocks noChangeArrowheads="1"/>
          </p:cNvSpPr>
          <p:nvPr/>
        </p:nvSpPr>
        <p:spPr bwMode="auto">
          <a:xfrm>
            <a:off x="6432692" y="2589605"/>
            <a:ext cx="1670050" cy="252000"/>
          </a:xfrm>
          <a:prstGeom prst="rect">
            <a:avLst/>
          </a:prstGeom>
          <a:noFill/>
          <a:ln w="12700">
            <a:solidFill>
              <a:srgbClr val="FF004C"/>
            </a:solidFill>
            <a:miter lim="800000"/>
            <a:headEnd/>
            <a:tailEnd/>
          </a:ln>
        </p:spPr>
        <p:txBody>
          <a:bodyPr wrap="none" anchor="ctr"/>
          <a:lstStyle/>
          <a:p>
            <a:endParaRPr lang="en-US"/>
          </a:p>
        </p:txBody>
      </p:sp>
      <p:sp>
        <p:nvSpPr>
          <p:cNvPr id="13325" name="Rectangle 13"/>
          <p:cNvSpPr>
            <a:spLocks noChangeArrowheads="1"/>
          </p:cNvSpPr>
          <p:nvPr/>
        </p:nvSpPr>
        <p:spPr bwMode="auto">
          <a:xfrm>
            <a:off x="7628021" y="1967489"/>
            <a:ext cx="2338782" cy="400752"/>
          </a:xfrm>
          <a:prstGeom prst="rect">
            <a:avLst/>
          </a:prstGeom>
          <a:noFill/>
          <a:ln w="9525">
            <a:noFill/>
            <a:miter lim="800000"/>
            <a:headEnd/>
            <a:tailEnd/>
          </a:ln>
        </p:spPr>
        <p:txBody>
          <a:bodyPr wrap="none" lIns="92075" tIns="46038" rIns="92075" bIns="46038">
            <a:spAutoFit/>
          </a:bodyPr>
          <a:lstStyle/>
          <a:p>
            <a:pPr>
              <a:spcBef>
                <a:spcPct val="0"/>
              </a:spcBef>
            </a:pPr>
            <a:r>
              <a:rPr lang="en-US" sz="2000" dirty="0">
                <a:solidFill>
                  <a:srgbClr val="7E007C"/>
                </a:solidFill>
              </a:rPr>
              <a:t>Resource (What)</a:t>
            </a:r>
          </a:p>
        </p:txBody>
      </p:sp>
      <p:sp>
        <p:nvSpPr>
          <p:cNvPr id="13326" name="Arc 14"/>
          <p:cNvSpPr>
            <a:spLocks/>
          </p:cNvSpPr>
          <p:nvPr/>
        </p:nvSpPr>
        <p:spPr bwMode="auto">
          <a:xfrm>
            <a:off x="6950370" y="2151823"/>
            <a:ext cx="701714" cy="399793"/>
          </a:xfrm>
          <a:custGeom>
            <a:avLst/>
            <a:gdLst>
              <a:gd name="T0" fmla="*/ 0 w 21600"/>
              <a:gd name="T1" fmla="*/ 2147483647 h 21600"/>
              <a:gd name="T2" fmla="*/ 2147483647 w 21600"/>
              <a:gd name="T3" fmla="*/ 0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5"/>
                  <a:pt x="9615" y="49"/>
                  <a:pt x="21510" y="0"/>
                </a:cubicBezTo>
              </a:path>
              <a:path w="21600" h="21600" stroke="0" extrusionOk="0">
                <a:moveTo>
                  <a:pt x="0" y="21600"/>
                </a:moveTo>
                <a:cubicBezTo>
                  <a:pt x="0" y="9705"/>
                  <a:pt x="9615" y="49"/>
                  <a:pt x="21510" y="0"/>
                </a:cubicBezTo>
                <a:lnTo>
                  <a:pt x="21600" y="21600"/>
                </a:lnTo>
                <a:close/>
              </a:path>
            </a:pathLst>
          </a:custGeom>
          <a:noFill/>
          <a:ln w="25400" cap="rnd">
            <a:solidFill>
              <a:srgbClr val="F91258"/>
            </a:solidFill>
            <a:round/>
            <a:headEnd type="triangle" w="med" len="med"/>
            <a:tailEnd type="none" w="med" len="med"/>
          </a:ln>
        </p:spPr>
        <p:txBody>
          <a:bodyPr wrap="none" anchor="ctr"/>
          <a:lstStyle/>
          <a:p>
            <a:endParaRPr lang="en-GB"/>
          </a:p>
        </p:txBody>
      </p:sp>
    </p:spTree>
    <p:extLst>
      <p:ext uri="{BB962C8B-B14F-4D97-AF65-F5344CB8AC3E}">
        <p14:creationId xmlns:p14="http://schemas.microsoft.com/office/powerpoint/2010/main" val="844687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dirty="0"/>
              <a:t>HTTP URL Format</a:t>
            </a:r>
          </a:p>
        </p:txBody>
      </p:sp>
      <p:sp>
        <p:nvSpPr>
          <p:cNvPr id="96260" name="Rectangle 4"/>
          <p:cNvSpPr>
            <a:spLocks noChangeArrowheads="1"/>
          </p:cNvSpPr>
          <p:nvPr/>
        </p:nvSpPr>
        <p:spPr bwMode="auto">
          <a:xfrm>
            <a:off x="2396087" y="2528830"/>
            <a:ext cx="6215063" cy="2027237"/>
          </a:xfrm>
          <a:prstGeom prst="rect">
            <a:avLst/>
          </a:prstGeom>
          <a:solidFill>
            <a:schemeClr val="bg1"/>
          </a:solidFill>
          <a:ln w="25400">
            <a:solidFill>
              <a:srgbClr val="004050"/>
            </a:solidFill>
            <a:miter lim="800000"/>
            <a:headEnd/>
            <a:tailEnd/>
          </a:ln>
          <a:effectLst>
            <a:outerShdw dist="107763" dir="2700000" algn="ctr" rotWithShape="0">
              <a:schemeClr val="bg2"/>
            </a:outerShdw>
          </a:effectLst>
        </p:spPr>
        <p:txBody>
          <a:bodyPr lIns="92075" tIns="46038" rIns="92075" bIns="46038">
            <a:spAutoFit/>
          </a:bodyPr>
          <a:lstStyle/>
          <a:p>
            <a:pPr>
              <a:spcBef>
                <a:spcPct val="0"/>
              </a:spcBef>
              <a:defRPr/>
            </a:pPr>
            <a:r>
              <a:rPr lang="en-US" b="1" dirty="0">
                <a:latin typeface="Lucida Console" pitchFamily="49" charset="0"/>
              </a:rPr>
              <a:t>http://www.microsoft.com/ie</a:t>
            </a:r>
          </a:p>
          <a:p>
            <a:pPr>
              <a:spcBef>
                <a:spcPct val="0"/>
              </a:spcBef>
              <a:defRPr/>
            </a:pPr>
            <a:endParaRPr lang="en-US" b="1" dirty="0">
              <a:latin typeface="Lucida Console" pitchFamily="49" charset="0"/>
            </a:endParaRPr>
          </a:p>
          <a:p>
            <a:pPr>
              <a:spcBef>
                <a:spcPct val="0"/>
              </a:spcBef>
              <a:defRPr/>
            </a:pPr>
            <a:r>
              <a:rPr lang="en-US" b="1" dirty="0">
                <a:latin typeface="Lucida Console" pitchFamily="49" charset="0"/>
              </a:rPr>
              <a:t>http://www.microsoft.com:80/ie</a:t>
            </a:r>
          </a:p>
          <a:p>
            <a:pPr>
              <a:spcBef>
                <a:spcPct val="0"/>
              </a:spcBef>
              <a:defRPr/>
            </a:pPr>
            <a:endParaRPr lang="en-US" b="1" dirty="0">
              <a:latin typeface="Lucida Console" pitchFamily="49" charset="0"/>
            </a:endParaRPr>
          </a:p>
          <a:p>
            <a:pPr>
              <a:spcBef>
                <a:spcPct val="0"/>
              </a:spcBef>
              <a:defRPr/>
            </a:pPr>
            <a:r>
              <a:rPr lang="en-US" b="1" dirty="0">
                <a:latin typeface="Lucida Console" pitchFamily="49" charset="0"/>
              </a:rPr>
              <a:t>http://www.carousel.org/galloper/april.html</a:t>
            </a:r>
          </a:p>
          <a:p>
            <a:pPr>
              <a:spcBef>
                <a:spcPct val="0"/>
              </a:spcBef>
              <a:defRPr/>
            </a:pPr>
            <a:endParaRPr lang="en-US" b="1" dirty="0">
              <a:latin typeface="Lucida Console" pitchFamily="49" charset="0"/>
            </a:endParaRPr>
          </a:p>
          <a:p>
            <a:pPr>
              <a:spcBef>
                <a:spcPct val="0"/>
              </a:spcBef>
              <a:defRPr/>
            </a:pPr>
            <a:r>
              <a:rPr lang="en-US" b="1" dirty="0">
                <a:latin typeface="Lucida Console" pitchFamily="49" charset="0"/>
              </a:rPr>
              <a:t>http://www.qa.com</a:t>
            </a:r>
          </a:p>
        </p:txBody>
      </p:sp>
      <p:sp>
        <p:nvSpPr>
          <p:cNvPr id="14340" name="Rectangle 5"/>
          <p:cNvSpPr>
            <a:spLocks noChangeArrowheads="1"/>
          </p:cNvSpPr>
          <p:nvPr/>
        </p:nvSpPr>
        <p:spPr bwMode="auto">
          <a:xfrm>
            <a:off x="3403568" y="2594112"/>
            <a:ext cx="2462190" cy="252000"/>
          </a:xfrm>
          <a:prstGeom prst="rect">
            <a:avLst/>
          </a:prstGeom>
          <a:noFill/>
          <a:ln w="12700">
            <a:solidFill>
              <a:srgbClr val="FF004C"/>
            </a:solidFill>
            <a:miter lim="800000"/>
            <a:headEnd/>
            <a:tailEnd/>
          </a:ln>
        </p:spPr>
        <p:txBody>
          <a:bodyPr wrap="none" anchor="ctr"/>
          <a:lstStyle/>
          <a:p>
            <a:endParaRPr lang="en-US"/>
          </a:p>
        </p:txBody>
      </p:sp>
      <p:sp>
        <p:nvSpPr>
          <p:cNvPr id="14341" name="Rectangle 6"/>
          <p:cNvSpPr>
            <a:spLocks noChangeArrowheads="1"/>
          </p:cNvSpPr>
          <p:nvPr/>
        </p:nvSpPr>
        <p:spPr bwMode="auto">
          <a:xfrm>
            <a:off x="1862669" y="1688824"/>
            <a:ext cx="1603003" cy="400752"/>
          </a:xfrm>
          <a:prstGeom prst="rect">
            <a:avLst/>
          </a:prstGeom>
          <a:noFill/>
          <a:ln w="9525">
            <a:noFill/>
            <a:miter lim="800000"/>
            <a:headEnd/>
            <a:tailEnd/>
          </a:ln>
        </p:spPr>
        <p:txBody>
          <a:bodyPr wrap="none" lIns="92075" tIns="46038" rIns="92075" bIns="46038">
            <a:spAutoFit/>
          </a:bodyPr>
          <a:lstStyle/>
          <a:p>
            <a:pPr>
              <a:spcBef>
                <a:spcPct val="0"/>
              </a:spcBef>
            </a:pPr>
            <a:r>
              <a:rPr lang="en-US" sz="2000" dirty="0">
                <a:solidFill>
                  <a:srgbClr val="7E007C"/>
                </a:solidFill>
              </a:rPr>
              <a:t>Host name</a:t>
            </a:r>
          </a:p>
        </p:txBody>
      </p:sp>
      <p:sp>
        <p:nvSpPr>
          <p:cNvPr id="14342" name="Arc 7"/>
          <p:cNvSpPr>
            <a:spLocks/>
          </p:cNvSpPr>
          <p:nvPr/>
        </p:nvSpPr>
        <p:spPr bwMode="auto">
          <a:xfrm>
            <a:off x="3480350" y="1892241"/>
            <a:ext cx="352425" cy="685800"/>
          </a:xfrm>
          <a:custGeom>
            <a:avLst/>
            <a:gdLst>
              <a:gd name="T0" fmla="*/ 0 w 21690"/>
              <a:gd name="T1" fmla="*/ 0 h 21600"/>
              <a:gd name="T2" fmla="*/ 2147483647 w 21690"/>
              <a:gd name="T3" fmla="*/ 2147483647 h 21600"/>
              <a:gd name="T4" fmla="*/ 2147483647 w 21690"/>
              <a:gd name="T5" fmla="*/ 2147483647 h 21600"/>
              <a:gd name="T6" fmla="*/ 0 60000 65536"/>
              <a:gd name="T7" fmla="*/ 0 60000 65536"/>
              <a:gd name="T8" fmla="*/ 0 60000 65536"/>
              <a:gd name="T9" fmla="*/ 0 w 21690"/>
              <a:gd name="T10" fmla="*/ 0 h 21600"/>
              <a:gd name="T11" fmla="*/ 21690 w 21690"/>
              <a:gd name="T12" fmla="*/ 21600 h 21600"/>
            </a:gdLst>
            <a:ahLst/>
            <a:cxnLst>
              <a:cxn ang="T6">
                <a:pos x="T0" y="T1"/>
              </a:cxn>
              <a:cxn ang="T7">
                <a:pos x="T2" y="T3"/>
              </a:cxn>
              <a:cxn ang="T8">
                <a:pos x="T4" y="T5"/>
              </a:cxn>
            </a:cxnLst>
            <a:rect l="T9" t="T10" r="T11" b="T12"/>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25400" cap="rnd">
            <a:solidFill>
              <a:srgbClr val="F91258"/>
            </a:solidFill>
            <a:round/>
            <a:headEnd type="none" w="med" len="med"/>
            <a:tailEnd type="triangle" w="med" len="med"/>
          </a:ln>
        </p:spPr>
        <p:txBody>
          <a:bodyPr wrap="none" anchor="ctr"/>
          <a:lstStyle/>
          <a:p>
            <a:endParaRPr lang="en-GB"/>
          </a:p>
        </p:txBody>
      </p:sp>
      <p:sp>
        <p:nvSpPr>
          <p:cNvPr id="14343" name="Rectangle 8"/>
          <p:cNvSpPr>
            <a:spLocks noChangeArrowheads="1"/>
          </p:cNvSpPr>
          <p:nvPr/>
        </p:nvSpPr>
        <p:spPr bwMode="auto">
          <a:xfrm>
            <a:off x="5933778" y="3134058"/>
            <a:ext cx="301625" cy="252000"/>
          </a:xfrm>
          <a:prstGeom prst="rect">
            <a:avLst/>
          </a:prstGeom>
          <a:noFill/>
          <a:ln w="12700">
            <a:solidFill>
              <a:srgbClr val="FF004C"/>
            </a:solidFill>
            <a:miter lim="800000"/>
            <a:headEnd/>
            <a:tailEnd/>
          </a:ln>
        </p:spPr>
        <p:txBody>
          <a:bodyPr wrap="none" anchor="ctr"/>
          <a:lstStyle/>
          <a:p>
            <a:endParaRPr lang="en-US"/>
          </a:p>
        </p:txBody>
      </p:sp>
      <p:sp>
        <p:nvSpPr>
          <p:cNvPr id="14344" name="Rectangle 9"/>
          <p:cNvSpPr>
            <a:spLocks noChangeArrowheads="1"/>
          </p:cNvSpPr>
          <p:nvPr/>
        </p:nvSpPr>
        <p:spPr bwMode="auto">
          <a:xfrm>
            <a:off x="6358879" y="1629012"/>
            <a:ext cx="3906519" cy="400752"/>
          </a:xfrm>
          <a:prstGeom prst="rect">
            <a:avLst/>
          </a:prstGeom>
          <a:noFill/>
          <a:ln w="9525">
            <a:noFill/>
            <a:miter lim="800000"/>
            <a:headEnd/>
            <a:tailEnd/>
          </a:ln>
        </p:spPr>
        <p:txBody>
          <a:bodyPr wrap="none" lIns="92075" tIns="46038" rIns="92075" bIns="46038">
            <a:spAutoFit/>
          </a:bodyPr>
          <a:lstStyle/>
          <a:p>
            <a:pPr>
              <a:spcBef>
                <a:spcPct val="0"/>
              </a:spcBef>
            </a:pPr>
            <a:r>
              <a:rPr lang="en-US" sz="2000" dirty="0">
                <a:solidFill>
                  <a:srgbClr val="7E007C"/>
                </a:solidFill>
              </a:rPr>
              <a:t>Port number.  Defaults to 80.</a:t>
            </a:r>
          </a:p>
        </p:txBody>
      </p:sp>
      <p:sp>
        <p:nvSpPr>
          <p:cNvPr id="14345" name="Arc 10"/>
          <p:cNvSpPr>
            <a:spLocks/>
          </p:cNvSpPr>
          <p:nvPr/>
        </p:nvSpPr>
        <p:spPr bwMode="auto">
          <a:xfrm>
            <a:off x="6052100" y="1841442"/>
            <a:ext cx="301625" cy="1273175"/>
          </a:xfrm>
          <a:custGeom>
            <a:avLst/>
            <a:gdLst>
              <a:gd name="T0" fmla="*/ 0 w 21600"/>
              <a:gd name="T1" fmla="*/ 2147483647 h 21600"/>
              <a:gd name="T2" fmla="*/ 2147483647 w 21600"/>
              <a:gd name="T3" fmla="*/ 0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4"/>
                  <a:pt x="9632" y="34"/>
                  <a:pt x="21538" y="0"/>
                </a:cubicBezTo>
              </a:path>
              <a:path w="21600" h="21600" stroke="0" extrusionOk="0">
                <a:moveTo>
                  <a:pt x="0" y="21600"/>
                </a:moveTo>
                <a:cubicBezTo>
                  <a:pt x="0" y="9694"/>
                  <a:pt x="9632" y="34"/>
                  <a:pt x="21538" y="0"/>
                </a:cubicBezTo>
                <a:lnTo>
                  <a:pt x="21600" y="21600"/>
                </a:lnTo>
                <a:close/>
              </a:path>
            </a:pathLst>
          </a:custGeom>
          <a:noFill/>
          <a:ln w="25400" cap="rnd">
            <a:solidFill>
              <a:srgbClr val="F91258"/>
            </a:solidFill>
            <a:round/>
            <a:headEnd type="triangle" w="med" len="med"/>
            <a:tailEnd type="none" w="med" len="med"/>
          </a:ln>
        </p:spPr>
        <p:txBody>
          <a:bodyPr wrap="none" anchor="ctr"/>
          <a:lstStyle/>
          <a:p>
            <a:endParaRPr lang="en-GB"/>
          </a:p>
        </p:txBody>
      </p:sp>
      <p:sp>
        <p:nvSpPr>
          <p:cNvPr id="14346" name="Rectangle 11"/>
          <p:cNvSpPr>
            <a:spLocks noChangeArrowheads="1"/>
          </p:cNvSpPr>
          <p:nvPr/>
        </p:nvSpPr>
        <p:spPr bwMode="auto">
          <a:xfrm>
            <a:off x="5755965" y="3671070"/>
            <a:ext cx="2675264" cy="273690"/>
          </a:xfrm>
          <a:prstGeom prst="rect">
            <a:avLst/>
          </a:prstGeom>
          <a:noFill/>
          <a:ln w="12700">
            <a:solidFill>
              <a:srgbClr val="FF004C"/>
            </a:solidFill>
            <a:miter lim="800000"/>
            <a:headEnd/>
            <a:tailEnd/>
          </a:ln>
        </p:spPr>
        <p:txBody>
          <a:bodyPr wrap="none" anchor="ctr"/>
          <a:lstStyle/>
          <a:p>
            <a:endParaRPr lang="en-US"/>
          </a:p>
        </p:txBody>
      </p:sp>
      <p:sp>
        <p:nvSpPr>
          <p:cNvPr id="14347" name="Arc 12"/>
          <p:cNvSpPr>
            <a:spLocks/>
          </p:cNvSpPr>
          <p:nvPr/>
        </p:nvSpPr>
        <p:spPr bwMode="auto">
          <a:xfrm>
            <a:off x="7916323" y="3956492"/>
            <a:ext cx="352425" cy="1039669"/>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5400" cap="rnd">
            <a:solidFill>
              <a:srgbClr val="F91258"/>
            </a:solidFill>
            <a:round/>
            <a:headEnd type="triangle" w="med" len="med"/>
            <a:tailEnd type="none" w="med" len="med"/>
          </a:ln>
        </p:spPr>
        <p:txBody>
          <a:bodyPr wrap="none" anchor="ctr"/>
          <a:lstStyle/>
          <a:p>
            <a:endParaRPr lang="en-GB"/>
          </a:p>
        </p:txBody>
      </p:sp>
      <p:sp>
        <p:nvSpPr>
          <p:cNvPr id="14348" name="Rectangle 13"/>
          <p:cNvSpPr>
            <a:spLocks noChangeArrowheads="1"/>
          </p:cNvSpPr>
          <p:nvPr/>
        </p:nvSpPr>
        <p:spPr bwMode="auto">
          <a:xfrm>
            <a:off x="2795976" y="4787764"/>
            <a:ext cx="5312352" cy="400752"/>
          </a:xfrm>
          <a:prstGeom prst="rect">
            <a:avLst/>
          </a:prstGeom>
          <a:noFill/>
          <a:ln w="9525">
            <a:noFill/>
            <a:miter lim="800000"/>
            <a:headEnd/>
            <a:tailEnd/>
          </a:ln>
        </p:spPr>
        <p:txBody>
          <a:bodyPr wrap="none" lIns="92075" tIns="46038" rIns="92075" bIns="46038">
            <a:spAutoFit/>
          </a:bodyPr>
          <a:lstStyle/>
          <a:p>
            <a:pPr>
              <a:spcBef>
                <a:spcPct val="0"/>
              </a:spcBef>
            </a:pPr>
            <a:r>
              <a:rPr lang="en-US" sz="2000" dirty="0">
                <a:solidFill>
                  <a:srgbClr val="7E007C"/>
                </a:solidFill>
              </a:rPr>
              <a:t>Document path. May be case-sensitive</a:t>
            </a:r>
          </a:p>
        </p:txBody>
      </p:sp>
      <p:sp>
        <p:nvSpPr>
          <p:cNvPr id="14349" name="Arc 14"/>
          <p:cNvSpPr>
            <a:spLocks/>
          </p:cNvSpPr>
          <p:nvPr/>
        </p:nvSpPr>
        <p:spPr bwMode="auto">
          <a:xfrm>
            <a:off x="2726286" y="4467167"/>
            <a:ext cx="350838" cy="1660525"/>
          </a:xfrm>
          <a:custGeom>
            <a:avLst/>
            <a:gdLst>
              <a:gd name="T0" fmla="*/ 2147483647 w 21600"/>
              <a:gd name="T1" fmla="*/ 2147483647 h 21600"/>
              <a:gd name="T2" fmla="*/ 0 w 21600"/>
              <a:gd name="T3" fmla="*/ 0 h 21600"/>
              <a:gd name="T4" fmla="*/ 214748364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rgbClr val="F91258"/>
            </a:solidFill>
            <a:round/>
            <a:headEnd type="none" w="med" len="med"/>
            <a:tailEnd type="triangle" w="med" len="med"/>
          </a:ln>
        </p:spPr>
        <p:txBody>
          <a:bodyPr wrap="none" anchor="ctr"/>
          <a:lstStyle/>
          <a:p>
            <a:endParaRPr lang="en-GB"/>
          </a:p>
        </p:txBody>
      </p:sp>
      <p:sp>
        <p:nvSpPr>
          <p:cNvPr id="14350" name="Rectangle 15"/>
          <p:cNvSpPr>
            <a:spLocks noChangeArrowheads="1"/>
          </p:cNvSpPr>
          <p:nvPr/>
        </p:nvSpPr>
        <p:spPr bwMode="auto">
          <a:xfrm>
            <a:off x="3004100" y="5782188"/>
            <a:ext cx="7668766" cy="708528"/>
          </a:xfrm>
          <a:prstGeom prst="rect">
            <a:avLst/>
          </a:prstGeom>
          <a:noFill/>
          <a:ln w="9525">
            <a:noFill/>
            <a:miter lim="800000"/>
            <a:headEnd/>
            <a:tailEnd/>
          </a:ln>
        </p:spPr>
        <p:txBody>
          <a:bodyPr wrap="none" lIns="92075" tIns="46038" rIns="92075" bIns="46038">
            <a:spAutoFit/>
          </a:bodyPr>
          <a:lstStyle/>
          <a:p>
            <a:pPr>
              <a:spcBef>
                <a:spcPct val="0"/>
              </a:spcBef>
            </a:pPr>
            <a:r>
              <a:rPr lang="en-US" sz="2000" dirty="0">
                <a:solidFill>
                  <a:srgbClr val="7E007C"/>
                </a:solidFill>
              </a:rPr>
              <a:t>An empty path refers to the home page</a:t>
            </a:r>
          </a:p>
          <a:p>
            <a:pPr>
              <a:spcBef>
                <a:spcPct val="0"/>
              </a:spcBef>
            </a:pPr>
            <a:r>
              <a:rPr lang="en-US" sz="2000" dirty="0">
                <a:solidFill>
                  <a:srgbClr val="7E007C"/>
                </a:solidFill>
              </a:rPr>
              <a:t>(server-dependent: may be </a:t>
            </a:r>
            <a:r>
              <a:rPr lang="en-US" sz="2000" b="1" dirty="0">
                <a:solidFill>
                  <a:srgbClr val="7E007C"/>
                </a:solidFill>
                <a:latin typeface="Courier New" pitchFamily="49" charset="0"/>
              </a:rPr>
              <a:t>index.html</a:t>
            </a:r>
            <a:r>
              <a:rPr lang="en-US" sz="2000" dirty="0">
                <a:solidFill>
                  <a:srgbClr val="7E007C"/>
                </a:solidFill>
              </a:rPr>
              <a:t> or </a:t>
            </a:r>
            <a:r>
              <a:rPr lang="en-US" sz="2000" b="1" dirty="0">
                <a:solidFill>
                  <a:srgbClr val="7E007C"/>
                </a:solidFill>
                <a:latin typeface="Courier New" pitchFamily="49" charset="0"/>
              </a:rPr>
              <a:t>default.html</a:t>
            </a:r>
            <a:r>
              <a:rPr lang="en-US" sz="2000" dirty="0">
                <a:solidFill>
                  <a:srgbClr val="7E007C"/>
                </a:solidFill>
              </a:rPr>
              <a:t>) </a:t>
            </a:r>
          </a:p>
        </p:txBody>
      </p:sp>
    </p:spTree>
    <p:extLst>
      <p:ext uri="{BB962C8B-B14F-4D97-AF65-F5344CB8AC3E}">
        <p14:creationId xmlns:p14="http://schemas.microsoft.com/office/powerpoint/2010/main" val="2564664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a:fillRect/>
          </a:stretch>
        </p:blipFill>
        <p:spPr>
          <a:xfrm>
            <a:off x="0" y="0"/>
            <a:ext cx="12192000" cy="6858000"/>
          </a:xfrm>
          <a:prstGeom prst="rect">
            <a:avLst/>
          </a:prstGeom>
        </p:spPr>
      </p:pic>
      <p:sp>
        <p:nvSpPr>
          <p:cNvPr id="2" name="Text Placeholder 1"/>
          <p:cNvSpPr>
            <a:spLocks noGrp="1"/>
          </p:cNvSpPr>
          <p:nvPr>
            <p:ph type="body" sz="quarter" idx="10"/>
          </p:nvPr>
        </p:nvSpPr>
        <p:spPr>
          <a:xfrm>
            <a:off x="4671872" y="4980351"/>
            <a:ext cx="7300765" cy="2751998"/>
          </a:xfrm>
        </p:spPr>
        <p:txBody>
          <a:bodyPr/>
          <a:lstStyle/>
          <a:p>
            <a:r>
              <a:rPr lang="en-US" dirty="0"/>
              <a:t>Principles of Browser Operation</a:t>
            </a:r>
            <a:endParaRPr lang="en-GB" dirty="0"/>
          </a:p>
        </p:txBody>
      </p:sp>
      <p:sp>
        <p:nvSpPr>
          <p:cNvPr id="5" name="Slide Number Placeholder 4"/>
          <p:cNvSpPr>
            <a:spLocks noGrp="1"/>
          </p:cNvSpPr>
          <p:nvPr>
            <p:ph type="sldNum" sz="quarter" idx="4"/>
          </p:nvPr>
        </p:nvSpPr>
        <p:spPr/>
        <p:txBody>
          <a:bodyPr/>
          <a:lstStyle/>
          <a:p>
            <a:fld id="{59A9DB25-FDD1-47D4-AFDB-AF6782549F92}" type="slidenum">
              <a:rPr lang="en-GB" smtClean="0"/>
              <a:pPr/>
              <a:t>13</a:t>
            </a:fld>
            <a:endParaRPr lang="en-GB" dirty="0"/>
          </a:p>
        </p:txBody>
      </p:sp>
    </p:spTree>
    <p:extLst>
      <p:ext uri="{BB962C8B-B14F-4D97-AF65-F5344CB8AC3E}">
        <p14:creationId xmlns:p14="http://schemas.microsoft.com/office/powerpoint/2010/main" val="1764213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chor="t"/>
          <a:lstStyle/>
          <a:p>
            <a:pPr eaLnBrk="1" hangingPunct="1"/>
            <a:r>
              <a:rPr lang="en-US" dirty="0" err="1"/>
              <a:t>HyperText</a:t>
            </a:r>
            <a:r>
              <a:rPr lang="en-US" dirty="0"/>
              <a:t> Transfer Protocol (HTTP)</a:t>
            </a:r>
            <a:endParaRPr lang="en-GB" dirty="0"/>
          </a:p>
        </p:txBody>
      </p:sp>
      <p:sp>
        <p:nvSpPr>
          <p:cNvPr id="9219" name="Rectangle 3"/>
          <p:cNvSpPr>
            <a:spLocks noGrp="1" noChangeArrowheads="1"/>
          </p:cNvSpPr>
          <p:nvPr>
            <p:ph idx="1"/>
          </p:nvPr>
        </p:nvSpPr>
        <p:spPr>
          <a:xfrm>
            <a:off x="341272" y="1368256"/>
            <a:ext cx="11516239" cy="1263073"/>
          </a:xfrm>
        </p:spPr>
        <p:txBody>
          <a:bodyPr/>
          <a:lstStyle/>
          <a:p>
            <a:pPr marL="0" indent="0">
              <a:buNone/>
            </a:pPr>
            <a:r>
              <a:rPr lang="en-US" b="1" dirty="0"/>
              <a:t>HTTP is an Application Level Protocol</a:t>
            </a:r>
          </a:p>
          <a:p>
            <a:pPr marL="342000" indent="-342900">
              <a:buFont typeface="Arial" panose="020B0604020202020204" pitchFamily="34" charset="0"/>
              <a:buChar char="•"/>
            </a:pPr>
            <a:r>
              <a:rPr lang="en-US" dirty="0"/>
              <a:t>Simple	– has a Request and Response (header &amp; body)</a:t>
            </a:r>
          </a:p>
          <a:p>
            <a:pPr marL="342000" indent="-342900">
              <a:buFont typeface="Arial" panose="020B0604020202020204" pitchFamily="34" charset="0"/>
              <a:buChar char="•"/>
            </a:pPr>
            <a:r>
              <a:rPr lang="en-US" dirty="0"/>
              <a:t>Stateless	– each request is independent from the others</a:t>
            </a:r>
          </a:p>
          <a:p>
            <a:endParaRPr lang="en-US" dirty="0"/>
          </a:p>
          <a:p>
            <a:endParaRPr lang="en-GB" dirty="0"/>
          </a:p>
        </p:txBody>
      </p:sp>
      <p:sp>
        <p:nvSpPr>
          <p:cNvPr id="9220" name="Text Box 6"/>
          <p:cNvSpPr txBox="1">
            <a:spLocks noChangeArrowheads="1"/>
          </p:cNvSpPr>
          <p:nvPr/>
        </p:nvSpPr>
        <p:spPr bwMode="auto">
          <a:xfrm>
            <a:off x="3651251" y="3630613"/>
            <a:ext cx="4086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eaLnBrk="1" hangingPunct="1"/>
            <a:endParaRPr lang="en-US" sz="1800" b="1">
              <a:cs typeface="Arial" charset="0"/>
            </a:endParaRPr>
          </a:p>
        </p:txBody>
      </p:sp>
      <p:sp>
        <p:nvSpPr>
          <p:cNvPr id="9221" name="Rectangle 24"/>
          <p:cNvSpPr>
            <a:spLocks noChangeArrowheads="1"/>
          </p:cNvSpPr>
          <p:nvPr/>
        </p:nvSpPr>
        <p:spPr bwMode="auto">
          <a:xfrm>
            <a:off x="4943476" y="2688224"/>
            <a:ext cx="2013372"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1" hangingPunct="1">
              <a:spcBef>
                <a:spcPct val="0"/>
              </a:spcBef>
            </a:pPr>
            <a:r>
              <a:rPr lang="en-US" sz="2000" dirty="0">
                <a:solidFill>
                  <a:srgbClr val="7E007C"/>
                </a:solidFill>
                <a:cs typeface="Arial" charset="0"/>
              </a:rPr>
              <a:t>HTTP Request</a:t>
            </a:r>
          </a:p>
        </p:txBody>
      </p:sp>
      <p:sp>
        <p:nvSpPr>
          <p:cNvPr id="408601" name="Text Box 25"/>
          <p:cNvSpPr txBox="1">
            <a:spLocks noChangeArrowheads="1"/>
          </p:cNvSpPr>
          <p:nvPr/>
        </p:nvSpPr>
        <p:spPr bwMode="auto">
          <a:xfrm>
            <a:off x="3500438" y="3106993"/>
            <a:ext cx="5208587" cy="835025"/>
          </a:xfrm>
          <a:prstGeom prst="rect">
            <a:avLst/>
          </a:prstGeom>
          <a:solidFill>
            <a:schemeClr val="bg1"/>
          </a:solidFill>
          <a:ln w="25400">
            <a:solidFill>
              <a:schemeClr val="tx1"/>
            </a:solidFill>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square">
            <a:spAutoFit/>
          </a:bodyPr>
          <a:lstStyle/>
          <a:p>
            <a:pPr defTabSz="739775">
              <a:defRPr/>
            </a:pPr>
            <a:r>
              <a:rPr lang="en-GB" sz="1600" dirty="0">
                <a:solidFill>
                  <a:schemeClr val="tx1"/>
                </a:solidFill>
                <a:latin typeface="Lucida Console" pitchFamily="49" charset="0"/>
              </a:rPr>
              <a:t>GET /folder/page.html HTTP/1.0</a:t>
            </a:r>
            <a:br>
              <a:rPr lang="en-GB" sz="1600" dirty="0">
                <a:solidFill>
                  <a:schemeClr val="tx1"/>
                </a:solidFill>
                <a:latin typeface="Lucida Console" pitchFamily="49" charset="0"/>
              </a:rPr>
            </a:br>
            <a:r>
              <a:rPr lang="en-GB" sz="1600" dirty="0">
                <a:solidFill>
                  <a:schemeClr val="tx1"/>
                </a:solidFill>
                <a:latin typeface="Lucida Console" pitchFamily="49" charset="0"/>
              </a:rPr>
              <a:t>User-agent: Mozilla/4.0</a:t>
            </a:r>
            <a:br>
              <a:rPr lang="en-GB" sz="1600" dirty="0">
                <a:solidFill>
                  <a:schemeClr val="tx1"/>
                </a:solidFill>
                <a:latin typeface="Lucida Console" pitchFamily="49" charset="0"/>
              </a:rPr>
            </a:br>
            <a:endParaRPr lang="en-GB" sz="1600" dirty="0">
              <a:solidFill>
                <a:schemeClr val="tx1"/>
              </a:solidFill>
            </a:endParaRPr>
          </a:p>
        </p:txBody>
      </p:sp>
      <p:sp>
        <p:nvSpPr>
          <p:cNvPr id="9223" name="Rectangle 41"/>
          <p:cNvSpPr>
            <a:spLocks noChangeArrowheads="1"/>
          </p:cNvSpPr>
          <p:nvPr/>
        </p:nvSpPr>
        <p:spPr bwMode="auto">
          <a:xfrm>
            <a:off x="4943476" y="4212226"/>
            <a:ext cx="2261838"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1" hangingPunct="1">
              <a:spcBef>
                <a:spcPct val="0"/>
              </a:spcBef>
            </a:pPr>
            <a:r>
              <a:rPr lang="en-US" sz="2000" dirty="0">
                <a:solidFill>
                  <a:srgbClr val="7E007C"/>
                </a:solidFill>
                <a:cs typeface="Arial" charset="0"/>
              </a:rPr>
              <a:t>HTTP Response </a:t>
            </a:r>
          </a:p>
        </p:txBody>
      </p:sp>
      <p:sp>
        <p:nvSpPr>
          <p:cNvPr id="408618" name="Text Box 42"/>
          <p:cNvSpPr txBox="1">
            <a:spLocks noChangeArrowheads="1"/>
          </p:cNvSpPr>
          <p:nvPr/>
        </p:nvSpPr>
        <p:spPr bwMode="auto">
          <a:xfrm>
            <a:off x="3500439" y="4603751"/>
            <a:ext cx="5208587" cy="1323439"/>
          </a:xfrm>
          <a:prstGeom prst="rect">
            <a:avLst/>
          </a:prstGeom>
          <a:solidFill>
            <a:schemeClr val="bg1"/>
          </a:solidFill>
          <a:ln w="25400">
            <a:solidFill>
              <a:schemeClr val="tx1"/>
            </a:solidFill>
            <a:headEnd type="none" w="sm" len="sm"/>
            <a:tailEnd type="none" w="sm" len="sm"/>
          </a:ln>
        </p:spPr>
        <p:style>
          <a:lnRef idx="1">
            <a:schemeClr val="accent2"/>
          </a:lnRef>
          <a:fillRef idx="2">
            <a:schemeClr val="accent2"/>
          </a:fillRef>
          <a:effectRef idx="1">
            <a:schemeClr val="accent2"/>
          </a:effectRef>
          <a:fontRef idx="minor">
            <a:schemeClr val="dk1"/>
          </a:fontRef>
        </p:style>
        <p:txBody>
          <a:bodyPr>
            <a:spAutoFit/>
          </a:bodyPr>
          <a:lstStyle/>
          <a:p>
            <a:pPr defTabSz="739775">
              <a:defRPr/>
            </a:pPr>
            <a:r>
              <a:rPr lang="en-GB" sz="1600" dirty="0">
                <a:solidFill>
                  <a:schemeClr val="tx1"/>
                </a:solidFill>
                <a:latin typeface="Lucida Console" pitchFamily="49" charset="0"/>
              </a:rPr>
              <a:t>HTTP/1.0 200 OK </a:t>
            </a:r>
            <a:br>
              <a:rPr lang="en-GB" sz="1600" dirty="0">
                <a:solidFill>
                  <a:schemeClr val="tx1"/>
                </a:solidFill>
                <a:latin typeface="Lucida Console" pitchFamily="49" charset="0"/>
              </a:rPr>
            </a:br>
            <a:r>
              <a:rPr lang="en-GB" sz="1600" dirty="0">
                <a:solidFill>
                  <a:schemeClr val="tx1"/>
                </a:solidFill>
                <a:latin typeface="Lucida Console" pitchFamily="49" charset="0"/>
              </a:rPr>
              <a:t>Server:  Microsoft-IIS/5.0</a:t>
            </a:r>
            <a:br>
              <a:rPr lang="en-GB" sz="1600" dirty="0">
                <a:solidFill>
                  <a:schemeClr val="tx1"/>
                </a:solidFill>
                <a:latin typeface="Lucida Console" pitchFamily="49" charset="0"/>
              </a:rPr>
            </a:br>
            <a:r>
              <a:rPr lang="en-GB" sz="1600" dirty="0">
                <a:solidFill>
                  <a:schemeClr val="tx1"/>
                </a:solidFill>
                <a:latin typeface="Lucida Console" pitchFamily="49" charset="0"/>
              </a:rPr>
              <a:t>Content-Length: 6821 </a:t>
            </a:r>
            <a:br>
              <a:rPr lang="en-GB" sz="1600" dirty="0">
                <a:solidFill>
                  <a:schemeClr val="tx1"/>
                </a:solidFill>
                <a:latin typeface="Lucida Console" pitchFamily="49" charset="0"/>
              </a:rPr>
            </a:br>
            <a:r>
              <a:rPr lang="en-GB" sz="1600" dirty="0">
                <a:solidFill>
                  <a:schemeClr val="tx1"/>
                </a:solidFill>
                <a:latin typeface="Lucida Console" pitchFamily="49" charset="0"/>
              </a:rPr>
              <a:t>Content-Type: text/html </a:t>
            </a:r>
          </a:p>
          <a:p>
            <a:pPr defTabSz="739775">
              <a:defRPr/>
            </a:pPr>
            <a:r>
              <a:rPr lang="en-GB" sz="1600" dirty="0">
                <a:solidFill>
                  <a:schemeClr val="tx1"/>
                </a:solidFill>
                <a:latin typeface="Lucida Console" pitchFamily="49" charset="0"/>
              </a:rPr>
              <a:t>data data data ... </a:t>
            </a:r>
            <a:endParaRPr lang="en-GB" sz="1600" b="1" dirty="0">
              <a:solidFill>
                <a:schemeClr val="tx1"/>
              </a:solidFill>
            </a:endParaRPr>
          </a:p>
        </p:txBody>
      </p:sp>
    </p:spTree>
    <p:extLst>
      <p:ext uri="{BB962C8B-B14F-4D97-AF65-F5344CB8AC3E}">
        <p14:creationId xmlns:p14="http://schemas.microsoft.com/office/powerpoint/2010/main" val="1804060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chor="t"/>
          <a:lstStyle/>
          <a:p>
            <a:pPr eaLnBrk="1" hangingPunct="1"/>
            <a:r>
              <a:rPr lang="en-US" dirty="0"/>
              <a:t>Client-side script</a:t>
            </a:r>
            <a:endParaRPr lang="en-GB" dirty="0"/>
          </a:p>
        </p:txBody>
      </p:sp>
      <p:sp>
        <p:nvSpPr>
          <p:cNvPr id="11267" name="Rectangle 3"/>
          <p:cNvSpPr>
            <a:spLocks noGrp="1" noChangeArrowheads="1"/>
          </p:cNvSpPr>
          <p:nvPr>
            <p:ph idx="1"/>
          </p:nvPr>
        </p:nvSpPr>
        <p:spPr>
          <a:xfrm>
            <a:off x="341272" y="1368255"/>
            <a:ext cx="11516239" cy="1238201"/>
          </a:xfrm>
        </p:spPr>
        <p:txBody>
          <a:bodyPr/>
          <a:lstStyle/>
          <a:p>
            <a:pPr marL="0" indent="0">
              <a:buNone/>
            </a:pPr>
            <a:r>
              <a:rPr lang="en-US" b="1" dirty="0"/>
              <a:t>You can add script to an HTML document</a:t>
            </a:r>
          </a:p>
          <a:p>
            <a:pPr marL="342000" indent="-342900">
              <a:buFont typeface="Arial" panose="020B0604020202020204" pitchFamily="34" charset="0"/>
              <a:buChar char="•"/>
            </a:pPr>
            <a:r>
              <a:rPr lang="en-US" dirty="0"/>
              <a:t>To validate data entered by the user, before submitting to server</a:t>
            </a:r>
          </a:p>
          <a:p>
            <a:pPr marL="342000" indent="-342900">
              <a:buFont typeface="Arial" panose="020B0604020202020204" pitchFamily="34" charset="0"/>
              <a:buChar char="•"/>
            </a:pPr>
            <a:r>
              <a:rPr lang="en-US" dirty="0"/>
              <a:t>To provide aesthetically-pleasing UI effects, such as rollovers</a:t>
            </a:r>
            <a:endParaRPr lang="en-GB" dirty="0"/>
          </a:p>
        </p:txBody>
      </p:sp>
      <p:sp>
        <p:nvSpPr>
          <p:cNvPr id="2" name="Rectangle 1"/>
          <p:cNvSpPr/>
          <p:nvPr/>
        </p:nvSpPr>
        <p:spPr>
          <a:xfrm>
            <a:off x="1750558" y="2606456"/>
            <a:ext cx="8533478" cy="4031873"/>
          </a:xfrm>
          <a:prstGeom prst="rect">
            <a:avLst/>
          </a:prstGeom>
          <a:ln w="25400"/>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FF"/>
                </a:solidFill>
                <a:highlight>
                  <a:srgbClr val="FFFFFF"/>
                </a:highlight>
                <a:latin typeface="Consolas" panose="020B0609020204030204" pitchFamily="49" charset="0"/>
              </a:rPr>
              <a:t>&lt;</a:t>
            </a:r>
            <a:r>
              <a:rPr lang="en-GB" sz="1600" dirty="0">
                <a:solidFill>
                  <a:srgbClr val="800000"/>
                </a:solidFill>
                <a:highlight>
                  <a:srgbClr val="FFFFFF"/>
                </a:highlight>
                <a:latin typeface="Consolas" panose="020B0609020204030204" pitchFamily="49" charset="0"/>
              </a:rPr>
              <a:t>html</a:t>
            </a:r>
            <a:r>
              <a:rPr lang="en-GB" sz="1600" dirty="0">
                <a:solidFill>
                  <a:srgbClr val="0000FF"/>
                </a:solidFill>
                <a:highlight>
                  <a:srgbClr val="FFFFFF"/>
                </a:highlight>
                <a:latin typeface="Consolas" panose="020B0609020204030204" pitchFamily="49" charset="0"/>
              </a:rPr>
              <a:t>&gt;</a:t>
            </a:r>
            <a:endParaRPr lang="en-GB" sz="1600" dirty="0">
              <a:solidFill>
                <a:srgbClr val="000000"/>
              </a:solidFill>
              <a:highlight>
                <a:srgbClr val="FFFFFF"/>
              </a:highlight>
              <a:latin typeface="Consolas" panose="020B0609020204030204" pitchFamily="49" charset="0"/>
            </a:endParaRPr>
          </a:p>
          <a:p>
            <a:r>
              <a:rPr lang="en-GB" sz="1600" dirty="0">
                <a:solidFill>
                  <a:srgbClr val="0000FF"/>
                </a:solidFill>
                <a:highlight>
                  <a:srgbClr val="FFFFFF"/>
                </a:highlight>
                <a:latin typeface="Consolas" panose="020B0609020204030204" pitchFamily="49" charset="0"/>
              </a:rPr>
              <a:t>&lt;</a:t>
            </a:r>
            <a:r>
              <a:rPr lang="en-GB" sz="1600" dirty="0">
                <a:solidFill>
                  <a:srgbClr val="800000"/>
                </a:solidFill>
                <a:highlight>
                  <a:srgbClr val="FFFFFF"/>
                </a:highlight>
                <a:latin typeface="Consolas" panose="020B0609020204030204" pitchFamily="49" charset="0"/>
              </a:rPr>
              <a:t>head</a:t>
            </a:r>
            <a:r>
              <a:rPr lang="en-GB" sz="1600" dirty="0">
                <a:solidFill>
                  <a:srgbClr val="0000FF"/>
                </a:solidFill>
                <a:highlight>
                  <a:srgbClr val="FFFFFF"/>
                </a:highlight>
                <a:latin typeface="Consolas" panose="020B0609020204030204" pitchFamily="49" charset="0"/>
              </a:rPr>
              <a:t>&gt;</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&lt;</a:t>
            </a:r>
            <a:r>
              <a:rPr lang="en-GB" sz="1600" dirty="0">
                <a:solidFill>
                  <a:srgbClr val="800000"/>
                </a:solidFill>
                <a:highlight>
                  <a:srgbClr val="FFFFFF"/>
                </a:highlight>
                <a:latin typeface="Consolas" panose="020B0609020204030204" pitchFamily="49" charset="0"/>
              </a:rPr>
              <a:t>script</a:t>
            </a:r>
            <a:r>
              <a:rPr lang="en-GB" sz="1600" dirty="0">
                <a:solidFill>
                  <a:srgbClr val="000000"/>
                </a:solidFill>
                <a:highlight>
                  <a:srgbClr val="FFFFFF"/>
                </a:highlight>
                <a:latin typeface="Consolas" panose="020B0609020204030204" pitchFamily="49" charset="0"/>
              </a:rPr>
              <a:t> </a:t>
            </a:r>
            <a:r>
              <a:rPr lang="en-GB" sz="1600" dirty="0">
                <a:solidFill>
                  <a:srgbClr val="FF0000"/>
                </a:solidFill>
                <a:highlight>
                  <a:srgbClr val="FFFFFF"/>
                </a:highlight>
                <a:latin typeface="Consolas" panose="020B0609020204030204" pitchFamily="49" charset="0"/>
              </a:rPr>
              <a:t>language</a:t>
            </a:r>
            <a:r>
              <a:rPr lang="en-GB" sz="1600" dirty="0">
                <a:solidFill>
                  <a:srgbClr val="0000FF"/>
                </a:solidFill>
                <a:highlight>
                  <a:srgbClr val="FFFFFF"/>
                </a:highlight>
                <a:latin typeface="Consolas" panose="020B0609020204030204" pitchFamily="49" charset="0"/>
              </a:rPr>
              <a:t>="</a:t>
            </a:r>
            <a:r>
              <a:rPr lang="en-GB" sz="1600" dirty="0" err="1">
                <a:solidFill>
                  <a:srgbClr val="0000FF"/>
                </a:solidFill>
                <a:highlight>
                  <a:srgbClr val="FFFFFF"/>
                </a:highlight>
                <a:latin typeface="Consolas" panose="020B0609020204030204" pitchFamily="49" charset="0"/>
              </a:rPr>
              <a:t>javascript</a:t>
            </a:r>
            <a:r>
              <a:rPr lang="en-GB" sz="1600" dirty="0">
                <a:solidFill>
                  <a:srgbClr val="0000FF"/>
                </a:solidFill>
                <a:highlight>
                  <a:srgbClr val="FFFFFF"/>
                </a:highlight>
                <a:latin typeface="Consolas" panose="020B0609020204030204" pitchFamily="49" charset="0"/>
              </a:rPr>
              <a:t>"&gt;</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function</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displayValue</a:t>
            </a:r>
            <a:r>
              <a:rPr lang="en-GB" sz="1600" dirty="0">
                <a:solidFill>
                  <a:srgbClr val="000000"/>
                </a:solidFill>
                <a:highlight>
                  <a:srgbClr val="FFFFFF"/>
                </a:highlight>
                <a:latin typeface="Consolas" panose="020B0609020204030204" pitchFamily="49" charset="0"/>
              </a:rPr>
              <a:t>()</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alert(</a:t>
            </a:r>
            <a:r>
              <a:rPr lang="en-GB" sz="1600" dirty="0">
                <a:solidFill>
                  <a:srgbClr val="A31515"/>
                </a:solidFill>
                <a:highlight>
                  <a:srgbClr val="FFFFFF"/>
                </a:highlight>
                <a:latin typeface="Consolas" panose="020B0609020204030204" pitchFamily="49" charset="0"/>
              </a:rPr>
              <a:t>"You entered: "</a:t>
            </a:r>
            <a:r>
              <a:rPr lang="en-GB" sz="1600" dirty="0">
                <a:solidFill>
                  <a:srgbClr val="000000"/>
                </a:solidFill>
                <a:highlight>
                  <a:srgbClr val="FFFFFF"/>
                </a:highlight>
                <a:latin typeface="Consolas" panose="020B0609020204030204" pitchFamily="49" charset="0"/>
              </a:rPr>
              <a:t> + document.form1.txtName.value);</a:t>
            </a: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&lt;/</a:t>
            </a:r>
            <a:r>
              <a:rPr lang="en-GB" sz="1600" dirty="0">
                <a:solidFill>
                  <a:srgbClr val="800000"/>
                </a:solidFill>
                <a:highlight>
                  <a:srgbClr val="FFFFFF"/>
                </a:highlight>
                <a:latin typeface="Consolas" panose="020B0609020204030204" pitchFamily="49" charset="0"/>
              </a:rPr>
              <a:t>script</a:t>
            </a:r>
            <a:r>
              <a:rPr lang="en-GB" sz="1600" dirty="0">
                <a:solidFill>
                  <a:srgbClr val="0000FF"/>
                </a:solidFill>
                <a:highlight>
                  <a:srgbClr val="FFFFFF"/>
                </a:highlight>
                <a:latin typeface="Consolas" panose="020B0609020204030204" pitchFamily="49" charset="0"/>
              </a:rPr>
              <a:t>&gt;</a:t>
            </a:r>
            <a:endParaRPr lang="en-GB" sz="1600" dirty="0">
              <a:solidFill>
                <a:srgbClr val="000000"/>
              </a:solidFill>
              <a:highlight>
                <a:srgbClr val="FFFFFF"/>
              </a:highlight>
              <a:latin typeface="Consolas" panose="020B0609020204030204" pitchFamily="49" charset="0"/>
            </a:endParaRPr>
          </a:p>
          <a:p>
            <a:r>
              <a:rPr lang="en-GB" sz="1600" dirty="0">
                <a:solidFill>
                  <a:srgbClr val="0000FF"/>
                </a:solidFill>
                <a:highlight>
                  <a:srgbClr val="FFFFFF"/>
                </a:highlight>
                <a:latin typeface="Consolas" panose="020B0609020204030204" pitchFamily="49" charset="0"/>
              </a:rPr>
              <a:t>&lt;/</a:t>
            </a:r>
            <a:r>
              <a:rPr lang="en-GB" sz="1600" dirty="0">
                <a:solidFill>
                  <a:srgbClr val="800000"/>
                </a:solidFill>
                <a:highlight>
                  <a:srgbClr val="FFFFFF"/>
                </a:highlight>
                <a:latin typeface="Consolas" panose="020B0609020204030204" pitchFamily="49" charset="0"/>
              </a:rPr>
              <a:t>head</a:t>
            </a:r>
            <a:r>
              <a:rPr lang="en-GB" sz="1600" dirty="0">
                <a:solidFill>
                  <a:srgbClr val="0000FF"/>
                </a:solidFill>
                <a:highlight>
                  <a:srgbClr val="FFFFFF"/>
                </a:highlight>
                <a:latin typeface="Consolas" panose="020B0609020204030204" pitchFamily="49" charset="0"/>
              </a:rPr>
              <a:t>&gt;</a:t>
            </a:r>
            <a:endParaRPr lang="en-GB" sz="1600" dirty="0">
              <a:solidFill>
                <a:srgbClr val="000000"/>
              </a:solidFill>
              <a:highlight>
                <a:srgbClr val="FFFFFF"/>
              </a:highlight>
              <a:latin typeface="Consolas" panose="020B0609020204030204" pitchFamily="49" charset="0"/>
            </a:endParaRPr>
          </a:p>
          <a:p>
            <a:r>
              <a:rPr lang="en-GB" sz="1600" dirty="0">
                <a:solidFill>
                  <a:srgbClr val="0000FF"/>
                </a:solidFill>
                <a:highlight>
                  <a:srgbClr val="FFFFFF"/>
                </a:highlight>
                <a:latin typeface="Consolas" panose="020B0609020204030204" pitchFamily="49" charset="0"/>
              </a:rPr>
              <a:t>&lt;</a:t>
            </a:r>
            <a:r>
              <a:rPr lang="en-GB" sz="1600" dirty="0">
                <a:solidFill>
                  <a:srgbClr val="800000"/>
                </a:solidFill>
                <a:highlight>
                  <a:srgbClr val="FFFFFF"/>
                </a:highlight>
                <a:latin typeface="Consolas" panose="020B0609020204030204" pitchFamily="49" charset="0"/>
              </a:rPr>
              <a:t>body</a:t>
            </a:r>
            <a:r>
              <a:rPr lang="en-GB" sz="1600" dirty="0">
                <a:solidFill>
                  <a:srgbClr val="0000FF"/>
                </a:solidFill>
                <a:highlight>
                  <a:srgbClr val="FFFFFF"/>
                </a:highlight>
                <a:latin typeface="Consolas" panose="020B0609020204030204" pitchFamily="49" charset="0"/>
              </a:rPr>
              <a:t>&gt;</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&lt;</a:t>
            </a:r>
            <a:r>
              <a:rPr lang="en-GB" sz="1600" dirty="0">
                <a:solidFill>
                  <a:srgbClr val="800000"/>
                </a:solidFill>
                <a:highlight>
                  <a:srgbClr val="FFFFFF"/>
                </a:highlight>
                <a:latin typeface="Consolas" panose="020B0609020204030204" pitchFamily="49" charset="0"/>
              </a:rPr>
              <a:t>form</a:t>
            </a:r>
            <a:r>
              <a:rPr lang="en-GB" sz="1600" dirty="0">
                <a:solidFill>
                  <a:srgbClr val="000000"/>
                </a:solidFill>
                <a:highlight>
                  <a:srgbClr val="FFFFFF"/>
                </a:highlight>
                <a:latin typeface="Consolas" panose="020B0609020204030204" pitchFamily="49" charset="0"/>
              </a:rPr>
              <a:t> </a:t>
            </a:r>
            <a:r>
              <a:rPr lang="en-GB" sz="1600" dirty="0">
                <a:solidFill>
                  <a:srgbClr val="FF0000"/>
                </a:solidFill>
                <a:highlight>
                  <a:srgbClr val="FFFFFF"/>
                </a:highlight>
                <a:latin typeface="Consolas" panose="020B0609020204030204" pitchFamily="49" charset="0"/>
              </a:rPr>
              <a:t>name</a:t>
            </a:r>
            <a:r>
              <a:rPr lang="en-GB" sz="1600" dirty="0">
                <a:solidFill>
                  <a:srgbClr val="0000FF"/>
                </a:solidFill>
                <a:highlight>
                  <a:srgbClr val="FFFFFF"/>
                </a:highlight>
                <a:latin typeface="Consolas" panose="020B0609020204030204" pitchFamily="49" charset="0"/>
              </a:rPr>
              <a:t>="form1"&gt;</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&lt;</a:t>
            </a:r>
            <a:r>
              <a:rPr lang="en-GB" sz="1600" dirty="0">
                <a:solidFill>
                  <a:srgbClr val="800000"/>
                </a:solidFill>
                <a:highlight>
                  <a:srgbClr val="FFFFFF"/>
                </a:highlight>
                <a:latin typeface="Consolas" panose="020B0609020204030204" pitchFamily="49" charset="0"/>
              </a:rPr>
              <a:t>input</a:t>
            </a:r>
            <a:r>
              <a:rPr lang="en-GB" sz="1600" dirty="0">
                <a:solidFill>
                  <a:srgbClr val="000000"/>
                </a:solidFill>
                <a:highlight>
                  <a:srgbClr val="FFFFFF"/>
                </a:highlight>
                <a:latin typeface="Consolas" panose="020B0609020204030204" pitchFamily="49" charset="0"/>
              </a:rPr>
              <a:t> </a:t>
            </a:r>
            <a:r>
              <a:rPr lang="en-GB" sz="1600" dirty="0">
                <a:solidFill>
                  <a:srgbClr val="FF0000"/>
                </a:solidFill>
                <a:highlight>
                  <a:srgbClr val="FFFFFF"/>
                </a:highlight>
                <a:latin typeface="Consolas" panose="020B0609020204030204" pitchFamily="49" charset="0"/>
              </a:rPr>
              <a:t>type</a:t>
            </a:r>
            <a:r>
              <a:rPr lang="en-GB" sz="1600" dirty="0">
                <a:solidFill>
                  <a:srgbClr val="0000FF"/>
                </a:solidFill>
                <a:highlight>
                  <a:srgbClr val="FFFFFF"/>
                </a:highlight>
                <a:latin typeface="Consolas" panose="020B0609020204030204" pitchFamily="49" charset="0"/>
              </a:rPr>
              <a:t>="text"</a:t>
            </a:r>
            <a:r>
              <a:rPr lang="en-GB" sz="1600" dirty="0">
                <a:solidFill>
                  <a:srgbClr val="000000"/>
                </a:solidFill>
                <a:highlight>
                  <a:srgbClr val="FFFFFF"/>
                </a:highlight>
                <a:latin typeface="Consolas" panose="020B0609020204030204" pitchFamily="49" charset="0"/>
              </a:rPr>
              <a:t> </a:t>
            </a:r>
            <a:r>
              <a:rPr lang="en-GB" sz="1600" dirty="0">
                <a:solidFill>
                  <a:srgbClr val="FF0000"/>
                </a:solidFill>
                <a:highlight>
                  <a:srgbClr val="FFFFFF"/>
                </a:highlight>
                <a:latin typeface="Consolas" panose="020B0609020204030204" pitchFamily="49" charset="0"/>
              </a:rPr>
              <a:t>size</a:t>
            </a:r>
            <a:r>
              <a:rPr lang="en-GB" sz="1600" dirty="0">
                <a:solidFill>
                  <a:srgbClr val="0000FF"/>
                </a:solidFill>
                <a:highlight>
                  <a:srgbClr val="FFFFFF"/>
                </a:highlight>
                <a:latin typeface="Consolas" panose="020B0609020204030204" pitchFamily="49" charset="0"/>
              </a:rPr>
              <a:t>="10"</a:t>
            </a:r>
            <a:r>
              <a:rPr lang="en-GB" sz="1600" dirty="0">
                <a:solidFill>
                  <a:srgbClr val="000000"/>
                </a:solidFill>
                <a:highlight>
                  <a:srgbClr val="FFFFFF"/>
                </a:highlight>
                <a:latin typeface="Consolas" panose="020B0609020204030204" pitchFamily="49" charset="0"/>
              </a:rPr>
              <a:t> </a:t>
            </a:r>
            <a:r>
              <a:rPr lang="en-GB" sz="1600" dirty="0">
                <a:solidFill>
                  <a:srgbClr val="FF0000"/>
                </a:solidFill>
                <a:highlight>
                  <a:srgbClr val="FFFFFF"/>
                </a:highlight>
                <a:latin typeface="Consolas" panose="020B0609020204030204" pitchFamily="49" charset="0"/>
              </a:rPr>
              <a:t>name</a:t>
            </a:r>
            <a:r>
              <a:rPr lang="en-GB" sz="1600" dirty="0">
                <a:solidFill>
                  <a:srgbClr val="0000FF"/>
                </a:solidFill>
                <a:highlight>
                  <a:srgbClr val="FFFFFF"/>
                </a:highlight>
                <a:latin typeface="Consolas" panose="020B0609020204030204" pitchFamily="49" charset="0"/>
              </a:rPr>
              <a:t>="</a:t>
            </a:r>
            <a:r>
              <a:rPr lang="en-GB" sz="1600" dirty="0" err="1">
                <a:solidFill>
                  <a:srgbClr val="0000FF"/>
                </a:solidFill>
                <a:highlight>
                  <a:srgbClr val="FFFFFF"/>
                </a:highlight>
                <a:latin typeface="Consolas" panose="020B0609020204030204" pitchFamily="49" charset="0"/>
              </a:rPr>
              <a:t>txtName</a:t>
            </a:r>
            <a:r>
              <a:rPr lang="en-GB" sz="1600" dirty="0">
                <a:solidFill>
                  <a:srgbClr val="0000FF"/>
                </a:solidFill>
                <a:highlight>
                  <a:srgbClr val="FFFFFF"/>
                </a:highlight>
                <a:latin typeface="Consolas" panose="020B0609020204030204" pitchFamily="49" charset="0"/>
              </a:rPr>
              <a:t>"</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/&gt;</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&lt;</a:t>
            </a:r>
            <a:r>
              <a:rPr lang="en-GB" sz="1600" dirty="0">
                <a:solidFill>
                  <a:srgbClr val="800000"/>
                </a:solidFill>
                <a:highlight>
                  <a:srgbClr val="FFFFFF"/>
                </a:highlight>
                <a:latin typeface="Consolas" panose="020B0609020204030204" pitchFamily="49" charset="0"/>
              </a:rPr>
              <a:t>input</a:t>
            </a:r>
            <a:r>
              <a:rPr lang="en-GB" sz="1600" dirty="0">
                <a:solidFill>
                  <a:srgbClr val="000000"/>
                </a:solidFill>
                <a:highlight>
                  <a:srgbClr val="FFFFFF"/>
                </a:highlight>
                <a:latin typeface="Consolas" panose="020B0609020204030204" pitchFamily="49" charset="0"/>
              </a:rPr>
              <a:t> </a:t>
            </a:r>
            <a:r>
              <a:rPr lang="en-GB" sz="1600" dirty="0">
                <a:solidFill>
                  <a:srgbClr val="FF0000"/>
                </a:solidFill>
                <a:highlight>
                  <a:srgbClr val="FFFFFF"/>
                </a:highlight>
                <a:latin typeface="Consolas" panose="020B0609020204030204" pitchFamily="49" charset="0"/>
              </a:rPr>
              <a:t>type</a:t>
            </a:r>
            <a:r>
              <a:rPr lang="en-GB" sz="1600" dirty="0">
                <a:solidFill>
                  <a:srgbClr val="0000FF"/>
                </a:solidFill>
                <a:highlight>
                  <a:srgbClr val="FFFFFF"/>
                </a:highlight>
                <a:latin typeface="Consolas" panose="020B0609020204030204" pitchFamily="49" charset="0"/>
              </a:rPr>
              <a:t>="button"</a:t>
            </a:r>
            <a:r>
              <a:rPr lang="en-GB" sz="1600" dirty="0">
                <a:solidFill>
                  <a:srgbClr val="000000"/>
                </a:solidFill>
                <a:highlight>
                  <a:srgbClr val="FFFFFF"/>
                </a:highlight>
                <a:latin typeface="Consolas" panose="020B0609020204030204" pitchFamily="49" charset="0"/>
              </a:rPr>
              <a:t> </a:t>
            </a:r>
            <a:r>
              <a:rPr lang="en-GB" sz="1600" dirty="0">
                <a:solidFill>
                  <a:srgbClr val="FF0000"/>
                </a:solidFill>
                <a:highlight>
                  <a:srgbClr val="FFFFFF"/>
                </a:highlight>
                <a:latin typeface="Consolas" panose="020B0609020204030204" pitchFamily="49" charset="0"/>
              </a:rPr>
              <a:t>value</a:t>
            </a:r>
            <a:r>
              <a:rPr lang="en-GB" sz="1600" dirty="0">
                <a:solidFill>
                  <a:srgbClr val="0000FF"/>
                </a:solidFill>
                <a:highlight>
                  <a:srgbClr val="FFFFFF"/>
                </a:highlight>
                <a:latin typeface="Consolas" panose="020B0609020204030204" pitchFamily="49" charset="0"/>
              </a:rPr>
              <a:t>="Click Me!"</a:t>
            </a:r>
            <a:r>
              <a:rPr lang="en-GB" sz="1600" dirty="0">
                <a:solidFill>
                  <a:srgbClr val="000000"/>
                </a:solidFill>
                <a:highlight>
                  <a:srgbClr val="FFFFFF"/>
                </a:highlight>
                <a:latin typeface="Consolas" panose="020B0609020204030204" pitchFamily="49" charset="0"/>
              </a:rPr>
              <a:t> </a:t>
            </a:r>
            <a:r>
              <a:rPr lang="en-GB" sz="1600" dirty="0" err="1">
                <a:solidFill>
                  <a:srgbClr val="FF0000"/>
                </a:solidFill>
                <a:highlight>
                  <a:srgbClr val="FFFFFF"/>
                </a:highlight>
                <a:latin typeface="Consolas" panose="020B0609020204030204" pitchFamily="49" charset="0"/>
              </a:rPr>
              <a:t>onclick</a:t>
            </a:r>
            <a:r>
              <a:rPr lang="en-GB" sz="1600" dirty="0">
                <a:solidFill>
                  <a:srgbClr val="0000FF"/>
                </a:solidFill>
                <a:highlight>
                  <a:srgbClr val="FFFFFF"/>
                </a:highlight>
                <a:latin typeface="Consolas" panose="020B0609020204030204" pitchFamily="49" charset="0"/>
              </a:rPr>
              <a:t>="</a:t>
            </a:r>
            <a:r>
              <a:rPr lang="en-GB" sz="1600" dirty="0" err="1">
                <a:solidFill>
                  <a:srgbClr val="0000FF"/>
                </a:solidFill>
                <a:highlight>
                  <a:srgbClr val="FFFFFF"/>
                </a:highlight>
                <a:latin typeface="Consolas" panose="020B0609020204030204" pitchFamily="49" charset="0"/>
              </a:rPr>
              <a:t>displayValue</a:t>
            </a:r>
            <a:r>
              <a:rPr lang="en-GB" sz="1600" dirty="0">
                <a:solidFill>
                  <a:srgbClr val="0000FF"/>
                </a:solidFill>
                <a:highlight>
                  <a:srgbClr val="FFFFFF"/>
                </a:highlight>
                <a:latin typeface="Consolas" panose="020B0609020204030204" pitchFamily="49" charset="0"/>
              </a:rPr>
              <a:t>();"</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/&gt;</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&lt;/</a:t>
            </a:r>
            <a:r>
              <a:rPr lang="en-GB" sz="1600" dirty="0">
                <a:solidFill>
                  <a:srgbClr val="800000"/>
                </a:solidFill>
                <a:highlight>
                  <a:srgbClr val="FFFFFF"/>
                </a:highlight>
                <a:latin typeface="Consolas" panose="020B0609020204030204" pitchFamily="49" charset="0"/>
              </a:rPr>
              <a:t>form</a:t>
            </a:r>
            <a:r>
              <a:rPr lang="en-GB" sz="1600" dirty="0">
                <a:solidFill>
                  <a:srgbClr val="0000FF"/>
                </a:solidFill>
                <a:highlight>
                  <a:srgbClr val="FFFFFF"/>
                </a:highlight>
                <a:latin typeface="Consolas" panose="020B0609020204030204" pitchFamily="49" charset="0"/>
              </a:rPr>
              <a:t>&gt;</a:t>
            </a:r>
            <a:endParaRPr lang="en-GB" sz="1600" dirty="0">
              <a:solidFill>
                <a:srgbClr val="000000"/>
              </a:solidFill>
              <a:highlight>
                <a:srgbClr val="FFFFFF"/>
              </a:highlight>
              <a:latin typeface="Consolas" panose="020B0609020204030204" pitchFamily="49" charset="0"/>
            </a:endParaRPr>
          </a:p>
          <a:p>
            <a:r>
              <a:rPr lang="en-GB" sz="1600" dirty="0">
                <a:solidFill>
                  <a:srgbClr val="0000FF"/>
                </a:solidFill>
                <a:highlight>
                  <a:srgbClr val="FFFFFF"/>
                </a:highlight>
                <a:latin typeface="Consolas" panose="020B0609020204030204" pitchFamily="49" charset="0"/>
              </a:rPr>
              <a:t>&lt;/</a:t>
            </a:r>
            <a:r>
              <a:rPr lang="en-GB" sz="1600" dirty="0">
                <a:solidFill>
                  <a:srgbClr val="800000"/>
                </a:solidFill>
                <a:highlight>
                  <a:srgbClr val="FFFFFF"/>
                </a:highlight>
                <a:latin typeface="Consolas" panose="020B0609020204030204" pitchFamily="49" charset="0"/>
              </a:rPr>
              <a:t>body</a:t>
            </a:r>
            <a:r>
              <a:rPr lang="en-GB" sz="1600" dirty="0">
                <a:solidFill>
                  <a:srgbClr val="0000FF"/>
                </a:solidFill>
                <a:highlight>
                  <a:srgbClr val="FFFFFF"/>
                </a:highlight>
                <a:latin typeface="Consolas" panose="020B0609020204030204" pitchFamily="49" charset="0"/>
              </a:rPr>
              <a:t>&gt;</a:t>
            </a:r>
            <a:endParaRPr lang="en-GB" sz="1600" dirty="0">
              <a:solidFill>
                <a:srgbClr val="000000"/>
              </a:solidFill>
              <a:highlight>
                <a:srgbClr val="FFFFFF"/>
              </a:highlight>
              <a:latin typeface="Consolas" panose="020B0609020204030204" pitchFamily="49" charset="0"/>
            </a:endParaRPr>
          </a:p>
          <a:p>
            <a:r>
              <a:rPr lang="en-GB" sz="1600" dirty="0">
                <a:solidFill>
                  <a:srgbClr val="0000FF"/>
                </a:solidFill>
                <a:highlight>
                  <a:srgbClr val="FFFFFF"/>
                </a:highlight>
                <a:latin typeface="Consolas" panose="020B0609020204030204" pitchFamily="49" charset="0"/>
              </a:rPr>
              <a:t>&lt;/</a:t>
            </a:r>
            <a:r>
              <a:rPr lang="en-GB" sz="1600" dirty="0">
                <a:solidFill>
                  <a:srgbClr val="800000"/>
                </a:solidFill>
                <a:highlight>
                  <a:srgbClr val="FFFFFF"/>
                </a:highlight>
                <a:latin typeface="Consolas" panose="020B0609020204030204" pitchFamily="49" charset="0"/>
              </a:rPr>
              <a:t>html</a:t>
            </a:r>
            <a:r>
              <a:rPr lang="en-GB" sz="1600" dirty="0">
                <a:solidFill>
                  <a:srgbClr val="0000FF"/>
                </a:solidFill>
                <a:highlight>
                  <a:srgbClr val="FFFFFF"/>
                </a:highlight>
                <a:latin typeface="Consolas" panose="020B0609020204030204" pitchFamily="49" charset="0"/>
              </a:rPr>
              <a:t>&gt;</a:t>
            </a:r>
            <a:endParaRPr lang="en-GB" sz="1600" dirty="0"/>
          </a:p>
        </p:txBody>
      </p:sp>
    </p:spTree>
    <p:extLst>
      <p:ext uri="{BB962C8B-B14F-4D97-AF65-F5344CB8AC3E}">
        <p14:creationId xmlns:p14="http://schemas.microsoft.com/office/powerpoint/2010/main" val="3836714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p:cNvSpPr>
            <a:spLocks noGrp="1"/>
          </p:cNvSpPr>
          <p:nvPr/>
        </p:nvSpPr>
        <p:spPr>
          <a:xfrm>
            <a:off x="43249" y="1418246"/>
            <a:ext cx="3742019" cy="2751998"/>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ts val="0"/>
              </a:spcBef>
              <a:spcAft>
                <a:spcPts val="0"/>
              </a:spcAft>
              <a:buSzPct val="115000"/>
              <a:buFont typeface="Arial" panose="020B0604020202020204" pitchFamily="34" charset="0"/>
              <a:buNone/>
              <a:defRPr sz="4800" b="1" i="0" kern="1200" cap="all" baseline="0">
                <a:solidFill>
                  <a:schemeClr val="bg1"/>
                </a:solidFill>
                <a:latin typeface="Krana Fat B" panose="00000B00000000000000" pitchFamily="50" charset="0"/>
                <a:ea typeface="+mn-ea"/>
                <a:cs typeface="+mn-cs"/>
              </a:defRPr>
            </a:lvl1pPr>
            <a:lvl2pPr marL="0" indent="0" algn="l" defTabSz="914400" rtl="0" eaLnBrk="1" latinLnBrk="0" hangingPunct="1">
              <a:lnSpc>
                <a:spcPts val="1400"/>
              </a:lnSpc>
              <a:spcBef>
                <a:spcPts val="0"/>
              </a:spcBef>
              <a:spcAft>
                <a:spcPts val="650"/>
              </a:spcAft>
              <a:buSzPct val="125000"/>
              <a:buFont typeface="Arial" panose="020B0604020202020204" pitchFamily="34" charset="0"/>
              <a:buNone/>
              <a:tabLst/>
              <a:defRPr sz="1200" kern="1200">
                <a:solidFill>
                  <a:schemeClr val="tx1"/>
                </a:solidFill>
                <a:latin typeface="Montserrat" pitchFamily="2" charset="77"/>
                <a:ea typeface="+mn-ea"/>
                <a:cs typeface="+mn-cs"/>
              </a:defRPr>
            </a:lvl2pPr>
            <a:lvl3pPr marL="0" indent="0" algn="l" defTabSz="914400" rtl="0" eaLnBrk="1" latinLnBrk="0" hangingPunct="1">
              <a:lnSpc>
                <a:spcPts val="1400"/>
              </a:lnSpc>
              <a:spcBef>
                <a:spcPts val="0"/>
              </a:spcBef>
              <a:spcAft>
                <a:spcPts val="650"/>
              </a:spcAft>
              <a:buSzPct val="120000"/>
              <a:buFont typeface="Arial" panose="020B0604020202020204" pitchFamily="34" charset="0"/>
              <a:buNone/>
              <a:tabLst/>
              <a:defRPr sz="1000" b="1" i="0" kern="1200">
                <a:solidFill>
                  <a:schemeClr val="tx1"/>
                </a:solidFill>
                <a:latin typeface="Montserrat" pitchFamily="2" charset="77"/>
                <a:ea typeface="+mn-ea"/>
                <a:cs typeface="+mn-cs"/>
              </a:defRPr>
            </a:lvl3pPr>
            <a:lvl4pPr marL="0" indent="0" algn="l" defTabSz="914400" rtl="0" eaLnBrk="1" latinLnBrk="0" hangingPunct="1">
              <a:lnSpc>
                <a:spcPts val="1200"/>
              </a:lnSpc>
              <a:spcBef>
                <a:spcPts val="0"/>
              </a:spcBef>
              <a:spcAft>
                <a:spcPts val="650"/>
              </a:spcAft>
              <a:buSzPct val="120000"/>
              <a:buFont typeface="Arial" panose="020B0604020202020204" pitchFamily="34" charset="0"/>
              <a:buNone/>
              <a:tabLst/>
              <a:defRPr sz="1000" kern="1200">
                <a:solidFill>
                  <a:schemeClr val="tx1"/>
                </a:solidFill>
                <a:latin typeface="Montserrat" pitchFamily="2" charset="77"/>
                <a:ea typeface="+mn-ea"/>
                <a:cs typeface="+mn-cs"/>
              </a:defRPr>
            </a:lvl4pPr>
            <a:lvl5pPr marL="0" indent="0" algn="l" defTabSz="914400" rtl="0" eaLnBrk="1" latinLnBrk="0" hangingPunct="1">
              <a:lnSpc>
                <a:spcPts val="1000"/>
              </a:lnSpc>
              <a:spcBef>
                <a:spcPts val="0"/>
              </a:spcBef>
              <a:spcAft>
                <a:spcPts val="650"/>
              </a:spcAft>
              <a:buSzPct val="125000"/>
              <a:buFont typeface="Arial" panose="020B0604020202020204" pitchFamily="34" charset="0"/>
              <a:buNone/>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Server-side processing</a:t>
            </a:r>
          </a:p>
        </p:txBody>
      </p:sp>
      <p:sp>
        <p:nvSpPr>
          <p:cNvPr id="6" name="Text Placeholder 2"/>
          <p:cNvSpPr>
            <a:spLocks noGrp="1"/>
          </p:cNvSpPr>
          <p:nvPr/>
        </p:nvSpPr>
        <p:spPr>
          <a:xfrm>
            <a:off x="4993889" y="3216097"/>
            <a:ext cx="6504073" cy="2886298"/>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 typeface="Arial" panose="020B0604020202020204" pitchFamily="34" charset="0"/>
              <a:buNone/>
              <a:defRPr sz="1600" b="0"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 typeface="Arial" panose="020B0604020202020204" pitchFamily="34" charset="0"/>
              <a:buChar char="•"/>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 typeface="Arial" panose="020B0604020202020204" pitchFamily="34" charset="0"/>
              <a:buChar char="•"/>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 typeface="Arial" panose="020B0604020202020204" pitchFamily="34" charset="0"/>
              <a:buChar char="•"/>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 typeface="Arial" panose="020B0604020202020204" pitchFamily="34" charset="0"/>
              <a:buChar char="•"/>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b="1" dirty="0"/>
          </a:p>
          <a:p>
            <a:r>
              <a:rPr lang="en-GB" sz="3200" b="1" dirty="0"/>
              <a:t>Server-side processing allows dynamic page creation </a:t>
            </a:r>
          </a:p>
          <a:p>
            <a:endParaRPr lang="en-GB" b="1" dirty="0"/>
          </a:p>
          <a:p>
            <a:r>
              <a:rPr lang="en-GB" dirty="0"/>
              <a:t>We have a disconnected, document rendering model</a:t>
            </a:r>
          </a:p>
          <a:p>
            <a:pPr marL="465750" lvl="1" indent="-285750"/>
            <a:r>
              <a:rPr lang="en-GB" sz="1600" dirty="0"/>
              <a:t>That has become a distributed application development model</a:t>
            </a:r>
          </a:p>
          <a:p>
            <a:pPr marL="465750" lvl="1" indent="-285750"/>
            <a:r>
              <a:rPr lang="en-GB" sz="1600" dirty="0"/>
              <a:t>This has gone way beyond the original vision for the Web</a:t>
            </a:r>
          </a:p>
          <a:p>
            <a:endParaRPr lang="en-GB" dirty="0"/>
          </a:p>
          <a:p>
            <a:endParaRPr lang="en-GB" dirty="0"/>
          </a:p>
        </p:txBody>
      </p:sp>
      <p:sp>
        <p:nvSpPr>
          <p:cNvPr id="7" name="Slide Number Placeholder 3"/>
          <p:cNvSpPr>
            <a:spLocks noGrp="1"/>
          </p:cNvSpPr>
          <p:nvPr/>
        </p:nvSpPr>
        <p:spPr>
          <a:xfrm>
            <a:off x="9186189" y="6424612"/>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9A9DB25-FDD1-47D4-AFDB-AF6782549F92}" type="slidenum">
              <a:rPr lang="en-GB" smtClean="0"/>
              <a:pPr/>
              <a:t>16</a:t>
            </a:fld>
            <a:endParaRPr lang="en-GB" dirty="0"/>
          </a:p>
        </p:txBody>
      </p:sp>
      <p:pic>
        <p:nvPicPr>
          <p:cNvPr id="8" name="Picture 7"/>
          <p:cNvPicPr>
            <a:picLocks noChangeAspect="1"/>
          </p:cNvPicPr>
          <p:nvPr/>
        </p:nvPicPr>
        <p:blipFill>
          <a:blip r:embed="rId3"/>
          <a:stretch>
            <a:fillRect/>
          </a:stretch>
        </p:blipFill>
        <p:spPr>
          <a:xfrm>
            <a:off x="4015946" y="-12102"/>
            <a:ext cx="8176054" cy="2860696"/>
          </a:xfrm>
          <a:prstGeom prst="rect">
            <a:avLst/>
          </a:prstGeom>
        </p:spPr>
      </p:pic>
    </p:spTree>
    <p:extLst>
      <p:ext uri="{BB962C8B-B14F-4D97-AF65-F5344CB8AC3E}">
        <p14:creationId xmlns:p14="http://schemas.microsoft.com/office/powerpoint/2010/main" val="6015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p:cNvSpPr>
            <a:spLocks noGrp="1"/>
          </p:cNvSpPr>
          <p:nvPr/>
        </p:nvSpPr>
        <p:spPr>
          <a:xfrm>
            <a:off x="86497" y="1349984"/>
            <a:ext cx="3742019" cy="2751998"/>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ts val="0"/>
              </a:spcBef>
              <a:spcAft>
                <a:spcPts val="0"/>
              </a:spcAft>
              <a:buSzPct val="115000"/>
              <a:buFont typeface="Arial" panose="020B0604020202020204" pitchFamily="34" charset="0"/>
              <a:buNone/>
              <a:defRPr sz="4800" b="1" i="0" kern="1200" cap="all" baseline="0">
                <a:solidFill>
                  <a:schemeClr val="bg1"/>
                </a:solidFill>
                <a:latin typeface="Krana Fat B" panose="00000B00000000000000" pitchFamily="50" charset="0"/>
                <a:ea typeface="+mn-ea"/>
                <a:cs typeface="+mn-cs"/>
              </a:defRPr>
            </a:lvl1pPr>
            <a:lvl2pPr marL="0" indent="0" algn="l" defTabSz="914400" rtl="0" eaLnBrk="1" latinLnBrk="0" hangingPunct="1">
              <a:lnSpc>
                <a:spcPts val="1400"/>
              </a:lnSpc>
              <a:spcBef>
                <a:spcPts val="0"/>
              </a:spcBef>
              <a:spcAft>
                <a:spcPts val="650"/>
              </a:spcAft>
              <a:buSzPct val="125000"/>
              <a:buFont typeface="Arial" panose="020B0604020202020204" pitchFamily="34" charset="0"/>
              <a:buNone/>
              <a:tabLst/>
              <a:defRPr sz="1200" kern="1200">
                <a:solidFill>
                  <a:schemeClr val="tx1"/>
                </a:solidFill>
                <a:latin typeface="Montserrat" pitchFamily="2" charset="77"/>
                <a:ea typeface="+mn-ea"/>
                <a:cs typeface="+mn-cs"/>
              </a:defRPr>
            </a:lvl2pPr>
            <a:lvl3pPr marL="0" indent="0" algn="l" defTabSz="914400" rtl="0" eaLnBrk="1" latinLnBrk="0" hangingPunct="1">
              <a:lnSpc>
                <a:spcPts val="1400"/>
              </a:lnSpc>
              <a:spcBef>
                <a:spcPts val="0"/>
              </a:spcBef>
              <a:spcAft>
                <a:spcPts val="650"/>
              </a:spcAft>
              <a:buSzPct val="120000"/>
              <a:buFont typeface="Arial" panose="020B0604020202020204" pitchFamily="34" charset="0"/>
              <a:buNone/>
              <a:tabLst/>
              <a:defRPr sz="1000" b="1" i="0" kern="1200">
                <a:solidFill>
                  <a:schemeClr val="tx1"/>
                </a:solidFill>
                <a:latin typeface="Montserrat" pitchFamily="2" charset="77"/>
                <a:ea typeface="+mn-ea"/>
                <a:cs typeface="+mn-cs"/>
              </a:defRPr>
            </a:lvl3pPr>
            <a:lvl4pPr marL="0" indent="0" algn="l" defTabSz="914400" rtl="0" eaLnBrk="1" latinLnBrk="0" hangingPunct="1">
              <a:lnSpc>
                <a:spcPts val="1200"/>
              </a:lnSpc>
              <a:spcBef>
                <a:spcPts val="0"/>
              </a:spcBef>
              <a:spcAft>
                <a:spcPts val="650"/>
              </a:spcAft>
              <a:buSzPct val="120000"/>
              <a:buFont typeface="Arial" panose="020B0604020202020204" pitchFamily="34" charset="0"/>
              <a:buNone/>
              <a:tabLst/>
              <a:defRPr sz="1000" kern="1200">
                <a:solidFill>
                  <a:schemeClr val="tx1"/>
                </a:solidFill>
                <a:latin typeface="Montserrat" pitchFamily="2" charset="77"/>
                <a:ea typeface="+mn-ea"/>
                <a:cs typeface="+mn-cs"/>
              </a:defRPr>
            </a:lvl4pPr>
            <a:lvl5pPr marL="0" indent="0" algn="l" defTabSz="914400" rtl="0" eaLnBrk="1" latinLnBrk="0" hangingPunct="1">
              <a:lnSpc>
                <a:spcPts val="1000"/>
              </a:lnSpc>
              <a:spcBef>
                <a:spcPts val="0"/>
              </a:spcBef>
              <a:spcAft>
                <a:spcPts val="650"/>
              </a:spcAft>
              <a:buSzPct val="125000"/>
              <a:buFont typeface="Arial" panose="020B0604020202020204" pitchFamily="34" charset="0"/>
              <a:buNone/>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Forms and Server-side processing</a:t>
            </a:r>
          </a:p>
        </p:txBody>
      </p:sp>
      <p:sp>
        <p:nvSpPr>
          <p:cNvPr id="6" name="Text Placeholder 2"/>
          <p:cNvSpPr>
            <a:spLocks noGrp="1"/>
          </p:cNvSpPr>
          <p:nvPr/>
        </p:nvSpPr>
        <p:spPr>
          <a:xfrm>
            <a:off x="5037137" y="2916194"/>
            <a:ext cx="6504073" cy="3608173"/>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 typeface="Arial" panose="020B0604020202020204" pitchFamily="34" charset="0"/>
              <a:buNone/>
              <a:defRPr sz="1600" b="0"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 typeface="Arial" panose="020B0604020202020204" pitchFamily="34" charset="0"/>
              <a:buChar char="•"/>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 typeface="Arial" panose="020B0604020202020204" pitchFamily="34" charset="0"/>
              <a:buChar char="•"/>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 typeface="Arial" panose="020B0604020202020204" pitchFamily="34" charset="0"/>
              <a:buChar char="•"/>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 typeface="Arial" panose="020B0604020202020204" pitchFamily="34" charset="0"/>
              <a:buChar char="•"/>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b="1" dirty="0"/>
          </a:p>
          <a:p>
            <a:r>
              <a:rPr lang="en-GB" sz="3200" b="1" dirty="0"/>
              <a:t>Forms allow us to send data to the server for processing</a:t>
            </a:r>
          </a:p>
          <a:p>
            <a:endParaRPr lang="en-GB" b="1" dirty="0"/>
          </a:p>
          <a:p>
            <a:r>
              <a:rPr lang="en-GB" b="1" dirty="0"/>
              <a:t>Define:</a:t>
            </a:r>
          </a:p>
          <a:p>
            <a:pPr marL="285750" indent="-285750">
              <a:buFont typeface="Arial" panose="020B0604020202020204" pitchFamily="34" charset="0"/>
              <a:buChar char="•"/>
            </a:pPr>
            <a:r>
              <a:rPr lang="en-GB" dirty="0"/>
              <a:t>Form		– action &amp; method</a:t>
            </a:r>
          </a:p>
          <a:p>
            <a:pPr marL="285750" indent="-285750">
              <a:buFont typeface="Arial" panose="020B0604020202020204" pitchFamily="34" charset="0"/>
              <a:buChar char="•"/>
            </a:pPr>
            <a:r>
              <a:rPr lang="en-GB" dirty="0"/>
              <a:t>Inputs	– name, type &amp; value</a:t>
            </a:r>
          </a:p>
          <a:p>
            <a:endParaRPr lang="en-GB" dirty="0"/>
          </a:p>
          <a:p>
            <a:r>
              <a:rPr lang="en-GB" dirty="0"/>
              <a:t>We will investigate how exactly Forms work later on.</a:t>
            </a:r>
          </a:p>
          <a:p>
            <a:endParaRPr lang="en-GB" dirty="0"/>
          </a:p>
          <a:p>
            <a:endParaRPr lang="en-GB" dirty="0"/>
          </a:p>
        </p:txBody>
      </p:sp>
      <p:sp>
        <p:nvSpPr>
          <p:cNvPr id="7" name="Slide Number Placeholder 3"/>
          <p:cNvSpPr>
            <a:spLocks noGrp="1"/>
          </p:cNvSpPr>
          <p:nvPr/>
        </p:nvSpPr>
        <p:spPr>
          <a:xfrm>
            <a:off x="9229437"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9A9DB25-FDD1-47D4-AFDB-AF6782549F92}" type="slidenum">
              <a:rPr lang="en-GB" smtClean="0"/>
              <a:pPr/>
              <a:t>17</a:t>
            </a:fld>
            <a:endParaRPr lang="en-GB" dirty="0"/>
          </a:p>
        </p:txBody>
      </p:sp>
      <p:pic>
        <p:nvPicPr>
          <p:cNvPr id="8" name="Picture 7"/>
          <p:cNvPicPr>
            <a:picLocks noChangeAspect="1"/>
          </p:cNvPicPr>
          <p:nvPr/>
        </p:nvPicPr>
        <p:blipFill>
          <a:blip r:embed="rId3"/>
          <a:stretch>
            <a:fillRect/>
          </a:stretch>
        </p:blipFill>
        <p:spPr>
          <a:xfrm>
            <a:off x="4040659" y="0"/>
            <a:ext cx="8151341" cy="2737255"/>
          </a:xfrm>
          <a:prstGeom prst="rect">
            <a:avLst/>
          </a:prstGeom>
        </p:spPr>
      </p:pic>
    </p:spTree>
    <p:extLst>
      <p:ext uri="{BB962C8B-B14F-4D97-AF65-F5344CB8AC3E}">
        <p14:creationId xmlns:p14="http://schemas.microsoft.com/office/powerpoint/2010/main" val="3698212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chor="t"/>
          <a:lstStyle/>
          <a:p>
            <a:pPr eaLnBrk="1" hangingPunct="1"/>
            <a:r>
              <a:rPr lang="en-GB" dirty="0"/>
              <a:t>Form methods</a:t>
            </a:r>
          </a:p>
        </p:txBody>
      </p:sp>
      <p:sp>
        <p:nvSpPr>
          <p:cNvPr id="14339" name="Rectangle 3"/>
          <p:cNvSpPr>
            <a:spLocks noGrp="1" noChangeArrowheads="1"/>
          </p:cNvSpPr>
          <p:nvPr>
            <p:ph idx="1"/>
          </p:nvPr>
        </p:nvSpPr>
        <p:spPr>
          <a:xfrm>
            <a:off x="341273" y="1368256"/>
            <a:ext cx="3506827" cy="4955354"/>
          </a:xfrm>
        </p:spPr>
        <p:txBody>
          <a:bodyPr/>
          <a:lstStyle/>
          <a:p>
            <a:pPr marL="0" indent="0">
              <a:buNone/>
            </a:pPr>
            <a:r>
              <a:rPr lang="en-GB" sz="1800" b="1" dirty="0"/>
              <a:t>Form data can be submitted by HTTP GET or POST</a:t>
            </a:r>
          </a:p>
          <a:p>
            <a:pPr marL="342000" indent="-342900">
              <a:buFont typeface="Arial" panose="020B0604020202020204" pitchFamily="34" charset="0"/>
              <a:buChar char="•"/>
            </a:pPr>
            <a:r>
              <a:rPr lang="en-GB" sz="1800" dirty="0"/>
              <a:t>GET places data in the </a:t>
            </a:r>
            <a:r>
              <a:rPr lang="en-GB" sz="1800" dirty="0" err="1"/>
              <a:t>QueryString</a:t>
            </a:r>
            <a:r>
              <a:rPr lang="en-GB" sz="1800" dirty="0"/>
              <a:t> portion of the URL</a:t>
            </a:r>
          </a:p>
          <a:p>
            <a:pPr marL="684000" lvl="1" indent="-342900">
              <a:buSzPct val="115000"/>
              <a:buFont typeface="Arial" panose="020B0604020202020204" pitchFamily="34" charset="0"/>
              <a:buChar char="•"/>
            </a:pPr>
            <a:r>
              <a:rPr lang="en-GB" sz="1800" dirty="0"/>
              <a:t>Can be bookmarked</a:t>
            </a:r>
          </a:p>
          <a:p>
            <a:pPr marL="684000" lvl="1" indent="-342900">
              <a:buSzPct val="115000"/>
              <a:buFont typeface="Arial" panose="020B0604020202020204" pitchFamily="34" charset="0"/>
              <a:buChar char="•"/>
            </a:pPr>
            <a:r>
              <a:rPr lang="en-GB" sz="1800" dirty="0"/>
              <a:t>Limited in length</a:t>
            </a:r>
          </a:p>
          <a:p>
            <a:pPr lvl="2"/>
            <a:endParaRPr lang="en-GB" sz="1800" dirty="0"/>
          </a:p>
          <a:p>
            <a:pPr marL="0" lvl="1" indent="0">
              <a:buNone/>
            </a:pPr>
            <a:r>
              <a:rPr lang="en-GB" sz="1800" b="1" dirty="0"/>
              <a:t>POST places data in the body of the HTTP Request</a:t>
            </a:r>
          </a:p>
          <a:p>
            <a:pPr marL="342000" lvl="2" indent="-342900">
              <a:buSzPct val="115000"/>
              <a:buFont typeface="Arial" panose="020B0604020202020204" pitchFamily="34" charset="0"/>
              <a:buChar char="•"/>
            </a:pPr>
            <a:r>
              <a:rPr lang="en-GB" sz="1800" dirty="0"/>
              <a:t>'Hidden from view'</a:t>
            </a:r>
          </a:p>
          <a:p>
            <a:pPr marL="342000" lvl="2" indent="-342900">
              <a:buSzPct val="115000"/>
              <a:buFont typeface="Arial" panose="020B0604020202020204" pitchFamily="34" charset="0"/>
              <a:buChar char="•"/>
            </a:pPr>
            <a:r>
              <a:rPr lang="en-GB" sz="1800" dirty="0"/>
              <a:t>Unlimited length</a:t>
            </a:r>
          </a:p>
        </p:txBody>
      </p:sp>
      <p:sp>
        <p:nvSpPr>
          <p:cNvPr id="420868" name="Text Box 4"/>
          <p:cNvSpPr txBox="1">
            <a:spLocks noChangeArrowheads="1"/>
          </p:cNvSpPr>
          <p:nvPr/>
        </p:nvSpPr>
        <p:spPr bwMode="auto">
          <a:xfrm>
            <a:off x="4242062" y="2352046"/>
            <a:ext cx="7546975" cy="861774"/>
          </a:xfrm>
          <a:prstGeom prst="rect">
            <a:avLst/>
          </a:prstGeom>
          <a:solidFill>
            <a:schemeClr val="bg1"/>
          </a:solidFill>
          <a:ln w="25400">
            <a:solidFill>
              <a:schemeClr val="tx1"/>
            </a:solidFill>
            <a:headEnd type="none" w="sm" len="sm"/>
            <a:tailEnd type="none" w="sm" len="sm"/>
          </a:ln>
        </p:spPr>
        <p:style>
          <a:lnRef idx="1">
            <a:schemeClr val="accent6"/>
          </a:lnRef>
          <a:fillRef idx="2">
            <a:schemeClr val="accent6"/>
          </a:fillRef>
          <a:effectRef idx="1">
            <a:schemeClr val="accent6"/>
          </a:effectRef>
          <a:fontRef idx="minor">
            <a:schemeClr val="dk1"/>
          </a:fontRef>
        </p:style>
        <p:txBody>
          <a:bodyPr>
            <a:spAutoFit/>
          </a:bodyPr>
          <a:lstStyle/>
          <a:p>
            <a:pPr defTabSz="739775">
              <a:defRPr/>
            </a:pPr>
            <a:r>
              <a:rPr lang="en-GB" sz="1600" dirty="0">
                <a:latin typeface="Lucida Console" pitchFamily="49" charset="0"/>
              </a:rPr>
              <a:t>GET /customer/</a:t>
            </a:r>
            <a:r>
              <a:rPr lang="en-GB" sz="1600" dirty="0" err="1">
                <a:latin typeface="Lucida Console" pitchFamily="49" charset="0"/>
              </a:rPr>
              <a:t>newcustomer.aspx</a:t>
            </a:r>
            <a:r>
              <a:rPr lang="en-GB" sz="1600" dirty="0" err="1">
                <a:solidFill>
                  <a:srgbClr val="0000CC"/>
                </a:solidFill>
                <a:latin typeface="Lucida Console" pitchFamily="49" charset="0"/>
              </a:rPr>
              <a:t>?Name</a:t>
            </a:r>
            <a:r>
              <a:rPr lang="en-GB" sz="1600" dirty="0">
                <a:solidFill>
                  <a:srgbClr val="0000CC"/>
                </a:solidFill>
                <a:latin typeface="Lucida Console" pitchFamily="49" charset="0"/>
              </a:rPr>
              <a:t>=</a:t>
            </a:r>
            <a:r>
              <a:rPr lang="en-GB" sz="1600" dirty="0" err="1">
                <a:solidFill>
                  <a:srgbClr val="0000CC"/>
                </a:solidFill>
                <a:latin typeface="Lucida Console" pitchFamily="49" charset="0"/>
              </a:rPr>
              <a:t>Paddington&amp;Address</a:t>
            </a:r>
            <a:r>
              <a:rPr lang="en-GB" sz="1600" dirty="0">
                <a:solidFill>
                  <a:srgbClr val="0000CC"/>
                </a:solidFill>
                <a:latin typeface="Lucida Console" pitchFamily="49" charset="0"/>
              </a:rPr>
              <a:t>=Peru</a:t>
            </a:r>
            <a:r>
              <a:rPr lang="en-GB" sz="1600" dirty="0">
                <a:latin typeface="Lucida Console" pitchFamily="49" charset="0"/>
              </a:rPr>
              <a:t> HTTP/1.0</a:t>
            </a:r>
            <a:br>
              <a:rPr lang="en-GB" sz="1600" dirty="0">
                <a:latin typeface="Lucida Console" pitchFamily="49" charset="0"/>
              </a:rPr>
            </a:br>
            <a:r>
              <a:rPr lang="en-GB" sz="1600" dirty="0">
                <a:latin typeface="Lucida Console" pitchFamily="49" charset="0"/>
              </a:rPr>
              <a:t>User-agent: Mozilla/4.0</a:t>
            </a:r>
            <a:endParaRPr lang="en-GB" sz="1600" dirty="0"/>
          </a:p>
        </p:txBody>
      </p:sp>
      <p:sp>
        <p:nvSpPr>
          <p:cNvPr id="420869" name="Text Box 5"/>
          <p:cNvSpPr txBox="1">
            <a:spLocks noChangeArrowheads="1"/>
          </p:cNvSpPr>
          <p:nvPr/>
        </p:nvSpPr>
        <p:spPr bwMode="auto">
          <a:xfrm>
            <a:off x="4242061" y="5010850"/>
            <a:ext cx="7546975" cy="1323439"/>
          </a:xfrm>
          <a:prstGeom prst="rect">
            <a:avLst/>
          </a:prstGeom>
          <a:solidFill>
            <a:schemeClr val="bg1"/>
          </a:solidFill>
          <a:ln w="25400">
            <a:solidFill>
              <a:schemeClr val="tx1"/>
            </a:solidFill>
            <a:headEnd type="none" w="sm" len="sm"/>
            <a:tailEnd type="none" w="sm" len="sm"/>
          </a:ln>
        </p:spPr>
        <p:style>
          <a:lnRef idx="1">
            <a:schemeClr val="accent6"/>
          </a:lnRef>
          <a:fillRef idx="2">
            <a:schemeClr val="accent6"/>
          </a:fillRef>
          <a:effectRef idx="1">
            <a:schemeClr val="accent6"/>
          </a:effectRef>
          <a:fontRef idx="minor">
            <a:schemeClr val="dk1"/>
          </a:fontRef>
        </p:style>
        <p:txBody>
          <a:bodyPr>
            <a:spAutoFit/>
          </a:bodyPr>
          <a:lstStyle/>
          <a:p>
            <a:pPr defTabSz="739775">
              <a:defRPr/>
            </a:pPr>
            <a:r>
              <a:rPr lang="en-GB" sz="1600" dirty="0">
                <a:latin typeface="Lucida Console" pitchFamily="49" charset="0"/>
              </a:rPr>
              <a:t>POST /customer/newcustomer.aspx HTTP/1.0</a:t>
            </a:r>
            <a:br>
              <a:rPr lang="en-GB" sz="1600" dirty="0">
                <a:latin typeface="Lucida Console" pitchFamily="49" charset="0"/>
              </a:rPr>
            </a:br>
            <a:r>
              <a:rPr lang="en-GB" sz="1600" dirty="0">
                <a:latin typeface="Lucida Console" pitchFamily="49" charset="0"/>
              </a:rPr>
              <a:t>User-agent: Mozilla/4.0</a:t>
            </a:r>
            <a:br>
              <a:rPr lang="en-GB" sz="1600" dirty="0">
                <a:latin typeface="Lucida Console" pitchFamily="49" charset="0"/>
              </a:rPr>
            </a:br>
            <a:r>
              <a:rPr lang="en-GB" sz="1600" dirty="0">
                <a:latin typeface="Lucida Console" pitchFamily="49" charset="0"/>
              </a:rPr>
              <a:t>Content-type: application/x-www-form-urlencoded </a:t>
            </a:r>
            <a:br>
              <a:rPr lang="en-GB" sz="1600" dirty="0">
                <a:latin typeface="Lucida Console" pitchFamily="49" charset="0"/>
              </a:rPr>
            </a:br>
            <a:r>
              <a:rPr lang="en-GB" sz="1600" dirty="0">
                <a:latin typeface="Lucida Console" pitchFamily="49" charset="0"/>
              </a:rPr>
              <a:t>Content-length: 28</a:t>
            </a:r>
          </a:p>
          <a:p>
            <a:pPr defTabSz="739775">
              <a:defRPr/>
            </a:pPr>
            <a:r>
              <a:rPr lang="en-GB" sz="1600" dirty="0">
                <a:solidFill>
                  <a:srgbClr val="0000CC"/>
                </a:solidFill>
                <a:latin typeface="Lucida Console" pitchFamily="49" charset="0"/>
              </a:rPr>
              <a:t>Name=Paddington&amp;Address=Peru</a:t>
            </a:r>
          </a:p>
        </p:txBody>
      </p:sp>
      <p:sp>
        <p:nvSpPr>
          <p:cNvPr id="7" name="Text Box 4"/>
          <p:cNvSpPr txBox="1">
            <a:spLocks noChangeArrowheads="1"/>
          </p:cNvSpPr>
          <p:nvPr/>
        </p:nvSpPr>
        <p:spPr bwMode="auto">
          <a:xfrm>
            <a:off x="4242063" y="1446515"/>
            <a:ext cx="7546975" cy="830997"/>
          </a:xfrm>
          <a:prstGeom prst="rect">
            <a:avLst/>
          </a:prstGeom>
          <a:solidFill>
            <a:schemeClr val="bg1"/>
          </a:solidFill>
          <a:ln w="25400">
            <a:solidFill>
              <a:schemeClr val="tx1"/>
            </a:solidFill>
            <a:headEnd type="none" w="sm" len="sm"/>
            <a:tailEnd type="none" w="sm" len="sm"/>
          </a:ln>
        </p:spPr>
        <p:style>
          <a:lnRef idx="1">
            <a:schemeClr val="accent6"/>
          </a:lnRef>
          <a:fillRef idx="2">
            <a:schemeClr val="accent6"/>
          </a:fillRef>
          <a:effectRef idx="1">
            <a:schemeClr val="accent6"/>
          </a:effectRef>
          <a:fontRef idx="minor">
            <a:schemeClr val="dk1"/>
          </a:fontRef>
        </p:style>
        <p:txBody>
          <a:bodyPr>
            <a:spAutoFit/>
          </a:bodyPr>
          <a:lstStyle/>
          <a:p>
            <a:pPr defTabSz="739775">
              <a:defRPr/>
            </a:pPr>
            <a:r>
              <a:rPr lang="en-GB" sz="1600" dirty="0">
                <a:latin typeface="Lucida Console" pitchFamily="49" charset="0"/>
              </a:rPr>
              <a:t>GET /customer/</a:t>
            </a:r>
            <a:r>
              <a:rPr lang="en-GB" sz="1600" dirty="0" err="1">
                <a:latin typeface="Lucida Console" pitchFamily="49" charset="0"/>
              </a:rPr>
              <a:t>create</a:t>
            </a:r>
            <a:r>
              <a:rPr lang="en-GB" sz="1600" dirty="0" err="1">
                <a:solidFill>
                  <a:srgbClr val="0000CC"/>
                </a:solidFill>
                <a:latin typeface="Lucida Console" pitchFamily="49" charset="0"/>
              </a:rPr>
              <a:t>?Name</a:t>
            </a:r>
            <a:r>
              <a:rPr lang="en-GB" sz="1600" dirty="0">
                <a:solidFill>
                  <a:srgbClr val="0000CC"/>
                </a:solidFill>
                <a:latin typeface="Lucida Console" pitchFamily="49" charset="0"/>
              </a:rPr>
              <a:t>=</a:t>
            </a:r>
            <a:r>
              <a:rPr lang="en-GB" sz="1600" dirty="0" err="1">
                <a:solidFill>
                  <a:srgbClr val="0000CC"/>
                </a:solidFill>
                <a:latin typeface="Lucida Console" pitchFamily="49" charset="0"/>
              </a:rPr>
              <a:t>Paddington&amp;Address</a:t>
            </a:r>
            <a:r>
              <a:rPr lang="en-GB" sz="1600" dirty="0">
                <a:solidFill>
                  <a:srgbClr val="0000CC"/>
                </a:solidFill>
                <a:latin typeface="Lucida Console" pitchFamily="49" charset="0"/>
              </a:rPr>
              <a:t>=Peru</a:t>
            </a:r>
            <a:r>
              <a:rPr lang="en-GB" sz="1600" dirty="0">
                <a:latin typeface="Lucida Console" pitchFamily="49" charset="0"/>
              </a:rPr>
              <a:t> </a:t>
            </a:r>
            <a:br>
              <a:rPr lang="en-GB" sz="1600" dirty="0">
                <a:latin typeface="Lucida Console" pitchFamily="49" charset="0"/>
              </a:rPr>
            </a:br>
            <a:r>
              <a:rPr lang="en-GB" sz="1600" dirty="0">
                <a:latin typeface="Lucida Console" pitchFamily="49" charset="0"/>
              </a:rPr>
              <a:t>HTTP/1.0</a:t>
            </a:r>
            <a:br>
              <a:rPr lang="en-GB" sz="1600" dirty="0">
                <a:latin typeface="Lucida Console" pitchFamily="49" charset="0"/>
              </a:rPr>
            </a:br>
            <a:r>
              <a:rPr lang="en-GB" sz="1600" dirty="0">
                <a:latin typeface="Lucida Console" pitchFamily="49" charset="0"/>
              </a:rPr>
              <a:t>User-agent: Mozilla/4.0</a:t>
            </a:r>
            <a:endParaRPr lang="en-GB" sz="1600" dirty="0"/>
          </a:p>
        </p:txBody>
      </p:sp>
      <p:sp>
        <p:nvSpPr>
          <p:cNvPr id="8" name="Text Box 5"/>
          <p:cNvSpPr txBox="1">
            <a:spLocks noChangeArrowheads="1"/>
          </p:cNvSpPr>
          <p:nvPr/>
        </p:nvSpPr>
        <p:spPr bwMode="auto">
          <a:xfrm>
            <a:off x="4242063" y="3615902"/>
            <a:ext cx="7546975" cy="1323439"/>
          </a:xfrm>
          <a:prstGeom prst="rect">
            <a:avLst/>
          </a:prstGeom>
          <a:solidFill>
            <a:schemeClr val="bg1"/>
          </a:solidFill>
          <a:ln w="25400">
            <a:solidFill>
              <a:schemeClr val="tx1"/>
            </a:solidFill>
            <a:headEnd type="none" w="sm" len="sm"/>
            <a:tailEnd type="none" w="sm" len="sm"/>
          </a:ln>
        </p:spPr>
        <p:style>
          <a:lnRef idx="1">
            <a:schemeClr val="accent6"/>
          </a:lnRef>
          <a:fillRef idx="2">
            <a:schemeClr val="accent6"/>
          </a:fillRef>
          <a:effectRef idx="1">
            <a:schemeClr val="accent6"/>
          </a:effectRef>
          <a:fontRef idx="minor">
            <a:schemeClr val="dk1"/>
          </a:fontRef>
        </p:style>
        <p:txBody>
          <a:bodyPr>
            <a:spAutoFit/>
          </a:bodyPr>
          <a:lstStyle/>
          <a:p>
            <a:pPr defTabSz="739775">
              <a:defRPr/>
            </a:pPr>
            <a:r>
              <a:rPr lang="en-GB" sz="1600" dirty="0">
                <a:latin typeface="Lucida Console" pitchFamily="49" charset="0"/>
              </a:rPr>
              <a:t>POST /customer/create HTTP/1.0</a:t>
            </a:r>
            <a:br>
              <a:rPr lang="en-GB" sz="1600" dirty="0">
                <a:latin typeface="Lucida Console" pitchFamily="49" charset="0"/>
              </a:rPr>
            </a:br>
            <a:r>
              <a:rPr lang="en-GB" sz="1600" dirty="0">
                <a:latin typeface="Lucida Console" pitchFamily="49" charset="0"/>
              </a:rPr>
              <a:t>User-agent: Mozilla/4.0</a:t>
            </a:r>
            <a:br>
              <a:rPr lang="en-GB" sz="1600" dirty="0">
                <a:latin typeface="Lucida Console" pitchFamily="49" charset="0"/>
              </a:rPr>
            </a:br>
            <a:r>
              <a:rPr lang="en-GB" sz="1600" dirty="0">
                <a:latin typeface="Lucida Console" pitchFamily="49" charset="0"/>
              </a:rPr>
              <a:t>Content-type: application/x-www-form-urlencoded </a:t>
            </a:r>
            <a:br>
              <a:rPr lang="en-GB" sz="1600" dirty="0">
                <a:latin typeface="Lucida Console" pitchFamily="49" charset="0"/>
              </a:rPr>
            </a:br>
            <a:r>
              <a:rPr lang="en-GB" sz="1600" dirty="0">
                <a:latin typeface="Lucida Console" pitchFamily="49" charset="0"/>
              </a:rPr>
              <a:t>Content-length: 28</a:t>
            </a:r>
          </a:p>
          <a:p>
            <a:pPr defTabSz="739775">
              <a:defRPr/>
            </a:pPr>
            <a:r>
              <a:rPr lang="en-GB" sz="1600" dirty="0">
                <a:solidFill>
                  <a:srgbClr val="0000CC"/>
                </a:solidFill>
                <a:latin typeface="Lucida Console" pitchFamily="49" charset="0"/>
              </a:rPr>
              <a:t>Name=Paddington&amp;Address=Peru</a:t>
            </a:r>
          </a:p>
        </p:txBody>
      </p:sp>
    </p:spTree>
    <p:extLst>
      <p:ext uri="{BB962C8B-B14F-4D97-AF65-F5344CB8AC3E}">
        <p14:creationId xmlns:p14="http://schemas.microsoft.com/office/powerpoint/2010/main" val="3610891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chor="t"/>
          <a:lstStyle/>
          <a:p>
            <a:pPr eaLnBrk="1" hangingPunct="1"/>
            <a:r>
              <a:rPr lang="en-GB"/>
              <a:t>Cookies</a:t>
            </a:r>
          </a:p>
        </p:txBody>
      </p:sp>
      <p:sp>
        <p:nvSpPr>
          <p:cNvPr id="18435" name="Rectangle 3"/>
          <p:cNvSpPr>
            <a:spLocks noGrp="1" noChangeArrowheads="1"/>
          </p:cNvSpPr>
          <p:nvPr>
            <p:ph idx="1"/>
          </p:nvPr>
        </p:nvSpPr>
        <p:spPr>
          <a:xfrm>
            <a:off x="341272" y="1368256"/>
            <a:ext cx="11516239" cy="1243722"/>
          </a:xfrm>
        </p:spPr>
        <p:txBody>
          <a:bodyPr/>
          <a:lstStyle/>
          <a:p>
            <a:r>
              <a:rPr lang="en-US" b="1" dirty="0"/>
              <a:t>Data sent between Web server and browser</a:t>
            </a:r>
          </a:p>
          <a:p>
            <a:pPr marL="76200" indent="-342900">
              <a:buFont typeface="Arial" panose="020B0604020202020204" pitchFamily="34" charset="0"/>
              <a:buChar char="•"/>
            </a:pPr>
            <a:r>
              <a:rPr lang="en-US" dirty="0"/>
              <a:t>Server creates cookie, and </a:t>
            </a:r>
            <a:r>
              <a:rPr lang="en-US" dirty="0" err="1"/>
              <a:t>initialises</a:t>
            </a:r>
            <a:r>
              <a:rPr lang="en-US" dirty="0"/>
              <a:t> its name and value fields</a:t>
            </a:r>
          </a:p>
          <a:p>
            <a:pPr marL="76200" indent="-342900">
              <a:buFont typeface="Arial" panose="020B0604020202020204" pitchFamily="34" charset="0"/>
              <a:buChar char="•"/>
            </a:pPr>
            <a:r>
              <a:rPr lang="en-US" dirty="0"/>
              <a:t>Browser sends cookie back in each applicable request</a:t>
            </a:r>
            <a:endParaRPr lang="en-GB" dirty="0"/>
          </a:p>
        </p:txBody>
      </p:sp>
      <p:sp>
        <p:nvSpPr>
          <p:cNvPr id="410644" name="Text Box 20"/>
          <p:cNvSpPr txBox="1">
            <a:spLocks noChangeArrowheads="1"/>
          </p:cNvSpPr>
          <p:nvPr/>
        </p:nvSpPr>
        <p:spPr bwMode="auto">
          <a:xfrm>
            <a:off x="1789113" y="2828320"/>
            <a:ext cx="2273300" cy="590550"/>
          </a:xfrm>
          <a:prstGeom prst="rect">
            <a:avLst/>
          </a:prstGeom>
          <a:solidFill>
            <a:schemeClr val="bg1"/>
          </a:solidFill>
          <a:ln w="25400">
            <a:solidFill>
              <a:schemeClr val="tx1"/>
            </a:solidFill>
            <a:headEnd type="none" w="sm" len="sm"/>
            <a:tailEnd type="none" w="sm" len="sm"/>
          </a:ln>
        </p:spPr>
        <p:style>
          <a:lnRef idx="1">
            <a:schemeClr val="accent6"/>
          </a:lnRef>
          <a:fillRef idx="2">
            <a:schemeClr val="accent6"/>
          </a:fillRef>
          <a:effectRef idx="1">
            <a:schemeClr val="accent6"/>
          </a:effectRef>
          <a:fontRef idx="minor">
            <a:schemeClr val="dk1"/>
          </a:fontRef>
        </p:style>
        <p:txBody>
          <a:bodyPr>
            <a:spAutoFit/>
          </a:bodyPr>
          <a:lstStyle/>
          <a:p>
            <a:pPr defTabSz="739775">
              <a:defRPr/>
            </a:pPr>
            <a:r>
              <a:rPr lang="en-GB" sz="1600" dirty="0">
                <a:latin typeface="Lucida Console" pitchFamily="49" charset="0"/>
              </a:rPr>
              <a:t>GET ... HTTP/1.0</a:t>
            </a:r>
            <a:br>
              <a:rPr lang="en-GB" sz="1600" dirty="0">
                <a:latin typeface="Lucida Console" pitchFamily="49" charset="0"/>
              </a:rPr>
            </a:br>
            <a:r>
              <a:rPr lang="en-GB" sz="1600" dirty="0">
                <a:latin typeface="Lucida Console" pitchFamily="49" charset="0"/>
              </a:rPr>
              <a:t>User-agent: …</a:t>
            </a:r>
          </a:p>
        </p:txBody>
      </p:sp>
      <p:sp>
        <p:nvSpPr>
          <p:cNvPr id="410660" name="Text Box 36"/>
          <p:cNvSpPr txBox="1">
            <a:spLocks noChangeArrowheads="1"/>
          </p:cNvSpPr>
          <p:nvPr/>
        </p:nvSpPr>
        <p:spPr bwMode="auto">
          <a:xfrm>
            <a:off x="7273926" y="2827321"/>
            <a:ext cx="3262313" cy="835025"/>
          </a:xfrm>
          <a:prstGeom prst="rect">
            <a:avLst/>
          </a:prstGeom>
          <a:solidFill>
            <a:schemeClr val="bg1"/>
          </a:solidFill>
          <a:ln w="25400">
            <a:solidFill>
              <a:schemeClr val="tx1"/>
            </a:solidFill>
            <a:headEnd type="none" w="sm" len="sm"/>
            <a:tailEnd type="none" w="sm" len="sm"/>
          </a:ln>
        </p:spPr>
        <p:style>
          <a:lnRef idx="1">
            <a:schemeClr val="accent6"/>
          </a:lnRef>
          <a:fillRef idx="2">
            <a:schemeClr val="accent6"/>
          </a:fillRef>
          <a:effectRef idx="1">
            <a:schemeClr val="accent6"/>
          </a:effectRef>
          <a:fontRef idx="minor">
            <a:schemeClr val="dk1"/>
          </a:fontRef>
        </p:style>
        <p:txBody>
          <a:bodyPr>
            <a:spAutoFit/>
          </a:bodyPr>
          <a:lstStyle/>
          <a:p>
            <a:pPr defTabSz="739775">
              <a:defRPr/>
            </a:pPr>
            <a:r>
              <a:rPr lang="en-GB" sz="1600" dirty="0">
                <a:latin typeface="Lucida Console" pitchFamily="49" charset="0"/>
              </a:rPr>
              <a:t>HTTP/1.0 200 OK</a:t>
            </a:r>
            <a:br>
              <a:rPr lang="en-GB" sz="1600" dirty="0">
                <a:latin typeface="Lucida Console" pitchFamily="49" charset="0"/>
              </a:rPr>
            </a:br>
            <a:r>
              <a:rPr lang="en-GB" sz="1600" dirty="0">
                <a:latin typeface="Lucida Console" pitchFamily="49" charset="0"/>
              </a:rPr>
              <a:t>Server:  Microsoft </a:t>
            </a:r>
            <a:br>
              <a:rPr lang="en-GB" sz="1600" dirty="0">
                <a:latin typeface="Lucida Console" pitchFamily="49" charset="0"/>
              </a:rPr>
            </a:br>
            <a:r>
              <a:rPr lang="en-GB" sz="1600" dirty="0">
                <a:latin typeface="Lucida Console" pitchFamily="49" charset="0"/>
              </a:rPr>
              <a:t>Set-Cookie: UID=123;...</a:t>
            </a:r>
          </a:p>
        </p:txBody>
      </p:sp>
      <p:grpSp>
        <p:nvGrpSpPr>
          <p:cNvPr id="2" name="Group 37"/>
          <p:cNvGrpSpPr>
            <a:grpSpLocks/>
          </p:cNvGrpSpPr>
          <p:nvPr/>
        </p:nvGrpSpPr>
        <p:grpSpPr bwMode="auto">
          <a:xfrm>
            <a:off x="8775786" y="3671774"/>
            <a:ext cx="1751008" cy="2127197"/>
            <a:chOff x="4432" y="2101"/>
            <a:chExt cx="1185" cy="1462"/>
          </a:xfrm>
        </p:grpSpPr>
        <p:grpSp>
          <p:nvGrpSpPr>
            <p:cNvPr id="3" name="Group 38"/>
            <p:cNvGrpSpPr>
              <a:grpSpLocks/>
            </p:cNvGrpSpPr>
            <p:nvPr/>
          </p:nvGrpSpPr>
          <p:grpSpPr bwMode="auto">
            <a:xfrm>
              <a:off x="4519" y="2441"/>
              <a:ext cx="975" cy="1122"/>
              <a:chOff x="5129" y="2083"/>
              <a:chExt cx="1063" cy="1122"/>
            </a:xfrm>
          </p:grpSpPr>
          <p:sp>
            <p:nvSpPr>
              <p:cNvPr id="410663" name="Rectangle 39"/>
              <p:cNvSpPr>
                <a:spLocks noChangeArrowheads="1"/>
              </p:cNvSpPr>
              <p:nvPr/>
            </p:nvSpPr>
            <p:spPr bwMode="auto">
              <a:xfrm>
                <a:off x="5130" y="2083"/>
                <a:ext cx="1060" cy="186"/>
              </a:xfrm>
              <a:prstGeom prst="rect">
                <a:avLst/>
              </a:prstGeom>
              <a:solidFill>
                <a:schemeClr val="bg1"/>
              </a:solidFill>
              <a:ln w="25400">
                <a:solidFill>
                  <a:schemeClr val="tx1"/>
                </a:solidFill>
                <a:miter lim="800000"/>
                <a:headEnd type="none" w="sm" len="sm"/>
                <a:tailEnd type="none" w="sm" len="sm"/>
              </a:ln>
              <a:effectLst>
                <a:outerShdw dist="35921" dir="2700000" algn="ctr" rotWithShape="0">
                  <a:schemeClr val="bg2"/>
                </a:outerShdw>
              </a:effectLst>
            </p:spPr>
            <p:txBody>
              <a:bodyPr wrap="none" anchor="ctr"/>
              <a:lstStyle/>
              <a:p>
                <a:pPr algn="ctr" defTabSz="739775">
                  <a:spcBef>
                    <a:spcPct val="0"/>
                  </a:spcBef>
                  <a:defRPr/>
                </a:pPr>
                <a:r>
                  <a:rPr lang="en-US" sz="1200" b="1" dirty="0"/>
                  <a:t>name</a:t>
                </a:r>
              </a:p>
            </p:txBody>
          </p:sp>
          <p:sp>
            <p:nvSpPr>
              <p:cNvPr id="410664" name="Rectangle 40"/>
              <p:cNvSpPr>
                <a:spLocks noChangeArrowheads="1"/>
              </p:cNvSpPr>
              <p:nvPr/>
            </p:nvSpPr>
            <p:spPr bwMode="auto">
              <a:xfrm>
                <a:off x="5132" y="2269"/>
                <a:ext cx="1060" cy="186"/>
              </a:xfrm>
              <a:prstGeom prst="rect">
                <a:avLst/>
              </a:prstGeom>
              <a:solidFill>
                <a:schemeClr val="bg1"/>
              </a:solidFill>
              <a:ln w="25400">
                <a:solidFill>
                  <a:schemeClr val="tx1"/>
                </a:solidFill>
                <a:miter lim="800000"/>
                <a:headEnd type="none" w="sm" len="sm"/>
                <a:tailEnd type="none" w="sm" len="sm"/>
              </a:ln>
              <a:effectLst>
                <a:outerShdw dist="35921" dir="2700000" algn="ctr" rotWithShape="0">
                  <a:schemeClr val="bg2"/>
                </a:outerShdw>
              </a:effectLst>
            </p:spPr>
            <p:txBody>
              <a:bodyPr wrap="none" anchor="ctr"/>
              <a:lstStyle/>
              <a:p>
                <a:pPr algn="ctr" defTabSz="739775">
                  <a:spcBef>
                    <a:spcPct val="0"/>
                  </a:spcBef>
                  <a:defRPr/>
                </a:pPr>
                <a:r>
                  <a:rPr lang="en-US" sz="1200" b="1" dirty="0"/>
                  <a:t>value</a:t>
                </a:r>
              </a:p>
            </p:txBody>
          </p:sp>
          <p:sp>
            <p:nvSpPr>
              <p:cNvPr id="410665" name="Rectangle 41"/>
              <p:cNvSpPr>
                <a:spLocks noChangeArrowheads="1"/>
              </p:cNvSpPr>
              <p:nvPr/>
            </p:nvSpPr>
            <p:spPr bwMode="auto">
              <a:xfrm>
                <a:off x="5130" y="2455"/>
                <a:ext cx="1060" cy="186"/>
              </a:xfrm>
              <a:prstGeom prst="rect">
                <a:avLst/>
              </a:prstGeom>
              <a:solidFill>
                <a:schemeClr val="bg1"/>
              </a:solidFill>
              <a:ln w="25400">
                <a:solidFill>
                  <a:schemeClr val="tx1"/>
                </a:solidFill>
                <a:miter lim="800000"/>
                <a:headEnd type="none" w="sm" len="sm"/>
                <a:tailEnd type="none" w="sm" len="sm"/>
              </a:ln>
              <a:effectLst>
                <a:outerShdw dist="35921" dir="2700000" algn="ctr" rotWithShape="0">
                  <a:schemeClr val="bg2"/>
                </a:outerShdw>
              </a:effectLst>
            </p:spPr>
            <p:txBody>
              <a:bodyPr wrap="none" anchor="ctr"/>
              <a:lstStyle/>
              <a:p>
                <a:pPr algn="ctr" defTabSz="739775">
                  <a:spcBef>
                    <a:spcPct val="0"/>
                  </a:spcBef>
                  <a:defRPr/>
                </a:pPr>
                <a:r>
                  <a:rPr lang="en-US" sz="1200" dirty="0"/>
                  <a:t>expires</a:t>
                </a:r>
              </a:p>
            </p:txBody>
          </p:sp>
          <p:sp>
            <p:nvSpPr>
              <p:cNvPr id="410666" name="Rectangle 42"/>
              <p:cNvSpPr>
                <a:spLocks noChangeArrowheads="1"/>
              </p:cNvSpPr>
              <p:nvPr/>
            </p:nvSpPr>
            <p:spPr bwMode="auto">
              <a:xfrm>
                <a:off x="5129" y="2641"/>
                <a:ext cx="1060" cy="186"/>
              </a:xfrm>
              <a:prstGeom prst="rect">
                <a:avLst/>
              </a:prstGeom>
              <a:solidFill>
                <a:schemeClr val="bg1"/>
              </a:solidFill>
              <a:ln w="25400">
                <a:solidFill>
                  <a:schemeClr val="tx1"/>
                </a:solidFill>
                <a:miter lim="800000"/>
                <a:headEnd type="none" w="sm" len="sm"/>
                <a:tailEnd type="none" w="sm" len="sm"/>
              </a:ln>
              <a:effectLst>
                <a:outerShdw dist="35921" dir="2700000" algn="ctr" rotWithShape="0">
                  <a:schemeClr val="bg2"/>
                </a:outerShdw>
              </a:effectLst>
            </p:spPr>
            <p:txBody>
              <a:bodyPr wrap="none" anchor="ctr"/>
              <a:lstStyle/>
              <a:p>
                <a:pPr algn="ctr" defTabSz="739775">
                  <a:spcBef>
                    <a:spcPct val="0"/>
                  </a:spcBef>
                  <a:defRPr/>
                </a:pPr>
                <a:r>
                  <a:rPr lang="en-US" sz="1200" dirty="0"/>
                  <a:t>domain</a:t>
                </a:r>
              </a:p>
            </p:txBody>
          </p:sp>
          <p:sp>
            <p:nvSpPr>
              <p:cNvPr id="410667" name="Rectangle 43"/>
              <p:cNvSpPr>
                <a:spLocks noChangeArrowheads="1"/>
              </p:cNvSpPr>
              <p:nvPr/>
            </p:nvSpPr>
            <p:spPr bwMode="auto">
              <a:xfrm>
                <a:off x="5129" y="2827"/>
                <a:ext cx="1060" cy="186"/>
              </a:xfrm>
              <a:prstGeom prst="rect">
                <a:avLst/>
              </a:prstGeom>
              <a:solidFill>
                <a:schemeClr val="bg1"/>
              </a:solidFill>
              <a:ln w="25400">
                <a:solidFill>
                  <a:schemeClr val="tx1"/>
                </a:solidFill>
                <a:miter lim="800000"/>
                <a:headEnd type="none" w="sm" len="sm"/>
                <a:tailEnd type="none" w="sm" len="sm"/>
              </a:ln>
              <a:effectLst>
                <a:outerShdw dist="35921" dir="2700000" algn="ctr" rotWithShape="0">
                  <a:schemeClr val="bg2"/>
                </a:outerShdw>
              </a:effectLst>
            </p:spPr>
            <p:txBody>
              <a:bodyPr wrap="none" anchor="ctr"/>
              <a:lstStyle/>
              <a:p>
                <a:pPr algn="ctr" defTabSz="739775">
                  <a:spcBef>
                    <a:spcPct val="0"/>
                  </a:spcBef>
                  <a:defRPr/>
                </a:pPr>
                <a:r>
                  <a:rPr lang="en-US" sz="1200" dirty="0"/>
                  <a:t>path</a:t>
                </a:r>
              </a:p>
            </p:txBody>
          </p:sp>
          <p:sp>
            <p:nvSpPr>
              <p:cNvPr id="410668" name="Rectangle 44"/>
              <p:cNvSpPr>
                <a:spLocks noChangeArrowheads="1"/>
              </p:cNvSpPr>
              <p:nvPr/>
            </p:nvSpPr>
            <p:spPr bwMode="auto">
              <a:xfrm>
                <a:off x="5129" y="3019"/>
                <a:ext cx="1060" cy="186"/>
              </a:xfrm>
              <a:prstGeom prst="rect">
                <a:avLst/>
              </a:prstGeom>
              <a:solidFill>
                <a:schemeClr val="bg1"/>
              </a:solidFill>
              <a:ln w="25400">
                <a:solidFill>
                  <a:schemeClr val="tx1"/>
                </a:solidFill>
                <a:miter lim="800000"/>
                <a:headEnd type="none" w="sm" len="sm"/>
                <a:tailEnd type="none" w="sm" len="sm"/>
              </a:ln>
              <a:effectLst>
                <a:outerShdw dist="35921" dir="2700000" algn="ctr" rotWithShape="0">
                  <a:schemeClr val="bg2"/>
                </a:outerShdw>
              </a:effectLst>
            </p:spPr>
            <p:txBody>
              <a:bodyPr wrap="none" anchor="ctr"/>
              <a:lstStyle/>
              <a:p>
                <a:pPr algn="ctr" defTabSz="739775">
                  <a:spcBef>
                    <a:spcPct val="0"/>
                  </a:spcBef>
                  <a:defRPr/>
                </a:pPr>
                <a:r>
                  <a:rPr lang="en-US" sz="1200" dirty="0"/>
                  <a:t>secure</a:t>
                </a:r>
              </a:p>
            </p:txBody>
          </p:sp>
        </p:grpSp>
        <p:sp>
          <p:nvSpPr>
            <p:cNvPr id="18497" name="AutoShape 45"/>
            <p:cNvSpPr>
              <a:spLocks/>
            </p:cNvSpPr>
            <p:nvPr/>
          </p:nvSpPr>
          <p:spPr bwMode="auto">
            <a:xfrm rot="5400000">
              <a:off x="4872" y="1661"/>
              <a:ext cx="305" cy="1185"/>
            </a:xfrm>
            <a:prstGeom prst="rightBrace">
              <a:avLst>
                <a:gd name="adj1" fmla="val 32377"/>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cs typeface="Arial" charset="0"/>
              </a:endParaRPr>
            </a:p>
          </p:txBody>
        </p:sp>
      </p:grpSp>
      <p:sp>
        <p:nvSpPr>
          <p:cNvPr id="410670" name="Text Box 46"/>
          <p:cNvSpPr txBox="1">
            <a:spLocks noChangeArrowheads="1"/>
          </p:cNvSpPr>
          <p:nvPr/>
        </p:nvSpPr>
        <p:spPr bwMode="auto">
          <a:xfrm>
            <a:off x="1801814" y="4093558"/>
            <a:ext cx="2263775" cy="835025"/>
          </a:xfrm>
          <a:prstGeom prst="rect">
            <a:avLst/>
          </a:prstGeom>
          <a:solidFill>
            <a:schemeClr val="bg1"/>
          </a:solidFill>
          <a:ln w="25400">
            <a:solidFill>
              <a:schemeClr val="tx1"/>
            </a:solidFill>
            <a:headEnd type="none" w="sm" len="sm"/>
            <a:tailEnd type="none" w="sm" len="sm"/>
          </a:ln>
        </p:spPr>
        <p:style>
          <a:lnRef idx="1">
            <a:schemeClr val="accent6"/>
          </a:lnRef>
          <a:fillRef idx="2">
            <a:schemeClr val="accent6"/>
          </a:fillRef>
          <a:effectRef idx="1">
            <a:schemeClr val="accent6"/>
          </a:effectRef>
          <a:fontRef idx="minor">
            <a:schemeClr val="dk1"/>
          </a:fontRef>
        </p:style>
        <p:txBody>
          <a:bodyPr>
            <a:spAutoFit/>
          </a:bodyPr>
          <a:lstStyle/>
          <a:p>
            <a:pPr defTabSz="739775">
              <a:defRPr/>
            </a:pPr>
            <a:r>
              <a:rPr lang="en-GB" sz="1600" dirty="0">
                <a:latin typeface="Lucida Console" pitchFamily="49" charset="0"/>
              </a:rPr>
              <a:t>GET ... HTTP/1.0</a:t>
            </a:r>
            <a:br>
              <a:rPr lang="en-GB" sz="1600" dirty="0">
                <a:latin typeface="Lucida Console" pitchFamily="49" charset="0"/>
              </a:rPr>
            </a:br>
            <a:r>
              <a:rPr lang="en-GB" sz="1600" dirty="0">
                <a:latin typeface="Lucida Console" pitchFamily="49" charset="0"/>
              </a:rPr>
              <a:t>User-agent: …</a:t>
            </a:r>
            <a:br>
              <a:rPr lang="en-GB" sz="1600" dirty="0">
                <a:latin typeface="Lucida Console" pitchFamily="49" charset="0"/>
              </a:rPr>
            </a:br>
            <a:r>
              <a:rPr lang="en-GB" sz="1600" dirty="0">
                <a:latin typeface="Lucida Console" pitchFamily="49" charset="0"/>
              </a:rPr>
              <a:t>Cookie: UID=123</a:t>
            </a:r>
          </a:p>
        </p:txBody>
      </p:sp>
      <p:grpSp>
        <p:nvGrpSpPr>
          <p:cNvPr id="5" name="Group 72"/>
          <p:cNvGrpSpPr>
            <a:grpSpLocks/>
          </p:cNvGrpSpPr>
          <p:nvPr/>
        </p:nvGrpSpPr>
        <p:grpSpPr bwMode="auto">
          <a:xfrm>
            <a:off x="4287838" y="3323825"/>
            <a:ext cx="2851150" cy="733663"/>
            <a:chOff x="2764541" y="4332492"/>
            <a:chExt cx="2850360" cy="733663"/>
          </a:xfrm>
          <a:solidFill>
            <a:srgbClr val="004050">
              <a:alpha val="74902"/>
            </a:srgbClr>
          </a:solidFill>
        </p:grpSpPr>
        <p:grpSp>
          <p:nvGrpSpPr>
            <p:cNvPr id="6" name="Group 71"/>
            <p:cNvGrpSpPr>
              <a:grpSpLocks/>
            </p:cNvGrpSpPr>
            <p:nvPr/>
          </p:nvGrpSpPr>
          <p:grpSpPr bwMode="auto">
            <a:xfrm>
              <a:off x="3104092" y="4605338"/>
              <a:ext cx="2196713" cy="188912"/>
              <a:chOff x="3104092" y="4605338"/>
              <a:chExt cx="2196713" cy="188912"/>
            </a:xfrm>
            <a:grpFill/>
          </p:grpSpPr>
          <p:sp>
            <p:nvSpPr>
              <p:cNvPr id="18484" name="Freeform 23"/>
              <p:cNvSpPr>
                <a:spLocks/>
              </p:cNvSpPr>
              <p:nvPr/>
            </p:nvSpPr>
            <p:spPr bwMode="auto">
              <a:xfrm>
                <a:off x="5245426" y="4608321"/>
                <a:ext cx="55379" cy="96445"/>
              </a:xfrm>
              <a:custGeom>
                <a:avLst/>
                <a:gdLst>
                  <a:gd name="T0" fmla="*/ 2147483647 w 24"/>
                  <a:gd name="T1" fmla="*/ 2147483647 h 97"/>
                  <a:gd name="T2" fmla="*/ 2147483647 w 24"/>
                  <a:gd name="T3" fmla="*/ 2147483647 h 97"/>
                  <a:gd name="T4" fmla="*/ 2147483647 w 24"/>
                  <a:gd name="T5" fmla="*/ 2147483647 h 97"/>
                  <a:gd name="T6" fmla="*/ 2147483647 w 24"/>
                  <a:gd name="T7" fmla="*/ 2147483647 h 97"/>
                  <a:gd name="T8" fmla="*/ 2147483647 w 24"/>
                  <a:gd name="T9" fmla="*/ 2147483647 h 97"/>
                  <a:gd name="T10" fmla="*/ 2147483647 w 24"/>
                  <a:gd name="T11" fmla="*/ 2147483647 h 97"/>
                  <a:gd name="T12" fmla="*/ 0 w 24"/>
                  <a:gd name="T13" fmla="*/ 0 h 97"/>
                  <a:gd name="T14" fmla="*/ 0 60000 65536"/>
                  <a:gd name="T15" fmla="*/ 0 60000 65536"/>
                  <a:gd name="T16" fmla="*/ 0 60000 65536"/>
                  <a:gd name="T17" fmla="*/ 0 60000 65536"/>
                  <a:gd name="T18" fmla="*/ 0 60000 65536"/>
                  <a:gd name="T19" fmla="*/ 0 60000 65536"/>
                  <a:gd name="T20" fmla="*/ 0 60000 65536"/>
                  <a:gd name="T21" fmla="*/ 0 w 24"/>
                  <a:gd name="T22" fmla="*/ 0 h 97"/>
                  <a:gd name="T23" fmla="*/ 24 w 24"/>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97">
                    <a:moveTo>
                      <a:pt x="23" y="96"/>
                    </a:moveTo>
                    <a:lnTo>
                      <a:pt x="8" y="15"/>
                    </a:lnTo>
                    <a:lnTo>
                      <a:pt x="7" y="11"/>
                    </a:lnTo>
                    <a:lnTo>
                      <a:pt x="7" y="7"/>
                    </a:lnTo>
                    <a:lnTo>
                      <a:pt x="5" y="4"/>
                    </a:lnTo>
                    <a:lnTo>
                      <a:pt x="3" y="2"/>
                    </a:lnTo>
                    <a:lnTo>
                      <a:pt x="0" y="0"/>
                    </a:lnTo>
                  </a:path>
                </a:pathLst>
              </a:custGeom>
              <a:grpFill/>
              <a:ln w="12700" cap="rnd">
                <a:noFill/>
                <a:round/>
                <a:headEnd type="none" w="sm" len="sm"/>
                <a:tailEnd type="none" w="sm" len="sm"/>
              </a:ln>
            </p:spPr>
            <p:txBody>
              <a:bodyPr/>
              <a:lstStyle/>
              <a:p>
                <a:endParaRPr lang="en-US">
                  <a:cs typeface="Arial" charset="0"/>
                </a:endParaRPr>
              </a:p>
            </p:txBody>
          </p:sp>
          <p:sp>
            <p:nvSpPr>
              <p:cNvPr id="18485" name="Freeform 24"/>
              <p:cNvSpPr>
                <a:spLocks/>
              </p:cNvSpPr>
              <p:nvPr/>
            </p:nvSpPr>
            <p:spPr bwMode="auto">
              <a:xfrm>
                <a:off x="5049291" y="4607327"/>
                <a:ext cx="200750" cy="186923"/>
              </a:xfrm>
              <a:custGeom>
                <a:avLst/>
                <a:gdLst>
                  <a:gd name="T0" fmla="*/ 2147483647 w 87"/>
                  <a:gd name="T1" fmla="*/ 0 h 188"/>
                  <a:gd name="T2" fmla="*/ 2147483647 w 87"/>
                  <a:gd name="T3" fmla="*/ 2147483647 h 188"/>
                  <a:gd name="T4" fmla="*/ 2147483647 w 87"/>
                  <a:gd name="T5" fmla="*/ 2147483647 h 188"/>
                  <a:gd name="T6" fmla="*/ 2147483647 w 87"/>
                  <a:gd name="T7" fmla="*/ 2147483647 h 188"/>
                  <a:gd name="T8" fmla="*/ 2147483647 w 87"/>
                  <a:gd name="T9" fmla="*/ 2147483647 h 188"/>
                  <a:gd name="T10" fmla="*/ 2147483647 w 87"/>
                  <a:gd name="T11" fmla="*/ 2147483647 h 188"/>
                  <a:gd name="T12" fmla="*/ 2147483647 w 87"/>
                  <a:gd name="T13" fmla="*/ 2147483647 h 188"/>
                  <a:gd name="T14" fmla="*/ 2147483647 w 87"/>
                  <a:gd name="T15" fmla="*/ 2147483647 h 188"/>
                  <a:gd name="T16" fmla="*/ 2147483647 w 87"/>
                  <a:gd name="T17" fmla="*/ 2147483647 h 188"/>
                  <a:gd name="T18" fmla="*/ 2147483647 w 87"/>
                  <a:gd name="T19" fmla="*/ 2147483647 h 188"/>
                  <a:gd name="T20" fmla="*/ 2147483647 w 87"/>
                  <a:gd name="T21" fmla="*/ 2147483647 h 188"/>
                  <a:gd name="T22" fmla="*/ 2147483647 w 87"/>
                  <a:gd name="T23" fmla="*/ 2147483647 h 188"/>
                  <a:gd name="T24" fmla="*/ 2147483647 w 87"/>
                  <a:gd name="T25" fmla="*/ 2147483647 h 188"/>
                  <a:gd name="T26" fmla="*/ 2147483647 w 87"/>
                  <a:gd name="T27" fmla="*/ 2147483647 h 188"/>
                  <a:gd name="T28" fmla="*/ 2147483647 w 87"/>
                  <a:gd name="T29" fmla="*/ 2147483647 h 188"/>
                  <a:gd name="T30" fmla="*/ 2147483647 w 87"/>
                  <a:gd name="T31" fmla="*/ 2147483647 h 188"/>
                  <a:gd name="T32" fmla="*/ 2147483647 w 87"/>
                  <a:gd name="T33" fmla="*/ 2147483647 h 188"/>
                  <a:gd name="T34" fmla="*/ 0 w 87"/>
                  <a:gd name="T35" fmla="*/ 2147483647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8"/>
                  <a:gd name="T56" fmla="*/ 87 w 87"/>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8">
                    <a:moveTo>
                      <a:pt x="86" y="0"/>
                    </a:moveTo>
                    <a:lnTo>
                      <a:pt x="81" y="1"/>
                    </a:lnTo>
                    <a:lnTo>
                      <a:pt x="77" y="5"/>
                    </a:lnTo>
                    <a:lnTo>
                      <a:pt x="76" y="9"/>
                    </a:lnTo>
                    <a:lnTo>
                      <a:pt x="75" y="16"/>
                    </a:lnTo>
                    <a:lnTo>
                      <a:pt x="56" y="172"/>
                    </a:lnTo>
                    <a:lnTo>
                      <a:pt x="54" y="181"/>
                    </a:lnTo>
                    <a:lnTo>
                      <a:pt x="53" y="184"/>
                    </a:lnTo>
                    <a:lnTo>
                      <a:pt x="50" y="187"/>
                    </a:lnTo>
                    <a:lnTo>
                      <a:pt x="46" y="187"/>
                    </a:lnTo>
                    <a:lnTo>
                      <a:pt x="41" y="185"/>
                    </a:lnTo>
                    <a:lnTo>
                      <a:pt x="39" y="181"/>
                    </a:lnTo>
                    <a:lnTo>
                      <a:pt x="8" y="15"/>
                    </a:lnTo>
                    <a:lnTo>
                      <a:pt x="7" y="11"/>
                    </a:lnTo>
                    <a:lnTo>
                      <a:pt x="6" y="7"/>
                    </a:lnTo>
                    <a:lnTo>
                      <a:pt x="5" y="5"/>
                    </a:lnTo>
                    <a:lnTo>
                      <a:pt x="3" y="1"/>
                    </a:lnTo>
                    <a:lnTo>
                      <a:pt x="0" y="1"/>
                    </a:lnTo>
                  </a:path>
                </a:pathLst>
              </a:custGeom>
              <a:grpFill/>
              <a:ln w="12700" cap="rnd">
                <a:noFill/>
                <a:round/>
                <a:headEnd type="none" w="sm" len="sm"/>
                <a:tailEnd type="none" w="sm" len="sm"/>
              </a:ln>
            </p:spPr>
            <p:txBody>
              <a:bodyPr/>
              <a:lstStyle/>
              <a:p>
                <a:endParaRPr lang="en-US">
                  <a:cs typeface="Arial" charset="0"/>
                </a:endParaRPr>
              </a:p>
            </p:txBody>
          </p:sp>
          <p:sp>
            <p:nvSpPr>
              <p:cNvPr id="18486" name="Freeform 25"/>
              <p:cNvSpPr>
                <a:spLocks/>
              </p:cNvSpPr>
              <p:nvPr/>
            </p:nvSpPr>
            <p:spPr bwMode="auto">
              <a:xfrm>
                <a:off x="4850848" y="4607327"/>
                <a:ext cx="193828" cy="186923"/>
              </a:xfrm>
              <a:custGeom>
                <a:avLst/>
                <a:gdLst>
                  <a:gd name="T0" fmla="*/ 2147483647 w 84"/>
                  <a:gd name="T1" fmla="*/ 2147483647 h 188"/>
                  <a:gd name="T2" fmla="*/ 2147483647 w 84"/>
                  <a:gd name="T3" fmla="*/ 2147483647 h 188"/>
                  <a:gd name="T4" fmla="*/ 2147483647 w 84"/>
                  <a:gd name="T5" fmla="*/ 2147483647 h 188"/>
                  <a:gd name="T6" fmla="*/ 2147483647 w 84"/>
                  <a:gd name="T7" fmla="*/ 2147483647 h 188"/>
                  <a:gd name="T8" fmla="*/ 2147483647 w 84"/>
                  <a:gd name="T9" fmla="*/ 2147483647 h 188"/>
                  <a:gd name="T10" fmla="*/ 2147483647 w 84"/>
                  <a:gd name="T11" fmla="*/ 2147483647 h 188"/>
                  <a:gd name="T12" fmla="*/ 2147483647 w 84"/>
                  <a:gd name="T13" fmla="*/ 2147483647 h 188"/>
                  <a:gd name="T14" fmla="*/ 2147483647 w 84"/>
                  <a:gd name="T15" fmla="*/ 2147483647 h 188"/>
                  <a:gd name="T16" fmla="*/ 2147483647 w 84"/>
                  <a:gd name="T17" fmla="*/ 2147483647 h 188"/>
                  <a:gd name="T18" fmla="*/ 2147483647 w 84"/>
                  <a:gd name="T19" fmla="*/ 2147483647 h 188"/>
                  <a:gd name="T20" fmla="*/ 2147483647 w 84"/>
                  <a:gd name="T21" fmla="*/ 2147483647 h 188"/>
                  <a:gd name="T22" fmla="*/ 2147483647 w 84"/>
                  <a:gd name="T23" fmla="*/ 2147483647 h 188"/>
                  <a:gd name="T24" fmla="*/ 2147483647 w 84"/>
                  <a:gd name="T25" fmla="*/ 2147483647 h 188"/>
                  <a:gd name="T26" fmla="*/ 2147483647 w 84"/>
                  <a:gd name="T27" fmla="*/ 2147483647 h 188"/>
                  <a:gd name="T28" fmla="*/ 2147483647 w 84"/>
                  <a:gd name="T29" fmla="*/ 2147483647 h 188"/>
                  <a:gd name="T30" fmla="*/ 2147483647 w 84"/>
                  <a:gd name="T31" fmla="*/ 2147483647 h 188"/>
                  <a:gd name="T32" fmla="*/ 2147483647 w 84"/>
                  <a:gd name="T33" fmla="*/ 2147483647 h 188"/>
                  <a:gd name="T34" fmla="*/ 0 w 84"/>
                  <a:gd name="T35" fmla="*/ 0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4"/>
                  <a:gd name="T55" fmla="*/ 0 h 188"/>
                  <a:gd name="T56" fmla="*/ 84 w 84"/>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4" h="188">
                    <a:moveTo>
                      <a:pt x="83" y="1"/>
                    </a:moveTo>
                    <a:lnTo>
                      <a:pt x="80" y="2"/>
                    </a:lnTo>
                    <a:lnTo>
                      <a:pt x="77" y="5"/>
                    </a:lnTo>
                    <a:lnTo>
                      <a:pt x="77" y="9"/>
                    </a:lnTo>
                    <a:lnTo>
                      <a:pt x="75" y="16"/>
                    </a:lnTo>
                    <a:lnTo>
                      <a:pt x="56" y="172"/>
                    </a:lnTo>
                    <a:lnTo>
                      <a:pt x="55" y="181"/>
                    </a:lnTo>
                    <a:lnTo>
                      <a:pt x="53" y="184"/>
                    </a:lnTo>
                    <a:lnTo>
                      <a:pt x="50" y="187"/>
                    </a:lnTo>
                    <a:lnTo>
                      <a:pt x="46" y="187"/>
                    </a:lnTo>
                    <a:lnTo>
                      <a:pt x="42" y="185"/>
                    </a:lnTo>
                    <a:lnTo>
                      <a:pt x="40" y="181"/>
                    </a:lnTo>
                    <a:lnTo>
                      <a:pt x="7" y="15"/>
                    </a:lnTo>
                    <a:lnTo>
                      <a:pt x="7" y="11"/>
                    </a:lnTo>
                    <a:lnTo>
                      <a:pt x="6" y="7"/>
                    </a:lnTo>
                    <a:lnTo>
                      <a:pt x="5" y="5"/>
                    </a:lnTo>
                    <a:lnTo>
                      <a:pt x="3" y="3"/>
                    </a:lnTo>
                    <a:lnTo>
                      <a:pt x="0" y="0"/>
                    </a:lnTo>
                  </a:path>
                </a:pathLst>
              </a:custGeom>
              <a:grpFill/>
              <a:ln w="12700" cap="rnd">
                <a:noFill/>
                <a:round/>
                <a:headEnd type="none" w="sm" len="sm"/>
                <a:tailEnd type="none" w="sm" len="sm"/>
              </a:ln>
            </p:spPr>
            <p:txBody>
              <a:bodyPr/>
              <a:lstStyle/>
              <a:p>
                <a:endParaRPr lang="en-US">
                  <a:cs typeface="Arial" charset="0"/>
                </a:endParaRPr>
              </a:p>
            </p:txBody>
          </p:sp>
          <p:sp>
            <p:nvSpPr>
              <p:cNvPr id="18487" name="Freeform 26"/>
              <p:cNvSpPr>
                <a:spLocks/>
              </p:cNvSpPr>
              <p:nvPr/>
            </p:nvSpPr>
            <p:spPr bwMode="auto">
              <a:xfrm>
                <a:off x="4645483" y="4607327"/>
                <a:ext cx="203058" cy="186923"/>
              </a:xfrm>
              <a:custGeom>
                <a:avLst/>
                <a:gdLst>
                  <a:gd name="T0" fmla="*/ 2147483647 w 88"/>
                  <a:gd name="T1" fmla="*/ 0 h 188"/>
                  <a:gd name="T2" fmla="*/ 2147483647 w 88"/>
                  <a:gd name="T3" fmla="*/ 2147483647 h 188"/>
                  <a:gd name="T4" fmla="*/ 2147483647 w 88"/>
                  <a:gd name="T5" fmla="*/ 2147483647 h 188"/>
                  <a:gd name="T6" fmla="*/ 2147483647 w 88"/>
                  <a:gd name="T7" fmla="*/ 2147483647 h 188"/>
                  <a:gd name="T8" fmla="*/ 2147483647 w 88"/>
                  <a:gd name="T9" fmla="*/ 2147483647 h 188"/>
                  <a:gd name="T10" fmla="*/ 2147483647 w 88"/>
                  <a:gd name="T11" fmla="*/ 2147483647 h 188"/>
                  <a:gd name="T12" fmla="*/ 2147483647 w 88"/>
                  <a:gd name="T13" fmla="*/ 2147483647 h 188"/>
                  <a:gd name="T14" fmla="*/ 2147483647 w 88"/>
                  <a:gd name="T15" fmla="*/ 2147483647 h 188"/>
                  <a:gd name="T16" fmla="*/ 2147483647 w 88"/>
                  <a:gd name="T17" fmla="*/ 2147483647 h 188"/>
                  <a:gd name="T18" fmla="*/ 2147483647 w 88"/>
                  <a:gd name="T19" fmla="*/ 2147483647 h 188"/>
                  <a:gd name="T20" fmla="*/ 2147483647 w 88"/>
                  <a:gd name="T21" fmla="*/ 2147483647 h 188"/>
                  <a:gd name="T22" fmla="*/ 2147483647 w 88"/>
                  <a:gd name="T23" fmla="*/ 2147483647 h 188"/>
                  <a:gd name="T24" fmla="*/ 2147483647 w 88"/>
                  <a:gd name="T25" fmla="*/ 2147483647 h 188"/>
                  <a:gd name="T26" fmla="*/ 2147483647 w 88"/>
                  <a:gd name="T27" fmla="*/ 2147483647 h 188"/>
                  <a:gd name="T28" fmla="*/ 2147483647 w 88"/>
                  <a:gd name="T29" fmla="*/ 2147483647 h 188"/>
                  <a:gd name="T30" fmla="*/ 2147483647 w 88"/>
                  <a:gd name="T31" fmla="*/ 2147483647 h 188"/>
                  <a:gd name="T32" fmla="*/ 2147483647 w 88"/>
                  <a:gd name="T33" fmla="*/ 2147483647 h 188"/>
                  <a:gd name="T34" fmla="*/ 0 w 88"/>
                  <a:gd name="T35" fmla="*/ 2147483647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87" y="0"/>
                    </a:moveTo>
                    <a:lnTo>
                      <a:pt x="82" y="1"/>
                    </a:lnTo>
                    <a:lnTo>
                      <a:pt x="78" y="5"/>
                    </a:lnTo>
                    <a:lnTo>
                      <a:pt x="77" y="9"/>
                    </a:lnTo>
                    <a:lnTo>
                      <a:pt x="76" y="16"/>
                    </a:lnTo>
                    <a:lnTo>
                      <a:pt x="57" y="172"/>
                    </a:lnTo>
                    <a:lnTo>
                      <a:pt x="55" y="181"/>
                    </a:lnTo>
                    <a:lnTo>
                      <a:pt x="54" y="184"/>
                    </a:lnTo>
                    <a:lnTo>
                      <a:pt x="51" y="187"/>
                    </a:lnTo>
                    <a:lnTo>
                      <a:pt x="46" y="187"/>
                    </a:lnTo>
                    <a:lnTo>
                      <a:pt x="42" y="185"/>
                    </a:lnTo>
                    <a:lnTo>
                      <a:pt x="40" y="181"/>
                    </a:lnTo>
                    <a:lnTo>
                      <a:pt x="7" y="15"/>
                    </a:lnTo>
                    <a:lnTo>
                      <a:pt x="6" y="11"/>
                    </a:lnTo>
                    <a:lnTo>
                      <a:pt x="6" y="7"/>
                    </a:lnTo>
                    <a:lnTo>
                      <a:pt x="5" y="5"/>
                    </a:lnTo>
                    <a:lnTo>
                      <a:pt x="2" y="1"/>
                    </a:lnTo>
                    <a:lnTo>
                      <a:pt x="0" y="1"/>
                    </a:lnTo>
                  </a:path>
                </a:pathLst>
              </a:custGeom>
              <a:grpFill/>
              <a:ln w="12700" cap="rnd">
                <a:noFill/>
                <a:round/>
                <a:headEnd type="none" w="sm" len="sm"/>
                <a:tailEnd type="none" w="sm" len="sm"/>
              </a:ln>
            </p:spPr>
            <p:txBody>
              <a:bodyPr/>
              <a:lstStyle/>
              <a:p>
                <a:endParaRPr lang="en-US">
                  <a:cs typeface="Arial" charset="0"/>
                </a:endParaRPr>
              </a:p>
            </p:txBody>
          </p:sp>
          <p:sp>
            <p:nvSpPr>
              <p:cNvPr id="18488" name="Freeform 27"/>
              <p:cNvSpPr>
                <a:spLocks/>
              </p:cNvSpPr>
              <p:nvPr/>
            </p:nvSpPr>
            <p:spPr bwMode="auto">
              <a:xfrm>
                <a:off x="4442426" y="4606332"/>
                <a:ext cx="196135" cy="187918"/>
              </a:xfrm>
              <a:custGeom>
                <a:avLst/>
                <a:gdLst>
                  <a:gd name="T0" fmla="*/ 2147483647 w 85"/>
                  <a:gd name="T1" fmla="*/ 2147483647 h 189"/>
                  <a:gd name="T2" fmla="*/ 2147483647 w 85"/>
                  <a:gd name="T3" fmla="*/ 2147483647 h 189"/>
                  <a:gd name="T4" fmla="*/ 2147483647 w 85"/>
                  <a:gd name="T5" fmla="*/ 2147483647 h 189"/>
                  <a:gd name="T6" fmla="*/ 2147483647 w 85"/>
                  <a:gd name="T7" fmla="*/ 2147483647 h 189"/>
                  <a:gd name="T8" fmla="*/ 2147483647 w 85"/>
                  <a:gd name="T9" fmla="*/ 2147483647 h 189"/>
                  <a:gd name="T10" fmla="*/ 2147483647 w 85"/>
                  <a:gd name="T11" fmla="*/ 2147483647 h 189"/>
                  <a:gd name="T12" fmla="*/ 2147483647 w 85"/>
                  <a:gd name="T13" fmla="*/ 2147483647 h 189"/>
                  <a:gd name="T14" fmla="*/ 2147483647 w 85"/>
                  <a:gd name="T15" fmla="*/ 2147483647 h 189"/>
                  <a:gd name="T16" fmla="*/ 2147483647 w 85"/>
                  <a:gd name="T17" fmla="*/ 2147483647 h 189"/>
                  <a:gd name="T18" fmla="*/ 2147483647 w 85"/>
                  <a:gd name="T19" fmla="*/ 2147483647 h 189"/>
                  <a:gd name="T20" fmla="*/ 2147483647 w 85"/>
                  <a:gd name="T21" fmla="*/ 2147483647 h 189"/>
                  <a:gd name="T22" fmla="*/ 2147483647 w 85"/>
                  <a:gd name="T23" fmla="*/ 2147483647 h 189"/>
                  <a:gd name="T24" fmla="*/ 2147483647 w 85"/>
                  <a:gd name="T25" fmla="*/ 2147483647 h 189"/>
                  <a:gd name="T26" fmla="*/ 2147483647 w 85"/>
                  <a:gd name="T27" fmla="*/ 2147483647 h 189"/>
                  <a:gd name="T28" fmla="*/ 2147483647 w 85"/>
                  <a:gd name="T29" fmla="*/ 2147483647 h 189"/>
                  <a:gd name="T30" fmla="*/ 2147483647 w 85"/>
                  <a:gd name="T31" fmla="*/ 2147483647 h 189"/>
                  <a:gd name="T32" fmla="*/ 2147483647 w 85"/>
                  <a:gd name="T33" fmla="*/ 2147483647 h 189"/>
                  <a:gd name="T34" fmla="*/ 0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84" y="1"/>
                    </a:moveTo>
                    <a:lnTo>
                      <a:pt x="81" y="1"/>
                    </a:lnTo>
                    <a:lnTo>
                      <a:pt x="78" y="5"/>
                    </a:lnTo>
                    <a:lnTo>
                      <a:pt x="76" y="8"/>
                    </a:lnTo>
                    <a:lnTo>
                      <a:pt x="76" y="15"/>
                    </a:lnTo>
                    <a:lnTo>
                      <a:pt x="57" y="173"/>
                    </a:lnTo>
                    <a:lnTo>
                      <a:pt x="56" y="182"/>
                    </a:lnTo>
                    <a:lnTo>
                      <a:pt x="53" y="185"/>
                    </a:lnTo>
                    <a:lnTo>
                      <a:pt x="50" y="187"/>
                    </a:lnTo>
                    <a:lnTo>
                      <a:pt x="47" y="188"/>
                    </a:lnTo>
                    <a:lnTo>
                      <a:pt x="43" y="186"/>
                    </a:lnTo>
                    <a:lnTo>
                      <a:pt x="40" y="182"/>
                    </a:lnTo>
                    <a:lnTo>
                      <a:pt x="7" y="14"/>
                    </a:lnTo>
                    <a:lnTo>
                      <a:pt x="7" y="10"/>
                    </a:lnTo>
                    <a:lnTo>
                      <a:pt x="6" y="6"/>
                    </a:lnTo>
                    <a:lnTo>
                      <a:pt x="5" y="4"/>
                    </a:lnTo>
                    <a:lnTo>
                      <a:pt x="2" y="1"/>
                    </a:lnTo>
                    <a:lnTo>
                      <a:pt x="0" y="0"/>
                    </a:lnTo>
                  </a:path>
                </a:pathLst>
              </a:custGeom>
              <a:grpFill/>
              <a:ln w="12700" cap="rnd">
                <a:noFill/>
                <a:round/>
                <a:headEnd type="none" w="sm" len="sm"/>
                <a:tailEnd type="none" w="sm" len="sm"/>
              </a:ln>
            </p:spPr>
            <p:txBody>
              <a:bodyPr/>
              <a:lstStyle/>
              <a:p>
                <a:endParaRPr lang="en-US">
                  <a:cs typeface="Arial" charset="0"/>
                </a:endParaRPr>
              </a:p>
            </p:txBody>
          </p:sp>
          <p:sp>
            <p:nvSpPr>
              <p:cNvPr id="18489" name="Freeform 28"/>
              <p:cNvSpPr>
                <a:spLocks/>
              </p:cNvSpPr>
              <p:nvPr/>
            </p:nvSpPr>
            <p:spPr bwMode="auto">
              <a:xfrm>
                <a:off x="4241676" y="4606332"/>
                <a:ext cx="203058" cy="187918"/>
              </a:xfrm>
              <a:custGeom>
                <a:avLst/>
                <a:gdLst>
                  <a:gd name="T0" fmla="*/ 2147483647 w 88"/>
                  <a:gd name="T1" fmla="*/ 0 h 189"/>
                  <a:gd name="T2" fmla="*/ 2147483647 w 88"/>
                  <a:gd name="T3" fmla="*/ 2147483647 h 189"/>
                  <a:gd name="T4" fmla="*/ 2147483647 w 88"/>
                  <a:gd name="T5" fmla="*/ 2147483647 h 189"/>
                  <a:gd name="T6" fmla="*/ 2147483647 w 88"/>
                  <a:gd name="T7" fmla="*/ 2147483647 h 189"/>
                  <a:gd name="T8" fmla="*/ 2147483647 w 88"/>
                  <a:gd name="T9" fmla="*/ 2147483647 h 189"/>
                  <a:gd name="T10" fmla="*/ 2147483647 w 88"/>
                  <a:gd name="T11" fmla="*/ 2147483647 h 189"/>
                  <a:gd name="T12" fmla="*/ 2147483647 w 88"/>
                  <a:gd name="T13" fmla="*/ 2147483647 h 189"/>
                  <a:gd name="T14" fmla="*/ 2147483647 w 88"/>
                  <a:gd name="T15" fmla="*/ 2147483647 h 189"/>
                  <a:gd name="T16" fmla="*/ 2147483647 w 88"/>
                  <a:gd name="T17" fmla="*/ 2147483647 h 189"/>
                  <a:gd name="T18" fmla="*/ 2147483647 w 88"/>
                  <a:gd name="T19" fmla="*/ 2147483647 h 189"/>
                  <a:gd name="T20" fmla="*/ 2147483647 w 88"/>
                  <a:gd name="T21" fmla="*/ 2147483647 h 189"/>
                  <a:gd name="T22" fmla="*/ 2147483647 w 88"/>
                  <a:gd name="T23" fmla="*/ 2147483647 h 189"/>
                  <a:gd name="T24" fmla="*/ 2147483647 w 88"/>
                  <a:gd name="T25" fmla="*/ 2147483647 h 189"/>
                  <a:gd name="T26" fmla="*/ 2147483647 w 88"/>
                  <a:gd name="T27" fmla="*/ 2147483647 h 189"/>
                  <a:gd name="T28" fmla="*/ 2147483647 w 88"/>
                  <a:gd name="T29" fmla="*/ 2147483647 h 189"/>
                  <a:gd name="T30" fmla="*/ 2147483647 w 88"/>
                  <a:gd name="T31" fmla="*/ 2147483647 h 189"/>
                  <a:gd name="T32" fmla="*/ 2147483647 w 88"/>
                  <a:gd name="T33" fmla="*/ 2147483647 h 189"/>
                  <a:gd name="T34" fmla="*/ 0 w 88"/>
                  <a:gd name="T35" fmla="*/ 2147483647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9"/>
                  <a:gd name="T56" fmla="*/ 88 w 88"/>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9">
                    <a:moveTo>
                      <a:pt x="87" y="0"/>
                    </a:moveTo>
                    <a:lnTo>
                      <a:pt x="81" y="1"/>
                    </a:lnTo>
                    <a:lnTo>
                      <a:pt x="77" y="4"/>
                    </a:lnTo>
                    <a:lnTo>
                      <a:pt x="77" y="9"/>
                    </a:lnTo>
                    <a:lnTo>
                      <a:pt x="75" y="15"/>
                    </a:lnTo>
                    <a:lnTo>
                      <a:pt x="56" y="173"/>
                    </a:lnTo>
                    <a:lnTo>
                      <a:pt x="55" y="182"/>
                    </a:lnTo>
                    <a:lnTo>
                      <a:pt x="54" y="185"/>
                    </a:lnTo>
                    <a:lnTo>
                      <a:pt x="50" y="187"/>
                    </a:lnTo>
                    <a:lnTo>
                      <a:pt x="46" y="188"/>
                    </a:lnTo>
                    <a:lnTo>
                      <a:pt x="42" y="186"/>
                    </a:lnTo>
                    <a:lnTo>
                      <a:pt x="40" y="182"/>
                    </a:lnTo>
                    <a:lnTo>
                      <a:pt x="7" y="14"/>
                    </a:lnTo>
                    <a:lnTo>
                      <a:pt x="6" y="10"/>
                    </a:lnTo>
                    <a:lnTo>
                      <a:pt x="6" y="6"/>
                    </a:lnTo>
                    <a:lnTo>
                      <a:pt x="5" y="4"/>
                    </a:lnTo>
                    <a:lnTo>
                      <a:pt x="2" y="1"/>
                    </a:lnTo>
                    <a:lnTo>
                      <a:pt x="0" y="1"/>
                    </a:lnTo>
                  </a:path>
                </a:pathLst>
              </a:custGeom>
              <a:grpFill/>
              <a:ln w="12700" cap="rnd">
                <a:noFill/>
                <a:round/>
                <a:headEnd type="none" w="sm" len="sm"/>
                <a:tailEnd type="none" w="sm" len="sm"/>
              </a:ln>
            </p:spPr>
            <p:txBody>
              <a:bodyPr/>
              <a:lstStyle/>
              <a:p>
                <a:endParaRPr lang="en-US">
                  <a:cs typeface="Arial" charset="0"/>
                </a:endParaRPr>
              </a:p>
            </p:txBody>
          </p:sp>
          <p:sp>
            <p:nvSpPr>
              <p:cNvPr id="18490" name="Freeform 29"/>
              <p:cNvSpPr>
                <a:spLocks/>
              </p:cNvSpPr>
              <p:nvPr/>
            </p:nvSpPr>
            <p:spPr bwMode="auto">
              <a:xfrm>
                <a:off x="4043233" y="4606332"/>
                <a:ext cx="198443" cy="187918"/>
              </a:xfrm>
              <a:custGeom>
                <a:avLst/>
                <a:gdLst>
                  <a:gd name="T0" fmla="*/ 2147483647 w 86"/>
                  <a:gd name="T1" fmla="*/ 2147483647 h 189"/>
                  <a:gd name="T2" fmla="*/ 2147483647 w 86"/>
                  <a:gd name="T3" fmla="*/ 2147483647 h 189"/>
                  <a:gd name="T4" fmla="*/ 2147483647 w 86"/>
                  <a:gd name="T5" fmla="*/ 2147483647 h 189"/>
                  <a:gd name="T6" fmla="*/ 2147483647 w 86"/>
                  <a:gd name="T7" fmla="*/ 2147483647 h 189"/>
                  <a:gd name="T8" fmla="*/ 2147483647 w 86"/>
                  <a:gd name="T9" fmla="*/ 2147483647 h 189"/>
                  <a:gd name="T10" fmla="*/ 2147483647 w 86"/>
                  <a:gd name="T11" fmla="*/ 2147483647 h 189"/>
                  <a:gd name="T12" fmla="*/ 2147483647 w 86"/>
                  <a:gd name="T13" fmla="*/ 2147483647 h 189"/>
                  <a:gd name="T14" fmla="*/ 2147483647 w 86"/>
                  <a:gd name="T15" fmla="*/ 2147483647 h 189"/>
                  <a:gd name="T16" fmla="*/ 2147483647 w 86"/>
                  <a:gd name="T17" fmla="*/ 2147483647 h 189"/>
                  <a:gd name="T18" fmla="*/ 2147483647 w 86"/>
                  <a:gd name="T19" fmla="*/ 2147483647 h 189"/>
                  <a:gd name="T20" fmla="*/ 2147483647 w 86"/>
                  <a:gd name="T21" fmla="*/ 2147483647 h 189"/>
                  <a:gd name="T22" fmla="*/ 2147483647 w 86"/>
                  <a:gd name="T23" fmla="*/ 2147483647 h 189"/>
                  <a:gd name="T24" fmla="*/ 2147483647 w 86"/>
                  <a:gd name="T25" fmla="*/ 2147483647 h 189"/>
                  <a:gd name="T26" fmla="*/ 2147483647 w 86"/>
                  <a:gd name="T27" fmla="*/ 2147483647 h 189"/>
                  <a:gd name="T28" fmla="*/ 2147483647 w 86"/>
                  <a:gd name="T29" fmla="*/ 2147483647 h 189"/>
                  <a:gd name="T30" fmla="*/ 2147483647 w 86"/>
                  <a:gd name="T31" fmla="*/ 2147483647 h 189"/>
                  <a:gd name="T32" fmla="*/ 2147483647 w 86"/>
                  <a:gd name="T33" fmla="*/ 2147483647 h 189"/>
                  <a:gd name="T34" fmla="*/ 0 w 86"/>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189"/>
                  <a:gd name="T56" fmla="*/ 86 w 86"/>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189">
                    <a:moveTo>
                      <a:pt x="85" y="1"/>
                    </a:moveTo>
                    <a:lnTo>
                      <a:pt x="81" y="1"/>
                    </a:lnTo>
                    <a:lnTo>
                      <a:pt x="78" y="5"/>
                    </a:lnTo>
                    <a:lnTo>
                      <a:pt x="77" y="8"/>
                    </a:lnTo>
                    <a:lnTo>
                      <a:pt x="77" y="15"/>
                    </a:lnTo>
                    <a:lnTo>
                      <a:pt x="57" y="173"/>
                    </a:lnTo>
                    <a:lnTo>
                      <a:pt x="55" y="182"/>
                    </a:lnTo>
                    <a:lnTo>
                      <a:pt x="54" y="185"/>
                    </a:lnTo>
                    <a:lnTo>
                      <a:pt x="51" y="187"/>
                    </a:lnTo>
                    <a:lnTo>
                      <a:pt x="46" y="188"/>
                    </a:lnTo>
                    <a:lnTo>
                      <a:pt x="43" y="186"/>
                    </a:lnTo>
                    <a:lnTo>
                      <a:pt x="40" y="182"/>
                    </a:lnTo>
                    <a:lnTo>
                      <a:pt x="7" y="14"/>
                    </a:lnTo>
                    <a:lnTo>
                      <a:pt x="7" y="10"/>
                    </a:lnTo>
                    <a:lnTo>
                      <a:pt x="6" y="6"/>
                    </a:lnTo>
                    <a:lnTo>
                      <a:pt x="5" y="4"/>
                    </a:lnTo>
                    <a:lnTo>
                      <a:pt x="2" y="1"/>
                    </a:lnTo>
                    <a:lnTo>
                      <a:pt x="0" y="0"/>
                    </a:lnTo>
                  </a:path>
                </a:pathLst>
              </a:custGeom>
              <a:grpFill/>
              <a:ln w="12700" cap="rnd">
                <a:noFill/>
                <a:round/>
                <a:headEnd type="none" w="sm" len="sm"/>
                <a:tailEnd type="none" w="sm" len="sm"/>
              </a:ln>
            </p:spPr>
            <p:txBody>
              <a:bodyPr/>
              <a:lstStyle/>
              <a:p>
                <a:endParaRPr lang="en-US">
                  <a:cs typeface="Arial" charset="0"/>
                </a:endParaRPr>
              </a:p>
            </p:txBody>
          </p:sp>
          <p:sp>
            <p:nvSpPr>
              <p:cNvPr id="18491" name="Freeform 30"/>
              <p:cNvSpPr>
                <a:spLocks/>
              </p:cNvSpPr>
              <p:nvPr/>
            </p:nvSpPr>
            <p:spPr bwMode="auto">
              <a:xfrm>
                <a:off x="3844790" y="4606332"/>
                <a:ext cx="200750" cy="187918"/>
              </a:xfrm>
              <a:custGeom>
                <a:avLst/>
                <a:gdLst>
                  <a:gd name="T0" fmla="*/ 2147483647 w 87"/>
                  <a:gd name="T1" fmla="*/ 0 h 189"/>
                  <a:gd name="T2" fmla="*/ 2147483647 w 87"/>
                  <a:gd name="T3" fmla="*/ 2147483647 h 189"/>
                  <a:gd name="T4" fmla="*/ 2147483647 w 87"/>
                  <a:gd name="T5" fmla="*/ 2147483647 h 189"/>
                  <a:gd name="T6" fmla="*/ 2147483647 w 87"/>
                  <a:gd name="T7" fmla="*/ 2147483647 h 189"/>
                  <a:gd name="T8" fmla="*/ 2147483647 w 87"/>
                  <a:gd name="T9" fmla="*/ 2147483647 h 189"/>
                  <a:gd name="T10" fmla="*/ 2147483647 w 87"/>
                  <a:gd name="T11" fmla="*/ 2147483647 h 189"/>
                  <a:gd name="T12" fmla="*/ 2147483647 w 87"/>
                  <a:gd name="T13" fmla="*/ 2147483647 h 189"/>
                  <a:gd name="T14" fmla="*/ 2147483647 w 87"/>
                  <a:gd name="T15" fmla="*/ 2147483647 h 189"/>
                  <a:gd name="T16" fmla="*/ 2147483647 w 87"/>
                  <a:gd name="T17" fmla="*/ 2147483647 h 189"/>
                  <a:gd name="T18" fmla="*/ 2147483647 w 87"/>
                  <a:gd name="T19" fmla="*/ 2147483647 h 189"/>
                  <a:gd name="T20" fmla="*/ 2147483647 w 87"/>
                  <a:gd name="T21" fmla="*/ 2147483647 h 189"/>
                  <a:gd name="T22" fmla="*/ 2147483647 w 87"/>
                  <a:gd name="T23" fmla="*/ 2147483647 h 189"/>
                  <a:gd name="T24" fmla="*/ 2147483647 w 87"/>
                  <a:gd name="T25" fmla="*/ 2147483647 h 189"/>
                  <a:gd name="T26" fmla="*/ 2147483647 w 87"/>
                  <a:gd name="T27" fmla="*/ 2147483647 h 189"/>
                  <a:gd name="T28" fmla="*/ 2147483647 w 87"/>
                  <a:gd name="T29" fmla="*/ 2147483647 h 189"/>
                  <a:gd name="T30" fmla="*/ 2147483647 w 87"/>
                  <a:gd name="T31" fmla="*/ 2147483647 h 189"/>
                  <a:gd name="T32" fmla="*/ 2147483647 w 87"/>
                  <a:gd name="T33" fmla="*/ 2147483647 h 189"/>
                  <a:gd name="T34" fmla="*/ 0 w 87"/>
                  <a:gd name="T35" fmla="*/ 2147483647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86" y="0"/>
                    </a:moveTo>
                    <a:lnTo>
                      <a:pt x="80" y="1"/>
                    </a:lnTo>
                    <a:lnTo>
                      <a:pt x="76" y="4"/>
                    </a:lnTo>
                    <a:lnTo>
                      <a:pt x="76" y="9"/>
                    </a:lnTo>
                    <a:lnTo>
                      <a:pt x="74" y="15"/>
                    </a:lnTo>
                    <a:lnTo>
                      <a:pt x="55" y="173"/>
                    </a:lnTo>
                    <a:lnTo>
                      <a:pt x="54" y="182"/>
                    </a:lnTo>
                    <a:lnTo>
                      <a:pt x="53" y="185"/>
                    </a:lnTo>
                    <a:lnTo>
                      <a:pt x="49" y="187"/>
                    </a:lnTo>
                    <a:lnTo>
                      <a:pt x="46" y="188"/>
                    </a:lnTo>
                    <a:lnTo>
                      <a:pt x="41" y="186"/>
                    </a:lnTo>
                    <a:lnTo>
                      <a:pt x="39" y="182"/>
                    </a:lnTo>
                    <a:lnTo>
                      <a:pt x="7" y="14"/>
                    </a:lnTo>
                    <a:lnTo>
                      <a:pt x="6" y="10"/>
                    </a:lnTo>
                    <a:lnTo>
                      <a:pt x="6" y="6"/>
                    </a:lnTo>
                    <a:lnTo>
                      <a:pt x="5" y="4"/>
                    </a:lnTo>
                    <a:lnTo>
                      <a:pt x="2" y="1"/>
                    </a:lnTo>
                    <a:lnTo>
                      <a:pt x="0" y="1"/>
                    </a:lnTo>
                  </a:path>
                </a:pathLst>
              </a:custGeom>
              <a:grpFill/>
              <a:ln w="12700" cap="rnd">
                <a:noFill/>
                <a:round/>
                <a:headEnd type="none" w="sm" len="sm"/>
                <a:tailEnd type="none" w="sm" len="sm"/>
              </a:ln>
            </p:spPr>
            <p:txBody>
              <a:bodyPr/>
              <a:lstStyle/>
              <a:p>
                <a:endParaRPr lang="en-US">
                  <a:cs typeface="Arial" charset="0"/>
                </a:endParaRPr>
              </a:p>
            </p:txBody>
          </p:sp>
          <p:sp>
            <p:nvSpPr>
              <p:cNvPr id="18492" name="Freeform 31"/>
              <p:cNvSpPr>
                <a:spLocks/>
              </p:cNvSpPr>
              <p:nvPr/>
            </p:nvSpPr>
            <p:spPr bwMode="auto">
              <a:xfrm>
                <a:off x="3639425" y="4606332"/>
                <a:ext cx="196135" cy="187918"/>
              </a:xfrm>
              <a:custGeom>
                <a:avLst/>
                <a:gdLst>
                  <a:gd name="T0" fmla="*/ 2147483647 w 85"/>
                  <a:gd name="T1" fmla="*/ 2147483647 h 189"/>
                  <a:gd name="T2" fmla="*/ 2147483647 w 85"/>
                  <a:gd name="T3" fmla="*/ 2147483647 h 189"/>
                  <a:gd name="T4" fmla="*/ 2147483647 w 85"/>
                  <a:gd name="T5" fmla="*/ 2147483647 h 189"/>
                  <a:gd name="T6" fmla="*/ 2147483647 w 85"/>
                  <a:gd name="T7" fmla="*/ 2147483647 h 189"/>
                  <a:gd name="T8" fmla="*/ 2147483647 w 85"/>
                  <a:gd name="T9" fmla="*/ 2147483647 h 189"/>
                  <a:gd name="T10" fmla="*/ 2147483647 w 85"/>
                  <a:gd name="T11" fmla="*/ 2147483647 h 189"/>
                  <a:gd name="T12" fmla="*/ 2147483647 w 85"/>
                  <a:gd name="T13" fmla="*/ 2147483647 h 189"/>
                  <a:gd name="T14" fmla="*/ 2147483647 w 85"/>
                  <a:gd name="T15" fmla="*/ 2147483647 h 189"/>
                  <a:gd name="T16" fmla="*/ 2147483647 w 85"/>
                  <a:gd name="T17" fmla="*/ 2147483647 h 189"/>
                  <a:gd name="T18" fmla="*/ 2147483647 w 85"/>
                  <a:gd name="T19" fmla="*/ 2147483647 h 189"/>
                  <a:gd name="T20" fmla="*/ 2147483647 w 85"/>
                  <a:gd name="T21" fmla="*/ 2147483647 h 189"/>
                  <a:gd name="T22" fmla="*/ 2147483647 w 85"/>
                  <a:gd name="T23" fmla="*/ 2147483647 h 189"/>
                  <a:gd name="T24" fmla="*/ 2147483647 w 85"/>
                  <a:gd name="T25" fmla="*/ 2147483647 h 189"/>
                  <a:gd name="T26" fmla="*/ 2147483647 w 85"/>
                  <a:gd name="T27" fmla="*/ 2147483647 h 189"/>
                  <a:gd name="T28" fmla="*/ 2147483647 w 85"/>
                  <a:gd name="T29" fmla="*/ 2147483647 h 189"/>
                  <a:gd name="T30" fmla="*/ 2147483647 w 85"/>
                  <a:gd name="T31" fmla="*/ 2147483647 h 189"/>
                  <a:gd name="T32" fmla="*/ 2147483647 w 85"/>
                  <a:gd name="T33" fmla="*/ 2147483647 h 189"/>
                  <a:gd name="T34" fmla="*/ 0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84" y="1"/>
                    </a:moveTo>
                    <a:lnTo>
                      <a:pt x="80" y="1"/>
                    </a:lnTo>
                    <a:lnTo>
                      <a:pt x="77" y="5"/>
                    </a:lnTo>
                    <a:lnTo>
                      <a:pt x="76" y="8"/>
                    </a:lnTo>
                    <a:lnTo>
                      <a:pt x="75" y="15"/>
                    </a:lnTo>
                    <a:lnTo>
                      <a:pt x="57" y="173"/>
                    </a:lnTo>
                    <a:lnTo>
                      <a:pt x="54" y="182"/>
                    </a:lnTo>
                    <a:lnTo>
                      <a:pt x="53" y="184"/>
                    </a:lnTo>
                    <a:lnTo>
                      <a:pt x="50" y="187"/>
                    </a:lnTo>
                    <a:lnTo>
                      <a:pt x="46" y="188"/>
                    </a:lnTo>
                    <a:lnTo>
                      <a:pt x="43" y="186"/>
                    </a:lnTo>
                    <a:lnTo>
                      <a:pt x="39" y="182"/>
                    </a:lnTo>
                    <a:lnTo>
                      <a:pt x="7" y="14"/>
                    </a:lnTo>
                    <a:lnTo>
                      <a:pt x="7" y="10"/>
                    </a:lnTo>
                    <a:lnTo>
                      <a:pt x="6" y="6"/>
                    </a:lnTo>
                    <a:lnTo>
                      <a:pt x="5" y="3"/>
                    </a:lnTo>
                    <a:lnTo>
                      <a:pt x="2" y="1"/>
                    </a:lnTo>
                    <a:lnTo>
                      <a:pt x="0" y="0"/>
                    </a:lnTo>
                  </a:path>
                </a:pathLst>
              </a:custGeom>
              <a:grpFill/>
              <a:ln w="12700" cap="rnd">
                <a:noFill/>
                <a:round/>
                <a:headEnd type="none" w="sm" len="sm"/>
                <a:tailEnd type="none" w="sm" len="sm"/>
              </a:ln>
            </p:spPr>
            <p:txBody>
              <a:bodyPr/>
              <a:lstStyle/>
              <a:p>
                <a:endParaRPr lang="en-US">
                  <a:cs typeface="Arial" charset="0"/>
                </a:endParaRPr>
              </a:p>
            </p:txBody>
          </p:sp>
          <p:sp>
            <p:nvSpPr>
              <p:cNvPr id="18493" name="Freeform 32"/>
              <p:cNvSpPr>
                <a:spLocks/>
              </p:cNvSpPr>
              <p:nvPr/>
            </p:nvSpPr>
            <p:spPr bwMode="auto">
              <a:xfrm>
                <a:off x="3438675" y="4605338"/>
                <a:ext cx="203058" cy="188912"/>
              </a:xfrm>
              <a:custGeom>
                <a:avLst/>
                <a:gdLst>
                  <a:gd name="T0" fmla="*/ 2147483647 w 88"/>
                  <a:gd name="T1" fmla="*/ 0 h 190"/>
                  <a:gd name="T2" fmla="*/ 2147483647 w 88"/>
                  <a:gd name="T3" fmla="*/ 2147483647 h 190"/>
                  <a:gd name="T4" fmla="*/ 2147483647 w 88"/>
                  <a:gd name="T5" fmla="*/ 2147483647 h 190"/>
                  <a:gd name="T6" fmla="*/ 2147483647 w 88"/>
                  <a:gd name="T7" fmla="*/ 2147483647 h 190"/>
                  <a:gd name="T8" fmla="*/ 2147483647 w 88"/>
                  <a:gd name="T9" fmla="*/ 2147483647 h 190"/>
                  <a:gd name="T10" fmla="*/ 2147483647 w 88"/>
                  <a:gd name="T11" fmla="*/ 2147483647 h 190"/>
                  <a:gd name="T12" fmla="*/ 2147483647 w 88"/>
                  <a:gd name="T13" fmla="*/ 2147483647 h 190"/>
                  <a:gd name="T14" fmla="*/ 2147483647 w 88"/>
                  <a:gd name="T15" fmla="*/ 2147483647 h 190"/>
                  <a:gd name="T16" fmla="*/ 2147483647 w 88"/>
                  <a:gd name="T17" fmla="*/ 2147483647 h 190"/>
                  <a:gd name="T18" fmla="*/ 2147483647 w 88"/>
                  <a:gd name="T19" fmla="*/ 2147483647 h 190"/>
                  <a:gd name="T20" fmla="*/ 2147483647 w 88"/>
                  <a:gd name="T21" fmla="*/ 2147483647 h 190"/>
                  <a:gd name="T22" fmla="*/ 2147483647 w 88"/>
                  <a:gd name="T23" fmla="*/ 2147483647 h 190"/>
                  <a:gd name="T24" fmla="*/ 2147483647 w 88"/>
                  <a:gd name="T25" fmla="*/ 2147483647 h 190"/>
                  <a:gd name="T26" fmla="*/ 2147483647 w 88"/>
                  <a:gd name="T27" fmla="*/ 2147483647 h 190"/>
                  <a:gd name="T28" fmla="*/ 2147483647 w 88"/>
                  <a:gd name="T29" fmla="*/ 2147483647 h 190"/>
                  <a:gd name="T30" fmla="*/ 2147483647 w 88"/>
                  <a:gd name="T31" fmla="*/ 2147483647 h 190"/>
                  <a:gd name="T32" fmla="*/ 2147483647 w 88"/>
                  <a:gd name="T33" fmla="*/ 2147483647 h 190"/>
                  <a:gd name="T34" fmla="*/ 0 w 88"/>
                  <a:gd name="T35" fmla="*/ 2147483647 h 1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90"/>
                  <a:gd name="T56" fmla="*/ 88 w 88"/>
                  <a:gd name="T57" fmla="*/ 190 h 1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90">
                    <a:moveTo>
                      <a:pt x="87" y="0"/>
                    </a:moveTo>
                    <a:lnTo>
                      <a:pt x="81" y="1"/>
                    </a:lnTo>
                    <a:lnTo>
                      <a:pt x="78" y="4"/>
                    </a:lnTo>
                    <a:lnTo>
                      <a:pt x="77" y="9"/>
                    </a:lnTo>
                    <a:lnTo>
                      <a:pt x="76" y="16"/>
                    </a:lnTo>
                    <a:lnTo>
                      <a:pt x="57" y="174"/>
                    </a:lnTo>
                    <a:lnTo>
                      <a:pt x="56" y="183"/>
                    </a:lnTo>
                    <a:lnTo>
                      <a:pt x="53" y="185"/>
                    </a:lnTo>
                    <a:lnTo>
                      <a:pt x="51" y="187"/>
                    </a:lnTo>
                    <a:lnTo>
                      <a:pt x="46" y="189"/>
                    </a:lnTo>
                    <a:lnTo>
                      <a:pt x="43" y="187"/>
                    </a:lnTo>
                    <a:lnTo>
                      <a:pt x="40" y="183"/>
                    </a:lnTo>
                    <a:lnTo>
                      <a:pt x="7" y="15"/>
                    </a:lnTo>
                    <a:lnTo>
                      <a:pt x="7" y="10"/>
                    </a:lnTo>
                    <a:lnTo>
                      <a:pt x="6" y="7"/>
                    </a:lnTo>
                    <a:lnTo>
                      <a:pt x="5" y="4"/>
                    </a:lnTo>
                    <a:lnTo>
                      <a:pt x="3" y="1"/>
                    </a:lnTo>
                    <a:lnTo>
                      <a:pt x="0" y="1"/>
                    </a:lnTo>
                  </a:path>
                </a:pathLst>
              </a:custGeom>
              <a:grpFill/>
              <a:ln w="12700" cap="rnd">
                <a:noFill/>
                <a:round/>
                <a:headEnd type="none" w="sm" len="sm"/>
                <a:tailEnd type="none" w="sm" len="sm"/>
              </a:ln>
            </p:spPr>
            <p:txBody>
              <a:bodyPr/>
              <a:lstStyle/>
              <a:p>
                <a:endParaRPr lang="en-US">
                  <a:cs typeface="Arial" charset="0"/>
                </a:endParaRPr>
              </a:p>
            </p:txBody>
          </p:sp>
          <p:sp>
            <p:nvSpPr>
              <p:cNvPr id="18494" name="Freeform 33"/>
              <p:cNvSpPr>
                <a:spLocks/>
              </p:cNvSpPr>
              <p:nvPr/>
            </p:nvSpPr>
            <p:spPr bwMode="auto">
              <a:xfrm>
                <a:off x="3237925" y="4606332"/>
                <a:ext cx="200750" cy="187918"/>
              </a:xfrm>
              <a:custGeom>
                <a:avLst/>
                <a:gdLst>
                  <a:gd name="T0" fmla="*/ 2147483647 w 87"/>
                  <a:gd name="T1" fmla="*/ 2147483647 h 189"/>
                  <a:gd name="T2" fmla="*/ 2147483647 w 87"/>
                  <a:gd name="T3" fmla="*/ 2147483647 h 189"/>
                  <a:gd name="T4" fmla="*/ 2147483647 w 87"/>
                  <a:gd name="T5" fmla="*/ 2147483647 h 189"/>
                  <a:gd name="T6" fmla="*/ 2147483647 w 87"/>
                  <a:gd name="T7" fmla="*/ 2147483647 h 189"/>
                  <a:gd name="T8" fmla="*/ 2147483647 w 87"/>
                  <a:gd name="T9" fmla="*/ 2147483647 h 189"/>
                  <a:gd name="T10" fmla="*/ 2147483647 w 87"/>
                  <a:gd name="T11" fmla="*/ 2147483647 h 189"/>
                  <a:gd name="T12" fmla="*/ 2147483647 w 87"/>
                  <a:gd name="T13" fmla="*/ 2147483647 h 189"/>
                  <a:gd name="T14" fmla="*/ 2147483647 w 87"/>
                  <a:gd name="T15" fmla="*/ 2147483647 h 189"/>
                  <a:gd name="T16" fmla="*/ 2147483647 w 87"/>
                  <a:gd name="T17" fmla="*/ 2147483647 h 189"/>
                  <a:gd name="T18" fmla="*/ 2147483647 w 87"/>
                  <a:gd name="T19" fmla="*/ 2147483647 h 189"/>
                  <a:gd name="T20" fmla="*/ 2147483647 w 87"/>
                  <a:gd name="T21" fmla="*/ 2147483647 h 189"/>
                  <a:gd name="T22" fmla="*/ 2147483647 w 87"/>
                  <a:gd name="T23" fmla="*/ 2147483647 h 189"/>
                  <a:gd name="T24" fmla="*/ 2147483647 w 87"/>
                  <a:gd name="T25" fmla="*/ 2147483647 h 189"/>
                  <a:gd name="T26" fmla="*/ 2147483647 w 87"/>
                  <a:gd name="T27" fmla="*/ 2147483647 h 189"/>
                  <a:gd name="T28" fmla="*/ 2147483647 w 87"/>
                  <a:gd name="T29" fmla="*/ 2147483647 h 189"/>
                  <a:gd name="T30" fmla="*/ 2147483647 w 87"/>
                  <a:gd name="T31" fmla="*/ 2147483647 h 189"/>
                  <a:gd name="T32" fmla="*/ 2147483647 w 87"/>
                  <a:gd name="T33" fmla="*/ 2147483647 h 189"/>
                  <a:gd name="T34" fmla="*/ 0 w 87"/>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86" y="1"/>
                    </a:moveTo>
                    <a:lnTo>
                      <a:pt x="83" y="1"/>
                    </a:lnTo>
                    <a:lnTo>
                      <a:pt x="80" y="5"/>
                    </a:lnTo>
                    <a:lnTo>
                      <a:pt x="79" y="8"/>
                    </a:lnTo>
                    <a:lnTo>
                      <a:pt x="78" y="15"/>
                    </a:lnTo>
                    <a:lnTo>
                      <a:pt x="59" y="173"/>
                    </a:lnTo>
                    <a:lnTo>
                      <a:pt x="57" y="182"/>
                    </a:lnTo>
                    <a:lnTo>
                      <a:pt x="55" y="184"/>
                    </a:lnTo>
                    <a:lnTo>
                      <a:pt x="52" y="187"/>
                    </a:lnTo>
                    <a:lnTo>
                      <a:pt x="48" y="188"/>
                    </a:lnTo>
                    <a:lnTo>
                      <a:pt x="44" y="186"/>
                    </a:lnTo>
                    <a:lnTo>
                      <a:pt x="42" y="182"/>
                    </a:lnTo>
                    <a:lnTo>
                      <a:pt x="9" y="14"/>
                    </a:lnTo>
                    <a:lnTo>
                      <a:pt x="8" y="10"/>
                    </a:lnTo>
                    <a:lnTo>
                      <a:pt x="7" y="6"/>
                    </a:lnTo>
                    <a:lnTo>
                      <a:pt x="6" y="3"/>
                    </a:lnTo>
                    <a:lnTo>
                      <a:pt x="4" y="1"/>
                    </a:lnTo>
                    <a:lnTo>
                      <a:pt x="0" y="0"/>
                    </a:lnTo>
                  </a:path>
                </a:pathLst>
              </a:custGeom>
              <a:grpFill/>
              <a:ln w="12700" cap="rnd">
                <a:noFill/>
                <a:round/>
                <a:headEnd type="none" w="sm" len="sm"/>
                <a:tailEnd type="none" w="sm" len="sm"/>
              </a:ln>
            </p:spPr>
            <p:txBody>
              <a:bodyPr/>
              <a:lstStyle/>
              <a:p>
                <a:endParaRPr lang="en-US">
                  <a:cs typeface="Arial" charset="0"/>
                </a:endParaRPr>
              </a:p>
            </p:txBody>
          </p:sp>
          <p:sp>
            <p:nvSpPr>
              <p:cNvPr id="18495" name="Freeform 34"/>
              <p:cNvSpPr>
                <a:spLocks/>
              </p:cNvSpPr>
              <p:nvPr/>
            </p:nvSpPr>
            <p:spPr bwMode="auto">
              <a:xfrm>
                <a:off x="3104092" y="4605338"/>
                <a:ext cx="136141" cy="188912"/>
              </a:xfrm>
              <a:custGeom>
                <a:avLst/>
                <a:gdLst>
                  <a:gd name="T0" fmla="*/ 2147483647 w 59"/>
                  <a:gd name="T1" fmla="*/ 0 h 190"/>
                  <a:gd name="T2" fmla="*/ 2147483647 w 59"/>
                  <a:gd name="T3" fmla="*/ 2147483647 h 190"/>
                  <a:gd name="T4" fmla="*/ 2147483647 w 59"/>
                  <a:gd name="T5" fmla="*/ 2147483647 h 190"/>
                  <a:gd name="T6" fmla="*/ 2147483647 w 59"/>
                  <a:gd name="T7" fmla="*/ 2147483647 h 190"/>
                  <a:gd name="T8" fmla="*/ 2147483647 w 59"/>
                  <a:gd name="T9" fmla="*/ 2147483647 h 190"/>
                  <a:gd name="T10" fmla="*/ 2147483647 w 59"/>
                  <a:gd name="T11" fmla="*/ 2147483647 h 190"/>
                  <a:gd name="T12" fmla="*/ 2147483647 w 59"/>
                  <a:gd name="T13" fmla="*/ 2147483647 h 190"/>
                  <a:gd name="T14" fmla="*/ 2147483647 w 59"/>
                  <a:gd name="T15" fmla="*/ 2147483647 h 190"/>
                  <a:gd name="T16" fmla="*/ 2147483647 w 59"/>
                  <a:gd name="T17" fmla="*/ 2147483647 h 190"/>
                  <a:gd name="T18" fmla="*/ 2147483647 w 59"/>
                  <a:gd name="T19" fmla="*/ 2147483647 h 190"/>
                  <a:gd name="T20" fmla="*/ 2147483647 w 59"/>
                  <a:gd name="T21" fmla="*/ 2147483647 h 190"/>
                  <a:gd name="T22" fmla="*/ 2147483647 w 59"/>
                  <a:gd name="T23" fmla="*/ 2147483647 h 190"/>
                  <a:gd name="T24" fmla="*/ 0 w 59"/>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9"/>
                  <a:gd name="T40" fmla="*/ 0 h 190"/>
                  <a:gd name="T41" fmla="*/ 59 w 59"/>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9" h="190">
                    <a:moveTo>
                      <a:pt x="58" y="0"/>
                    </a:moveTo>
                    <a:lnTo>
                      <a:pt x="53" y="1"/>
                    </a:lnTo>
                    <a:lnTo>
                      <a:pt x="49" y="4"/>
                    </a:lnTo>
                    <a:lnTo>
                      <a:pt x="48" y="9"/>
                    </a:lnTo>
                    <a:lnTo>
                      <a:pt x="47" y="16"/>
                    </a:lnTo>
                    <a:lnTo>
                      <a:pt x="29" y="174"/>
                    </a:lnTo>
                    <a:lnTo>
                      <a:pt x="26" y="183"/>
                    </a:lnTo>
                    <a:lnTo>
                      <a:pt x="25" y="185"/>
                    </a:lnTo>
                    <a:lnTo>
                      <a:pt x="21" y="187"/>
                    </a:lnTo>
                    <a:lnTo>
                      <a:pt x="18" y="189"/>
                    </a:lnTo>
                    <a:lnTo>
                      <a:pt x="13" y="187"/>
                    </a:lnTo>
                    <a:lnTo>
                      <a:pt x="11" y="183"/>
                    </a:lnTo>
                    <a:lnTo>
                      <a:pt x="0" y="102"/>
                    </a:lnTo>
                  </a:path>
                </a:pathLst>
              </a:custGeom>
              <a:grpFill/>
              <a:ln w="12700" cap="rnd">
                <a:noFill/>
                <a:round/>
                <a:headEnd type="none" w="sm" len="sm"/>
                <a:tailEnd type="none" w="sm" len="sm"/>
              </a:ln>
            </p:spPr>
            <p:txBody>
              <a:bodyPr/>
              <a:lstStyle/>
              <a:p>
                <a:endParaRPr lang="en-US">
                  <a:cs typeface="Arial" charset="0"/>
                </a:endParaRPr>
              </a:p>
            </p:txBody>
          </p:sp>
        </p:grpSp>
        <p:sp>
          <p:nvSpPr>
            <p:cNvPr id="70" name="Right Arrow 69"/>
            <p:cNvSpPr/>
            <p:nvPr/>
          </p:nvSpPr>
          <p:spPr bwMode="auto">
            <a:xfrm rot="10800000">
              <a:off x="2764541" y="4332492"/>
              <a:ext cx="2850360" cy="733663"/>
            </a:xfrm>
            <a:prstGeom prst="rightArrow">
              <a:avLst/>
            </a:prstGeom>
            <a:grpFill/>
            <a:ln w="19050">
              <a:noFill/>
              <a:headEnd type="none" w="med" len="med"/>
              <a:tailEnd type="none" w="med" len="med"/>
            </a:ln>
            <a:effectLst/>
          </p:spPr>
          <p:style>
            <a:lnRef idx="0">
              <a:schemeClr val="dk1"/>
            </a:lnRef>
            <a:fillRef idx="3">
              <a:schemeClr val="dk1"/>
            </a:fillRef>
            <a:effectRef idx="3">
              <a:schemeClr val="dk1"/>
            </a:effectRef>
            <a:fontRef idx="minor">
              <a:schemeClr val="lt1"/>
            </a:fontRef>
          </p:style>
          <p:txBody>
            <a:bodyPr>
              <a:spAutoFit/>
            </a:bodyPr>
            <a:lstStyle/>
            <a:p>
              <a:pPr>
                <a:defRPr/>
              </a:pPr>
              <a:endParaRPr lang="en-GB" dirty="0">
                <a:solidFill>
                  <a:schemeClr val="tx1"/>
                </a:solidFill>
              </a:endParaRPr>
            </a:p>
          </p:txBody>
        </p:sp>
      </p:grpSp>
      <p:grpSp>
        <p:nvGrpSpPr>
          <p:cNvPr id="8" name="Group 6"/>
          <p:cNvGrpSpPr>
            <a:grpSpLocks/>
          </p:cNvGrpSpPr>
          <p:nvPr/>
        </p:nvGrpSpPr>
        <p:grpSpPr bwMode="auto">
          <a:xfrm>
            <a:off x="4752028" y="3262745"/>
            <a:ext cx="2196099" cy="203200"/>
            <a:chOff x="1441" y="1826"/>
            <a:chExt cx="952" cy="190"/>
          </a:xfrm>
        </p:grpSpPr>
        <p:sp>
          <p:nvSpPr>
            <p:cNvPr id="18468" name="Freeform 7"/>
            <p:cNvSpPr>
              <a:spLocks/>
            </p:cNvSpPr>
            <p:nvPr/>
          </p:nvSpPr>
          <p:spPr bwMode="auto">
            <a:xfrm>
              <a:off x="1441" y="1829"/>
              <a:ext cx="24" cy="97"/>
            </a:xfrm>
            <a:custGeom>
              <a:avLst/>
              <a:gdLst>
                <a:gd name="T0" fmla="*/ 0 w 24"/>
                <a:gd name="T1" fmla="*/ 96 h 97"/>
                <a:gd name="T2" fmla="*/ 14 w 24"/>
                <a:gd name="T3" fmla="*/ 15 h 97"/>
                <a:gd name="T4" fmla="*/ 15 w 24"/>
                <a:gd name="T5" fmla="*/ 11 h 97"/>
                <a:gd name="T6" fmla="*/ 15 w 24"/>
                <a:gd name="T7" fmla="*/ 7 h 97"/>
                <a:gd name="T8" fmla="*/ 17 w 24"/>
                <a:gd name="T9" fmla="*/ 4 h 97"/>
                <a:gd name="T10" fmla="*/ 19 w 24"/>
                <a:gd name="T11" fmla="*/ 2 h 97"/>
                <a:gd name="T12" fmla="*/ 23 w 24"/>
                <a:gd name="T13" fmla="*/ 0 h 97"/>
                <a:gd name="T14" fmla="*/ 0 60000 65536"/>
                <a:gd name="T15" fmla="*/ 0 60000 65536"/>
                <a:gd name="T16" fmla="*/ 0 60000 65536"/>
                <a:gd name="T17" fmla="*/ 0 60000 65536"/>
                <a:gd name="T18" fmla="*/ 0 60000 65536"/>
                <a:gd name="T19" fmla="*/ 0 60000 65536"/>
                <a:gd name="T20" fmla="*/ 0 60000 65536"/>
                <a:gd name="T21" fmla="*/ 0 w 24"/>
                <a:gd name="T22" fmla="*/ 0 h 97"/>
                <a:gd name="T23" fmla="*/ 24 w 24"/>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97">
                  <a:moveTo>
                    <a:pt x="0" y="96"/>
                  </a:moveTo>
                  <a:lnTo>
                    <a:pt x="14" y="15"/>
                  </a:lnTo>
                  <a:lnTo>
                    <a:pt x="15" y="11"/>
                  </a:lnTo>
                  <a:lnTo>
                    <a:pt x="15" y="7"/>
                  </a:lnTo>
                  <a:lnTo>
                    <a:pt x="17" y="4"/>
                  </a:lnTo>
                  <a:lnTo>
                    <a:pt x="19" y="2"/>
                  </a:lnTo>
                  <a:lnTo>
                    <a:pt x="23" y="0"/>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69" name="Freeform 8"/>
            <p:cNvSpPr>
              <a:spLocks/>
            </p:cNvSpPr>
            <p:nvPr/>
          </p:nvSpPr>
          <p:spPr bwMode="auto">
            <a:xfrm>
              <a:off x="1462" y="1828"/>
              <a:ext cx="88" cy="188"/>
            </a:xfrm>
            <a:custGeom>
              <a:avLst/>
              <a:gdLst>
                <a:gd name="T0" fmla="*/ 0 w 88"/>
                <a:gd name="T1" fmla="*/ 0 h 188"/>
                <a:gd name="T2" fmla="*/ 4 w 88"/>
                <a:gd name="T3" fmla="*/ 1 h 188"/>
                <a:gd name="T4" fmla="*/ 8 w 88"/>
                <a:gd name="T5" fmla="*/ 5 h 188"/>
                <a:gd name="T6" fmla="*/ 9 w 88"/>
                <a:gd name="T7" fmla="*/ 9 h 188"/>
                <a:gd name="T8" fmla="*/ 10 w 88"/>
                <a:gd name="T9" fmla="*/ 16 h 188"/>
                <a:gd name="T10" fmla="*/ 29 w 88"/>
                <a:gd name="T11" fmla="*/ 172 h 188"/>
                <a:gd name="T12" fmla="*/ 31 w 88"/>
                <a:gd name="T13" fmla="*/ 181 h 188"/>
                <a:gd name="T14" fmla="*/ 32 w 88"/>
                <a:gd name="T15" fmla="*/ 184 h 188"/>
                <a:gd name="T16" fmla="*/ 35 w 88"/>
                <a:gd name="T17" fmla="*/ 187 h 188"/>
                <a:gd name="T18" fmla="*/ 40 w 88"/>
                <a:gd name="T19" fmla="*/ 187 h 188"/>
                <a:gd name="T20" fmla="*/ 44 w 88"/>
                <a:gd name="T21" fmla="*/ 185 h 188"/>
                <a:gd name="T22" fmla="*/ 46 w 88"/>
                <a:gd name="T23" fmla="*/ 181 h 188"/>
                <a:gd name="T24" fmla="*/ 78 w 88"/>
                <a:gd name="T25" fmla="*/ 15 h 188"/>
                <a:gd name="T26" fmla="*/ 79 w 88"/>
                <a:gd name="T27" fmla="*/ 11 h 188"/>
                <a:gd name="T28" fmla="*/ 80 w 88"/>
                <a:gd name="T29" fmla="*/ 7 h 188"/>
                <a:gd name="T30" fmla="*/ 81 w 88"/>
                <a:gd name="T31" fmla="*/ 5 h 188"/>
                <a:gd name="T32" fmla="*/ 83 w 88"/>
                <a:gd name="T33" fmla="*/ 1 h 188"/>
                <a:gd name="T34" fmla="*/ 87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0" y="0"/>
                  </a:moveTo>
                  <a:lnTo>
                    <a:pt x="4" y="1"/>
                  </a:lnTo>
                  <a:lnTo>
                    <a:pt x="8" y="5"/>
                  </a:lnTo>
                  <a:lnTo>
                    <a:pt x="9" y="9"/>
                  </a:lnTo>
                  <a:lnTo>
                    <a:pt x="10" y="16"/>
                  </a:lnTo>
                  <a:lnTo>
                    <a:pt x="29" y="172"/>
                  </a:lnTo>
                  <a:lnTo>
                    <a:pt x="31" y="181"/>
                  </a:lnTo>
                  <a:lnTo>
                    <a:pt x="32" y="184"/>
                  </a:lnTo>
                  <a:lnTo>
                    <a:pt x="35" y="187"/>
                  </a:lnTo>
                  <a:lnTo>
                    <a:pt x="40" y="187"/>
                  </a:lnTo>
                  <a:lnTo>
                    <a:pt x="44" y="185"/>
                  </a:lnTo>
                  <a:lnTo>
                    <a:pt x="46" y="181"/>
                  </a:lnTo>
                  <a:lnTo>
                    <a:pt x="78" y="15"/>
                  </a:lnTo>
                  <a:lnTo>
                    <a:pt x="79" y="11"/>
                  </a:lnTo>
                  <a:lnTo>
                    <a:pt x="80" y="7"/>
                  </a:lnTo>
                  <a:lnTo>
                    <a:pt x="81" y="5"/>
                  </a:lnTo>
                  <a:lnTo>
                    <a:pt x="83" y="1"/>
                  </a:lnTo>
                  <a:lnTo>
                    <a:pt x="87" y="1"/>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70" name="Freeform 9"/>
            <p:cNvSpPr>
              <a:spLocks/>
            </p:cNvSpPr>
            <p:nvPr/>
          </p:nvSpPr>
          <p:spPr bwMode="auto">
            <a:xfrm>
              <a:off x="1552" y="1828"/>
              <a:ext cx="84" cy="188"/>
            </a:xfrm>
            <a:custGeom>
              <a:avLst/>
              <a:gdLst>
                <a:gd name="T0" fmla="*/ 0 w 84"/>
                <a:gd name="T1" fmla="*/ 1 h 188"/>
                <a:gd name="T2" fmla="*/ 2 w 84"/>
                <a:gd name="T3" fmla="*/ 2 h 188"/>
                <a:gd name="T4" fmla="*/ 5 w 84"/>
                <a:gd name="T5" fmla="*/ 5 h 188"/>
                <a:gd name="T6" fmla="*/ 5 w 84"/>
                <a:gd name="T7" fmla="*/ 9 h 188"/>
                <a:gd name="T8" fmla="*/ 7 w 84"/>
                <a:gd name="T9" fmla="*/ 16 h 188"/>
                <a:gd name="T10" fmla="*/ 26 w 84"/>
                <a:gd name="T11" fmla="*/ 172 h 188"/>
                <a:gd name="T12" fmla="*/ 27 w 84"/>
                <a:gd name="T13" fmla="*/ 181 h 188"/>
                <a:gd name="T14" fmla="*/ 29 w 84"/>
                <a:gd name="T15" fmla="*/ 184 h 188"/>
                <a:gd name="T16" fmla="*/ 32 w 84"/>
                <a:gd name="T17" fmla="*/ 187 h 188"/>
                <a:gd name="T18" fmla="*/ 36 w 84"/>
                <a:gd name="T19" fmla="*/ 187 h 188"/>
                <a:gd name="T20" fmla="*/ 40 w 84"/>
                <a:gd name="T21" fmla="*/ 185 h 188"/>
                <a:gd name="T22" fmla="*/ 42 w 84"/>
                <a:gd name="T23" fmla="*/ 181 h 188"/>
                <a:gd name="T24" fmla="*/ 75 w 84"/>
                <a:gd name="T25" fmla="*/ 15 h 188"/>
                <a:gd name="T26" fmla="*/ 75 w 84"/>
                <a:gd name="T27" fmla="*/ 11 h 188"/>
                <a:gd name="T28" fmla="*/ 76 w 84"/>
                <a:gd name="T29" fmla="*/ 7 h 188"/>
                <a:gd name="T30" fmla="*/ 77 w 84"/>
                <a:gd name="T31" fmla="*/ 5 h 188"/>
                <a:gd name="T32" fmla="*/ 79 w 84"/>
                <a:gd name="T33" fmla="*/ 3 h 188"/>
                <a:gd name="T34" fmla="*/ 83 w 84"/>
                <a:gd name="T35" fmla="*/ 0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4"/>
                <a:gd name="T55" fmla="*/ 0 h 188"/>
                <a:gd name="T56" fmla="*/ 84 w 84"/>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4" h="188">
                  <a:moveTo>
                    <a:pt x="0" y="1"/>
                  </a:moveTo>
                  <a:lnTo>
                    <a:pt x="2" y="2"/>
                  </a:lnTo>
                  <a:lnTo>
                    <a:pt x="5" y="5"/>
                  </a:lnTo>
                  <a:lnTo>
                    <a:pt x="5" y="9"/>
                  </a:lnTo>
                  <a:lnTo>
                    <a:pt x="7" y="16"/>
                  </a:lnTo>
                  <a:lnTo>
                    <a:pt x="26" y="172"/>
                  </a:lnTo>
                  <a:lnTo>
                    <a:pt x="27" y="181"/>
                  </a:lnTo>
                  <a:lnTo>
                    <a:pt x="29" y="184"/>
                  </a:lnTo>
                  <a:lnTo>
                    <a:pt x="32" y="187"/>
                  </a:lnTo>
                  <a:lnTo>
                    <a:pt x="36" y="187"/>
                  </a:lnTo>
                  <a:lnTo>
                    <a:pt x="40" y="185"/>
                  </a:lnTo>
                  <a:lnTo>
                    <a:pt x="42" y="181"/>
                  </a:lnTo>
                  <a:lnTo>
                    <a:pt x="75" y="15"/>
                  </a:lnTo>
                  <a:lnTo>
                    <a:pt x="75" y="11"/>
                  </a:lnTo>
                  <a:lnTo>
                    <a:pt x="76" y="7"/>
                  </a:lnTo>
                  <a:lnTo>
                    <a:pt x="77" y="5"/>
                  </a:lnTo>
                  <a:lnTo>
                    <a:pt x="79" y="3"/>
                  </a:lnTo>
                  <a:lnTo>
                    <a:pt x="83" y="0"/>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71" name="Freeform 10"/>
            <p:cNvSpPr>
              <a:spLocks/>
            </p:cNvSpPr>
            <p:nvPr/>
          </p:nvSpPr>
          <p:spPr bwMode="auto">
            <a:xfrm>
              <a:off x="1637" y="1828"/>
              <a:ext cx="88" cy="188"/>
            </a:xfrm>
            <a:custGeom>
              <a:avLst/>
              <a:gdLst>
                <a:gd name="T0" fmla="*/ 0 w 88"/>
                <a:gd name="T1" fmla="*/ 0 h 188"/>
                <a:gd name="T2" fmla="*/ 4 w 88"/>
                <a:gd name="T3" fmla="*/ 1 h 188"/>
                <a:gd name="T4" fmla="*/ 8 w 88"/>
                <a:gd name="T5" fmla="*/ 5 h 188"/>
                <a:gd name="T6" fmla="*/ 9 w 88"/>
                <a:gd name="T7" fmla="*/ 9 h 188"/>
                <a:gd name="T8" fmla="*/ 10 w 88"/>
                <a:gd name="T9" fmla="*/ 16 h 188"/>
                <a:gd name="T10" fmla="*/ 29 w 88"/>
                <a:gd name="T11" fmla="*/ 172 h 188"/>
                <a:gd name="T12" fmla="*/ 31 w 88"/>
                <a:gd name="T13" fmla="*/ 181 h 188"/>
                <a:gd name="T14" fmla="*/ 32 w 88"/>
                <a:gd name="T15" fmla="*/ 184 h 188"/>
                <a:gd name="T16" fmla="*/ 35 w 88"/>
                <a:gd name="T17" fmla="*/ 187 h 188"/>
                <a:gd name="T18" fmla="*/ 40 w 88"/>
                <a:gd name="T19" fmla="*/ 187 h 188"/>
                <a:gd name="T20" fmla="*/ 44 w 88"/>
                <a:gd name="T21" fmla="*/ 185 h 188"/>
                <a:gd name="T22" fmla="*/ 46 w 88"/>
                <a:gd name="T23" fmla="*/ 181 h 188"/>
                <a:gd name="T24" fmla="*/ 79 w 88"/>
                <a:gd name="T25" fmla="*/ 15 h 188"/>
                <a:gd name="T26" fmla="*/ 80 w 88"/>
                <a:gd name="T27" fmla="*/ 11 h 188"/>
                <a:gd name="T28" fmla="*/ 80 w 88"/>
                <a:gd name="T29" fmla="*/ 7 h 188"/>
                <a:gd name="T30" fmla="*/ 81 w 88"/>
                <a:gd name="T31" fmla="*/ 5 h 188"/>
                <a:gd name="T32" fmla="*/ 84 w 88"/>
                <a:gd name="T33" fmla="*/ 1 h 188"/>
                <a:gd name="T34" fmla="*/ 87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0" y="0"/>
                  </a:moveTo>
                  <a:lnTo>
                    <a:pt x="4" y="1"/>
                  </a:lnTo>
                  <a:lnTo>
                    <a:pt x="8" y="5"/>
                  </a:lnTo>
                  <a:lnTo>
                    <a:pt x="9" y="9"/>
                  </a:lnTo>
                  <a:lnTo>
                    <a:pt x="10" y="16"/>
                  </a:lnTo>
                  <a:lnTo>
                    <a:pt x="29" y="172"/>
                  </a:lnTo>
                  <a:lnTo>
                    <a:pt x="31" y="181"/>
                  </a:lnTo>
                  <a:lnTo>
                    <a:pt x="32" y="184"/>
                  </a:lnTo>
                  <a:lnTo>
                    <a:pt x="35" y="187"/>
                  </a:lnTo>
                  <a:lnTo>
                    <a:pt x="40" y="187"/>
                  </a:lnTo>
                  <a:lnTo>
                    <a:pt x="44" y="185"/>
                  </a:lnTo>
                  <a:lnTo>
                    <a:pt x="46" y="181"/>
                  </a:lnTo>
                  <a:lnTo>
                    <a:pt x="79" y="15"/>
                  </a:lnTo>
                  <a:lnTo>
                    <a:pt x="80" y="11"/>
                  </a:lnTo>
                  <a:lnTo>
                    <a:pt x="80" y="7"/>
                  </a:lnTo>
                  <a:lnTo>
                    <a:pt x="81" y="5"/>
                  </a:lnTo>
                  <a:lnTo>
                    <a:pt x="84" y="1"/>
                  </a:lnTo>
                  <a:lnTo>
                    <a:pt x="87" y="1"/>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72" name="Freeform 11"/>
            <p:cNvSpPr>
              <a:spLocks/>
            </p:cNvSpPr>
            <p:nvPr/>
          </p:nvSpPr>
          <p:spPr bwMode="auto">
            <a:xfrm>
              <a:off x="1728" y="1827"/>
              <a:ext cx="85" cy="189"/>
            </a:xfrm>
            <a:custGeom>
              <a:avLst/>
              <a:gdLst>
                <a:gd name="T0" fmla="*/ 0 w 85"/>
                <a:gd name="T1" fmla="*/ 1 h 189"/>
                <a:gd name="T2" fmla="*/ 2 w 85"/>
                <a:gd name="T3" fmla="*/ 1 h 189"/>
                <a:gd name="T4" fmla="*/ 5 w 85"/>
                <a:gd name="T5" fmla="*/ 5 h 189"/>
                <a:gd name="T6" fmla="*/ 7 w 85"/>
                <a:gd name="T7" fmla="*/ 8 h 189"/>
                <a:gd name="T8" fmla="*/ 7 w 85"/>
                <a:gd name="T9" fmla="*/ 15 h 189"/>
                <a:gd name="T10" fmla="*/ 26 w 85"/>
                <a:gd name="T11" fmla="*/ 173 h 189"/>
                <a:gd name="T12" fmla="*/ 28 w 85"/>
                <a:gd name="T13" fmla="*/ 182 h 189"/>
                <a:gd name="T14" fmla="*/ 30 w 85"/>
                <a:gd name="T15" fmla="*/ 185 h 189"/>
                <a:gd name="T16" fmla="*/ 33 w 85"/>
                <a:gd name="T17" fmla="*/ 187 h 189"/>
                <a:gd name="T18" fmla="*/ 36 w 85"/>
                <a:gd name="T19" fmla="*/ 188 h 189"/>
                <a:gd name="T20" fmla="*/ 40 w 85"/>
                <a:gd name="T21" fmla="*/ 186 h 189"/>
                <a:gd name="T22" fmla="*/ 43 w 85"/>
                <a:gd name="T23" fmla="*/ 182 h 189"/>
                <a:gd name="T24" fmla="*/ 76 w 85"/>
                <a:gd name="T25" fmla="*/ 14 h 189"/>
                <a:gd name="T26" fmla="*/ 76 w 85"/>
                <a:gd name="T27" fmla="*/ 10 h 189"/>
                <a:gd name="T28" fmla="*/ 77 w 85"/>
                <a:gd name="T29" fmla="*/ 6 h 189"/>
                <a:gd name="T30" fmla="*/ 78 w 85"/>
                <a:gd name="T31" fmla="*/ 4 h 189"/>
                <a:gd name="T32" fmla="*/ 81 w 85"/>
                <a:gd name="T33" fmla="*/ 1 h 189"/>
                <a:gd name="T34" fmla="*/ 84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0" y="1"/>
                  </a:moveTo>
                  <a:lnTo>
                    <a:pt x="2" y="1"/>
                  </a:lnTo>
                  <a:lnTo>
                    <a:pt x="5" y="5"/>
                  </a:lnTo>
                  <a:lnTo>
                    <a:pt x="7" y="8"/>
                  </a:lnTo>
                  <a:lnTo>
                    <a:pt x="7" y="15"/>
                  </a:lnTo>
                  <a:lnTo>
                    <a:pt x="26" y="173"/>
                  </a:lnTo>
                  <a:lnTo>
                    <a:pt x="28" y="182"/>
                  </a:lnTo>
                  <a:lnTo>
                    <a:pt x="30" y="185"/>
                  </a:lnTo>
                  <a:lnTo>
                    <a:pt x="33" y="187"/>
                  </a:lnTo>
                  <a:lnTo>
                    <a:pt x="36" y="188"/>
                  </a:lnTo>
                  <a:lnTo>
                    <a:pt x="40" y="186"/>
                  </a:lnTo>
                  <a:lnTo>
                    <a:pt x="43" y="182"/>
                  </a:lnTo>
                  <a:lnTo>
                    <a:pt x="76" y="14"/>
                  </a:lnTo>
                  <a:lnTo>
                    <a:pt x="76" y="10"/>
                  </a:lnTo>
                  <a:lnTo>
                    <a:pt x="77" y="6"/>
                  </a:lnTo>
                  <a:lnTo>
                    <a:pt x="78" y="4"/>
                  </a:lnTo>
                  <a:lnTo>
                    <a:pt x="81" y="1"/>
                  </a:lnTo>
                  <a:lnTo>
                    <a:pt x="84" y="0"/>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73" name="Freeform 12"/>
            <p:cNvSpPr>
              <a:spLocks/>
            </p:cNvSpPr>
            <p:nvPr/>
          </p:nvSpPr>
          <p:spPr bwMode="auto">
            <a:xfrm>
              <a:off x="1812" y="1827"/>
              <a:ext cx="88" cy="189"/>
            </a:xfrm>
            <a:custGeom>
              <a:avLst/>
              <a:gdLst>
                <a:gd name="T0" fmla="*/ 0 w 88"/>
                <a:gd name="T1" fmla="*/ 0 h 189"/>
                <a:gd name="T2" fmla="*/ 5 w 88"/>
                <a:gd name="T3" fmla="*/ 1 h 189"/>
                <a:gd name="T4" fmla="*/ 9 w 88"/>
                <a:gd name="T5" fmla="*/ 4 h 189"/>
                <a:gd name="T6" fmla="*/ 9 w 88"/>
                <a:gd name="T7" fmla="*/ 9 h 189"/>
                <a:gd name="T8" fmla="*/ 11 w 88"/>
                <a:gd name="T9" fmla="*/ 15 h 189"/>
                <a:gd name="T10" fmla="*/ 30 w 88"/>
                <a:gd name="T11" fmla="*/ 173 h 189"/>
                <a:gd name="T12" fmla="*/ 31 w 88"/>
                <a:gd name="T13" fmla="*/ 182 h 189"/>
                <a:gd name="T14" fmla="*/ 32 w 88"/>
                <a:gd name="T15" fmla="*/ 185 h 189"/>
                <a:gd name="T16" fmla="*/ 36 w 88"/>
                <a:gd name="T17" fmla="*/ 187 h 189"/>
                <a:gd name="T18" fmla="*/ 40 w 88"/>
                <a:gd name="T19" fmla="*/ 188 h 189"/>
                <a:gd name="T20" fmla="*/ 44 w 88"/>
                <a:gd name="T21" fmla="*/ 186 h 189"/>
                <a:gd name="T22" fmla="*/ 46 w 88"/>
                <a:gd name="T23" fmla="*/ 182 h 189"/>
                <a:gd name="T24" fmla="*/ 79 w 88"/>
                <a:gd name="T25" fmla="*/ 14 h 189"/>
                <a:gd name="T26" fmla="*/ 80 w 88"/>
                <a:gd name="T27" fmla="*/ 10 h 189"/>
                <a:gd name="T28" fmla="*/ 80 w 88"/>
                <a:gd name="T29" fmla="*/ 6 h 189"/>
                <a:gd name="T30" fmla="*/ 81 w 88"/>
                <a:gd name="T31" fmla="*/ 4 h 189"/>
                <a:gd name="T32" fmla="*/ 84 w 88"/>
                <a:gd name="T33" fmla="*/ 1 h 189"/>
                <a:gd name="T34" fmla="*/ 87 w 88"/>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9"/>
                <a:gd name="T56" fmla="*/ 88 w 88"/>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9">
                  <a:moveTo>
                    <a:pt x="0" y="0"/>
                  </a:moveTo>
                  <a:lnTo>
                    <a:pt x="5" y="1"/>
                  </a:lnTo>
                  <a:lnTo>
                    <a:pt x="9" y="4"/>
                  </a:lnTo>
                  <a:lnTo>
                    <a:pt x="9" y="9"/>
                  </a:lnTo>
                  <a:lnTo>
                    <a:pt x="11" y="15"/>
                  </a:lnTo>
                  <a:lnTo>
                    <a:pt x="30" y="173"/>
                  </a:lnTo>
                  <a:lnTo>
                    <a:pt x="31" y="182"/>
                  </a:lnTo>
                  <a:lnTo>
                    <a:pt x="32" y="185"/>
                  </a:lnTo>
                  <a:lnTo>
                    <a:pt x="36" y="187"/>
                  </a:lnTo>
                  <a:lnTo>
                    <a:pt x="40" y="188"/>
                  </a:lnTo>
                  <a:lnTo>
                    <a:pt x="44" y="186"/>
                  </a:lnTo>
                  <a:lnTo>
                    <a:pt x="46" y="182"/>
                  </a:lnTo>
                  <a:lnTo>
                    <a:pt x="79" y="14"/>
                  </a:lnTo>
                  <a:lnTo>
                    <a:pt x="80" y="10"/>
                  </a:lnTo>
                  <a:lnTo>
                    <a:pt x="80" y="6"/>
                  </a:lnTo>
                  <a:lnTo>
                    <a:pt x="81" y="4"/>
                  </a:lnTo>
                  <a:lnTo>
                    <a:pt x="84" y="1"/>
                  </a:lnTo>
                  <a:lnTo>
                    <a:pt x="87" y="1"/>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74" name="Freeform 13"/>
            <p:cNvSpPr>
              <a:spLocks/>
            </p:cNvSpPr>
            <p:nvPr/>
          </p:nvSpPr>
          <p:spPr bwMode="auto">
            <a:xfrm>
              <a:off x="1900" y="1827"/>
              <a:ext cx="86" cy="189"/>
            </a:xfrm>
            <a:custGeom>
              <a:avLst/>
              <a:gdLst>
                <a:gd name="T0" fmla="*/ 0 w 86"/>
                <a:gd name="T1" fmla="*/ 1 h 189"/>
                <a:gd name="T2" fmla="*/ 3 w 86"/>
                <a:gd name="T3" fmla="*/ 1 h 189"/>
                <a:gd name="T4" fmla="*/ 6 w 86"/>
                <a:gd name="T5" fmla="*/ 5 h 189"/>
                <a:gd name="T6" fmla="*/ 7 w 86"/>
                <a:gd name="T7" fmla="*/ 8 h 189"/>
                <a:gd name="T8" fmla="*/ 7 w 86"/>
                <a:gd name="T9" fmla="*/ 15 h 189"/>
                <a:gd name="T10" fmla="*/ 27 w 86"/>
                <a:gd name="T11" fmla="*/ 173 h 189"/>
                <a:gd name="T12" fmla="*/ 29 w 86"/>
                <a:gd name="T13" fmla="*/ 182 h 189"/>
                <a:gd name="T14" fmla="*/ 30 w 86"/>
                <a:gd name="T15" fmla="*/ 185 h 189"/>
                <a:gd name="T16" fmla="*/ 33 w 86"/>
                <a:gd name="T17" fmla="*/ 187 h 189"/>
                <a:gd name="T18" fmla="*/ 38 w 86"/>
                <a:gd name="T19" fmla="*/ 188 h 189"/>
                <a:gd name="T20" fmla="*/ 41 w 86"/>
                <a:gd name="T21" fmla="*/ 186 h 189"/>
                <a:gd name="T22" fmla="*/ 44 w 86"/>
                <a:gd name="T23" fmla="*/ 182 h 189"/>
                <a:gd name="T24" fmla="*/ 77 w 86"/>
                <a:gd name="T25" fmla="*/ 14 h 189"/>
                <a:gd name="T26" fmla="*/ 77 w 86"/>
                <a:gd name="T27" fmla="*/ 10 h 189"/>
                <a:gd name="T28" fmla="*/ 78 w 86"/>
                <a:gd name="T29" fmla="*/ 6 h 189"/>
                <a:gd name="T30" fmla="*/ 79 w 86"/>
                <a:gd name="T31" fmla="*/ 4 h 189"/>
                <a:gd name="T32" fmla="*/ 82 w 86"/>
                <a:gd name="T33" fmla="*/ 1 h 189"/>
                <a:gd name="T34" fmla="*/ 85 w 86"/>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189"/>
                <a:gd name="T56" fmla="*/ 86 w 86"/>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189">
                  <a:moveTo>
                    <a:pt x="0" y="1"/>
                  </a:moveTo>
                  <a:lnTo>
                    <a:pt x="3" y="1"/>
                  </a:lnTo>
                  <a:lnTo>
                    <a:pt x="6" y="5"/>
                  </a:lnTo>
                  <a:lnTo>
                    <a:pt x="7" y="8"/>
                  </a:lnTo>
                  <a:lnTo>
                    <a:pt x="7" y="15"/>
                  </a:lnTo>
                  <a:lnTo>
                    <a:pt x="27" y="173"/>
                  </a:lnTo>
                  <a:lnTo>
                    <a:pt x="29" y="182"/>
                  </a:lnTo>
                  <a:lnTo>
                    <a:pt x="30" y="185"/>
                  </a:lnTo>
                  <a:lnTo>
                    <a:pt x="33" y="187"/>
                  </a:lnTo>
                  <a:lnTo>
                    <a:pt x="38" y="188"/>
                  </a:lnTo>
                  <a:lnTo>
                    <a:pt x="41" y="186"/>
                  </a:lnTo>
                  <a:lnTo>
                    <a:pt x="44" y="182"/>
                  </a:lnTo>
                  <a:lnTo>
                    <a:pt x="77" y="14"/>
                  </a:lnTo>
                  <a:lnTo>
                    <a:pt x="77" y="10"/>
                  </a:lnTo>
                  <a:lnTo>
                    <a:pt x="78" y="6"/>
                  </a:lnTo>
                  <a:lnTo>
                    <a:pt x="79" y="4"/>
                  </a:lnTo>
                  <a:lnTo>
                    <a:pt x="82" y="1"/>
                  </a:lnTo>
                  <a:lnTo>
                    <a:pt x="85" y="0"/>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75" name="Freeform 14"/>
            <p:cNvSpPr>
              <a:spLocks/>
            </p:cNvSpPr>
            <p:nvPr/>
          </p:nvSpPr>
          <p:spPr bwMode="auto">
            <a:xfrm>
              <a:off x="1985" y="1827"/>
              <a:ext cx="87" cy="189"/>
            </a:xfrm>
            <a:custGeom>
              <a:avLst/>
              <a:gdLst>
                <a:gd name="T0" fmla="*/ 0 w 87"/>
                <a:gd name="T1" fmla="*/ 0 h 189"/>
                <a:gd name="T2" fmla="*/ 5 w 87"/>
                <a:gd name="T3" fmla="*/ 1 h 189"/>
                <a:gd name="T4" fmla="*/ 9 w 87"/>
                <a:gd name="T5" fmla="*/ 4 h 189"/>
                <a:gd name="T6" fmla="*/ 9 w 87"/>
                <a:gd name="T7" fmla="*/ 9 h 189"/>
                <a:gd name="T8" fmla="*/ 11 w 87"/>
                <a:gd name="T9" fmla="*/ 15 h 189"/>
                <a:gd name="T10" fmla="*/ 30 w 87"/>
                <a:gd name="T11" fmla="*/ 173 h 189"/>
                <a:gd name="T12" fmla="*/ 31 w 87"/>
                <a:gd name="T13" fmla="*/ 182 h 189"/>
                <a:gd name="T14" fmla="*/ 32 w 87"/>
                <a:gd name="T15" fmla="*/ 185 h 189"/>
                <a:gd name="T16" fmla="*/ 36 w 87"/>
                <a:gd name="T17" fmla="*/ 187 h 189"/>
                <a:gd name="T18" fmla="*/ 39 w 87"/>
                <a:gd name="T19" fmla="*/ 188 h 189"/>
                <a:gd name="T20" fmla="*/ 44 w 87"/>
                <a:gd name="T21" fmla="*/ 186 h 189"/>
                <a:gd name="T22" fmla="*/ 46 w 87"/>
                <a:gd name="T23" fmla="*/ 182 h 189"/>
                <a:gd name="T24" fmla="*/ 78 w 87"/>
                <a:gd name="T25" fmla="*/ 14 h 189"/>
                <a:gd name="T26" fmla="*/ 79 w 87"/>
                <a:gd name="T27" fmla="*/ 10 h 189"/>
                <a:gd name="T28" fmla="*/ 79 w 87"/>
                <a:gd name="T29" fmla="*/ 6 h 189"/>
                <a:gd name="T30" fmla="*/ 80 w 87"/>
                <a:gd name="T31" fmla="*/ 4 h 189"/>
                <a:gd name="T32" fmla="*/ 83 w 87"/>
                <a:gd name="T33" fmla="*/ 1 h 189"/>
                <a:gd name="T34" fmla="*/ 86 w 87"/>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0" y="0"/>
                  </a:moveTo>
                  <a:lnTo>
                    <a:pt x="5" y="1"/>
                  </a:lnTo>
                  <a:lnTo>
                    <a:pt x="9" y="4"/>
                  </a:lnTo>
                  <a:lnTo>
                    <a:pt x="9" y="9"/>
                  </a:lnTo>
                  <a:lnTo>
                    <a:pt x="11" y="15"/>
                  </a:lnTo>
                  <a:lnTo>
                    <a:pt x="30" y="173"/>
                  </a:lnTo>
                  <a:lnTo>
                    <a:pt x="31" y="182"/>
                  </a:lnTo>
                  <a:lnTo>
                    <a:pt x="32" y="185"/>
                  </a:lnTo>
                  <a:lnTo>
                    <a:pt x="36" y="187"/>
                  </a:lnTo>
                  <a:lnTo>
                    <a:pt x="39" y="188"/>
                  </a:lnTo>
                  <a:lnTo>
                    <a:pt x="44" y="186"/>
                  </a:lnTo>
                  <a:lnTo>
                    <a:pt x="46" y="182"/>
                  </a:lnTo>
                  <a:lnTo>
                    <a:pt x="78" y="14"/>
                  </a:lnTo>
                  <a:lnTo>
                    <a:pt x="79" y="10"/>
                  </a:lnTo>
                  <a:lnTo>
                    <a:pt x="79" y="6"/>
                  </a:lnTo>
                  <a:lnTo>
                    <a:pt x="80" y="4"/>
                  </a:lnTo>
                  <a:lnTo>
                    <a:pt x="83" y="1"/>
                  </a:lnTo>
                  <a:lnTo>
                    <a:pt x="86" y="1"/>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76" name="Freeform 15"/>
            <p:cNvSpPr>
              <a:spLocks/>
            </p:cNvSpPr>
            <p:nvPr/>
          </p:nvSpPr>
          <p:spPr bwMode="auto">
            <a:xfrm>
              <a:off x="2076" y="1827"/>
              <a:ext cx="85" cy="189"/>
            </a:xfrm>
            <a:custGeom>
              <a:avLst/>
              <a:gdLst>
                <a:gd name="T0" fmla="*/ 0 w 85"/>
                <a:gd name="T1" fmla="*/ 1 h 189"/>
                <a:gd name="T2" fmla="*/ 3 w 85"/>
                <a:gd name="T3" fmla="*/ 1 h 189"/>
                <a:gd name="T4" fmla="*/ 6 w 85"/>
                <a:gd name="T5" fmla="*/ 5 h 189"/>
                <a:gd name="T6" fmla="*/ 7 w 85"/>
                <a:gd name="T7" fmla="*/ 8 h 189"/>
                <a:gd name="T8" fmla="*/ 8 w 85"/>
                <a:gd name="T9" fmla="*/ 15 h 189"/>
                <a:gd name="T10" fmla="*/ 26 w 85"/>
                <a:gd name="T11" fmla="*/ 173 h 189"/>
                <a:gd name="T12" fmla="*/ 29 w 85"/>
                <a:gd name="T13" fmla="*/ 182 h 189"/>
                <a:gd name="T14" fmla="*/ 30 w 85"/>
                <a:gd name="T15" fmla="*/ 184 h 189"/>
                <a:gd name="T16" fmla="*/ 33 w 85"/>
                <a:gd name="T17" fmla="*/ 187 h 189"/>
                <a:gd name="T18" fmla="*/ 37 w 85"/>
                <a:gd name="T19" fmla="*/ 188 h 189"/>
                <a:gd name="T20" fmla="*/ 40 w 85"/>
                <a:gd name="T21" fmla="*/ 186 h 189"/>
                <a:gd name="T22" fmla="*/ 44 w 85"/>
                <a:gd name="T23" fmla="*/ 182 h 189"/>
                <a:gd name="T24" fmla="*/ 76 w 85"/>
                <a:gd name="T25" fmla="*/ 14 h 189"/>
                <a:gd name="T26" fmla="*/ 76 w 85"/>
                <a:gd name="T27" fmla="*/ 10 h 189"/>
                <a:gd name="T28" fmla="*/ 77 w 85"/>
                <a:gd name="T29" fmla="*/ 6 h 189"/>
                <a:gd name="T30" fmla="*/ 78 w 85"/>
                <a:gd name="T31" fmla="*/ 3 h 189"/>
                <a:gd name="T32" fmla="*/ 81 w 85"/>
                <a:gd name="T33" fmla="*/ 1 h 189"/>
                <a:gd name="T34" fmla="*/ 84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0" y="1"/>
                  </a:moveTo>
                  <a:lnTo>
                    <a:pt x="3" y="1"/>
                  </a:lnTo>
                  <a:lnTo>
                    <a:pt x="6" y="5"/>
                  </a:lnTo>
                  <a:lnTo>
                    <a:pt x="7" y="8"/>
                  </a:lnTo>
                  <a:lnTo>
                    <a:pt x="8" y="15"/>
                  </a:lnTo>
                  <a:lnTo>
                    <a:pt x="26" y="173"/>
                  </a:lnTo>
                  <a:lnTo>
                    <a:pt x="29" y="182"/>
                  </a:lnTo>
                  <a:lnTo>
                    <a:pt x="30" y="184"/>
                  </a:lnTo>
                  <a:lnTo>
                    <a:pt x="33" y="187"/>
                  </a:lnTo>
                  <a:lnTo>
                    <a:pt x="37" y="188"/>
                  </a:lnTo>
                  <a:lnTo>
                    <a:pt x="40" y="186"/>
                  </a:lnTo>
                  <a:lnTo>
                    <a:pt x="44" y="182"/>
                  </a:lnTo>
                  <a:lnTo>
                    <a:pt x="76" y="14"/>
                  </a:lnTo>
                  <a:lnTo>
                    <a:pt x="76" y="10"/>
                  </a:lnTo>
                  <a:lnTo>
                    <a:pt x="77" y="6"/>
                  </a:lnTo>
                  <a:lnTo>
                    <a:pt x="78" y="3"/>
                  </a:lnTo>
                  <a:lnTo>
                    <a:pt x="81" y="1"/>
                  </a:lnTo>
                  <a:lnTo>
                    <a:pt x="84" y="0"/>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77" name="Freeform 16"/>
            <p:cNvSpPr>
              <a:spLocks/>
            </p:cNvSpPr>
            <p:nvPr/>
          </p:nvSpPr>
          <p:spPr bwMode="auto">
            <a:xfrm>
              <a:off x="2160" y="1826"/>
              <a:ext cx="88" cy="190"/>
            </a:xfrm>
            <a:custGeom>
              <a:avLst/>
              <a:gdLst>
                <a:gd name="T0" fmla="*/ 0 w 88"/>
                <a:gd name="T1" fmla="*/ 0 h 190"/>
                <a:gd name="T2" fmla="*/ 5 w 88"/>
                <a:gd name="T3" fmla="*/ 1 h 190"/>
                <a:gd name="T4" fmla="*/ 8 w 88"/>
                <a:gd name="T5" fmla="*/ 4 h 190"/>
                <a:gd name="T6" fmla="*/ 9 w 88"/>
                <a:gd name="T7" fmla="*/ 9 h 190"/>
                <a:gd name="T8" fmla="*/ 10 w 88"/>
                <a:gd name="T9" fmla="*/ 16 h 190"/>
                <a:gd name="T10" fmla="*/ 29 w 88"/>
                <a:gd name="T11" fmla="*/ 174 h 190"/>
                <a:gd name="T12" fmla="*/ 30 w 88"/>
                <a:gd name="T13" fmla="*/ 183 h 190"/>
                <a:gd name="T14" fmla="*/ 33 w 88"/>
                <a:gd name="T15" fmla="*/ 185 h 190"/>
                <a:gd name="T16" fmla="*/ 35 w 88"/>
                <a:gd name="T17" fmla="*/ 187 h 190"/>
                <a:gd name="T18" fmla="*/ 40 w 88"/>
                <a:gd name="T19" fmla="*/ 189 h 190"/>
                <a:gd name="T20" fmla="*/ 43 w 88"/>
                <a:gd name="T21" fmla="*/ 187 h 190"/>
                <a:gd name="T22" fmla="*/ 46 w 88"/>
                <a:gd name="T23" fmla="*/ 183 h 190"/>
                <a:gd name="T24" fmla="*/ 79 w 88"/>
                <a:gd name="T25" fmla="*/ 15 h 190"/>
                <a:gd name="T26" fmla="*/ 79 w 88"/>
                <a:gd name="T27" fmla="*/ 10 h 190"/>
                <a:gd name="T28" fmla="*/ 80 w 88"/>
                <a:gd name="T29" fmla="*/ 7 h 190"/>
                <a:gd name="T30" fmla="*/ 81 w 88"/>
                <a:gd name="T31" fmla="*/ 4 h 190"/>
                <a:gd name="T32" fmla="*/ 83 w 88"/>
                <a:gd name="T33" fmla="*/ 1 h 190"/>
                <a:gd name="T34" fmla="*/ 87 w 88"/>
                <a:gd name="T35" fmla="*/ 1 h 1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90"/>
                <a:gd name="T56" fmla="*/ 88 w 88"/>
                <a:gd name="T57" fmla="*/ 190 h 1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90">
                  <a:moveTo>
                    <a:pt x="0" y="0"/>
                  </a:moveTo>
                  <a:lnTo>
                    <a:pt x="5" y="1"/>
                  </a:lnTo>
                  <a:lnTo>
                    <a:pt x="8" y="4"/>
                  </a:lnTo>
                  <a:lnTo>
                    <a:pt x="9" y="9"/>
                  </a:lnTo>
                  <a:lnTo>
                    <a:pt x="10" y="16"/>
                  </a:lnTo>
                  <a:lnTo>
                    <a:pt x="29" y="174"/>
                  </a:lnTo>
                  <a:lnTo>
                    <a:pt x="30" y="183"/>
                  </a:lnTo>
                  <a:lnTo>
                    <a:pt x="33" y="185"/>
                  </a:lnTo>
                  <a:lnTo>
                    <a:pt x="35" y="187"/>
                  </a:lnTo>
                  <a:lnTo>
                    <a:pt x="40" y="189"/>
                  </a:lnTo>
                  <a:lnTo>
                    <a:pt x="43" y="187"/>
                  </a:lnTo>
                  <a:lnTo>
                    <a:pt x="46" y="183"/>
                  </a:lnTo>
                  <a:lnTo>
                    <a:pt x="79" y="15"/>
                  </a:lnTo>
                  <a:lnTo>
                    <a:pt x="79" y="10"/>
                  </a:lnTo>
                  <a:lnTo>
                    <a:pt x="80" y="7"/>
                  </a:lnTo>
                  <a:lnTo>
                    <a:pt x="81" y="4"/>
                  </a:lnTo>
                  <a:lnTo>
                    <a:pt x="83" y="1"/>
                  </a:lnTo>
                  <a:lnTo>
                    <a:pt x="87" y="1"/>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78" name="Freeform 17"/>
            <p:cNvSpPr>
              <a:spLocks/>
            </p:cNvSpPr>
            <p:nvPr/>
          </p:nvSpPr>
          <p:spPr bwMode="auto">
            <a:xfrm>
              <a:off x="2248" y="1827"/>
              <a:ext cx="86" cy="189"/>
            </a:xfrm>
            <a:custGeom>
              <a:avLst/>
              <a:gdLst>
                <a:gd name="T0" fmla="*/ 0 w 86"/>
                <a:gd name="T1" fmla="*/ 1 h 189"/>
                <a:gd name="T2" fmla="*/ 2 w 86"/>
                <a:gd name="T3" fmla="*/ 1 h 189"/>
                <a:gd name="T4" fmla="*/ 5 w 86"/>
                <a:gd name="T5" fmla="*/ 5 h 189"/>
                <a:gd name="T6" fmla="*/ 6 w 86"/>
                <a:gd name="T7" fmla="*/ 8 h 189"/>
                <a:gd name="T8" fmla="*/ 7 w 86"/>
                <a:gd name="T9" fmla="*/ 15 h 189"/>
                <a:gd name="T10" fmla="*/ 25 w 86"/>
                <a:gd name="T11" fmla="*/ 173 h 189"/>
                <a:gd name="T12" fmla="*/ 27 w 86"/>
                <a:gd name="T13" fmla="*/ 182 h 189"/>
                <a:gd name="T14" fmla="*/ 30 w 86"/>
                <a:gd name="T15" fmla="*/ 184 h 189"/>
                <a:gd name="T16" fmla="*/ 33 w 86"/>
                <a:gd name="T17" fmla="*/ 187 h 189"/>
                <a:gd name="T18" fmla="*/ 36 w 86"/>
                <a:gd name="T19" fmla="*/ 188 h 189"/>
                <a:gd name="T20" fmla="*/ 40 w 86"/>
                <a:gd name="T21" fmla="*/ 186 h 189"/>
                <a:gd name="T22" fmla="*/ 43 w 86"/>
                <a:gd name="T23" fmla="*/ 182 h 189"/>
                <a:gd name="T24" fmla="*/ 75 w 86"/>
                <a:gd name="T25" fmla="*/ 14 h 189"/>
                <a:gd name="T26" fmla="*/ 76 w 86"/>
                <a:gd name="T27" fmla="*/ 10 h 189"/>
                <a:gd name="T28" fmla="*/ 77 w 86"/>
                <a:gd name="T29" fmla="*/ 6 h 189"/>
                <a:gd name="T30" fmla="*/ 78 w 86"/>
                <a:gd name="T31" fmla="*/ 3 h 189"/>
                <a:gd name="T32" fmla="*/ 80 w 86"/>
                <a:gd name="T33" fmla="*/ 1 h 189"/>
                <a:gd name="T34" fmla="*/ 85 w 86"/>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189"/>
                <a:gd name="T56" fmla="*/ 86 w 86"/>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189">
                  <a:moveTo>
                    <a:pt x="0" y="1"/>
                  </a:moveTo>
                  <a:lnTo>
                    <a:pt x="2" y="1"/>
                  </a:lnTo>
                  <a:lnTo>
                    <a:pt x="5" y="5"/>
                  </a:lnTo>
                  <a:lnTo>
                    <a:pt x="6" y="8"/>
                  </a:lnTo>
                  <a:lnTo>
                    <a:pt x="7" y="15"/>
                  </a:lnTo>
                  <a:lnTo>
                    <a:pt x="25" y="173"/>
                  </a:lnTo>
                  <a:lnTo>
                    <a:pt x="27" y="182"/>
                  </a:lnTo>
                  <a:lnTo>
                    <a:pt x="30" y="184"/>
                  </a:lnTo>
                  <a:lnTo>
                    <a:pt x="33" y="187"/>
                  </a:lnTo>
                  <a:lnTo>
                    <a:pt x="36" y="188"/>
                  </a:lnTo>
                  <a:lnTo>
                    <a:pt x="40" y="186"/>
                  </a:lnTo>
                  <a:lnTo>
                    <a:pt x="43" y="182"/>
                  </a:lnTo>
                  <a:lnTo>
                    <a:pt x="75" y="14"/>
                  </a:lnTo>
                  <a:lnTo>
                    <a:pt x="76" y="10"/>
                  </a:lnTo>
                  <a:lnTo>
                    <a:pt x="77" y="6"/>
                  </a:lnTo>
                  <a:lnTo>
                    <a:pt x="78" y="3"/>
                  </a:lnTo>
                  <a:lnTo>
                    <a:pt x="80" y="1"/>
                  </a:lnTo>
                  <a:lnTo>
                    <a:pt x="85" y="0"/>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79" name="Freeform 18"/>
            <p:cNvSpPr>
              <a:spLocks/>
            </p:cNvSpPr>
            <p:nvPr/>
          </p:nvSpPr>
          <p:spPr bwMode="auto">
            <a:xfrm>
              <a:off x="2333" y="1826"/>
              <a:ext cx="60" cy="190"/>
            </a:xfrm>
            <a:custGeom>
              <a:avLst/>
              <a:gdLst>
                <a:gd name="T0" fmla="*/ 0 w 60"/>
                <a:gd name="T1" fmla="*/ 0 h 190"/>
                <a:gd name="T2" fmla="*/ 4 w 60"/>
                <a:gd name="T3" fmla="*/ 1 h 190"/>
                <a:gd name="T4" fmla="*/ 8 w 60"/>
                <a:gd name="T5" fmla="*/ 4 h 190"/>
                <a:gd name="T6" fmla="*/ 9 w 60"/>
                <a:gd name="T7" fmla="*/ 9 h 190"/>
                <a:gd name="T8" fmla="*/ 10 w 60"/>
                <a:gd name="T9" fmla="*/ 16 h 190"/>
                <a:gd name="T10" fmla="*/ 29 w 60"/>
                <a:gd name="T11" fmla="*/ 174 h 190"/>
                <a:gd name="T12" fmla="*/ 31 w 60"/>
                <a:gd name="T13" fmla="*/ 183 h 190"/>
                <a:gd name="T14" fmla="*/ 32 w 60"/>
                <a:gd name="T15" fmla="*/ 185 h 190"/>
                <a:gd name="T16" fmla="*/ 37 w 60"/>
                <a:gd name="T17" fmla="*/ 187 h 190"/>
                <a:gd name="T18" fmla="*/ 40 w 60"/>
                <a:gd name="T19" fmla="*/ 189 h 190"/>
                <a:gd name="T20" fmla="*/ 44 w 60"/>
                <a:gd name="T21" fmla="*/ 187 h 190"/>
                <a:gd name="T22" fmla="*/ 46 w 60"/>
                <a:gd name="T23" fmla="*/ 183 h 190"/>
                <a:gd name="T24" fmla="*/ 59 w 60"/>
                <a:gd name="T25" fmla="*/ 102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190"/>
                <a:gd name="T41" fmla="*/ 60 w 6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190">
                  <a:moveTo>
                    <a:pt x="0" y="0"/>
                  </a:moveTo>
                  <a:lnTo>
                    <a:pt x="4" y="1"/>
                  </a:lnTo>
                  <a:lnTo>
                    <a:pt x="8" y="4"/>
                  </a:lnTo>
                  <a:lnTo>
                    <a:pt x="9" y="9"/>
                  </a:lnTo>
                  <a:lnTo>
                    <a:pt x="10" y="16"/>
                  </a:lnTo>
                  <a:lnTo>
                    <a:pt x="29" y="174"/>
                  </a:lnTo>
                  <a:lnTo>
                    <a:pt x="31" y="183"/>
                  </a:lnTo>
                  <a:lnTo>
                    <a:pt x="32" y="185"/>
                  </a:lnTo>
                  <a:lnTo>
                    <a:pt x="37" y="187"/>
                  </a:lnTo>
                  <a:lnTo>
                    <a:pt x="40" y="189"/>
                  </a:lnTo>
                  <a:lnTo>
                    <a:pt x="44" y="187"/>
                  </a:lnTo>
                  <a:lnTo>
                    <a:pt x="46" y="183"/>
                  </a:lnTo>
                  <a:lnTo>
                    <a:pt x="59" y="102"/>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grpSp>
      <p:grpSp>
        <p:nvGrpSpPr>
          <p:cNvPr id="10" name="Group 48"/>
          <p:cNvGrpSpPr>
            <a:grpSpLocks/>
          </p:cNvGrpSpPr>
          <p:nvPr/>
        </p:nvGrpSpPr>
        <p:grpSpPr bwMode="auto">
          <a:xfrm>
            <a:off x="4484322" y="4834920"/>
            <a:ext cx="2196099" cy="203200"/>
            <a:chOff x="1441" y="1826"/>
            <a:chExt cx="952" cy="190"/>
          </a:xfrm>
        </p:grpSpPr>
        <p:sp>
          <p:nvSpPr>
            <p:cNvPr id="18452" name="Freeform 49"/>
            <p:cNvSpPr>
              <a:spLocks/>
            </p:cNvSpPr>
            <p:nvPr/>
          </p:nvSpPr>
          <p:spPr bwMode="auto">
            <a:xfrm>
              <a:off x="1441" y="1829"/>
              <a:ext cx="24" cy="97"/>
            </a:xfrm>
            <a:custGeom>
              <a:avLst/>
              <a:gdLst>
                <a:gd name="T0" fmla="*/ 0 w 24"/>
                <a:gd name="T1" fmla="*/ 96 h 97"/>
                <a:gd name="T2" fmla="*/ 14 w 24"/>
                <a:gd name="T3" fmla="*/ 15 h 97"/>
                <a:gd name="T4" fmla="*/ 15 w 24"/>
                <a:gd name="T5" fmla="*/ 11 h 97"/>
                <a:gd name="T6" fmla="*/ 15 w 24"/>
                <a:gd name="T7" fmla="*/ 7 h 97"/>
                <a:gd name="T8" fmla="*/ 17 w 24"/>
                <a:gd name="T9" fmla="*/ 4 h 97"/>
                <a:gd name="T10" fmla="*/ 19 w 24"/>
                <a:gd name="T11" fmla="*/ 2 h 97"/>
                <a:gd name="T12" fmla="*/ 23 w 24"/>
                <a:gd name="T13" fmla="*/ 0 h 97"/>
                <a:gd name="T14" fmla="*/ 0 60000 65536"/>
                <a:gd name="T15" fmla="*/ 0 60000 65536"/>
                <a:gd name="T16" fmla="*/ 0 60000 65536"/>
                <a:gd name="T17" fmla="*/ 0 60000 65536"/>
                <a:gd name="T18" fmla="*/ 0 60000 65536"/>
                <a:gd name="T19" fmla="*/ 0 60000 65536"/>
                <a:gd name="T20" fmla="*/ 0 60000 65536"/>
                <a:gd name="T21" fmla="*/ 0 w 24"/>
                <a:gd name="T22" fmla="*/ 0 h 97"/>
                <a:gd name="T23" fmla="*/ 24 w 24"/>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97">
                  <a:moveTo>
                    <a:pt x="0" y="96"/>
                  </a:moveTo>
                  <a:lnTo>
                    <a:pt x="14" y="15"/>
                  </a:lnTo>
                  <a:lnTo>
                    <a:pt x="15" y="11"/>
                  </a:lnTo>
                  <a:lnTo>
                    <a:pt x="15" y="7"/>
                  </a:lnTo>
                  <a:lnTo>
                    <a:pt x="17" y="4"/>
                  </a:lnTo>
                  <a:lnTo>
                    <a:pt x="19" y="2"/>
                  </a:lnTo>
                  <a:lnTo>
                    <a:pt x="23" y="0"/>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53" name="Freeform 50"/>
            <p:cNvSpPr>
              <a:spLocks/>
            </p:cNvSpPr>
            <p:nvPr/>
          </p:nvSpPr>
          <p:spPr bwMode="auto">
            <a:xfrm>
              <a:off x="1462" y="1828"/>
              <a:ext cx="88" cy="188"/>
            </a:xfrm>
            <a:custGeom>
              <a:avLst/>
              <a:gdLst>
                <a:gd name="T0" fmla="*/ 0 w 88"/>
                <a:gd name="T1" fmla="*/ 0 h 188"/>
                <a:gd name="T2" fmla="*/ 4 w 88"/>
                <a:gd name="T3" fmla="*/ 1 h 188"/>
                <a:gd name="T4" fmla="*/ 8 w 88"/>
                <a:gd name="T5" fmla="*/ 5 h 188"/>
                <a:gd name="T6" fmla="*/ 9 w 88"/>
                <a:gd name="T7" fmla="*/ 9 h 188"/>
                <a:gd name="T8" fmla="*/ 10 w 88"/>
                <a:gd name="T9" fmla="*/ 16 h 188"/>
                <a:gd name="T10" fmla="*/ 29 w 88"/>
                <a:gd name="T11" fmla="*/ 172 h 188"/>
                <a:gd name="T12" fmla="*/ 31 w 88"/>
                <a:gd name="T13" fmla="*/ 181 h 188"/>
                <a:gd name="T14" fmla="*/ 32 w 88"/>
                <a:gd name="T15" fmla="*/ 184 h 188"/>
                <a:gd name="T16" fmla="*/ 35 w 88"/>
                <a:gd name="T17" fmla="*/ 187 h 188"/>
                <a:gd name="T18" fmla="*/ 40 w 88"/>
                <a:gd name="T19" fmla="*/ 187 h 188"/>
                <a:gd name="T20" fmla="*/ 44 w 88"/>
                <a:gd name="T21" fmla="*/ 185 h 188"/>
                <a:gd name="T22" fmla="*/ 46 w 88"/>
                <a:gd name="T23" fmla="*/ 181 h 188"/>
                <a:gd name="T24" fmla="*/ 78 w 88"/>
                <a:gd name="T25" fmla="*/ 15 h 188"/>
                <a:gd name="T26" fmla="*/ 79 w 88"/>
                <a:gd name="T27" fmla="*/ 11 h 188"/>
                <a:gd name="T28" fmla="*/ 80 w 88"/>
                <a:gd name="T29" fmla="*/ 7 h 188"/>
                <a:gd name="T30" fmla="*/ 81 w 88"/>
                <a:gd name="T31" fmla="*/ 5 h 188"/>
                <a:gd name="T32" fmla="*/ 83 w 88"/>
                <a:gd name="T33" fmla="*/ 1 h 188"/>
                <a:gd name="T34" fmla="*/ 87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0" y="0"/>
                  </a:moveTo>
                  <a:lnTo>
                    <a:pt x="4" y="1"/>
                  </a:lnTo>
                  <a:lnTo>
                    <a:pt x="8" y="5"/>
                  </a:lnTo>
                  <a:lnTo>
                    <a:pt x="9" y="9"/>
                  </a:lnTo>
                  <a:lnTo>
                    <a:pt x="10" y="16"/>
                  </a:lnTo>
                  <a:lnTo>
                    <a:pt x="29" y="172"/>
                  </a:lnTo>
                  <a:lnTo>
                    <a:pt x="31" y="181"/>
                  </a:lnTo>
                  <a:lnTo>
                    <a:pt x="32" y="184"/>
                  </a:lnTo>
                  <a:lnTo>
                    <a:pt x="35" y="187"/>
                  </a:lnTo>
                  <a:lnTo>
                    <a:pt x="40" y="187"/>
                  </a:lnTo>
                  <a:lnTo>
                    <a:pt x="44" y="185"/>
                  </a:lnTo>
                  <a:lnTo>
                    <a:pt x="46" y="181"/>
                  </a:lnTo>
                  <a:lnTo>
                    <a:pt x="78" y="15"/>
                  </a:lnTo>
                  <a:lnTo>
                    <a:pt x="79" y="11"/>
                  </a:lnTo>
                  <a:lnTo>
                    <a:pt x="80" y="7"/>
                  </a:lnTo>
                  <a:lnTo>
                    <a:pt x="81" y="5"/>
                  </a:lnTo>
                  <a:lnTo>
                    <a:pt x="83" y="1"/>
                  </a:lnTo>
                  <a:lnTo>
                    <a:pt x="87" y="1"/>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54" name="Freeform 51"/>
            <p:cNvSpPr>
              <a:spLocks/>
            </p:cNvSpPr>
            <p:nvPr/>
          </p:nvSpPr>
          <p:spPr bwMode="auto">
            <a:xfrm>
              <a:off x="1552" y="1828"/>
              <a:ext cx="84" cy="188"/>
            </a:xfrm>
            <a:custGeom>
              <a:avLst/>
              <a:gdLst>
                <a:gd name="T0" fmla="*/ 0 w 84"/>
                <a:gd name="T1" fmla="*/ 1 h 188"/>
                <a:gd name="T2" fmla="*/ 2 w 84"/>
                <a:gd name="T3" fmla="*/ 2 h 188"/>
                <a:gd name="T4" fmla="*/ 5 w 84"/>
                <a:gd name="T5" fmla="*/ 5 h 188"/>
                <a:gd name="T6" fmla="*/ 5 w 84"/>
                <a:gd name="T7" fmla="*/ 9 h 188"/>
                <a:gd name="T8" fmla="*/ 7 w 84"/>
                <a:gd name="T9" fmla="*/ 16 h 188"/>
                <a:gd name="T10" fmla="*/ 26 w 84"/>
                <a:gd name="T11" fmla="*/ 172 h 188"/>
                <a:gd name="T12" fmla="*/ 27 w 84"/>
                <a:gd name="T13" fmla="*/ 181 h 188"/>
                <a:gd name="T14" fmla="*/ 29 w 84"/>
                <a:gd name="T15" fmla="*/ 184 h 188"/>
                <a:gd name="T16" fmla="*/ 32 w 84"/>
                <a:gd name="T17" fmla="*/ 187 h 188"/>
                <a:gd name="T18" fmla="*/ 36 w 84"/>
                <a:gd name="T19" fmla="*/ 187 h 188"/>
                <a:gd name="T20" fmla="*/ 40 w 84"/>
                <a:gd name="T21" fmla="*/ 185 h 188"/>
                <a:gd name="T22" fmla="*/ 42 w 84"/>
                <a:gd name="T23" fmla="*/ 181 h 188"/>
                <a:gd name="T24" fmla="*/ 75 w 84"/>
                <a:gd name="T25" fmla="*/ 15 h 188"/>
                <a:gd name="T26" fmla="*/ 75 w 84"/>
                <a:gd name="T27" fmla="*/ 11 h 188"/>
                <a:gd name="T28" fmla="*/ 76 w 84"/>
                <a:gd name="T29" fmla="*/ 7 h 188"/>
                <a:gd name="T30" fmla="*/ 77 w 84"/>
                <a:gd name="T31" fmla="*/ 5 h 188"/>
                <a:gd name="T32" fmla="*/ 79 w 84"/>
                <a:gd name="T33" fmla="*/ 3 h 188"/>
                <a:gd name="T34" fmla="*/ 83 w 84"/>
                <a:gd name="T35" fmla="*/ 0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4"/>
                <a:gd name="T55" fmla="*/ 0 h 188"/>
                <a:gd name="T56" fmla="*/ 84 w 84"/>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4" h="188">
                  <a:moveTo>
                    <a:pt x="0" y="1"/>
                  </a:moveTo>
                  <a:lnTo>
                    <a:pt x="2" y="2"/>
                  </a:lnTo>
                  <a:lnTo>
                    <a:pt x="5" y="5"/>
                  </a:lnTo>
                  <a:lnTo>
                    <a:pt x="5" y="9"/>
                  </a:lnTo>
                  <a:lnTo>
                    <a:pt x="7" y="16"/>
                  </a:lnTo>
                  <a:lnTo>
                    <a:pt x="26" y="172"/>
                  </a:lnTo>
                  <a:lnTo>
                    <a:pt x="27" y="181"/>
                  </a:lnTo>
                  <a:lnTo>
                    <a:pt x="29" y="184"/>
                  </a:lnTo>
                  <a:lnTo>
                    <a:pt x="32" y="187"/>
                  </a:lnTo>
                  <a:lnTo>
                    <a:pt x="36" y="187"/>
                  </a:lnTo>
                  <a:lnTo>
                    <a:pt x="40" y="185"/>
                  </a:lnTo>
                  <a:lnTo>
                    <a:pt x="42" y="181"/>
                  </a:lnTo>
                  <a:lnTo>
                    <a:pt x="75" y="15"/>
                  </a:lnTo>
                  <a:lnTo>
                    <a:pt x="75" y="11"/>
                  </a:lnTo>
                  <a:lnTo>
                    <a:pt x="76" y="7"/>
                  </a:lnTo>
                  <a:lnTo>
                    <a:pt x="77" y="5"/>
                  </a:lnTo>
                  <a:lnTo>
                    <a:pt x="79" y="3"/>
                  </a:lnTo>
                  <a:lnTo>
                    <a:pt x="83" y="0"/>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55" name="Freeform 52"/>
            <p:cNvSpPr>
              <a:spLocks/>
            </p:cNvSpPr>
            <p:nvPr/>
          </p:nvSpPr>
          <p:spPr bwMode="auto">
            <a:xfrm>
              <a:off x="1637" y="1828"/>
              <a:ext cx="88" cy="188"/>
            </a:xfrm>
            <a:custGeom>
              <a:avLst/>
              <a:gdLst>
                <a:gd name="T0" fmla="*/ 0 w 88"/>
                <a:gd name="T1" fmla="*/ 0 h 188"/>
                <a:gd name="T2" fmla="*/ 4 w 88"/>
                <a:gd name="T3" fmla="*/ 1 h 188"/>
                <a:gd name="T4" fmla="*/ 8 w 88"/>
                <a:gd name="T5" fmla="*/ 5 h 188"/>
                <a:gd name="T6" fmla="*/ 9 w 88"/>
                <a:gd name="T7" fmla="*/ 9 h 188"/>
                <a:gd name="T8" fmla="*/ 10 w 88"/>
                <a:gd name="T9" fmla="*/ 16 h 188"/>
                <a:gd name="T10" fmla="*/ 29 w 88"/>
                <a:gd name="T11" fmla="*/ 172 h 188"/>
                <a:gd name="T12" fmla="*/ 31 w 88"/>
                <a:gd name="T13" fmla="*/ 181 h 188"/>
                <a:gd name="T14" fmla="*/ 32 w 88"/>
                <a:gd name="T15" fmla="*/ 184 h 188"/>
                <a:gd name="T16" fmla="*/ 35 w 88"/>
                <a:gd name="T17" fmla="*/ 187 h 188"/>
                <a:gd name="T18" fmla="*/ 40 w 88"/>
                <a:gd name="T19" fmla="*/ 187 h 188"/>
                <a:gd name="T20" fmla="*/ 44 w 88"/>
                <a:gd name="T21" fmla="*/ 185 h 188"/>
                <a:gd name="T22" fmla="*/ 46 w 88"/>
                <a:gd name="T23" fmla="*/ 181 h 188"/>
                <a:gd name="T24" fmla="*/ 79 w 88"/>
                <a:gd name="T25" fmla="*/ 15 h 188"/>
                <a:gd name="T26" fmla="*/ 80 w 88"/>
                <a:gd name="T27" fmla="*/ 11 h 188"/>
                <a:gd name="T28" fmla="*/ 80 w 88"/>
                <a:gd name="T29" fmla="*/ 7 h 188"/>
                <a:gd name="T30" fmla="*/ 81 w 88"/>
                <a:gd name="T31" fmla="*/ 5 h 188"/>
                <a:gd name="T32" fmla="*/ 84 w 88"/>
                <a:gd name="T33" fmla="*/ 1 h 188"/>
                <a:gd name="T34" fmla="*/ 87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0" y="0"/>
                  </a:moveTo>
                  <a:lnTo>
                    <a:pt x="4" y="1"/>
                  </a:lnTo>
                  <a:lnTo>
                    <a:pt x="8" y="5"/>
                  </a:lnTo>
                  <a:lnTo>
                    <a:pt x="9" y="9"/>
                  </a:lnTo>
                  <a:lnTo>
                    <a:pt x="10" y="16"/>
                  </a:lnTo>
                  <a:lnTo>
                    <a:pt x="29" y="172"/>
                  </a:lnTo>
                  <a:lnTo>
                    <a:pt x="31" y="181"/>
                  </a:lnTo>
                  <a:lnTo>
                    <a:pt x="32" y="184"/>
                  </a:lnTo>
                  <a:lnTo>
                    <a:pt x="35" y="187"/>
                  </a:lnTo>
                  <a:lnTo>
                    <a:pt x="40" y="187"/>
                  </a:lnTo>
                  <a:lnTo>
                    <a:pt x="44" y="185"/>
                  </a:lnTo>
                  <a:lnTo>
                    <a:pt x="46" y="181"/>
                  </a:lnTo>
                  <a:lnTo>
                    <a:pt x="79" y="15"/>
                  </a:lnTo>
                  <a:lnTo>
                    <a:pt x="80" y="11"/>
                  </a:lnTo>
                  <a:lnTo>
                    <a:pt x="80" y="7"/>
                  </a:lnTo>
                  <a:lnTo>
                    <a:pt x="81" y="5"/>
                  </a:lnTo>
                  <a:lnTo>
                    <a:pt x="84" y="1"/>
                  </a:lnTo>
                  <a:lnTo>
                    <a:pt x="87" y="1"/>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56" name="Freeform 53"/>
            <p:cNvSpPr>
              <a:spLocks/>
            </p:cNvSpPr>
            <p:nvPr/>
          </p:nvSpPr>
          <p:spPr bwMode="auto">
            <a:xfrm>
              <a:off x="1728" y="1827"/>
              <a:ext cx="85" cy="189"/>
            </a:xfrm>
            <a:custGeom>
              <a:avLst/>
              <a:gdLst>
                <a:gd name="T0" fmla="*/ 0 w 85"/>
                <a:gd name="T1" fmla="*/ 1 h 189"/>
                <a:gd name="T2" fmla="*/ 2 w 85"/>
                <a:gd name="T3" fmla="*/ 1 h 189"/>
                <a:gd name="T4" fmla="*/ 5 w 85"/>
                <a:gd name="T5" fmla="*/ 5 h 189"/>
                <a:gd name="T6" fmla="*/ 7 w 85"/>
                <a:gd name="T7" fmla="*/ 8 h 189"/>
                <a:gd name="T8" fmla="*/ 7 w 85"/>
                <a:gd name="T9" fmla="*/ 15 h 189"/>
                <a:gd name="T10" fmla="*/ 26 w 85"/>
                <a:gd name="T11" fmla="*/ 173 h 189"/>
                <a:gd name="T12" fmla="*/ 28 w 85"/>
                <a:gd name="T13" fmla="*/ 182 h 189"/>
                <a:gd name="T14" fmla="*/ 30 w 85"/>
                <a:gd name="T15" fmla="*/ 185 h 189"/>
                <a:gd name="T16" fmla="*/ 33 w 85"/>
                <a:gd name="T17" fmla="*/ 187 h 189"/>
                <a:gd name="T18" fmla="*/ 36 w 85"/>
                <a:gd name="T19" fmla="*/ 188 h 189"/>
                <a:gd name="T20" fmla="*/ 40 w 85"/>
                <a:gd name="T21" fmla="*/ 186 h 189"/>
                <a:gd name="T22" fmla="*/ 43 w 85"/>
                <a:gd name="T23" fmla="*/ 182 h 189"/>
                <a:gd name="T24" fmla="*/ 76 w 85"/>
                <a:gd name="T25" fmla="*/ 14 h 189"/>
                <a:gd name="T26" fmla="*/ 76 w 85"/>
                <a:gd name="T27" fmla="*/ 10 h 189"/>
                <a:gd name="T28" fmla="*/ 77 w 85"/>
                <a:gd name="T29" fmla="*/ 6 h 189"/>
                <a:gd name="T30" fmla="*/ 78 w 85"/>
                <a:gd name="T31" fmla="*/ 4 h 189"/>
                <a:gd name="T32" fmla="*/ 81 w 85"/>
                <a:gd name="T33" fmla="*/ 1 h 189"/>
                <a:gd name="T34" fmla="*/ 84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0" y="1"/>
                  </a:moveTo>
                  <a:lnTo>
                    <a:pt x="2" y="1"/>
                  </a:lnTo>
                  <a:lnTo>
                    <a:pt x="5" y="5"/>
                  </a:lnTo>
                  <a:lnTo>
                    <a:pt x="7" y="8"/>
                  </a:lnTo>
                  <a:lnTo>
                    <a:pt x="7" y="15"/>
                  </a:lnTo>
                  <a:lnTo>
                    <a:pt x="26" y="173"/>
                  </a:lnTo>
                  <a:lnTo>
                    <a:pt x="28" y="182"/>
                  </a:lnTo>
                  <a:lnTo>
                    <a:pt x="30" y="185"/>
                  </a:lnTo>
                  <a:lnTo>
                    <a:pt x="33" y="187"/>
                  </a:lnTo>
                  <a:lnTo>
                    <a:pt x="36" y="188"/>
                  </a:lnTo>
                  <a:lnTo>
                    <a:pt x="40" y="186"/>
                  </a:lnTo>
                  <a:lnTo>
                    <a:pt x="43" y="182"/>
                  </a:lnTo>
                  <a:lnTo>
                    <a:pt x="76" y="14"/>
                  </a:lnTo>
                  <a:lnTo>
                    <a:pt x="76" y="10"/>
                  </a:lnTo>
                  <a:lnTo>
                    <a:pt x="77" y="6"/>
                  </a:lnTo>
                  <a:lnTo>
                    <a:pt x="78" y="4"/>
                  </a:lnTo>
                  <a:lnTo>
                    <a:pt x="81" y="1"/>
                  </a:lnTo>
                  <a:lnTo>
                    <a:pt x="84" y="0"/>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57" name="Freeform 54"/>
            <p:cNvSpPr>
              <a:spLocks/>
            </p:cNvSpPr>
            <p:nvPr/>
          </p:nvSpPr>
          <p:spPr bwMode="auto">
            <a:xfrm>
              <a:off x="1812" y="1827"/>
              <a:ext cx="88" cy="189"/>
            </a:xfrm>
            <a:custGeom>
              <a:avLst/>
              <a:gdLst>
                <a:gd name="T0" fmla="*/ 0 w 88"/>
                <a:gd name="T1" fmla="*/ 0 h 189"/>
                <a:gd name="T2" fmla="*/ 5 w 88"/>
                <a:gd name="T3" fmla="*/ 1 h 189"/>
                <a:gd name="T4" fmla="*/ 9 w 88"/>
                <a:gd name="T5" fmla="*/ 4 h 189"/>
                <a:gd name="T6" fmla="*/ 9 w 88"/>
                <a:gd name="T7" fmla="*/ 9 h 189"/>
                <a:gd name="T8" fmla="*/ 11 w 88"/>
                <a:gd name="T9" fmla="*/ 15 h 189"/>
                <a:gd name="T10" fmla="*/ 30 w 88"/>
                <a:gd name="T11" fmla="*/ 173 h 189"/>
                <a:gd name="T12" fmla="*/ 31 w 88"/>
                <a:gd name="T13" fmla="*/ 182 h 189"/>
                <a:gd name="T14" fmla="*/ 32 w 88"/>
                <a:gd name="T15" fmla="*/ 185 h 189"/>
                <a:gd name="T16" fmla="*/ 36 w 88"/>
                <a:gd name="T17" fmla="*/ 187 h 189"/>
                <a:gd name="T18" fmla="*/ 40 w 88"/>
                <a:gd name="T19" fmla="*/ 188 h 189"/>
                <a:gd name="T20" fmla="*/ 44 w 88"/>
                <a:gd name="T21" fmla="*/ 186 h 189"/>
                <a:gd name="T22" fmla="*/ 46 w 88"/>
                <a:gd name="T23" fmla="*/ 182 h 189"/>
                <a:gd name="T24" fmla="*/ 79 w 88"/>
                <a:gd name="T25" fmla="*/ 14 h 189"/>
                <a:gd name="T26" fmla="*/ 80 w 88"/>
                <a:gd name="T27" fmla="*/ 10 h 189"/>
                <a:gd name="T28" fmla="*/ 80 w 88"/>
                <a:gd name="T29" fmla="*/ 6 h 189"/>
                <a:gd name="T30" fmla="*/ 81 w 88"/>
                <a:gd name="T31" fmla="*/ 4 h 189"/>
                <a:gd name="T32" fmla="*/ 84 w 88"/>
                <a:gd name="T33" fmla="*/ 1 h 189"/>
                <a:gd name="T34" fmla="*/ 87 w 88"/>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9"/>
                <a:gd name="T56" fmla="*/ 88 w 88"/>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9">
                  <a:moveTo>
                    <a:pt x="0" y="0"/>
                  </a:moveTo>
                  <a:lnTo>
                    <a:pt x="5" y="1"/>
                  </a:lnTo>
                  <a:lnTo>
                    <a:pt x="9" y="4"/>
                  </a:lnTo>
                  <a:lnTo>
                    <a:pt x="9" y="9"/>
                  </a:lnTo>
                  <a:lnTo>
                    <a:pt x="11" y="15"/>
                  </a:lnTo>
                  <a:lnTo>
                    <a:pt x="30" y="173"/>
                  </a:lnTo>
                  <a:lnTo>
                    <a:pt x="31" y="182"/>
                  </a:lnTo>
                  <a:lnTo>
                    <a:pt x="32" y="185"/>
                  </a:lnTo>
                  <a:lnTo>
                    <a:pt x="36" y="187"/>
                  </a:lnTo>
                  <a:lnTo>
                    <a:pt x="40" y="188"/>
                  </a:lnTo>
                  <a:lnTo>
                    <a:pt x="44" y="186"/>
                  </a:lnTo>
                  <a:lnTo>
                    <a:pt x="46" y="182"/>
                  </a:lnTo>
                  <a:lnTo>
                    <a:pt x="79" y="14"/>
                  </a:lnTo>
                  <a:lnTo>
                    <a:pt x="80" y="10"/>
                  </a:lnTo>
                  <a:lnTo>
                    <a:pt x="80" y="6"/>
                  </a:lnTo>
                  <a:lnTo>
                    <a:pt x="81" y="4"/>
                  </a:lnTo>
                  <a:lnTo>
                    <a:pt x="84" y="1"/>
                  </a:lnTo>
                  <a:lnTo>
                    <a:pt x="87" y="1"/>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58" name="Freeform 55"/>
            <p:cNvSpPr>
              <a:spLocks/>
            </p:cNvSpPr>
            <p:nvPr/>
          </p:nvSpPr>
          <p:spPr bwMode="auto">
            <a:xfrm>
              <a:off x="1900" y="1827"/>
              <a:ext cx="86" cy="189"/>
            </a:xfrm>
            <a:custGeom>
              <a:avLst/>
              <a:gdLst>
                <a:gd name="T0" fmla="*/ 0 w 86"/>
                <a:gd name="T1" fmla="*/ 1 h 189"/>
                <a:gd name="T2" fmla="*/ 3 w 86"/>
                <a:gd name="T3" fmla="*/ 1 h 189"/>
                <a:gd name="T4" fmla="*/ 6 w 86"/>
                <a:gd name="T5" fmla="*/ 5 h 189"/>
                <a:gd name="T6" fmla="*/ 7 w 86"/>
                <a:gd name="T7" fmla="*/ 8 h 189"/>
                <a:gd name="T8" fmla="*/ 7 w 86"/>
                <a:gd name="T9" fmla="*/ 15 h 189"/>
                <a:gd name="T10" fmla="*/ 27 w 86"/>
                <a:gd name="T11" fmla="*/ 173 h 189"/>
                <a:gd name="T12" fmla="*/ 29 w 86"/>
                <a:gd name="T13" fmla="*/ 182 h 189"/>
                <a:gd name="T14" fmla="*/ 30 w 86"/>
                <a:gd name="T15" fmla="*/ 185 h 189"/>
                <a:gd name="T16" fmla="*/ 33 w 86"/>
                <a:gd name="T17" fmla="*/ 187 h 189"/>
                <a:gd name="T18" fmla="*/ 38 w 86"/>
                <a:gd name="T19" fmla="*/ 188 h 189"/>
                <a:gd name="T20" fmla="*/ 41 w 86"/>
                <a:gd name="T21" fmla="*/ 186 h 189"/>
                <a:gd name="T22" fmla="*/ 44 w 86"/>
                <a:gd name="T23" fmla="*/ 182 h 189"/>
                <a:gd name="T24" fmla="*/ 77 w 86"/>
                <a:gd name="T25" fmla="*/ 14 h 189"/>
                <a:gd name="T26" fmla="*/ 77 w 86"/>
                <a:gd name="T27" fmla="*/ 10 h 189"/>
                <a:gd name="T28" fmla="*/ 78 w 86"/>
                <a:gd name="T29" fmla="*/ 6 h 189"/>
                <a:gd name="T30" fmla="*/ 79 w 86"/>
                <a:gd name="T31" fmla="*/ 4 h 189"/>
                <a:gd name="T32" fmla="*/ 82 w 86"/>
                <a:gd name="T33" fmla="*/ 1 h 189"/>
                <a:gd name="T34" fmla="*/ 85 w 86"/>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189"/>
                <a:gd name="T56" fmla="*/ 86 w 86"/>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189">
                  <a:moveTo>
                    <a:pt x="0" y="1"/>
                  </a:moveTo>
                  <a:lnTo>
                    <a:pt x="3" y="1"/>
                  </a:lnTo>
                  <a:lnTo>
                    <a:pt x="6" y="5"/>
                  </a:lnTo>
                  <a:lnTo>
                    <a:pt x="7" y="8"/>
                  </a:lnTo>
                  <a:lnTo>
                    <a:pt x="7" y="15"/>
                  </a:lnTo>
                  <a:lnTo>
                    <a:pt x="27" y="173"/>
                  </a:lnTo>
                  <a:lnTo>
                    <a:pt x="29" y="182"/>
                  </a:lnTo>
                  <a:lnTo>
                    <a:pt x="30" y="185"/>
                  </a:lnTo>
                  <a:lnTo>
                    <a:pt x="33" y="187"/>
                  </a:lnTo>
                  <a:lnTo>
                    <a:pt x="38" y="188"/>
                  </a:lnTo>
                  <a:lnTo>
                    <a:pt x="41" y="186"/>
                  </a:lnTo>
                  <a:lnTo>
                    <a:pt x="44" y="182"/>
                  </a:lnTo>
                  <a:lnTo>
                    <a:pt x="77" y="14"/>
                  </a:lnTo>
                  <a:lnTo>
                    <a:pt x="77" y="10"/>
                  </a:lnTo>
                  <a:lnTo>
                    <a:pt x="78" y="6"/>
                  </a:lnTo>
                  <a:lnTo>
                    <a:pt x="79" y="4"/>
                  </a:lnTo>
                  <a:lnTo>
                    <a:pt x="82" y="1"/>
                  </a:lnTo>
                  <a:lnTo>
                    <a:pt x="85" y="0"/>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59" name="Freeform 56"/>
            <p:cNvSpPr>
              <a:spLocks/>
            </p:cNvSpPr>
            <p:nvPr/>
          </p:nvSpPr>
          <p:spPr bwMode="auto">
            <a:xfrm>
              <a:off x="1985" y="1827"/>
              <a:ext cx="87" cy="189"/>
            </a:xfrm>
            <a:custGeom>
              <a:avLst/>
              <a:gdLst>
                <a:gd name="T0" fmla="*/ 0 w 87"/>
                <a:gd name="T1" fmla="*/ 0 h 189"/>
                <a:gd name="T2" fmla="*/ 5 w 87"/>
                <a:gd name="T3" fmla="*/ 1 h 189"/>
                <a:gd name="T4" fmla="*/ 9 w 87"/>
                <a:gd name="T5" fmla="*/ 4 h 189"/>
                <a:gd name="T6" fmla="*/ 9 w 87"/>
                <a:gd name="T7" fmla="*/ 9 h 189"/>
                <a:gd name="T8" fmla="*/ 11 w 87"/>
                <a:gd name="T9" fmla="*/ 15 h 189"/>
                <a:gd name="T10" fmla="*/ 30 w 87"/>
                <a:gd name="T11" fmla="*/ 173 h 189"/>
                <a:gd name="T12" fmla="*/ 31 w 87"/>
                <a:gd name="T13" fmla="*/ 182 h 189"/>
                <a:gd name="T14" fmla="*/ 32 w 87"/>
                <a:gd name="T15" fmla="*/ 185 h 189"/>
                <a:gd name="T16" fmla="*/ 36 w 87"/>
                <a:gd name="T17" fmla="*/ 187 h 189"/>
                <a:gd name="T18" fmla="*/ 39 w 87"/>
                <a:gd name="T19" fmla="*/ 188 h 189"/>
                <a:gd name="T20" fmla="*/ 44 w 87"/>
                <a:gd name="T21" fmla="*/ 186 h 189"/>
                <a:gd name="T22" fmla="*/ 46 w 87"/>
                <a:gd name="T23" fmla="*/ 182 h 189"/>
                <a:gd name="T24" fmla="*/ 78 w 87"/>
                <a:gd name="T25" fmla="*/ 14 h 189"/>
                <a:gd name="T26" fmla="*/ 79 w 87"/>
                <a:gd name="T27" fmla="*/ 10 h 189"/>
                <a:gd name="T28" fmla="*/ 79 w 87"/>
                <a:gd name="T29" fmla="*/ 6 h 189"/>
                <a:gd name="T30" fmla="*/ 80 w 87"/>
                <a:gd name="T31" fmla="*/ 4 h 189"/>
                <a:gd name="T32" fmla="*/ 83 w 87"/>
                <a:gd name="T33" fmla="*/ 1 h 189"/>
                <a:gd name="T34" fmla="*/ 86 w 87"/>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0" y="0"/>
                  </a:moveTo>
                  <a:lnTo>
                    <a:pt x="5" y="1"/>
                  </a:lnTo>
                  <a:lnTo>
                    <a:pt x="9" y="4"/>
                  </a:lnTo>
                  <a:lnTo>
                    <a:pt x="9" y="9"/>
                  </a:lnTo>
                  <a:lnTo>
                    <a:pt x="11" y="15"/>
                  </a:lnTo>
                  <a:lnTo>
                    <a:pt x="30" y="173"/>
                  </a:lnTo>
                  <a:lnTo>
                    <a:pt x="31" y="182"/>
                  </a:lnTo>
                  <a:lnTo>
                    <a:pt x="32" y="185"/>
                  </a:lnTo>
                  <a:lnTo>
                    <a:pt x="36" y="187"/>
                  </a:lnTo>
                  <a:lnTo>
                    <a:pt x="39" y="188"/>
                  </a:lnTo>
                  <a:lnTo>
                    <a:pt x="44" y="186"/>
                  </a:lnTo>
                  <a:lnTo>
                    <a:pt x="46" y="182"/>
                  </a:lnTo>
                  <a:lnTo>
                    <a:pt x="78" y="14"/>
                  </a:lnTo>
                  <a:lnTo>
                    <a:pt x="79" y="10"/>
                  </a:lnTo>
                  <a:lnTo>
                    <a:pt x="79" y="6"/>
                  </a:lnTo>
                  <a:lnTo>
                    <a:pt x="80" y="4"/>
                  </a:lnTo>
                  <a:lnTo>
                    <a:pt x="83" y="1"/>
                  </a:lnTo>
                  <a:lnTo>
                    <a:pt x="86" y="1"/>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60" name="Freeform 57"/>
            <p:cNvSpPr>
              <a:spLocks/>
            </p:cNvSpPr>
            <p:nvPr/>
          </p:nvSpPr>
          <p:spPr bwMode="auto">
            <a:xfrm>
              <a:off x="2076" y="1827"/>
              <a:ext cx="85" cy="189"/>
            </a:xfrm>
            <a:custGeom>
              <a:avLst/>
              <a:gdLst>
                <a:gd name="T0" fmla="*/ 0 w 85"/>
                <a:gd name="T1" fmla="*/ 1 h 189"/>
                <a:gd name="T2" fmla="*/ 3 w 85"/>
                <a:gd name="T3" fmla="*/ 1 h 189"/>
                <a:gd name="T4" fmla="*/ 6 w 85"/>
                <a:gd name="T5" fmla="*/ 5 h 189"/>
                <a:gd name="T6" fmla="*/ 7 w 85"/>
                <a:gd name="T7" fmla="*/ 8 h 189"/>
                <a:gd name="T8" fmla="*/ 8 w 85"/>
                <a:gd name="T9" fmla="*/ 15 h 189"/>
                <a:gd name="T10" fmla="*/ 26 w 85"/>
                <a:gd name="T11" fmla="*/ 173 h 189"/>
                <a:gd name="T12" fmla="*/ 29 w 85"/>
                <a:gd name="T13" fmla="*/ 182 h 189"/>
                <a:gd name="T14" fmla="*/ 30 w 85"/>
                <a:gd name="T15" fmla="*/ 184 h 189"/>
                <a:gd name="T16" fmla="*/ 33 w 85"/>
                <a:gd name="T17" fmla="*/ 187 h 189"/>
                <a:gd name="T18" fmla="*/ 37 w 85"/>
                <a:gd name="T19" fmla="*/ 188 h 189"/>
                <a:gd name="T20" fmla="*/ 40 w 85"/>
                <a:gd name="T21" fmla="*/ 186 h 189"/>
                <a:gd name="T22" fmla="*/ 44 w 85"/>
                <a:gd name="T23" fmla="*/ 182 h 189"/>
                <a:gd name="T24" fmla="*/ 76 w 85"/>
                <a:gd name="T25" fmla="*/ 14 h 189"/>
                <a:gd name="T26" fmla="*/ 76 w 85"/>
                <a:gd name="T27" fmla="*/ 10 h 189"/>
                <a:gd name="T28" fmla="*/ 77 w 85"/>
                <a:gd name="T29" fmla="*/ 6 h 189"/>
                <a:gd name="T30" fmla="*/ 78 w 85"/>
                <a:gd name="T31" fmla="*/ 3 h 189"/>
                <a:gd name="T32" fmla="*/ 81 w 85"/>
                <a:gd name="T33" fmla="*/ 1 h 189"/>
                <a:gd name="T34" fmla="*/ 84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0" y="1"/>
                  </a:moveTo>
                  <a:lnTo>
                    <a:pt x="3" y="1"/>
                  </a:lnTo>
                  <a:lnTo>
                    <a:pt x="6" y="5"/>
                  </a:lnTo>
                  <a:lnTo>
                    <a:pt x="7" y="8"/>
                  </a:lnTo>
                  <a:lnTo>
                    <a:pt x="8" y="15"/>
                  </a:lnTo>
                  <a:lnTo>
                    <a:pt x="26" y="173"/>
                  </a:lnTo>
                  <a:lnTo>
                    <a:pt x="29" y="182"/>
                  </a:lnTo>
                  <a:lnTo>
                    <a:pt x="30" y="184"/>
                  </a:lnTo>
                  <a:lnTo>
                    <a:pt x="33" y="187"/>
                  </a:lnTo>
                  <a:lnTo>
                    <a:pt x="37" y="188"/>
                  </a:lnTo>
                  <a:lnTo>
                    <a:pt x="40" y="186"/>
                  </a:lnTo>
                  <a:lnTo>
                    <a:pt x="44" y="182"/>
                  </a:lnTo>
                  <a:lnTo>
                    <a:pt x="76" y="14"/>
                  </a:lnTo>
                  <a:lnTo>
                    <a:pt x="76" y="10"/>
                  </a:lnTo>
                  <a:lnTo>
                    <a:pt x="77" y="6"/>
                  </a:lnTo>
                  <a:lnTo>
                    <a:pt x="78" y="3"/>
                  </a:lnTo>
                  <a:lnTo>
                    <a:pt x="81" y="1"/>
                  </a:lnTo>
                  <a:lnTo>
                    <a:pt x="84" y="0"/>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61" name="Freeform 58"/>
            <p:cNvSpPr>
              <a:spLocks/>
            </p:cNvSpPr>
            <p:nvPr/>
          </p:nvSpPr>
          <p:spPr bwMode="auto">
            <a:xfrm>
              <a:off x="2160" y="1826"/>
              <a:ext cx="88" cy="190"/>
            </a:xfrm>
            <a:custGeom>
              <a:avLst/>
              <a:gdLst>
                <a:gd name="T0" fmla="*/ 0 w 88"/>
                <a:gd name="T1" fmla="*/ 0 h 190"/>
                <a:gd name="T2" fmla="*/ 5 w 88"/>
                <a:gd name="T3" fmla="*/ 1 h 190"/>
                <a:gd name="T4" fmla="*/ 8 w 88"/>
                <a:gd name="T5" fmla="*/ 4 h 190"/>
                <a:gd name="T6" fmla="*/ 9 w 88"/>
                <a:gd name="T7" fmla="*/ 9 h 190"/>
                <a:gd name="T8" fmla="*/ 10 w 88"/>
                <a:gd name="T9" fmla="*/ 16 h 190"/>
                <a:gd name="T10" fmla="*/ 29 w 88"/>
                <a:gd name="T11" fmla="*/ 174 h 190"/>
                <a:gd name="T12" fmla="*/ 30 w 88"/>
                <a:gd name="T13" fmla="*/ 183 h 190"/>
                <a:gd name="T14" fmla="*/ 33 w 88"/>
                <a:gd name="T15" fmla="*/ 185 h 190"/>
                <a:gd name="T16" fmla="*/ 35 w 88"/>
                <a:gd name="T17" fmla="*/ 187 h 190"/>
                <a:gd name="T18" fmla="*/ 40 w 88"/>
                <a:gd name="T19" fmla="*/ 189 h 190"/>
                <a:gd name="T20" fmla="*/ 43 w 88"/>
                <a:gd name="T21" fmla="*/ 187 h 190"/>
                <a:gd name="T22" fmla="*/ 46 w 88"/>
                <a:gd name="T23" fmla="*/ 183 h 190"/>
                <a:gd name="T24" fmla="*/ 79 w 88"/>
                <a:gd name="T25" fmla="*/ 15 h 190"/>
                <a:gd name="T26" fmla="*/ 79 w 88"/>
                <a:gd name="T27" fmla="*/ 10 h 190"/>
                <a:gd name="T28" fmla="*/ 80 w 88"/>
                <a:gd name="T29" fmla="*/ 7 h 190"/>
                <a:gd name="T30" fmla="*/ 81 w 88"/>
                <a:gd name="T31" fmla="*/ 4 h 190"/>
                <a:gd name="T32" fmla="*/ 83 w 88"/>
                <a:gd name="T33" fmla="*/ 1 h 190"/>
                <a:gd name="T34" fmla="*/ 87 w 88"/>
                <a:gd name="T35" fmla="*/ 1 h 1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90"/>
                <a:gd name="T56" fmla="*/ 88 w 88"/>
                <a:gd name="T57" fmla="*/ 190 h 1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90">
                  <a:moveTo>
                    <a:pt x="0" y="0"/>
                  </a:moveTo>
                  <a:lnTo>
                    <a:pt x="5" y="1"/>
                  </a:lnTo>
                  <a:lnTo>
                    <a:pt x="8" y="4"/>
                  </a:lnTo>
                  <a:lnTo>
                    <a:pt x="9" y="9"/>
                  </a:lnTo>
                  <a:lnTo>
                    <a:pt x="10" y="16"/>
                  </a:lnTo>
                  <a:lnTo>
                    <a:pt x="29" y="174"/>
                  </a:lnTo>
                  <a:lnTo>
                    <a:pt x="30" y="183"/>
                  </a:lnTo>
                  <a:lnTo>
                    <a:pt x="33" y="185"/>
                  </a:lnTo>
                  <a:lnTo>
                    <a:pt x="35" y="187"/>
                  </a:lnTo>
                  <a:lnTo>
                    <a:pt x="40" y="189"/>
                  </a:lnTo>
                  <a:lnTo>
                    <a:pt x="43" y="187"/>
                  </a:lnTo>
                  <a:lnTo>
                    <a:pt x="46" y="183"/>
                  </a:lnTo>
                  <a:lnTo>
                    <a:pt x="79" y="15"/>
                  </a:lnTo>
                  <a:lnTo>
                    <a:pt x="79" y="10"/>
                  </a:lnTo>
                  <a:lnTo>
                    <a:pt x="80" y="7"/>
                  </a:lnTo>
                  <a:lnTo>
                    <a:pt x="81" y="4"/>
                  </a:lnTo>
                  <a:lnTo>
                    <a:pt x="83" y="1"/>
                  </a:lnTo>
                  <a:lnTo>
                    <a:pt x="87" y="1"/>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62" name="Freeform 59"/>
            <p:cNvSpPr>
              <a:spLocks/>
            </p:cNvSpPr>
            <p:nvPr/>
          </p:nvSpPr>
          <p:spPr bwMode="auto">
            <a:xfrm>
              <a:off x="2248" y="1827"/>
              <a:ext cx="86" cy="189"/>
            </a:xfrm>
            <a:custGeom>
              <a:avLst/>
              <a:gdLst>
                <a:gd name="T0" fmla="*/ 0 w 86"/>
                <a:gd name="T1" fmla="*/ 1 h 189"/>
                <a:gd name="T2" fmla="*/ 2 w 86"/>
                <a:gd name="T3" fmla="*/ 1 h 189"/>
                <a:gd name="T4" fmla="*/ 5 w 86"/>
                <a:gd name="T5" fmla="*/ 5 h 189"/>
                <a:gd name="T6" fmla="*/ 6 w 86"/>
                <a:gd name="T7" fmla="*/ 8 h 189"/>
                <a:gd name="T8" fmla="*/ 7 w 86"/>
                <a:gd name="T9" fmla="*/ 15 h 189"/>
                <a:gd name="T10" fmla="*/ 25 w 86"/>
                <a:gd name="T11" fmla="*/ 173 h 189"/>
                <a:gd name="T12" fmla="*/ 27 w 86"/>
                <a:gd name="T13" fmla="*/ 182 h 189"/>
                <a:gd name="T14" fmla="*/ 30 w 86"/>
                <a:gd name="T15" fmla="*/ 184 h 189"/>
                <a:gd name="T16" fmla="*/ 33 w 86"/>
                <a:gd name="T17" fmla="*/ 187 h 189"/>
                <a:gd name="T18" fmla="*/ 36 w 86"/>
                <a:gd name="T19" fmla="*/ 188 h 189"/>
                <a:gd name="T20" fmla="*/ 40 w 86"/>
                <a:gd name="T21" fmla="*/ 186 h 189"/>
                <a:gd name="T22" fmla="*/ 43 w 86"/>
                <a:gd name="T23" fmla="*/ 182 h 189"/>
                <a:gd name="T24" fmla="*/ 75 w 86"/>
                <a:gd name="T25" fmla="*/ 14 h 189"/>
                <a:gd name="T26" fmla="*/ 76 w 86"/>
                <a:gd name="T27" fmla="*/ 10 h 189"/>
                <a:gd name="T28" fmla="*/ 77 w 86"/>
                <a:gd name="T29" fmla="*/ 6 h 189"/>
                <a:gd name="T30" fmla="*/ 78 w 86"/>
                <a:gd name="T31" fmla="*/ 3 h 189"/>
                <a:gd name="T32" fmla="*/ 80 w 86"/>
                <a:gd name="T33" fmla="*/ 1 h 189"/>
                <a:gd name="T34" fmla="*/ 85 w 86"/>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189"/>
                <a:gd name="T56" fmla="*/ 86 w 86"/>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189">
                  <a:moveTo>
                    <a:pt x="0" y="1"/>
                  </a:moveTo>
                  <a:lnTo>
                    <a:pt x="2" y="1"/>
                  </a:lnTo>
                  <a:lnTo>
                    <a:pt x="5" y="5"/>
                  </a:lnTo>
                  <a:lnTo>
                    <a:pt x="6" y="8"/>
                  </a:lnTo>
                  <a:lnTo>
                    <a:pt x="7" y="15"/>
                  </a:lnTo>
                  <a:lnTo>
                    <a:pt x="25" y="173"/>
                  </a:lnTo>
                  <a:lnTo>
                    <a:pt x="27" y="182"/>
                  </a:lnTo>
                  <a:lnTo>
                    <a:pt x="30" y="184"/>
                  </a:lnTo>
                  <a:lnTo>
                    <a:pt x="33" y="187"/>
                  </a:lnTo>
                  <a:lnTo>
                    <a:pt x="36" y="188"/>
                  </a:lnTo>
                  <a:lnTo>
                    <a:pt x="40" y="186"/>
                  </a:lnTo>
                  <a:lnTo>
                    <a:pt x="43" y="182"/>
                  </a:lnTo>
                  <a:lnTo>
                    <a:pt x="75" y="14"/>
                  </a:lnTo>
                  <a:lnTo>
                    <a:pt x="76" y="10"/>
                  </a:lnTo>
                  <a:lnTo>
                    <a:pt x="77" y="6"/>
                  </a:lnTo>
                  <a:lnTo>
                    <a:pt x="78" y="3"/>
                  </a:lnTo>
                  <a:lnTo>
                    <a:pt x="80" y="1"/>
                  </a:lnTo>
                  <a:lnTo>
                    <a:pt x="85" y="0"/>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sp>
          <p:nvSpPr>
            <p:cNvPr id="18463" name="Freeform 60"/>
            <p:cNvSpPr>
              <a:spLocks/>
            </p:cNvSpPr>
            <p:nvPr/>
          </p:nvSpPr>
          <p:spPr bwMode="auto">
            <a:xfrm>
              <a:off x="2333" y="1826"/>
              <a:ext cx="60" cy="190"/>
            </a:xfrm>
            <a:custGeom>
              <a:avLst/>
              <a:gdLst>
                <a:gd name="T0" fmla="*/ 0 w 60"/>
                <a:gd name="T1" fmla="*/ 0 h 190"/>
                <a:gd name="T2" fmla="*/ 4 w 60"/>
                <a:gd name="T3" fmla="*/ 1 h 190"/>
                <a:gd name="T4" fmla="*/ 8 w 60"/>
                <a:gd name="T5" fmla="*/ 4 h 190"/>
                <a:gd name="T6" fmla="*/ 9 w 60"/>
                <a:gd name="T7" fmla="*/ 9 h 190"/>
                <a:gd name="T8" fmla="*/ 10 w 60"/>
                <a:gd name="T9" fmla="*/ 16 h 190"/>
                <a:gd name="T10" fmla="*/ 29 w 60"/>
                <a:gd name="T11" fmla="*/ 174 h 190"/>
                <a:gd name="T12" fmla="*/ 31 w 60"/>
                <a:gd name="T13" fmla="*/ 183 h 190"/>
                <a:gd name="T14" fmla="*/ 32 w 60"/>
                <a:gd name="T15" fmla="*/ 185 h 190"/>
                <a:gd name="T16" fmla="*/ 37 w 60"/>
                <a:gd name="T17" fmla="*/ 187 h 190"/>
                <a:gd name="T18" fmla="*/ 40 w 60"/>
                <a:gd name="T19" fmla="*/ 189 h 190"/>
                <a:gd name="T20" fmla="*/ 44 w 60"/>
                <a:gd name="T21" fmla="*/ 187 h 190"/>
                <a:gd name="T22" fmla="*/ 46 w 60"/>
                <a:gd name="T23" fmla="*/ 183 h 190"/>
                <a:gd name="T24" fmla="*/ 59 w 60"/>
                <a:gd name="T25" fmla="*/ 102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190"/>
                <a:gd name="T41" fmla="*/ 60 w 6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190">
                  <a:moveTo>
                    <a:pt x="0" y="0"/>
                  </a:moveTo>
                  <a:lnTo>
                    <a:pt x="4" y="1"/>
                  </a:lnTo>
                  <a:lnTo>
                    <a:pt x="8" y="4"/>
                  </a:lnTo>
                  <a:lnTo>
                    <a:pt x="9" y="9"/>
                  </a:lnTo>
                  <a:lnTo>
                    <a:pt x="10" y="16"/>
                  </a:lnTo>
                  <a:lnTo>
                    <a:pt x="29" y="174"/>
                  </a:lnTo>
                  <a:lnTo>
                    <a:pt x="31" y="183"/>
                  </a:lnTo>
                  <a:lnTo>
                    <a:pt x="32" y="185"/>
                  </a:lnTo>
                  <a:lnTo>
                    <a:pt x="37" y="187"/>
                  </a:lnTo>
                  <a:lnTo>
                    <a:pt x="40" y="189"/>
                  </a:lnTo>
                  <a:lnTo>
                    <a:pt x="44" y="187"/>
                  </a:lnTo>
                  <a:lnTo>
                    <a:pt x="46" y="183"/>
                  </a:lnTo>
                  <a:lnTo>
                    <a:pt x="59" y="102"/>
                  </a:lnTo>
                </a:path>
              </a:pathLst>
            </a:custGeom>
            <a:noFill/>
            <a:ln w="19050" cap="rnd">
              <a:solidFill>
                <a:srgbClr val="FF004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cs typeface="Arial" charset="0"/>
              </a:endParaRPr>
            </a:p>
          </p:txBody>
        </p:sp>
      </p:grpSp>
      <p:sp>
        <p:nvSpPr>
          <p:cNvPr id="74" name="Right Arrow 73"/>
          <p:cNvSpPr/>
          <p:nvPr/>
        </p:nvSpPr>
        <p:spPr bwMode="auto">
          <a:xfrm>
            <a:off x="4333876" y="4871811"/>
            <a:ext cx="2849563" cy="733663"/>
          </a:xfrm>
          <a:prstGeom prst="rightArrow">
            <a:avLst/>
          </a:prstGeom>
          <a:solidFill>
            <a:schemeClr val="bg1"/>
          </a:solidFill>
          <a:ln w="19050">
            <a:solidFill>
              <a:schemeClr val="tx1"/>
            </a:solidFill>
            <a:headEnd type="none" w="med" len="med"/>
            <a:tailEnd type="none" w="med" len="med"/>
          </a:ln>
          <a:effectLst/>
        </p:spPr>
        <p:style>
          <a:lnRef idx="0">
            <a:schemeClr val="dk1"/>
          </a:lnRef>
          <a:fillRef idx="3">
            <a:schemeClr val="dk1"/>
          </a:fillRef>
          <a:effectRef idx="3">
            <a:schemeClr val="dk1"/>
          </a:effectRef>
          <a:fontRef idx="minor">
            <a:schemeClr val="lt1"/>
          </a:fontRef>
        </p:style>
        <p:txBody>
          <a:bodyPr>
            <a:spAutoFit/>
          </a:bodyPr>
          <a:lstStyle/>
          <a:p>
            <a:pPr>
              <a:defRPr/>
            </a:pPr>
            <a:endParaRPr lang="en-GB" dirty="0">
              <a:solidFill>
                <a:schemeClr val="tx1"/>
              </a:solidFill>
            </a:endParaRPr>
          </a:p>
        </p:txBody>
      </p:sp>
      <p:sp>
        <p:nvSpPr>
          <p:cNvPr id="61" name="Right Arrow 70">
            <a:extLst>
              <a:ext uri="{FF2B5EF4-FFF2-40B4-BE49-F238E27FC236}">
                <a16:creationId xmlns:a16="http://schemas.microsoft.com/office/drawing/2014/main" id="{E3DB3A94-3397-42ED-9E68-06DD16A11E4E}"/>
              </a:ext>
            </a:extLst>
          </p:cNvPr>
          <p:cNvSpPr/>
          <p:nvPr/>
        </p:nvSpPr>
        <p:spPr bwMode="auto">
          <a:xfrm>
            <a:off x="4771906" y="3724365"/>
            <a:ext cx="2648966" cy="579419"/>
          </a:xfrm>
          <a:prstGeom prst="rightArrow">
            <a:avLst/>
          </a:prstGeom>
          <a:solidFill>
            <a:srgbClr val="004050"/>
          </a:solidFill>
          <a:ln w="19050">
            <a:solidFill>
              <a:srgbClr val="004050"/>
            </a:solidFill>
            <a:headEnd type="none" w="med" len="med"/>
            <a:tailEnd type="none" w="med" len="med"/>
          </a:ln>
          <a:effectLst/>
        </p:spPr>
        <p:style>
          <a:lnRef idx="0">
            <a:schemeClr val="dk1"/>
          </a:lnRef>
          <a:fillRef idx="3">
            <a:schemeClr val="dk1"/>
          </a:fillRef>
          <a:effectRef idx="3">
            <a:schemeClr val="dk1"/>
          </a:effectRef>
          <a:fontRef idx="minor">
            <a:schemeClr val="lt1"/>
          </a:fontRef>
        </p:style>
        <p:txBody>
          <a:bodyPr wrap="square">
            <a:spAutoFit/>
          </a:bodyPr>
          <a:lstStyle/>
          <a:p>
            <a:pPr>
              <a:defRPr/>
            </a:pPr>
            <a:endParaRPr lang="en-GB" dirty="0">
              <a:solidFill>
                <a:srgbClr val="7E007C"/>
              </a:solidFill>
            </a:endParaRPr>
          </a:p>
        </p:txBody>
      </p:sp>
    </p:spTree>
    <p:extLst>
      <p:ext uri="{BB962C8B-B14F-4D97-AF65-F5344CB8AC3E}">
        <p14:creationId xmlns:p14="http://schemas.microsoft.com/office/powerpoint/2010/main" val="503412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nchor="t"/>
          <a:lstStyle/>
          <a:p>
            <a:pPr eaLnBrk="1" hangingPunct="1"/>
            <a:r>
              <a:rPr lang="en-US" dirty="0"/>
              <a:t>Internet Information Server (IIS)</a:t>
            </a:r>
          </a:p>
        </p:txBody>
      </p:sp>
      <p:sp>
        <p:nvSpPr>
          <p:cNvPr id="1028" name="Rectangle 3"/>
          <p:cNvSpPr>
            <a:spLocks noGrp="1" noChangeArrowheads="1"/>
          </p:cNvSpPr>
          <p:nvPr>
            <p:ph idx="1"/>
          </p:nvPr>
        </p:nvSpPr>
        <p:spPr/>
        <p:txBody>
          <a:bodyPr/>
          <a:lstStyle/>
          <a:p>
            <a:pPr marL="0" indent="0">
              <a:buNone/>
            </a:pPr>
            <a:r>
              <a:rPr lang="en-US" b="1" dirty="0"/>
              <a:t>Microsoft's enterprise Web Server is IIS</a:t>
            </a:r>
          </a:p>
          <a:p>
            <a:pPr marL="76200" indent="-342900">
              <a:buFont typeface="Arial" panose="020B0604020202020204" pitchFamily="34" charset="0"/>
              <a:buChar char="•"/>
            </a:pPr>
            <a:r>
              <a:rPr lang="en-US" dirty="0"/>
              <a:t>Managed through Internet Services Manager</a:t>
            </a:r>
          </a:p>
          <a:p>
            <a:pPr marL="684000" lvl="1" indent="-342900">
              <a:buSzPct val="115000"/>
              <a:buFont typeface="Arial" panose="020B0604020202020204" pitchFamily="34" charset="0"/>
              <a:buChar char="•"/>
            </a:pPr>
            <a:r>
              <a:rPr lang="en-US" b="1" dirty="0"/>
              <a:t>Control panel </a:t>
            </a:r>
            <a:r>
              <a:rPr lang="en-US" dirty="0"/>
              <a:t>|                           | </a:t>
            </a:r>
            <a:r>
              <a:rPr lang="en-US" b="1" dirty="0"/>
              <a:t>Internet Information Services</a:t>
            </a:r>
          </a:p>
          <a:p>
            <a:endParaRPr lang="en-US" dirty="0"/>
          </a:p>
          <a:p>
            <a:pPr marL="0" indent="0">
              <a:buNone/>
            </a:pPr>
            <a:r>
              <a:rPr lang="en-US" b="1" dirty="0"/>
              <a:t>Web pages stored in folder on the Web server (IIS)</a:t>
            </a:r>
          </a:p>
          <a:p>
            <a:pPr marL="76200" lvl="1" indent="-342900">
              <a:buSzPct val="115000"/>
              <a:buFont typeface="Arial" panose="020B0604020202020204" pitchFamily="34" charset="0"/>
              <a:buChar char="•"/>
            </a:pPr>
            <a:r>
              <a:rPr lang="en-US" dirty="0"/>
              <a:t>Static and dynamic pages</a:t>
            </a:r>
          </a:p>
          <a:p>
            <a:pPr lvl="1"/>
            <a:endParaRPr lang="en-US" dirty="0"/>
          </a:p>
          <a:p>
            <a:pPr marL="0" indent="0">
              <a:buNone/>
            </a:pPr>
            <a:r>
              <a:rPr lang="en-US" b="1" dirty="0"/>
              <a:t>Virtual directories </a:t>
            </a:r>
          </a:p>
          <a:p>
            <a:pPr marL="76200" lvl="1" indent="-342900">
              <a:buSzPct val="115000"/>
              <a:buFont typeface="Arial" panose="020B0604020202020204" pitchFamily="34" charset="0"/>
              <a:buChar char="•"/>
            </a:pPr>
            <a:r>
              <a:rPr lang="en-US" dirty="0"/>
              <a:t>Allow folders to reside outside the IIS root folder</a:t>
            </a:r>
          </a:p>
          <a:p>
            <a:pPr marL="684000" lvl="1" indent="-342900">
              <a:buSzPct val="115000"/>
              <a:buFont typeface="Arial" panose="020B0604020202020204" pitchFamily="34" charset="0"/>
              <a:buChar char="•"/>
            </a:pPr>
            <a:r>
              <a:rPr lang="en-US" b="1" dirty="0"/>
              <a:t>May be located on different drives / partitions</a:t>
            </a:r>
          </a:p>
          <a:p>
            <a:pPr marL="76200" lvl="1" indent="-342900">
              <a:buSzPct val="115000"/>
              <a:buFont typeface="Arial" panose="020B0604020202020204" pitchFamily="34" charset="0"/>
              <a:buChar char="•"/>
            </a:pPr>
            <a:r>
              <a:rPr lang="en-US" dirty="0"/>
              <a:t>Set the folder as an IIS Application area</a:t>
            </a:r>
          </a:p>
          <a:p>
            <a:pPr marL="684000" lvl="1" indent="-342900">
              <a:buSzPct val="115000"/>
              <a:buFont typeface="Arial" panose="020B0604020202020204" pitchFamily="34" charset="0"/>
              <a:buChar char="•"/>
            </a:pPr>
            <a:r>
              <a:rPr lang="en-US" b="1" dirty="0"/>
              <a:t>Can be isolated from other applications</a:t>
            </a:r>
          </a:p>
        </p:txBody>
      </p:sp>
      <p:pic>
        <p:nvPicPr>
          <p:cNvPr id="2" name="Picture 1"/>
          <p:cNvPicPr>
            <a:picLocks noChangeAspect="1"/>
          </p:cNvPicPr>
          <p:nvPr/>
        </p:nvPicPr>
        <p:blipFill>
          <a:blip r:embed="rId3"/>
          <a:stretch>
            <a:fillRect/>
          </a:stretch>
        </p:blipFill>
        <p:spPr>
          <a:xfrm>
            <a:off x="3017632" y="2150802"/>
            <a:ext cx="1703348" cy="380167"/>
          </a:xfrm>
          <a:prstGeom prst="rect">
            <a:avLst/>
          </a:prstGeom>
          <a:ln>
            <a:noFill/>
          </a:ln>
        </p:spPr>
      </p:pic>
    </p:spTree>
    <p:extLst>
      <p:ext uri="{BB962C8B-B14F-4D97-AF65-F5344CB8AC3E}">
        <p14:creationId xmlns:p14="http://schemas.microsoft.com/office/powerpoint/2010/main" val="323801502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8E53E01-6729-45F9-BC71-36E59A1150B8}"/>
              </a:ext>
            </a:extLst>
          </p:cNvPr>
          <p:cNvSpPr>
            <a:spLocks noGrp="1"/>
          </p:cNvSpPr>
          <p:nvPr>
            <p:ph type="body" sz="quarter" idx="10"/>
          </p:nvPr>
        </p:nvSpPr>
        <p:spPr/>
        <p:txBody>
          <a:bodyPr/>
          <a:lstStyle/>
          <a:p>
            <a:r>
              <a:rPr lang="en-US" dirty="0"/>
              <a:t>Summary</a:t>
            </a:r>
            <a:endParaRPr lang="en-IN" dirty="0"/>
          </a:p>
        </p:txBody>
      </p:sp>
      <p:sp>
        <p:nvSpPr>
          <p:cNvPr id="6" name="Text Placeholder 5">
            <a:extLst>
              <a:ext uri="{FF2B5EF4-FFF2-40B4-BE49-F238E27FC236}">
                <a16:creationId xmlns:a16="http://schemas.microsoft.com/office/drawing/2014/main" id="{CEE5427C-F684-4E7A-8ABD-638D2F4F5964}"/>
              </a:ext>
            </a:extLst>
          </p:cNvPr>
          <p:cNvSpPr>
            <a:spLocks noGrp="1"/>
          </p:cNvSpPr>
          <p:nvPr>
            <p:ph type="body" sz="quarter" idx="11"/>
          </p:nvPr>
        </p:nvSpPr>
        <p:spPr/>
        <p:txBody>
          <a:bodyPr/>
          <a:lstStyle/>
          <a:p>
            <a:r>
              <a:rPr lang="en-US" b="1" dirty="0"/>
              <a:t>In this chapter you investigated:</a:t>
            </a:r>
          </a:p>
          <a:p>
            <a:pPr marL="342900" lvl="1" indent="-342900">
              <a:spcAft>
                <a:spcPts val="650"/>
              </a:spcAft>
              <a:buSzPct val="115000"/>
            </a:pPr>
            <a:r>
              <a:rPr lang="en-GB" dirty="0"/>
              <a:t>The history of Web-based development</a:t>
            </a:r>
          </a:p>
          <a:p>
            <a:pPr marL="342900" lvl="1" indent="-342900">
              <a:spcAft>
                <a:spcPts val="650"/>
              </a:spcAft>
              <a:buSzPct val="115000"/>
            </a:pPr>
            <a:r>
              <a:rPr lang="en-GB" dirty="0"/>
              <a:t>The role of Internet Information Services – IIS</a:t>
            </a:r>
          </a:p>
          <a:p>
            <a:pPr marL="342900" indent="-342900">
              <a:buFont typeface="Arial" panose="020B0604020202020204" pitchFamily="34" charset="0"/>
              <a:buChar char="•"/>
            </a:pPr>
            <a:endParaRPr lang="en-US" dirty="0"/>
          </a:p>
          <a:p>
            <a:r>
              <a:rPr lang="en-US" b="1" dirty="0"/>
              <a:t>You also learned about</a:t>
            </a:r>
          </a:p>
          <a:p>
            <a:pPr marL="342900" lvl="1" indent="-342900">
              <a:spcAft>
                <a:spcPts val="650"/>
              </a:spcAft>
              <a:buSzPct val="115000"/>
            </a:pPr>
            <a:r>
              <a:rPr lang="en-GB" dirty="0"/>
              <a:t>The World Wide Web</a:t>
            </a:r>
          </a:p>
          <a:p>
            <a:pPr marL="342900" lvl="1" indent="-342900">
              <a:spcAft>
                <a:spcPts val="650"/>
              </a:spcAft>
              <a:buSzPct val="115000"/>
            </a:pPr>
            <a:r>
              <a:rPr lang="en-GB" dirty="0"/>
              <a:t>HTTP protocol</a:t>
            </a:r>
          </a:p>
          <a:p>
            <a:pPr marL="342900" lvl="1" indent="-342900">
              <a:spcAft>
                <a:spcPts val="650"/>
              </a:spcAft>
              <a:buSzPct val="115000"/>
            </a:pPr>
            <a:r>
              <a:rPr lang="en-GB" dirty="0"/>
              <a:t>Cookies</a:t>
            </a:r>
          </a:p>
          <a:p>
            <a:pPr marL="342900" lvl="1" indent="-342900">
              <a:spcAft>
                <a:spcPts val="650"/>
              </a:spcAft>
              <a:buSzPct val="115000"/>
            </a:pPr>
            <a:r>
              <a:rPr lang="en-GB" dirty="0"/>
              <a:t>Forms</a:t>
            </a:r>
          </a:p>
          <a:p>
            <a:endParaRPr lang="en-IN" dirty="0"/>
          </a:p>
        </p:txBody>
      </p:sp>
    </p:spTree>
    <p:extLst>
      <p:ext uri="{BB962C8B-B14F-4D97-AF65-F5344CB8AC3E}">
        <p14:creationId xmlns:p14="http://schemas.microsoft.com/office/powerpoint/2010/main" val="1047284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B646AA1-345C-47A1-AAA2-986A6BF875D2}"/>
              </a:ext>
            </a:extLst>
          </p:cNvPr>
          <p:cNvSpPr>
            <a:spLocks noGrp="1"/>
          </p:cNvSpPr>
          <p:nvPr>
            <p:ph type="body" sz="quarter" idx="10"/>
          </p:nvPr>
        </p:nvSpPr>
        <p:spPr/>
        <p:txBody>
          <a:bodyPr/>
          <a:lstStyle/>
          <a:p>
            <a:r>
              <a:rPr lang="en-IN" dirty="0"/>
              <a:t>LAB</a:t>
            </a:r>
          </a:p>
        </p:txBody>
      </p:sp>
      <p:sp>
        <p:nvSpPr>
          <p:cNvPr id="8" name="Text Placeholder 7">
            <a:extLst>
              <a:ext uri="{FF2B5EF4-FFF2-40B4-BE49-F238E27FC236}">
                <a16:creationId xmlns:a16="http://schemas.microsoft.com/office/drawing/2014/main" id="{63CA1000-D172-494B-A997-85931E566987}"/>
              </a:ext>
            </a:extLst>
          </p:cNvPr>
          <p:cNvSpPr>
            <a:spLocks noGrp="1"/>
          </p:cNvSpPr>
          <p:nvPr>
            <p:ph type="body" sz="quarter" idx="15"/>
          </p:nvPr>
        </p:nvSpPr>
        <p:spPr/>
        <p:txBody>
          <a:bodyPr/>
          <a:lstStyle/>
          <a:p>
            <a:r>
              <a:rPr lang="en-GB" dirty="0"/>
              <a:t>In this lab you will take a deep dive into how information is  requested and received</a:t>
            </a:r>
          </a:p>
          <a:p>
            <a:endParaRPr lang="en-GB" dirty="0"/>
          </a:p>
          <a:p>
            <a:r>
              <a:rPr lang="en-GB" dirty="0"/>
              <a:t>Please start the "Web Application Architectures" lab</a:t>
            </a:r>
          </a:p>
          <a:p>
            <a:endParaRPr lang="en-GB" dirty="0"/>
          </a:p>
          <a:p>
            <a:r>
              <a:rPr lang="en-GB" b="1" dirty="0"/>
              <a:t>30 minutes</a:t>
            </a:r>
          </a:p>
          <a:p>
            <a:endParaRPr lang="en-IN" dirty="0"/>
          </a:p>
        </p:txBody>
      </p:sp>
    </p:spTree>
    <p:extLst>
      <p:ext uri="{BB962C8B-B14F-4D97-AF65-F5344CB8AC3E}">
        <p14:creationId xmlns:p14="http://schemas.microsoft.com/office/powerpoint/2010/main" val="18709116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Courseware" ma:contentTypeID="0x010100F0967B7CEE8D417F966757887D9466FB005CB7CECC996A5B448C70C3215DE65491" ma:contentTypeVersion="0" ma:contentTypeDescription="Base content type which represents courseware documents" ma:contentTypeScope="" ma:versionID="633ed7bf8a9769dc10b8af609c2e65e8">
  <xsd:schema xmlns:xsd="http://www.w3.org/2001/XMLSchema" xmlns:xs="http://www.w3.org/2001/XMLSchema" xmlns:p="http://schemas.microsoft.com/office/2006/metadata/properties" xmlns:ns2="B42EA499-AA80-4ED5-9ED5-37A17D3EB549" targetNamespace="http://schemas.microsoft.com/office/2006/metadata/properties" ma:root="true" ma:fieldsID="6641bdc0935a9ffdc34b1682c1e0febc" ns2:_="">
    <xsd:import namespace="B42EA499-AA80-4ED5-9ED5-37A17D3EB549"/>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EA499-AA80-4ED5-9ED5-37A17D3EB549"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ookTypeField0 xmlns="B42EA499-AA80-4ED5-9ED5-37A17D3EB549">
      <Terms xmlns="http://schemas.microsoft.com/office/infopath/2007/PartnerControls"/>
    </BookTypeField0>
    <IsBuildFile xmlns="B42EA499-AA80-4ED5-9ED5-37A17D3EB549" xsi:nil="true"/>
    <SequenceNumber xmlns="B42EA499-AA80-4ED5-9ED5-37A17D3EB54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15CDBD0-652B-4150-BA53-11D7E9DEFB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2EA499-AA80-4ED5-9ED5-37A17D3EB5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5DB1744-2C39-4741-BD6F-D333A606B8B8}">
  <ds:schemaRefs>
    <ds:schemaRef ds:uri="http://www.w3.org/XML/1998/namespace"/>
    <ds:schemaRef ds:uri="67D003FF-473B-44DF-AA49-3DBF65443EE2"/>
    <ds:schemaRef ds:uri="http://purl.org/dc/elements/1.1/"/>
    <ds:schemaRef ds:uri="http://schemas.microsoft.com/office/infopath/2007/PartnerControls"/>
    <ds:schemaRef ds:uri="http://purl.org/dc/terms/"/>
    <ds:schemaRef ds:uri="http://schemas.microsoft.com/office/2006/documentManagement/types"/>
    <ds:schemaRef ds:uri="http://purl.org/dc/dcmitype/"/>
    <ds:schemaRef ds:uri="http://schemas.openxmlformats.org/package/2006/metadata/core-properties"/>
    <ds:schemaRef ds:uri="http://schemas.microsoft.com/office/2006/metadata/properties"/>
    <ds:schemaRef ds:uri="B42EA499-AA80-4ED5-9ED5-37A17D3EB549"/>
  </ds:schemaRefs>
</ds:datastoreItem>
</file>

<file path=customXml/itemProps3.xml><?xml version="1.0" encoding="utf-8"?>
<ds:datastoreItem xmlns:ds="http://schemas.openxmlformats.org/officeDocument/2006/customXml" ds:itemID="{D6A6782D-8C3E-492E-B2F5-E0CA662C90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1509</TotalTime>
  <Words>4273</Words>
  <Application>Microsoft Office PowerPoint</Application>
  <PresentationFormat>Widescreen</PresentationFormat>
  <Paragraphs>357</Paragraphs>
  <Slides>22</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Consolas</vt:lpstr>
      <vt:lpstr>Courier New</vt:lpstr>
      <vt:lpstr>Krana Fat B</vt:lpstr>
      <vt:lpstr>Lucida Console</vt:lpstr>
      <vt:lpstr>Montserrat</vt:lpstr>
      <vt:lpstr>Master</vt:lpstr>
      <vt:lpstr>Web Development HTML and CSS</vt:lpstr>
      <vt:lpstr>How the Internet works</vt:lpstr>
      <vt:lpstr>PowerPoint Presentation</vt:lpstr>
      <vt:lpstr>What is The World Wide Web (WWW)</vt:lpstr>
      <vt:lpstr>PowerPoint Presentation</vt:lpstr>
      <vt:lpstr>PowerPoint Presentation</vt:lpstr>
      <vt:lpstr>PowerPoint Presentation</vt:lpstr>
      <vt:lpstr>PowerPoint Presentation</vt:lpstr>
      <vt:lpstr>PowerPoint Presentation</vt:lpstr>
      <vt:lpstr>PowerPoint Presentation</vt:lpstr>
      <vt:lpstr>URL Syntax</vt:lpstr>
      <vt:lpstr>HTTP URL Format</vt:lpstr>
      <vt:lpstr>PowerPoint Presentation</vt:lpstr>
      <vt:lpstr>HyperText Transfer Protocol (HTTP)</vt:lpstr>
      <vt:lpstr>Client-side script</vt:lpstr>
      <vt:lpstr>PowerPoint Presentation</vt:lpstr>
      <vt:lpstr>PowerPoint Presentation</vt:lpstr>
      <vt:lpstr>Form methods</vt:lpstr>
      <vt:lpstr>Cookies</vt:lpstr>
      <vt:lpstr>Internet Information Server (IIS)</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153</cp:revision>
  <cp:lastPrinted>2019-07-03T09:46:41Z</cp:lastPrinted>
  <dcterms:created xsi:type="dcterms:W3CDTF">2019-09-05T08:17:12Z</dcterms:created>
  <dcterms:modified xsi:type="dcterms:W3CDTF">2022-09-05T21:54:49Z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0x010100F0967B7CEE8D417F966757887D9466FB005CB7CECC996A5B448C70C3215DE65491</vt:lpwstr>
  </property>
</Properties>
</file>