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63" r:id="rId5"/>
    <p:sldId id="522" r:id="rId6"/>
    <p:sldId id="527" r:id="rId7"/>
    <p:sldId id="439" r:id="rId8"/>
    <p:sldId id="447" r:id="rId9"/>
    <p:sldId id="441" r:id="rId10"/>
    <p:sldId id="448" r:id="rId11"/>
    <p:sldId id="272" r:id="rId12"/>
    <p:sldId id="273" r:id="rId13"/>
    <p:sldId id="528" r:id="rId14"/>
    <p:sldId id="460" r:id="rId15"/>
  </p:sldIdLst>
  <p:sldSz cx="12192000" cy="6858000"/>
  <p:notesSz cx="6645275" cy="9775825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50"/>
    <a:srgbClr val="09EDB8"/>
    <a:srgbClr val="F91258"/>
    <a:srgbClr val="7E007C"/>
    <a:srgbClr val="28CFF9"/>
    <a:srgbClr val="F3622C"/>
    <a:srgbClr val="31D3AE"/>
    <a:srgbClr val="F3F3F3"/>
    <a:srgbClr val="F4F4F4"/>
    <a:srgbClr val="3D6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33" autoAdjust="0"/>
    <p:restoredTop sz="89806" autoAdjust="0"/>
  </p:normalViewPr>
  <p:slideViewPr>
    <p:cSldViewPr snapToGrid="0" snapToObjects="1" showGuides="1">
      <p:cViewPr varScale="1">
        <p:scale>
          <a:sx n="75" d="100"/>
          <a:sy n="75" d="100"/>
        </p:scale>
        <p:origin x="1147" y="53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2" d="100"/>
          <a:sy n="82" d="100"/>
        </p:scale>
        <p:origin x="400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08/09/2022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08/09/2022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6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7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5A3397-79A8-4CFF-8F02-2724BD874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531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1822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36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7587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9603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84E5D-75FC-402B-A688-58683F694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092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AD7C9-B03B-48B7-829F-3C1CD2E7A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7204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3435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893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660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681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eal Background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56"/>
          <a:stretch/>
        </p:blipFill>
        <p:spPr>
          <a:xfrm>
            <a:off x="0" y="0"/>
            <a:ext cx="12192000" cy="68537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300" y="2311970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28E4C95E-5280-3241-AF7F-04C2329AE56E}"/>
              </a:ext>
            </a:extLst>
          </p:cNvPr>
          <p:cNvSpPr/>
          <p:nvPr userDrawn="1"/>
        </p:nvSpPr>
        <p:spPr>
          <a:xfrm>
            <a:off x="0" y="4401989"/>
            <a:ext cx="6977811" cy="982453"/>
          </a:xfrm>
          <a:custGeom>
            <a:avLst/>
            <a:gdLst/>
            <a:ahLst/>
            <a:cxnLst/>
            <a:rect l="l" t="t" r="r" b="b"/>
            <a:pathLst>
              <a:path w="9245600" h="1301750">
                <a:moveTo>
                  <a:pt x="8673461" y="0"/>
                </a:moveTo>
                <a:lnTo>
                  <a:pt x="8505236" y="0"/>
                </a:lnTo>
                <a:lnTo>
                  <a:pt x="8507088" y="52226"/>
                </a:lnTo>
                <a:lnTo>
                  <a:pt x="8512559" y="103477"/>
                </a:lnTo>
                <a:lnTo>
                  <a:pt x="8521524" y="153629"/>
                </a:lnTo>
                <a:lnTo>
                  <a:pt x="8533859" y="202558"/>
                </a:lnTo>
                <a:lnTo>
                  <a:pt x="8549439" y="250138"/>
                </a:lnTo>
                <a:lnTo>
                  <a:pt x="8568137" y="296245"/>
                </a:lnTo>
                <a:lnTo>
                  <a:pt x="8589830" y="340755"/>
                </a:lnTo>
                <a:lnTo>
                  <a:pt x="8614392" y="383542"/>
                </a:lnTo>
                <a:lnTo>
                  <a:pt x="8641698" y="424483"/>
                </a:lnTo>
                <a:lnTo>
                  <a:pt x="8671623" y="463451"/>
                </a:lnTo>
                <a:lnTo>
                  <a:pt x="8704041" y="500324"/>
                </a:lnTo>
                <a:lnTo>
                  <a:pt x="8738829" y="534976"/>
                </a:lnTo>
                <a:lnTo>
                  <a:pt x="8775861" y="567283"/>
                </a:lnTo>
                <a:lnTo>
                  <a:pt x="0" y="567283"/>
                </a:lnTo>
                <a:lnTo>
                  <a:pt x="0" y="734250"/>
                </a:lnTo>
                <a:lnTo>
                  <a:pt x="8775797" y="734250"/>
                </a:lnTo>
                <a:lnTo>
                  <a:pt x="8738779" y="766556"/>
                </a:lnTo>
                <a:lnTo>
                  <a:pt x="8704003" y="801206"/>
                </a:lnTo>
                <a:lnTo>
                  <a:pt x="8671594" y="838075"/>
                </a:lnTo>
                <a:lnTo>
                  <a:pt x="8641677" y="877039"/>
                </a:lnTo>
                <a:lnTo>
                  <a:pt x="8614377" y="917973"/>
                </a:lnTo>
                <a:lnTo>
                  <a:pt x="8589820" y="960755"/>
                </a:lnTo>
                <a:lnTo>
                  <a:pt x="8568131" y="1005257"/>
                </a:lnTo>
                <a:lnTo>
                  <a:pt x="8549435" y="1051358"/>
                </a:lnTo>
                <a:lnTo>
                  <a:pt x="8533857" y="1098932"/>
                </a:lnTo>
                <a:lnTo>
                  <a:pt x="8521524" y="1147854"/>
                </a:lnTo>
                <a:lnTo>
                  <a:pt x="8512559" y="1198001"/>
                </a:lnTo>
                <a:lnTo>
                  <a:pt x="8507088" y="1249248"/>
                </a:lnTo>
                <a:lnTo>
                  <a:pt x="8505236" y="1301470"/>
                </a:lnTo>
                <a:lnTo>
                  <a:pt x="8673461" y="1301470"/>
                </a:lnTo>
                <a:lnTo>
                  <a:pt x="8675562" y="1252598"/>
                </a:lnTo>
                <a:lnTo>
                  <a:pt x="8681752" y="1204867"/>
                </a:lnTo>
                <a:lnTo>
                  <a:pt x="8691858" y="1158448"/>
                </a:lnTo>
                <a:lnTo>
                  <a:pt x="8705706" y="1113513"/>
                </a:lnTo>
                <a:lnTo>
                  <a:pt x="8723124" y="1070235"/>
                </a:lnTo>
                <a:lnTo>
                  <a:pt x="8743939" y="1028783"/>
                </a:lnTo>
                <a:lnTo>
                  <a:pt x="8767978" y="989330"/>
                </a:lnTo>
                <a:lnTo>
                  <a:pt x="8795069" y="952048"/>
                </a:lnTo>
                <a:lnTo>
                  <a:pt x="8825038" y="917108"/>
                </a:lnTo>
                <a:lnTo>
                  <a:pt x="8857713" y="884681"/>
                </a:lnTo>
                <a:lnTo>
                  <a:pt x="8892921" y="854939"/>
                </a:lnTo>
                <a:lnTo>
                  <a:pt x="8930489" y="828053"/>
                </a:lnTo>
                <a:lnTo>
                  <a:pt x="8970245" y="804196"/>
                </a:lnTo>
                <a:lnTo>
                  <a:pt x="9012015" y="783538"/>
                </a:lnTo>
                <a:lnTo>
                  <a:pt x="9055627" y="766252"/>
                </a:lnTo>
                <a:lnTo>
                  <a:pt x="9100908" y="752508"/>
                </a:lnTo>
                <a:lnTo>
                  <a:pt x="9147685" y="742479"/>
                </a:lnTo>
                <a:lnTo>
                  <a:pt x="9195786" y="736336"/>
                </a:lnTo>
                <a:lnTo>
                  <a:pt x="9245037" y="734250"/>
                </a:lnTo>
                <a:lnTo>
                  <a:pt x="9245037" y="567283"/>
                </a:lnTo>
                <a:lnTo>
                  <a:pt x="9195786" y="565197"/>
                </a:lnTo>
                <a:lnTo>
                  <a:pt x="9147685" y="559052"/>
                </a:lnTo>
                <a:lnTo>
                  <a:pt x="9100908" y="549020"/>
                </a:lnTo>
                <a:lnTo>
                  <a:pt x="9055627" y="535274"/>
                </a:lnTo>
                <a:lnTo>
                  <a:pt x="9012015" y="517984"/>
                </a:lnTo>
                <a:lnTo>
                  <a:pt x="8970245" y="497322"/>
                </a:lnTo>
                <a:lnTo>
                  <a:pt x="8930489" y="473460"/>
                </a:lnTo>
                <a:lnTo>
                  <a:pt x="8892921" y="446570"/>
                </a:lnTo>
                <a:lnTo>
                  <a:pt x="8857713" y="416823"/>
                </a:lnTo>
                <a:lnTo>
                  <a:pt x="8825038" y="384391"/>
                </a:lnTo>
                <a:lnTo>
                  <a:pt x="8795069" y="349446"/>
                </a:lnTo>
                <a:lnTo>
                  <a:pt x="8767978" y="312159"/>
                </a:lnTo>
                <a:lnTo>
                  <a:pt x="8743939" y="272701"/>
                </a:lnTo>
                <a:lnTo>
                  <a:pt x="8723124" y="231246"/>
                </a:lnTo>
                <a:lnTo>
                  <a:pt x="8705706" y="187963"/>
                </a:lnTo>
                <a:lnTo>
                  <a:pt x="8691858" y="143026"/>
                </a:lnTo>
                <a:lnTo>
                  <a:pt x="8681752" y="96605"/>
                </a:lnTo>
                <a:lnTo>
                  <a:pt x="8675562" y="48872"/>
                </a:lnTo>
                <a:lnTo>
                  <a:pt x="86734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Content Placeholder 3"/>
          <p:cNvSpPr>
            <a:spLocks noGrp="1"/>
          </p:cNvSpPr>
          <p:nvPr>
            <p:ph sz="quarter" idx="10"/>
          </p:nvPr>
        </p:nvSpPr>
        <p:spPr>
          <a:xfrm>
            <a:off x="385299" y="5768975"/>
            <a:ext cx="5627171" cy="7096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2294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59A9DB25-FDD1-47D4-AFDB-AF6782549F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0628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2" r:id="rId35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7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Relationship Id="rId6" Type="http://schemas.openxmlformats.org/officeDocument/2006/relationships/hyperlink" Target="http://qa.somee.com/html/slides/demo.html?page=lists.html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Relationship Id="rId4" Type="http://schemas.openxmlformats.org/officeDocument/2006/relationships/hyperlink" Target="http://qa.somee.com/html/slides/demo.html?page=inputtingData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body" sz="quarter" idx="12"/>
          </p:nvPr>
        </p:nvSpPr>
        <p:spPr>
          <a:xfrm>
            <a:off x="385300" y="5306004"/>
            <a:ext cx="3534471" cy="1186921"/>
          </a:xfrm>
        </p:spPr>
        <p:txBody>
          <a:bodyPr/>
          <a:lstStyle/>
          <a:p>
            <a:r>
              <a:rPr lang="en-GB" sz="2000" dirty="0"/>
              <a:t>HTML and CSS</a:t>
            </a:r>
            <a:br>
              <a:rPr lang="en-GB" sz="2000" dirty="0"/>
            </a:br>
            <a:endParaRPr lang="en-GB" sz="2000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5301" y="1914129"/>
            <a:ext cx="3592020" cy="2277604"/>
          </a:xfrm>
        </p:spPr>
        <p:txBody>
          <a:bodyPr>
            <a:normAutofit/>
          </a:bodyPr>
          <a:lstStyle/>
          <a:p>
            <a:r>
              <a:rPr lang="en-GB" dirty="0"/>
              <a:t>Web </a:t>
            </a:r>
            <a:br>
              <a:rPr lang="en-GB" dirty="0"/>
            </a:br>
            <a:r>
              <a:rPr lang="en-GB" dirty="0"/>
              <a:t>Development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76239" y="1556247"/>
            <a:ext cx="5810250" cy="2277604"/>
          </a:xfrm>
        </p:spPr>
        <p:txBody>
          <a:bodyPr/>
          <a:lstStyle/>
          <a:p>
            <a:r>
              <a:rPr lang="en-US"/>
              <a:t>Get </a:t>
            </a:r>
            <a:r>
              <a:rPr lang="en-US" dirty="0"/>
              <a:t>user input using Forms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9890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6991A8-C53B-4205-9581-515B3F36B9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4"/>
            <a:ext cx="6324962" cy="5119407"/>
          </a:xfrm>
        </p:spPr>
        <p:txBody>
          <a:bodyPr/>
          <a:lstStyle/>
          <a:p>
            <a:r>
              <a:rPr lang="en-GB" b="1" dirty="0"/>
              <a:t>In this chapter you will learn how to:</a:t>
            </a:r>
          </a:p>
          <a:p>
            <a:pPr marL="342900" lvl="1" indent="-342900">
              <a:buSzPct val="115000"/>
            </a:pPr>
            <a:r>
              <a:rPr lang="en-GB" dirty="0"/>
              <a:t>Use forms to get user input</a:t>
            </a:r>
          </a:p>
          <a:p>
            <a:pPr marL="342900" lvl="1" indent="-342900">
              <a:buSzPct val="115000"/>
            </a:pPr>
            <a:r>
              <a:rPr lang="en-GB" dirty="0"/>
              <a:t>Deploy various HTML elements to interact with users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D8C4C5-47DA-4B99-AB2C-D87E1C663E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094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>
          <a:xfrm>
            <a:off x="6047445" y="1992793"/>
            <a:ext cx="4646004" cy="4376323"/>
          </a:xfrm>
        </p:spPr>
        <p:txBody>
          <a:bodyPr>
            <a:normAutofit/>
          </a:bodyPr>
          <a:lstStyle/>
          <a:p>
            <a:pPr marL="342900" indent="-342900"/>
            <a:r>
              <a:rPr lang="en-GB" b="1" dirty="0"/>
              <a:t>Dropdown list</a:t>
            </a:r>
            <a:endParaRPr lang="en-GB" sz="1662" b="1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989D43-1047-47B5-A348-36D4BC0324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/>
            <a:r>
              <a:rPr lang="en-GB" b="1" dirty="0" err="1"/>
              <a:t>Listbox</a:t>
            </a:r>
            <a:endParaRPr lang="en-GB" b="1" dirty="0"/>
          </a:p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ListBox</a:t>
            </a:r>
            <a:r>
              <a:rPr lang="en-GB" dirty="0"/>
              <a:t> and Dropdown Lists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4760" t="6678" r="5772" b="7548"/>
          <a:stretch/>
        </p:blipFill>
        <p:spPr>
          <a:xfrm>
            <a:off x="1084239" y="4351643"/>
            <a:ext cx="841355" cy="865278"/>
          </a:xfrm>
          <a:prstGeom prst="rect">
            <a:avLst/>
          </a:prstGeom>
          <a:ln w="25400">
            <a:solidFill>
              <a:srgbClr val="004050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1084239" y="2477865"/>
            <a:ext cx="3960000" cy="1602000"/>
          </a:xfrm>
          <a:prstGeom prst="rect">
            <a:avLst/>
          </a:prstGeom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="3"&gt;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Java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C#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VB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PHP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&lt;/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b="1" dirty="0"/>
          </a:p>
        </p:txBody>
      </p:sp>
      <p:sp>
        <p:nvSpPr>
          <p:cNvPr id="6" name="Rectangle 5"/>
          <p:cNvSpPr/>
          <p:nvPr/>
        </p:nvSpPr>
        <p:spPr>
          <a:xfrm>
            <a:off x="6047445" y="2477865"/>
            <a:ext cx="3960000" cy="1600438"/>
          </a:xfrm>
          <a:prstGeom prst="rect">
            <a:avLst/>
          </a:prstGeom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Java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C#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VB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PHP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Ruby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4729" t="20590" r="10986" b="43308"/>
          <a:stretch/>
        </p:blipFill>
        <p:spPr>
          <a:xfrm>
            <a:off x="6096000" y="4351643"/>
            <a:ext cx="865358" cy="253604"/>
          </a:xfrm>
          <a:prstGeom prst="rect">
            <a:avLst/>
          </a:prstGeom>
          <a:ln w="25400">
            <a:solidFill>
              <a:srgbClr val="004050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l="7069" t="4734" r="8906" b="6740"/>
          <a:stretch/>
        </p:blipFill>
        <p:spPr>
          <a:xfrm>
            <a:off x="7663992" y="4351643"/>
            <a:ext cx="848412" cy="1229026"/>
          </a:xfrm>
          <a:prstGeom prst="rect">
            <a:avLst/>
          </a:prstGeom>
          <a:ln w="25400">
            <a:solidFill>
              <a:srgbClr val="004050"/>
            </a:solidFill>
          </a:ln>
        </p:spPr>
      </p:pic>
      <p:sp>
        <p:nvSpPr>
          <p:cNvPr id="10" name="Right Arrow 9"/>
          <p:cNvSpPr/>
          <p:nvPr/>
        </p:nvSpPr>
        <p:spPr>
          <a:xfrm>
            <a:off x="7149573" y="4351643"/>
            <a:ext cx="326204" cy="253604"/>
          </a:xfrm>
          <a:prstGeom prst="rightArrow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000852" y="2560924"/>
            <a:ext cx="1057620" cy="232751"/>
          </a:xfrm>
          <a:prstGeom prst="roundRect">
            <a:avLst/>
          </a:prstGeom>
          <a:noFill/>
          <a:ln w="25400">
            <a:solidFill>
              <a:srgbClr val="08D6A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Action Button: Go Forward or Next 11">
            <a:hlinkClick r:id="rId6" highlightClick="1"/>
            <a:extLst>
              <a:ext uri="{FF2B5EF4-FFF2-40B4-BE49-F238E27FC236}">
                <a16:creationId xmlns:a16="http://schemas.microsoft.com/office/drawing/2014/main" id="{5BDF4C29-D786-4966-B018-CC5739FDF055}"/>
              </a:ext>
            </a:extLst>
          </p:cNvPr>
          <p:cNvSpPr/>
          <p:nvPr/>
        </p:nvSpPr>
        <p:spPr>
          <a:xfrm>
            <a:off x="11219823" y="6046076"/>
            <a:ext cx="637966" cy="499732"/>
          </a:xfrm>
          <a:prstGeom prst="actionButtonForwardNex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10929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Radio buttons and Check boxes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4211" y="1362000"/>
            <a:ext cx="7725767" cy="120032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h3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 a drink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h3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="radio"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="drink"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</a:t>
            </a:r>
          </a:p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="radio"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="drink"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="c"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checked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Coffee</a:t>
            </a:r>
          </a:p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="radio"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="drink"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Soup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561" y="1715376"/>
            <a:ext cx="2870660" cy="1076497"/>
          </a:xfrm>
          <a:prstGeom prst="rect">
            <a:avLst/>
          </a:prstGeom>
          <a:ln w="25400">
            <a:solidFill>
              <a:srgbClr val="004050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5561" y="4179171"/>
            <a:ext cx="1841960" cy="1031498"/>
          </a:xfrm>
          <a:prstGeom prst="rect">
            <a:avLst/>
          </a:prstGeom>
          <a:ln w="25400">
            <a:solidFill>
              <a:srgbClr val="004050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2854961" y="1622783"/>
            <a:ext cx="1635760" cy="978177"/>
          </a:xfrm>
          <a:prstGeom prst="roundRect">
            <a:avLst/>
          </a:prstGeom>
          <a:noFill/>
          <a:ln w="25400">
            <a:solidFill>
              <a:srgbClr val="08D6A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FBD448-1075-4A29-B273-F25DE4A043F3}"/>
              </a:ext>
            </a:extLst>
          </p:cNvPr>
          <p:cNvSpPr/>
          <p:nvPr/>
        </p:nvSpPr>
        <p:spPr>
          <a:xfrm>
            <a:off x="334211" y="3924577"/>
            <a:ext cx="7725767" cy="116955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h3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Other options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h3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="checkbox"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="milk"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="y"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Milk</a:t>
            </a:r>
          </a:p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="checkbox"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="sugar"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="y"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Sugar</a:t>
            </a:r>
          </a:p>
          <a:p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20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user input elements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3915" y="1385352"/>
            <a:ext cx="7183099" cy="31393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Name: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="text"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="name"&gt;</a:t>
            </a: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DOB: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="date"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="dob"&gt;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email: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="email"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="email"&gt;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url: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url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url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speed: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="range"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="speed"&gt;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Age: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="number"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="age"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min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="1"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max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="65"&gt;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Oval Callout 7"/>
          <p:cNvSpPr/>
          <p:nvPr/>
        </p:nvSpPr>
        <p:spPr>
          <a:xfrm>
            <a:off x="7425510" y="4868754"/>
            <a:ext cx="2571750" cy="949725"/>
          </a:xfrm>
          <a:prstGeom prst="wedgeEllipseCallout">
            <a:avLst>
              <a:gd name="adj1" fmla="val 10785"/>
              <a:gd name="adj2" fmla="val -79500"/>
            </a:avLst>
          </a:prstGeom>
          <a:solidFill>
            <a:srgbClr val="09EDB8"/>
          </a:solidFill>
          <a:ln w="25400"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  <a:cs typeface="Arial" pitchFamily="34" charset="0"/>
              </a:rPr>
              <a:t>Self-validating elements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931461-FE48-4306-B519-0E3BCC49C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645" y="1469112"/>
            <a:ext cx="2571750" cy="2971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Action Button: Go Forward or Next 10">
            <a:hlinkClick r:id="rId4"/>
            <a:extLst>
              <a:ext uri="{FF2B5EF4-FFF2-40B4-BE49-F238E27FC236}">
                <a16:creationId xmlns:a16="http://schemas.microsoft.com/office/drawing/2014/main" id="{BF22EB08-DDA0-4B53-B640-4EE08A87C70E}"/>
              </a:ext>
            </a:extLst>
          </p:cNvPr>
          <p:cNvSpPr/>
          <p:nvPr/>
        </p:nvSpPr>
        <p:spPr>
          <a:xfrm>
            <a:off x="11312732" y="6006972"/>
            <a:ext cx="562809" cy="544968"/>
          </a:xfrm>
          <a:prstGeom prst="actionButtonForwardNex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99570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1267170"/>
          </a:xfrm>
        </p:spPr>
        <p:txBody>
          <a:bodyPr/>
          <a:lstStyle/>
          <a:p>
            <a:r>
              <a:rPr lang="en-GB" b="1" dirty="0"/>
              <a:t>Forms get information from the users to your server program</a:t>
            </a:r>
          </a:p>
          <a:p>
            <a:pPr marL="76200" indent="-342900">
              <a:buFont typeface="Arial" panose="020B0604020202020204" pitchFamily="34" charset="0"/>
              <a:buChar char="•"/>
            </a:pPr>
            <a:r>
              <a:rPr lang="en-GB" dirty="0"/>
              <a:t>Form element may have an action and method attribute (seen later)</a:t>
            </a:r>
          </a:p>
          <a:p>
            <a:pPr marL="76200" indent="-342900">
              <a:buFont typeface="Arial" panose="020B0604020202020204" pitchFamily="34" charset="0"/>
              <a:buChar char="•"/>
            </a:pPr>
            <a:r>
              <a:rPr lang="en-GB" dirty="0"/>
              <a:t>Submit button will submit the form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91070" y="2945302"/>
            <a:ext cx="8005156" cy="25545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004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action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="serve.asp"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method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="get"&gt;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="radio"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="drink"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="t"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checked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Tea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="radio"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="drink"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="c"&gt;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Coffee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="radio"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="drink"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="s"&gt;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Soup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br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="checkbox"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="milk"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="y"&gt;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Milk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="checkbox"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="sugar"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="y"&gt;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Sugar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br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="submit"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="Vend"&gt;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718" y="3548820"/>
            <a:ext cx="2980071" cy="1115691"/>
          </a:xfrm>
          <a:prstGeom prst="rect">
            <a:avLst/>
          </a:prstGeom>
          <a:ln w="25400">
            <a:solidFill>
              <a:srgbClr val="004050"/>
            </a:solidFill>
          </a:ln>
        </p:spPr>
      </p:pic>
    </p:spTree>
    <p:extLst>
      <p:ext uri="{BB962C8B-B14F-4D97-AF65-F5344CB8AC3E}">
        <p14:creationId xmlns:p14="http://schemas.microsoft.com/office/powerpoint/2010/main" val="3788922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Forms – action and method attributes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341550" y="2180647"/>
            <a:ext cx="11516239" cy="3314229"/>
          </a:xfrm>
        </p:spPr>
        <p:txBody>
          <a:bodyPr/>
          <a:lstStyle/>
          <a:p>
            <a:pPr marL="342000" indent="-342000">
              <a:buFontTx/>
              <a:buChar char="•"/>
            </a:pPr>
            <a:r>
              <a:rPr lang="en-GB" b="1" kern="0" dirty="0">
                <a:latin typeface="Consolas" pitchFamily="49" charset="0"/>
              </a:rPr>
              <a:t>Action</a:t>
            </a:r>
          </a:p>
          <a:p>
            <a:pPr marL="684000" lvl="1" indent="-342000">
              <a:buSzPct val="115000"/>
              <a:buFontTx/>
              <a:buChar char="•"/>
            </a:pPr>
            <a:r>
              <a:rPr lang="en-GB" b="1" kern="0" dirty="0">
                <a:latin typeface="Consolas" pitchFamily="49" charset="0"/>
              </a:rPr>
              <a:t>Address where Form's data is sent when submit is clicked</a:t>
            </a:r>
            <a:br>
              <a:rPr lang="en-GB" b="1" kern="0" dirty="0">
                <a:latin typeface="Consolas" pitchFamily="49" charset="0"/>
              </a:rPr>
            </a:br>
            <a:r>
              <a:rPr lang="en-GB" sz="1600" b="1" kern="0" dirty="0">
                <a:latin typeface="Consolas" pitchFamily="49" charset="0"/>
              </a:rPr>
              <a:t>(defaults to the same page)</a:t>
            </a:r>
            <a:r>
              <a:rPr lang="en-GB" b="1" kern="0" dirty="0">
                <a:latin typeface="Consolas" pitchFamily="49" charset="0"/>
              </a:rPr>
              <a:t> </a:t>
            </a:r>
          </a:p>
          <a:p>
            <a:pPr marL="342000" indent="-342000">
              <a:buFontTx/>
              <a:buChar char="•"/>
            </a:pPr>
            <a:r>
              <a:rPr lang="en-GB" b="1" kern="0" dirty="0">
                <a:latin typeface="Consolas" pitchFamily="49" charset="0"/>
              </a:rPr>
              <a:t>POST</a:t>
            </a:r>
          </a:p>
          <a:p>
            <a:pPr marL="684000" lvl="1" indent="-342000">
              <a:buSzPct val="115000"/>
              <a:buFontTx/>
              <a:buChar char="•"/>
            </a:pPr>
            <a:r>
              <a:rPr lang="en-GB" b="1" kern="0" dirty="0">
                <a:latin typeface="Consolas" pitchFamily="49" charset="0"/>
              </a:rPr>
              <a:t>Form data placed in the Body of the HTTP request</a:t>
            </a:r>
          </a:p>
          <a:p>
            <a:pPr marL="316531" indent="-316531">
              <a:buFontTx/>
              <a:buChar char="•"/>
            </a:pPr>
            <a:r>
              <a:rPr lang="en-GB" b="1" kern="0" dirty="0">
                <a:latin typeface="Consolas" pitchFamily="49" charset="0"/>
              </a:rPr>
              <a:t>GET (default)</a:t>
            </a:r>
          </a:p>
          <a:p>
            <a:pPr marL="738572" lvl="1" indent="-316531">
              <a:buSzPct val="115000"/>
              <a:buFontTx/>
              <a:buChar char="•"/>
            </a:pPr>
            <a:r>
              <a:rPr lang="en-GB" b="1" kern="0" dirty="0">
                <a:latin typeface="Consolas" pitchFamily="49" charset="0"/>
              </a:rPr>
              <a:t>Information placed on the URL</a:t>
            </a:r>
            <a:br>
              <a:rPr lang="en-GB" b="1" kern="0" dirty="0">
                <a:latin typeface="Consolas" pitchFamily="49" charset="0"/>
              </a:rPr>
            </a:br>
            <a:r>
              <a:rPr lang="en-GB" sz="1600" b="1" kern="0" dirty="0">
                <a:latin typeface="Consolas" pitchFamily="49" charset="0"/>
              </a:rPr>
              <a:t>limited</a:t>
            </a:r>
            <a:r>
              <a:rPr lang="en-GB" sz="1600" kern="0" dirty="0">
                <a:latin typeface="Consolas" pitchFamily="49" charset="0"/>
              </a:rPr>
              <a:t> by the browser URL max length, </a:t>
            </a:r>
            <a:br>
              <a:rPr lang="en-GB" sz="1600" kern="0" dirty="0">
                <a:latin typeface="Consolas" pitchFamily="49" charset="0"/>
              </a:rPr>
            </a:br>
            <a:r>
              <a:rPr lang="en-GB" sz="1600" b="1" kern="0" dirty="0">
                <a:latin typeface="Consolas" pitchFamily="49" charset="0"/>
              </a:rPr>
              <a:t>Users can edit </a:t>
            </a:r>
            <a:r>
              <a:rPr lang="en-GB" sz="1600" kern="0" dirty="0">
                <a:latin typeface="Consolas" pitchFamily="49" charset="0"/>
              </a:rPr>
              <a:t>it and hard to bookmark</a:t>
            </a:r>
            <a:endParaRPr lang="en-GB" kern="0" dirty="0">
              <a:latin typeface="Consolas" pitchFamily="49" charset="0"/>
            </a:endParaRPr>
          </a:p>
          <a:p>
            <a:endParaRPr lang="en-GB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075" y="4199025"/>
            <a:ext cx="2695085" cy="1064341"/>
          </a:xfrm>
          <a:prstGeom prst="rect">
            <a:avLst/>
          </a:prstGeom>
          <a:ln w="25400">
            <a:solidFill>
              <a:srgbClr val="004050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718343" y="1306562"/>
            <a:ext cx="5174457" cy="369332"/>
          </a:xfrm>
          <a:prstGeom prst="rect">
            <a:avLst/>
          </a:prstGeom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action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="Page2.html"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method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="get"&gt;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6856568" y="5194599"/>
            <a:ext cx="231354" cy="285268"/>
          </a:xfrm>
          <a:prstGeom prst="downArrow">
            <a:avLst/>
          </a:prstGeom>
          <a:solidFill>
            <a:srgbClr val="004050"/>
          </a:solidFill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>
            <a:off x="5558796" y="4944205"/>
            <a:ext cx="1058092" cy="0"/>
          </a:xfrm>
          <a:prstGeom prst="straightConnector1">
            <a:avLst/>
          </a:prstGeom>
          <a:ln w="44450">
            <a:solidFill>
              <a:srgbClr val="00405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964B3-22DB-47D9-85BB-615F313A50F6}"/>
              </a:ext>
            </a:extLst>
          </p:cNvPr>
          <p:cNvSpPr/>
          <p:nvPr/>
        </p:nvSpPr>
        <p:spPr>
          <a:xfrm>
            <a:off x="6096000" y="1289649"/>
            <a:ext cx="5377657" cy="369332"/>
          </a:xfrm>
          <a:prstGeom prst="rect">
            <a:avLst/>
          </a:prstGeom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action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="Page2.html"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method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="post"&gt;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64E5F2-FB5F-4579-80DF-99C250DC8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0872" y="5568290"/>
            <a:ext cx="8574088" cy="991413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36811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Cookies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Small data storage that are either stored in the </a:t>
            </a:r>
            <a:r>
              <a:rPr lang="en-GB" b="1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client's browser </a:t>
            </a:r>
            <a:r>
              <a:rPr lang="en-GB" b="1" dirty="0"/>
              <a:t>memory </a:t>
            </a:r>
            <a:br>
              <a:rPr lang="en-GB" b="1" dirty="0"/>
            </a:br>
            <a:r>
              <a:rPr lang="en-GB" b="1" dirty="0"/>
              <a:t>or as </a:t>
            </a:r>
            <a:r>
              <a:rPr lang="en-GB" b="1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text files </a:t>
            </a:r>
            <a:r>
              <a:rPr lang="en-GB" b="1" dirty="0"/>
              <a:t>on the </a:t>
            </a:r>
            <a:r>
              <a:rPr lang="en-GB" b="1" u="sng" dirty="0"/>
              <a:t>client machine</a:t>
            </a:r>
          </a:p>
          <a:p>
            <a:pPr marL="684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Useful for containing information about the user</a:t>
            </a:r>
          </a:p>
          <a:p>
            <a:pPr marL="684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Limited to a session (</a:t>
            </a:r>
            <a:r>
              <a:rPr lang="en-GB" b="1" dirty="0"/>
              <a:t>Session cookie</a:t>
            </a:r>
            <a:r>
              <a:rPr lang="en-GB" dirty="0"/>
              <a:t>) if not stored in permanent files</a:t>
            </a:r>
          </a:p>
          <a:p>
            <a:pPr marL="684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b="1" dirty="0"/>
              <a:t>Lifetime</a:t>
            </a:r>
            <a:r>
              <a:rPr lang="en-GB" dirty="0"/>
              <a:t> of the cookie can programmatically be set in code</a:t>
            </a:r>
          </a:p>
          <a:p>
            <a:pPr marL="684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If saved as files they are easily accessible by clients/hackers</a:t>
            </a:r>
          </a:p>
          <a:p>
            <a:pPr marL="684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Can only be read from the originator domain</a:t>
            </a:r>
          </a:p>
          <a:p>
            <a:pPr marL="1026900" lvl="2" indent="-342900">
              <a:buSzPct val="115000"/>
              <a:buFont typeface="Arial" panose="020B0604020202020204" pitchFamily="34" charset="0"/>
              <a:buChar char="•"/>
            </a:pPr>
            <a:r>
              <a:rPr lang="en-GB" i="1" dirty="0"/>
              <a:t>BBC.com</a:t>
            </a:r>
            <a:r>
              <a:rPr lang="en-GB" dirty="0"/>
              <a:t> cannot read cookies created by </a:t>
            </a:r>
            <a:r>
              <a:rPr lang="en-GB" i="1" dirty="0"/>
              <a:t>QA.com</a:t>
            </a:r>
            <a:endParaRPr lang="en-GB" dirty="0"/>
          </a:p>
          <a:p>
            <a:pPr marL="684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HTML5 provides other means of client-side storage mechanisms</a:t>
            </a:r>
          </a:p>
          <a:p>
            <a:pPr marL="684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Server side Sessions are an alternative </a:t>
            </a:r>
          </a:p>
          <a:p>
            <a:pPr marL="1026900" lvl="2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Store information for an IP address on the host server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Cookies are strictly bound by law and any website using them needs permission from each user</a:t>
            </a:r>
          </a:p>
        </p:txBody>
      </p:sp>
    </p:spTree>
    <p:extLst>
      <p:ext uri="{BB962C8B-B14F-4D97-AF65-F5344CB8AC3E}">
        <p14:creationId xmlns:p14="http://schemas.microsoft.com/office/powerpoint/2010/main" val="121762273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B10D3-CCB0-486B-A892-2A1976E6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  <a:br>
              <a:rPr lang="en-GB" dirty="0"/>
            </a:b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9AF60AE-7F38-4DAE-A501-878EAAB17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 this chapter you learned how to:</a:t>
            </a:r>
          </a:p>
          <a:p>
            <a:pPr marL="342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Create forms </a:t>
            </a:r>
          </a:p>
          <a:p>
            <a:pPr marL="684000" lvl="2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Method </a:t>
            </a:r>
          </a:p>
          <a:p>
            <a:pPr marL="342900" lvl="1" indent="-342900">
              <a:buSzPct val="115000"/>
              <a:buFont typeface="Arial" panose="020B0604020202020204" pitchFamily="34" charset="0"/>
              <a:buChar char="•"/>
            </a:pPr>
            <a:endParaRPr lang="en-GB" dirty="0"/>
          </a:p>
          <a:p>
            <a:pPr marL="342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Use HTML elements to get the user input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48745" y="3408947"/>
            <a:ext cx="6999090" cy="3046988"/>
          </a:xfrm>
          <a:prstGeom prst="rect">
            <a:avLst/>
          </a:prstGeom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action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="Page2.html"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method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="get"&gt;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="radio"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="sex"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="f"&gt;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Female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="radio"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="sex"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="m"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checked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Male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="checkbox"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GB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CheckMilk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="Yes"&gt;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Milk</a:t>
            </a:r>
          </a:p>
          <a:p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nb-NO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b-NO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nb-NO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b-NO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nb-NO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b-NO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nb-NO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="number"</a:t>
            </a:r>
            <a:r>
              <a:rPr lang="nb-NO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b-NO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min</a:t>
            </a:r>
            <a:r>
              <a:rPr lang="nb-NO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="1"</a:t>
            </a:r>
            <a:r>
              <a:rPr lang="nb-NO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b-NO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max</a:t>
            </a:r>
            <a:r>
              <a:rPr lang="nb-NO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="9"&gt;</a:t>
            </a:r>
            <a:endParaRPr lang="nb-NO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498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24B8B67-9B97-42B9-A1B8-8894C8713C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EF379256-1DAC-48EA-9C4A-D2045BD12E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In this lab you will </a:t>
            </a:r>
          </a:p>
          <a:p>
            <a:pPr marL="684000" lvl="1" indent="-342900">
              <a:buSzPct val="115000"/>
            </a:pPr>
            <a:r>
              <a:rPr lang="en-GB" dirty="0"/>
              <a:t>Gather student details using forms</a:t>
            </a:r>
          </a:p>
          <a:p>
            <a:pPr marL="684000" lvl="1" indent="-342900">
              <a:buSzPct val="115000"/>
            </a:pPr>
            <a:r>
              <a:rPr lang="en-GB" dirty="0"/>
              <a:t>You will use the get and post methods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Please refer to lab "Get user input using Forms"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Duration 20 minutes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1817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>
        <TermInfo xmlns="http://schemas.microsoft.com/office/infopath/2007/PartnerControls">
          <TermName xmlns="http://schemas.microsoft.com/office/infopath/2007/PartnerControls">IK</TermName>
          <TermId xmlns="http://schemas.microsoft.com/office/infopath/2007/PartnerControls">5abe6401-e87a-4499-80b4-3d21a1a6ebd7</TermId>
        </TermInfo>
      </Terms>
    </BookTypeField0>
    <IsBuildFile xmlns="B42EA499-AA80-4ED5-9ED5-37A17D3EB549" xsi:nil="true"/>
    <SequenceNumber xmlns="B42EA499-AA80-4ED5-9ED5-37A17D3EB549" xsi:nil="true"/>
  </documentManagement>
</p:properties>
</file>

<file path=customXml/itemProps1.xml><?xml version="1.0" encoding="utf-8"?>
<ds:datastoreItem xmlns:ds="http://schemas.openxmlformats.org/officeDocument/2006/customXml" ds:itemID="{C61AA4EE-A6ED-4AEA-824C-BD011BF7CC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969334-0241-46EA-81E4-111B2FEEC8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23E08C-C723-468B-A5D9-C0A5AB1C8DC7}">
  <ds:schemaRefs>
    <ds:schemaRef ds:uri="http://schemas.microsoft.com/office/2006/metadata/properties"/>
    <ds:schemaRef ds:uri="http://schemas.microsoft.com/office/infopath/2007/PartnerControls"/>
    <ds:schemaRef ds:uri="B42EA499-AA80-4ED5-9ED5-37A17D3EB54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1905</TotalTime>
  <Words>830</Words>
  <Application>Microsoft Office PowerPoint</Application>
  <PresentationFormat>Widescreen</PresentationFormat>
  <Paragraphs>112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Consolas</vt:lpstr>
      <vt:lpstr>Krana Fat B</vt:lpstr>
      <vt:lpstr>Montserrat</vt:lpstr>
      <vt:lpstr>Master</vt:lpstr>
      <vt:lpstr>Web  Development</vt:lpstr>
      <vt:lpstr>Get user input using Forms</vt:lpstr>
      <vt:lpstr>PowerPoint Presentation</vt:lpstr>
      <vt:lpstr>ListBox and Dropdown Lists</vt:lpstr>
      <vt:lpstr>Radio buttons and Check boxes</vt:lpstr>
      <vt:lpstr>More user input elements</vt:lpstr>
      <vt:lpstr>Forms</vt:lpstr>
      <vt:lpstr>Forms – action and method attributes</vt:lpstr>
      <vt:lpstr>Cookies</vt:lpstr>
      <vt:lpstr>Summary </vt:lpstr>
      <vt:lpstr>PowerPoint Presentation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141</cp:revision>
  <cp:lastPrinted>2019-07-03T09:46:41Z</cp:lastPrinted>
  <dcterms:created xsi:type="dcterms:W3CDTF">2019-09-05T08:17:12Z</dcterms:created>
  <dcterms:modified xsi:type="dcterms:W3CDTF">2022-09-08T08:11:06Z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  <property fmtid="{D5CDD505-2E9C-101B-9397-08002B2CF9AE}" pid="3" name="BookType">
    <vt:lpwstr>4</vt:lpwstr>
  </property>
</Properties>
</file>