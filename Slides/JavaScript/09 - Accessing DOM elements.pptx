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63" r:id="rId5"/>
    <p:sldId id="525" r:id="rId6"/>
    <p:sldId id="526" r:id="rId7"/>
    <p:sldId id="453" r:id="rId8"/>
    <p:sldId id="454" r:id="rId9"/>
    <p:sldId id="455" r:id="rId10"/>
    <p:sldId id="536" r:id="rId11"/>
    <p:sldId id="923" r:id="rId12"/>
    <p:sldId id="539" r:id="rId13"/>
    <p:sldId id="540" r:id="rId14"/>
    <p:sldId id="537" r:id="rId15"/>
    <p:sldId id="541" r:id="rId16"/>
    <p:sldId id="538" r:id="rId17"/>
    <p:sldId id="542" r:id="rId18"/>
    <p:sldId id="492" r:id="rId19"/>
    <p:sldId id="534" r:id="rId20"/>
  </p:sldIdLst>
  <p:sldSz cx="12192000" cy="6858000"/>
  <p:notesSz cx="6645275" cy="9775825"/>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22C"/>
    <a:srgbClr val="09EDB8"/>
    <a:srgbClr val="004050"/>
    <a:srgbClr val="F91258"/>
    <a:srgbClr val="7E007C"/>
    <a:srgbClr val="28CFF9"/>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27" autoAdjust="0"/>
    <p:restoredTop sz="82839" autoAdjust="0"/>
  </p:normalViewPr>
  <p:slideViewPr>
    <p:cSldViewPr snapToGrid="0" snapToObjects="1" showGuides="1">
      <p:cViewPr varScale="1">
        <p:scale>
          <a:sx n="45" d="100"/>
          <a:sy n="45" d="100"/>
        </p:scale>
        <p:origin x="1320" y="42"/>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40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20/05/2026</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20/05/2026</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6"/>
          <p:cNvSpPr>
            <a:spLocks noGrp="1" noRot="1" noChangeAspect="1" noTextEdit="1"/>
          </p:cNvSpPr>
          <p:nvPr>
            <p:ph type="sldImg"/>
          </p:nvPr>
        </p:nvSpPr>
        <p:spPr>
          <a:ln/>
        </p:spPr>
      </p:sp>
      <p:sp>
        <p:nvSpPr>
          <p:cNvPr id="22531" name="Notes Placeholder 7"/>
          <p:cNvSpPr>
            <a:spLocks noGrp="1"/>
          </p:cNvSpPr>
          <p:nvPr>
            <p:ph type="body" idx="1"/>
          </p:nvPr>
        </p:nvSpPr>
        <p:spPr>
          <a:noFill/>
          <a:ln/>
        </p:spPr>
        <p:txBody>
          <a:bodyPr/>
          <a:lstStyle/>
          <a:p>
            <a:endParaRPr lang="en-US" dirty="0"/>
          </a:p>
        </p:txBody>
      </p:sp>
      <p:sp>
        <p:nvSpPr>
          <p:cNvPr id="2" name="Slide Number Placeholder 1">
            <a:extLst>
              <a:ext uri="{FF2B5EF4-FFF2-40B4-BE49-F238E27FC236}">
                <a16:creationId xmlns:a16="http://schemas.microsoft.com/office/drawing/2014/main" id="{52BA8953-1CA8-4E5E-8FD2-F1EFE14BCB9C}"/>
              </a:ext>
            </a:extLst>
          </p:cNvPr>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3497531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339452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436627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1"/>
          </p:nvPr>
        </p:nvSpPr>
        <p:spPr>
          <a:noFill/>
          <a:ln/>
        </p:spPr>
        <p:txBody>
          <a:bodyPr/>
          <a:lstStyle/>
          <a:p>
            <a:pPr defTabSz="739775">
              <a:tabLst/>
            </a:pPr>
            <a:r>
              <a:rPr lang="en-GB" dirty="0"/>
              <a:t>Style-sheet support gained momentum with the advent of Microsoft and Netscape's version 4 browsers.  Both companies had their own ideas of how to manipulate style properties and this led to a different document object model for each browser.  </a:t>
            </a:r>
          </a:p>
          <a:p>
            <a:pPr defTabSz="739775">
              <a:tabLst/>
            </a:pPr>
            <a:r>
              <a:rPr lang="en-GB" dirty="0"/>
              <a:t>The W3C created a standard (DOM Level1) that specified how to manipulate a HTML or XML  document.  DOM levels 1 and 2 are now recommendations e.g. they can be implemented without fear of a specification change.  DOM level 3 is still a working draft at the time of writing.</a:t>
            </a:r>
          </a:p>
          <a:p>
            <a:pPr defTabSz="739775">
              <a:tabLst/>
            </a:pPr>
            <a:r>
              <a:rPr lang="en-GB" dirty="0"/>
              <a:t>Using DOM manipulation we can programmatically affect the CSS positioning and style of elements on a page.  Internet Explorer 6, Netscape 7, Firefox and Opera 6 have good support for CSS and DOM.</a:t>
            </a:r>
          </a:p>
          <a:p>
            <a:pPr defTabSz="739775">
              <a:tabLst/>
            </a:pPr>
            <a:r>
              <a:rPr lang="en-GB" dirty="0"/>
              <a:t>Since the W3C model is very similar to the IE4 model many modern browsers (e.g. Mozilla Firefox, Opera) support the IE4 model as well as the W3C model.  Netscape 4 doesn't support DOM and its model has been consigned to history.  Some people are of the opinion that supporting  DHTML in NS4 is unnecessary and treat it as a static-display-only browser.</a:t>
            </a:r>
          </a:p>
        </p:txBody>
      </p:sp>
      <p:sp>
        <p:nvSpPr>
          <p:cNvPr id="41987"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308A29B4-4337-4F7A-A1A6-DA9AF62FF0CC}"/>
              </a:ext>
            </a:extLst>
          </p:cNvPr>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98868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noFill/>
          <a:ln/>
        </p:spPr>
        <p:txBody>
          <a:bodyPr lIns="88172" tIns="44086" rIns="88172" bIns="44086"/>
          <a:lstStyle/>
          <a:p>
            <a:r>
              <a:rPr lang="en-US"/>
              <a:t>Every Web document is made up of a variety of elements like &lt;h1&gt;, &lt;p&gt;, &lt;hr&gt;, &lt;img&gt; and others.  The Document Object Model describes each page as a collection of individual objects like headings, paragraphs, horizontal rules, images, etc., all the way down to the individual characters.  Each particular object may have properties associated wit it, usually in the form of HTML attributes.  For example, the heading element on the foil has an alignment attribute which is set to center.  In the object model, this attribute is called a property of an object.  An object may have methods associated with it, and events that may occur and affect it. </a:t>
            </a:r>
          </a:p>
          <a:p>
            <a:r>
              <a:rPr lang="en-US"/>
              <a:t>The W3C document states that the DOM should represent every HTML element as an object and every attribute as a property.</a:t>
            </a:r>
          </a:p>
          <a:p>
            <a:endParaRPr lang="en-US"/>
          </a:p>
        </p:txBody>
      </p:sp>
      <p:sp>
        <p:nvSpPr>
          <p:cNvPr id="43011"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E20F21A9-9AD8-4727-AB12-026CD547448B}"/>
              </a:ext>
            </a:extLst>
          </p:cNvPr>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32051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r>
              <a:rPr lang="en-GB" dirty="0"/>
              <a:t>When using a DOM compliant browser the whole page is represented as a Document Object Model in accordance with the W3C DOM specification.  That specification also defines how the following methods should act:</a:t>
            </a:r>
          </a:p>
          <a:p>
            <a:pPr defTabSz="739775">
              <a:tabLst/>
            </a:pPr>
            <a:r>
              <a:rPr lang="en-GB" dirty="0"/>
              <a:t>     </a:t>
            </a:r>
            <a:r>
              <a:rPr lang="en-GB" dirty="0" err="1">
                <a:latin typeface="Lucida Console" pitchFamily="49" charset="0"/>
              </a:rPr>
              <a:t>getlementById</a:t>
            </a:r>
            <a:r>
              <a:rPr lang="en-GB" dirty="0"/>
              <a:t> will return a node representing the named element.</a:t>
            </a:r>
          </a:p>
          <a:p>
            <a:pPr defTabSz="739775">
              <a:tabLst/>
            </a:pPr>
            <a:r>
              <a:rPr lang="en-GB" dirty="0"/>
              <a:t>     </a:t>
            </a:r>
            <a:r>
              <a:rPr lang="en-GB" dirty="0" err="1">
                <a:latin typeface="Lucida Console" pitchFamily="49" charset="0"/>
              </a:rPr>
              <a:t>getElementsByTagName</a:t>
            </a:r>
            <a:r>
              <a:rPr lang="en-GB" dirty="0"/>
              <a:t> will return a </a:t>
            </a:r>
            <a:r>
              <a:rPr lang="en-GB" dirty="0" err="1"/>
              <a:t>NodeList</a:t>
            </a:r>
            <a:r>
              <a:rPr lang="en-GB" dirty="0"/>
              <a:t> of all elements, at any level</a:t>
            </a:r>
            <a:br>
              <a:rPr lang="en-GB" dirty="0"/>
            </a:br>
            <a:r>
              <a:rPr lang="en-GB" dirty="0"/>
              <a:t>     in the tree, with that tag name.  A </a:t>
            </a:r>
            <a:r>
              <a:rPr lang="en-GB" dirty="0" err="1"/>
              <a:t>NodeList</a:t>
            </a:r>
            <a:r>
              <a:rPr lang="en-GB" dirty="0"/>
              <a:t> can be manipulated as if it were</a:t>
            </a:r>
            <a:br>
              <a:rPr lang="en-GB" dirty="0"/>
            </a:br>
            <a:r>
              <a:rPr lang="en-GB" dirty="0"/>
              <a:t>     an array </a:t>
            </a:r>
            <a:r>
              <a:rPr lang="en-GB" dirty="0">
                <a:cs typeface="Arial" charset="0"/>
              </a:rPr>
              <a:t>–</a:t>
            </a:r>
            <a:r>
              <a:rPr lang="en-GB" dirty="0"/>
              <a:t> it may be accessed by numeric or associative index, and it has a</a:t>
            </a:r>
            <a:br>
              <a:rPr lang="en-GB" dirty="0"/>
            </a:br>
            <a:r>
              <a:rPr lang="en-GB" dirty="0"/>
              <a:t>     </a:t>
            </a:r>
            <a:r>
              <a:rPr lang="en-GB" dirty="0">
                <a:latin typeface="Lucida Console" pitchFamily="49" charset="0"/>
              </a:rPr>
              <a:t>length</a:t>
            </a:r>
            <a:r>
              <a:rPr lang="en-GB" dirty="0"/>
              <a:t> property</a:t>
            </a:r>
          </a:p>
          <a:p>
            <a:pPr defTabSz="739775">
              <a:tabLst/>
            </a:pPr>
            <a:r>
              <a:rPr lang="en-GB" dirty="0"/>
              <a:t>Since they can be accessed by numeric index in an </a:t>
            </a:r>
            <a:r>
              <a:rPr lang="en-GB" dirty="0" err="1"/>
              <a:t>NodeList</a:t>
            </a:r>
            <a:r>
              <a:rPr lang="en-GB" dirty="0"/>
              <a:t>, tags do not need to be given an ID attribute.  However, using an ID is generally advisable.</a:t>
            </a:r>
          </a:p>
          <a:p>
            <a:pPr defTabSz="739775">
              <a:tabLst/>
            </a:pPr>
            <a:endParaRPr lang="en-GB" dirty="0"/>
          </a:p>
          <a:p>
            <a:pPr defTabSz="739775">
              <a:tabLst/>
            </a:pPr>
            <a:r>
              <a:rPr lang="en-GB" dirty="0"/>
              <a:t>Note that the </a:t>
            </a:r>
            <a:r>
              <a:rPr lang="en-GB" dirty="0" err="1">
                <a:latin typeface="Lucida Console" pitchFamily="49" charset="0"/>
              </a:rPr>
              <a:t>getElementById</a:t>
            </a:r>
            <a:r>
              <a:rPr lang="en-GB" dirty="0"/>
              <a:t> and </a:t>
            </a:r>
            <a:r>
              <a:rPr lang="en-GB" dirty="0" err="1">
                <a:latin typeface="Lucida Console" pitchFamily="49" charset="0"/>
              </a:rPr>
              <a:t>getElementsByTagName</a:t>
            </a:r>
            <a:r>
              <a:rPr lang="en-GB" dirty="0"/>
              <a:t> are  methods not arrays c.f. </a:t>
            </a:r>
            <a:r>
              <a:rPr lang="en-GB" dirty="0" err="1">
                <a:latin typeface="Lucida Console" pitchFamily="49" charset="0"/>
              </a:rPr>
              <a:t>document.all</a:t>
            </a:r>
            <a:r>
              <a:rPr lang="en-GB" dirty="0"/>
              <a:t> which is an array.</a:t>
            </a:r>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6F08DE5D-CCE8-407F-8CB2-B92AE18B140E}"/>
              </a:ext>
            </a:extLst>
          </p:cNvPr>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3277921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r>
              <a:rPr lang="en-GB" dirty="0"/>
              <a:t>When using a DOM compliant browser the whole page is represented as a Document Object Model in accordance with the W3C DOM specification.  That specification also defines how the following methods should act:</a:t>
            </a:r>
          </a:p>
          <a:p>
            <a:pPr defTabSz="739775">
              <a:tabLst/>
            </a:pPr>
            <a:r>
              <a:rPr lang="en-GB" dirty="0"/>
              <a:t>     </a:t>
            </a:r>
            <a:r>
              <a:rPr lang="en-GB" dirty="0" err="1">
                <a:latin typeface="Lucida Console" pitchFamily="49" charset="0"/>
              </a:rPr>
              <a:t>getlementById</a:t>
            </a:r>
            <a:r>
              <a:rPr lang="en-GB" dirty="0"/>
              <a:t> will return a node representing the named element.</a:t>
            </a:r>
          </a:p>
          <a:p>
            <a:pPr defTabSz="739775">
              <a:tabLst/>
            </a:pPr>
            <a:r>
              <a:rPr lang="en-GB" dirty="0"/>
              <a:t>     </a:t>
            </a:r>
            <a:r>
              <a:rPr lang="en-GB" dirty="0" err="1">
                <a:latin typeface="Lucida Console" pitchFamily="49" charset="0"/>
              </a:rPr>
              <a:t>getElementsByTagName</a:t>
            </a:r>
            <a:r>
              <a:rPr lang="en-GB" dirty="0"/>
              <a:t> will return a </a:t>
            </a:r>
            <a:r>
              <a:rPr lang="en-GB" dirty="0" err="1"/>
              <a:t>NodeList</a:t>
            </a:r>
            <a:r>
              <a:rPr lang="en-GB" dirty="0"/>
              <a:t> of all elements, at any level</a:t>
            </a:r>
            <a:br>
              <a:rPr lang="en-GB" dirty="0"/>
            </a:br>
            <a:r>
              <a:rPr lang="en-GB" dirty="0"/>
              <a:t>     in the tree, with that tag name.  A </a:t>
            </a:r>
            <a:r>
              <a:rPr lang="en-GB" dirty="0" err="1"/>
              <a:t>NodeList</a:t>
            </a:r>
            <a:r>
              <a:rPr lang="en-GB" dirty="0"/>
              <a:t> can be manipulated as if it were</a:t>
            </a:r>
            <a:br>
              <a:rPr lang="en-GB" dirty="0"/>
            </a:br>
            <a:r>
              <a:rPr lang="en-GB" dirty="0"/>
              <a:t>     an array </a:t>
            </a:r>
            <a:r>
              <a:rPr lang="en-GB" dirty="0">
                <a:cs typeface="Arial" charset="0"/>
              </a:rPr>
              <a:t>–</a:t>
            </a:r>
            <a:r>
              <a:rPr lang="en-GB" dirty="0"/>
              <a:t> it may be accessed by numeric or associative index, and it has a</a:t>
            </a:r>
            <a:br>
              <a:rPr lang="en-GB" dirty="0"/>
            </a:br>
            <a:r>
              <a:rPr lang="en-GB" dirty="0"/>
              <a:t>     </a:t>
            </a:r>
            <a:r>
              <a:rPr lang="en-GB" dirty="0">
                <a:latin typeface="Lucida Console" pitchFamily="49" charset="0"/>
              </a:rPr>
              <a:t>length</a:t>
            </a:r>
            <a:r>
              <a:rPr lang="en-GB" dirty="0"/>
              <a:t> property</a:t>
            </a:r>
          </a:p>
          <a:p>
            <a:pPr defTabSz="739775">
              <a:tabLst/>
            </a:pPr>
            <a:r>
              <a:rPr lang="en-GB" dirty="0"/>
              <a:t>Since they can be accessed by numeric index in an </a:t>
            </a:r>
            <a:r>
              <a:rPr lang="en-GB" dirty="0" err="1"/>
              <a:t>NodeList</a:t>
            </a:r>
            <a:r>
              <a:rPr lang="en-GB" dirty="0"/>
              <a:t>, tags do not need to be given an ID attribute.  However, using an ID is generally advisable.</a:t>
            </a:r>
          </a:p>
          <a:p>
            <a:pPr defTabSz="739775">
              <a:tabLst/>
            </a:pPr>
            <a:endParaRPr lang="en-GB" dirty="0"/>
          </a:p>
          <a:p>
            <a:pPr defTabSz="739775">
              <a:tabLst/>
            </a:pPr>
            <a:r>
              <a:rPr lang="en-GB" dirty="0"/>
              <a:t>Note that the </a:t>
            </a:r>
            <a:r>
              <a:rPr lang="en-GB" dirty="0" err="1">
                <a:latin typeface="Lucida Console" pitchFamily="49" charset="0"/>
              </a:rPr>
              <a:t>getElementById</a:t>
            </a:r>
            <a:r>
              <a:rPr lang="en-GB" dirty="0"/>
              <a:t> and </a:t>
            </a:r>
            <a:r>
              <a:rPr lang="en-GB" dirty="0" err="1">
                <a:latin typeface="Lucida Console" pitchFamily="49" charset="0"/>
              </a:rPr>
              <a:t>getElementsByTagName</a:t>
            </a:r>
            <a:r>
              <a:rPr lang="en-GB" dirty="0"/>
              <a:t> are  methods not arrays c.f. </a:t>
            </a:r>
            <a:r>
              <a:rPr lang="en-GB" dirty="0" err="1">
                <a:latin typeface="Lucida Console" pitchFamily="49" charset="0"/>
              </a:rPr>
              <a:t>document.all</a:t>
            </a:r>
            <a:r>
              <a:rPr lang="en-GB" dirty="0"/>
              <a:t> which is an array.</a:t>
            </a:r>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0B370DB1-7E1A-4D93-A9C6-214D46F2239E}"/>
              </a:ext>
            </a:extLst>
          </p:cNvPr>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394878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r>
              <a:rPr lang="en-GB"/>
              <a:t>CONTINUED </a:t>
            </a:r>
            <a:fld id="{993982D2-741D-4BC6-8F8E-84F7C8891268}" type="slidenum">
              <a:rPr smtClean="0"/>
              <a:pPr>
                <a:defRPr/>
              </a:pPr>
              <a:t>8</a:t>
            </a:fld>
            <a:endParaRPr dirty="0"/>
          </a:p>
        </p:txBody>
      </p:sp>
    </p:spTree>
    <p:extLst>
      <p:ext uri="{BB962C8B-B14F-4D97-AF65-F5344CB8AC3E}">
        <p14:creationId xmlns:p14="http://schemas.microsoft.com/office/powerpoint/2010/main" val="1513863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endParaRPr lang="en-GB" dirty="0"/>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0B370DB1-7E1A-4D93-A9C6-214D46F2239E}"/>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3456613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endParaRPr lang="en-GB" dirty="0"/>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0B370DB1-7E1A-4D93-A9C6-214D46F2239E}"/>
              </a:ext>
            </a:extLst>
          </p:cNvPr>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3914971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2087235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24697541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7B749D-B021-4AD9-95FE-5C92ABA2CD69}"/>
              </a:ext>
            </a:extLst>
          </p:cNvPr>
          <p:cNvSpPr>
            <a:spLocks noGrp="1"/>
          </p:cNvSpPr>
          <p:nvPr>
            <p:ph type="body" sz="quarter" idx="12"/>
          </p:nvPr>
        </p:nvSpPr>
        <p:spPr/>
        <p:txBody>
          <a:bodyPr/>
          <a:lstStyle/>
          <a:p>
            <a:r>
              <a:rPr lang="en-IN" sz="2000" dirty="0"/>
              <a:t>JavaScript</a:t>
            </a:r>
          </a:p>
        </p:txBody>
      </p:sp>
      <p:sp>
        <p:nvSpPr>
          <p:cNvPr id="3074" name="Rectangle 2"/>
          <p:cNvSpPr>
            <a:spLocks noGrp="1" noChangeArrowheads="1"/>
          </p:cNvSpPr>
          <p:nvPr>
            <p:ph type="ctrTitle"/>
          </p:nvPr>
        </p:nvSpPr>
        <p:spPr/>
        <p:txBody>
          <a:bodyPr>
            <a:normAutofit/>
          </a:bodyPr>
          <a:lstStyle/>
          <a:p>
            <a:pPr eaLnBrk="1" hangingPunct="1"/>
            <a:r>
              <a:rPr lang="en-GB" dirty="0"/>
              <a:t>Web 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a:t>Accessing DOM elements </a:t>
            </a:r>
          </a:p>
        </p:txBody>
      </p:sp>
      <p:sp>
        <p:nvSpPr>
          <p:cNvPr id="6" name="Subtitle 2">
            <a:extLst>
              <a:ext uri="{FF2B5EF4-FFF2-40B4-BE49-F238E27FC236}">
                <a16:creationId xmlns:a16="http://schemas.microsoft.com/office/drawing/2014/main" id="{631C638F-50B5-446C-BEEA-19E50EA26F48}"/>
              </a:ext>
            </a:extLst>
          </p:cNvPr>
          <p:cNvSpPr txBox="1">
            <a:spLocks/>
          </p:cNvSpPr>
          <p:nvPr/>
        </p:nvSpPr>
        <p:spPr>
          <a:xfrm>
            <a:off x="376239" y="5608948"/>
            <a:ext cx="6480175" cy="442733"/>
          </a:xfrm>
          <a:prstGeom prst="rect">
            <a:avLst/>
          </a:prstGeom>
        </p:spPr>
        <p:txBody>
          <a:bodyPr vert="horz" lIns="0" tIns="0" rIns="0" bIns="0" rtlCol="0" anchor="t" anchorCtr="0">
            <a:norm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i="1" dirty="0">
              <a:solidFill>
                <a:schemeClr val="bg1"/>
              </a:solidFill>
            </a:endParaRPr>
          </a:p>
        </p:txBody>
      </p:sp>
    </p:spTree>
    <p:extLst>
      <p:ext uri="{BB962C8B-B14F-4D97-AF65-F5344CB8AC3E}">
        <p14:creationId xmlns:p14="http://schemas.microsoft.com/office/powerpoint/2010/main" val="839048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BCE7854-761F-4B34-8782-FB399758C6C2}"/>
              </a:ext>
            </a:extLst>
          </p:cNvPr>
          <p:cNvSpPr>
            <a:spLocks noGrp="1"/>
          </p:cNvSpPr>
          <p:nvPr>
            <p:ph type="body" sz="quarter" idx="10"/>
          </p:nvPr>
        </p:nvSpPr>
        <p:spPr/>
        <p:txBody>
          <a:bodyPr/>
          <a:lstStyle/>
          <a:p>
            <a:r>
              <a:rPr lang="en-GB" dirty="0"/>
              <a:t>Objectives</a:t>
            </a:r>
            <a:endParaRPr lang="en-IN" dirty="0"/>
          </a:p>
        </p:txBody>
      </p:sp>
      <p:sp>
        <p:nvSpPr>
          <p:cNvPr id="7" name="Text Placeholder 6">
            <a:extLst>
              <a:ext uri="{FF2B5EF4-FFF2-40B4-BE49-F238E27FC236}">
                <a16:creationId xmlns:a16="http://schemas.microsoft.com/office/drawing/2014/main" id="{EBF12BBC-4865-4CF0-94A9-D352E9BE0B05}"/>
              </a:ext>
            </a:extLst>
          </p:cNvPr>
          <p:cNvSpPr>
            <a:spLocks noGrp="1"/>
          </p:cNvSpPr>
          <p:nvPr>
            <p:ph type="body" sz="quarter" idx="15"/>
          </p:nvPr>
        </p:nvSpPr>
        <p:spPr/>
        <p:txBody>
          <a:bodyPr/>
          <a:lstStyle/>
          <a:p>
            <a:pPr marL="342900" indent="-342900">
              <a:buFont typeface="Arial" panose="020B0604020202020204" pitchFamily="34" charset="0"/>
              <a:buChar char="•"/>
            </a:pPr>
            <a:r>
              <a:rPr lang="en-GB" b="1" dirty="0"/>
              <a:t>In this chapter you'll use code to access DOM elements using JavaScript</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568208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34A53C4-4696-491D-B0E4-F3B536C5FDCF}"/>
              </a:ext>
            </a:extLst>
          </p:cNvPr>
          <p:cNvSpPr>
            <a:spLocks noGrp="1"/>
          </p:cNvSpPr>
          <p:nvPr>
            <p:ph type="body" sz="quarter" idx="10"/>
          </p:nvPr>
        </p:nvSpPr>
        <p:spPr>
          <a:xfrm>
            <a:off x="384784" y="1242034"/>
            <a:ext cx="4268697" cy="2917842"/>
          </a:xfrm>
        </p:spPr>
        <p:txBody>
          <a:bodyPr/>
          <a:lstStyle/>
          <a:p>
            <a:r>
              <a:rPr lang="en-GB" dirty="0"/>
              <a:t>Object</a:t>
            </a:r>
          </a:p>
          <a:p>
            <a:r>
              <a:rPr lang="en-GB" dirty="0"/>
              <a:t>Models For</a:t>
            </a:r>
          </a:p>
          <a:p>
            <a:r>
              <a:rPr lang="en-GB" dirty="0"/>
              <a:t>HTML – the DOM</a:t>
            </a:r>
            <a:endParaRPr lang="en-IN" dirty="0"/>
          </a:p>
        </p:txBody>
      </p:sp>
      <p:sp>
        <p:nvSpPr>
          <p:cNvPr id="5" name="Text Placeholder 4">
            <a:extLst>
              <a:ext uri="{FF2B5EF4-FFF2-40B4-BE49-F238E27FC236}">
                <a16:creationId xmlns:a16="http://schemas.microsoft.com/office/drawing/2014/main" id="{0A354D4E-F504-4F4C-8AA1-8DF3F0F94AFA}"/>
              </a:ext>
            </a:extLst>
          </p:cNvPr>
          <p:cNvSpPr>
            <a:spLocks noGrp="1"/>
          </p:cNvSpPr>
          <p:nvPr>
            <p:ph type="body" sz="quarter" idx="11"/>
          </p:nvPr>
        </p:nvSpPr>
        <p:spPr>
          <a:xfrm>
            <a:off x="5781370" y="579549"/>
            <a:ext cx="6307394" cy="5899039"/>
          </a:xfrm>
        </p:spPr>
        <p:txBody>
          <a:bodyPr/>
          <a:lstStyle/>
          <a:p>
            <a:r>
              <a:rPr lang="en-GB" b="1" dirty="0"/>
              <a:t>The Document Object Model (DOM) defines:</a:t>
            </a:r>
          </a:p>
          <a:p>
            <a:pPr marL="342900" lvl="1" indent="-342900">
              <a:spcAft>
                <a:spcPts val="650"/>
              </a:spcAft>
              <a:buSzPct val="115000"/>
            </a:pPr>
            <a:r>
              <a:rPr lang="en-GB" dirty="0"/>
              <a:t>How the objects in a page relate to each other</a:t>
            </a:r>
          </a:p>
          <a:p>
            <a:pPr marL="342900" lvl="1" indent="-342900">
              <a:spcAft>
                <a:spcPts val="650"/>
              </a:spcAft>
              <a:buSzPct val="115000"/>
            </a:pPr>
            <a:r>
              <a:rPr lang="en-GB" dirty="0"/>
              <a:t>What attributes are associated with each object</a:t>
            </a:r>
          </a:p>
          <a:p>
            <a:pPr marL="342900" lvl="1" indent="-342900">
              <a:spcAft>
                <a:spcPts val="650"/>
              </a:spcAft>
              <a:buSzPct val="115000"/>
            </a:pPr>
            <a:r>
              <a:rPr lang="en-GB" dirty="0"/>
              <a:t>How the objects and attributes can be manipulated</a:t>
            </a:r>
            <a:br>
              <a:rPr lang="en-GB" dirty="0"/>
            </a:br>
            <a:endParaRPr lang="en-GB" dirty="0"/>
          </a:p>
          <a:p>
            <a:pPr marL="342900" indent="-342900"/>
            <a:r>
              <a:rPr lang="en-GB" b="1" dirty="0"/>
              <a:t>The W3C created the DOM specification</a:t>
            </a:r>
          </a:p>
          <a:p>
            <a:pPr marL="342900" lvl="1" indent="-342900">
              <a:spcAft>
                <a:spcPts val="650"/>
              </a:spcAft>
              <a:buSzPct val="115000"/>
            </a:pPr>
            <a:r>
              <a:rPr lang="en-GB" dirty="0"/>
              <a:t>Level 1 –navigation and manipulation</a:t>
            </a:r>
          </a:p>
          <a:p>
            <a:pPr marL="342900" lvl="1" indent="-342900">
              <a:spcAft>
                <a:spcPts val="650"/>
              </a:spcAft>
              <a:buSzPct val="115000"/>
            </a:pPr>
            <a:r>
              <a:rPr lang="en-GB" dirty="0"/>
              <a:t>Level 2 – style manipulation,  XML namespace support &amp; more…</a:t>
            </a:r>
          </a:p>
          <a:p>
            <a:pPr marL="342900" lvl="1" indent="-342900">
              <a:spcAft>
                <a:spcPts val="650"/>
              </a:spcAft>
              <a:buSzPct val="115000"/>
            </a:pPr>
            <a:r>
              <a:rPr lang="en-GB" dirty="0"/>
              <a:t>Level 3 – document loading &amp; saving, content models &amp; more…</a:t>
            </a:r>
          </a:p>
          <a:p>
            <a:endParaRPr lang="en-IN" dirty="0"/>
          </a:p>
        </p:txBody>
      </p:sp>
    </p:spTree>
    <p:extLst>
      <p:ext uri="{BB962C8B-B14F-4D97-AF65-F5344CB8AC3E}">
        <p14:creationId xmlns:p14="http://schemas.microsoft.com/office/powerpoint/2010/main" val="334012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Objects</a:t>
            </a:r>
          </a:p>
        </p:txBody>
      </p:sp>
      <p:sp>
        <p:nvSpPr>
          <p:cNvPr id="17411" name="Rectangle 3"/>
          <p:cNvSpPr>
            <a:spLocks noGrp="1" noChangeArrowheads="1"/>
          </p:cNvSpPr>
          <p:nvPr>
            <p:ph idx="1"/>
          </p:nvPr>
        </p:nvSpPr>
        <p:spPr>
          <a:xfrm>
            <a:off x="341272" y="1368256"/>
            <a:ext cx="11516239" cy="1355255"/>
          </a:xfrm>
        </p:spPr>
        <p:txBody>
          <a:bodyPr/>
          <a:lstStyle/>
          <a:p>
            <a:pPr marL="342900" indent="-342900">
              <a:buFont typeface="Arial" panose="020B0604020202020204" pitchFamily="34" charset="0"/>
              <a:buChar char="•"/>
            </a:pPr>
            <a:r>
              <a:rPr lang="en-US" b="1" dirty="0"/>
              <a:t>DOM describes each document as a collection of individual objects </a:t>
            </a:r>
          </a:p>
          <a:p>
            <a:pPr marL="342900" indent="-342900">
              <a:buFont typeface="Arial" panose="020B0604020202020204" pitchFamily="34" charset="0"/>
              <a:buChar char="•"/>
            </a:pPr>
            <a:r>
              <a:rPr lang="en-US" b="1" dirty="0"/>
              <a:t>Each object may have properties and methods</a:t>
            </a:r>
          </a:p>
          <a:p>
            <a:pPr marL="684000" lvl="1" indent="-342900">
              <a:buSzPct val="115000"/>
              <a:buFont typeface="Arial" panose="020B0604020202020204" pitchFamily="34" charset="0"/>
              <a:buChar char="•"/>
            </a:pPr>
            <a:r>
              <a:rPr lang="en-US" dirty="0"/>
              <a:t>An attribute is the object’s property</a:t>
            </a:r>
          </a:p>
        </p:txBody>
      </p:sp>
      <p:grpSp>
        <p:nvGrpSpPr>
          <p:cNvPr id="22" name="Group 21">
            <a:extLst>
              <a:ext uri="{FF2B5EF4-FFF2-40B4-BE49-F238E27FC236}">
                <a16:creationId xmlns:a16="http://schemas.microsoft.com/office/drawing/2014/main" id="{FA220B0C-1BDD-46D1-AC37-DB5174B3B8DC}"/>
              </a:ext>
            </a:extLst>
          </p:cNvPr>
          <p:cNvGrpSpPr/>
          <p:nvPr/>
        </p:nvGrpSpPr>
        <p:grpSpPr>
          <a:xfrm>
            <a:off x="6857252" y="2969914"/>
            <a:ext cx="3568328" cy="2519830"/>
            <a:chOff x="6988175" y="2858060"/>
            <a:chExt cx="3568328" cy="2519830"/>
          </a:xfrm>
        </p:grpSpPr>
        <p:sp>
          <p:nvSpPr>
            <p:cNvPr id="17412" name="AutoShape 5"/>
            <p:cNvSpPr>
              <a:spLocks noChangeArrowheads="1"/>
            </p:cNvSpPr>
            <p:nvPr/>
          </p:nvSpPr>
          <p:spPr bwMode="auto">
            <a:xfrm>
              <a:off x="7374967" y="2858060"/>
              <a:ext cx="2039938"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a:latin typeface="Lucida Console" pitchFamily="49" charset="0"/>
                </a:rPr>
                <a:t>HTML document</a:t>
              </a:r>
            </a:p>
          </p:txBody>
        </p:sp>
        <p:sp>
          <p:nvSpPr>
            <p:cNvPr id="17413" name="AutoShape 6"/>
            <p:cNvSpPr>
              <a:spLocks noChangeArrowheads="1"/>
            </p:cNvSpPr>
            <p:nvPr/>
          </p:nvSpPr>
          <p:spPr bwMode="auto">
            <a:xfrm>
              <a:off x="6988175" y="3880785"/>
              <a:ext cx="914400"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a:latin typeface="Lucida Console" pitchFamily="49" charset="0"/>
                </a:rPr>
                <a:t>head</a:t>
              </a:r>
            </a:p>
          </p:txBody>
        </p:sp>
        <p:sp>
          <p:nvSpPr>
            <p:cNvPr id="17414" name="AutoShape 7"/>
            <p:cNvSpPr>
              <a:spLocks noChangeArrowheads="1"/>
            </p:cNvSpPr>
            <p:nvPr/>
          </p:nvSpPr>
          <p:spPr bwMode="auto">
            <a:xfrm>
              <a:off x="8888413" y="3885392"/>
              <a:ext cx="914400"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a:latin typeface="Lucida Console" pitchFamily="49" charset="0"/>
                </a:rPr>
                <a:t>body</a:t>
              </a:r>
            </a:p>
          </p:txBody>
        </p:sp>
        <p:sp>
          <p:nvSpPr>
            <p:cNvPr id="17415" name="AutoShape 8"/>
            <p:cNvSpPr>
              <a:spLocks noChangeArrowheads="1"/>
            </p:cNvSpPr>
            <p:nvPr/>
          </p:nvSpPr>
          <p:spPr bwMode="auto">
            <a:xfrm>
              <a:off x="6994011" y="4920690"/>
              <a:ext cx="914400"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a:latin typeface="Lucida Console" pitchFamily="49" charset="0"/>
                </a:rPr>
                <a:t>title</a:t>
              </a:r>
            </a:p>
          </p:txBody>
        </p:sp>
        <p:sp>
          <p:nvSpPr>
            <p:cNvPr id="17416" name="AutoShape 9"/>
            <p:cNvSpPr>
              <a:spLocks noChangeArrowheads="1"/>
            </p:cNvSpPr>
            <p:nvPr/>
          </p:nvSpPr>
          <p:spPr bwMode="auto">
            <a:xfrm>
              <a:off x="8149291" y="4911725"/>
              <a:ext cx="492125"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a:latin typeface="Lucida Console" pitchFamily="49" charset="0"/>
                </a:rPr>
                <a:t>h1</a:t>
              </a:r>
            </a:p>
          </p:txBody>
        </p:sp>
        <p:sp>
          <p:nvSpPr>
            <p:cNvPr id="17417" name="AutoShape 10"/>
            <p:cNvSpPr>
              <a:spLocks noChangeArrowheads="1"/>
            </p:cNvSpPr>
            <p:nvPr/>
          </p:nvSpPr>
          <p:spPr bwMode="auto">
            <a:xfrm>
              <a:off x="9123177" y="4911725"/>
              <a:ext cx="493712"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a:latin typeface="Lucida Console" pitchFamily="49" charset="0"/>
                </a:rPr>
                <a:t>p</a:t>
              </a:r>
            </a:p>
          </p:txBody>
        </p:sp>
        <p:sp>
          <p:nvSpPr>
            <p:cNvPr id="17418" name="AutoShape 11"/>
            <p:cNvSpPr>
              <a:spLocks noChangeArrowheads="1"/>
            </p:cNvSpPr>
            <p:nvPr/>
          </p:nvSpPr>
          <p:spPr bwMode="auto">
            <a:xfrm>
              <a:off x="10062791" y="4920690"/>
              <a:ext cx="493712" cy="457200"/>
            </a:xfrm>
            <a:prstGeom prst="flowChartProcess">
              <a:avLst/>
            </a:prstGeom>
            <a:solidFill>
              <a:srgbClr val="F3622C">
                <a:alpha val="50000"/>
              </a:srgbClr>
            </a:solidFill>
            <a:ln w="25400">
              <a:solidFill>
                <a:schemeClr val="tx1"/>
              </a:solidFill>
              <a:miter lim="800000"/>
              <a:headEnd/>
              <a:tailEnd/>
            </a:ln>
          </p:spPr>
          <p:txBody>
            <a:bodyPr wrap="none" anchor="ctr"/>
            <a:lstStyle/>
            <a:p>
              <a:pPr algn="ctr" defTabSz="739775">
                <a:spcBef>
                  <a:spcPct val="0"/>
                </a:spcBef>
              </a:pPr>
              <a:r>
                <a:rPr lang="en-US" b="1" dirty="0" err="1">
                  <a:latin typeface="Lucida Console" pitchFamily="49" charset="0"/>
                </a:rPr>
                <a:t>hr</a:t>
              </a:r>
              <a:endParaRPr lang="en-US" b="1" dirty="0">
                <a:latin typeface="Lucida Console" pitchFamily="49" charset="0"/>
              </a:endParaRPr>
            </a:p>
          </p:txBody>
        </p:sp>
        <p:sp>
          <p:nvSpPr>
            <p:cNvPr id="17423" name="Line 16"/>
            <p:cNvSpPr>
              <a:spLocks noChangeShapeType="1"/>
            </p:cNvSpPr>
            <p:nvPr/>
          </p:nvSpPr>
          <p:spPr bwMode="auto">
            <a:xfrm>
              <a:off x="7410450" y="4331949"/>
              <a:ext cx="0" cy="585813"/>
            </a:xfrm>
            <a:prstGeom prst="line">
              <a:avLst/>
            </a:prstGeom>
            <a:noFill/>
            <a:ln w="25400">
              <a:solidFill>
                <a:schemeClr val="tx1"/>
              </a:solidFill>
              <a:round/>
              <a:headEnd/>
              <a:tailEnd/>
            </a:ln>
          </p:spPr>
          <p:txBody>
            <a:bodyPr wrap="none" anchor="ctr"/>
            <a:lstStyle/>
            <a:p>
              <a:endParaRPr lang="en-GB"/>
            </a:p>
          </p:txBody>
        </p:sp>
        <p:cxnSp>
          <p:nvCxnSpPr>
            <p:cNvPr id="4" name="Connector: Elbow 3">
              <a:extLst>
                <a:ext uri="{FF2B5EF4-FFF2-40B4-BE49-F238E27FC236}">
                  <a16:creationId xmlns:a16="http://schemas.microsoft.com/office/drawing/2014/main" id="{D02A040E-3E87-4E82-9635-EA8D2E6A82DB}"/>
                </a:ext>
              </a:extLst>
            </p:cNvPr>
            <p:cNvCxnSpPr>
              <a:cxnSpLocks/>
            </p:cNvCxnSpPr>
            <p:nvPr/>
          </p:nvCxnSpPr>
          <p:spPr>
            <a:xfrm rot="5400000" flipH="1" flipV="1">
              <a:off x="7603365" y="3103360"/>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DBA7BCB5-BDB4-4246-AF85-396C8124A1E6}"/>
                </a:ext>
              </a:extLst>
            </p:cNvPr>
            <p:cNvCxnSpPr>
              <a:cxnSpLocks/>
            </p:cNvCxnSpPr>
            <p:nvPr/>
          </p:nvCxnSpPr>
          <p:spPr>
            <a:xfrm rot="16200000" flipV="1">
              <a:off x="8580578" y="3109492"/>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A5A06A38-39EF-4B06-8B12-6AD24B7F680E}"/>
                </a:ext>
              </a:extLst>
            </p:cNvPr>
            <p:cNvCxnSpPr>
              <a:cxnSpLocks/>
            </p:cNvCxnSpPr>
            <p:nvPr/>
          </p:nvCxnSpPr>
          <p:spPr>
            <a:xfrm rot="5400000" flipH="1" flipV="1">
              <a:off x="8582425" y="4133853"/>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E614D54-66AE-4C0F-927F-DDB3A7223C08}"/>
                </a:ext>
              </a:extLst>
            </p:cNvPr>
            <p:cNvCxnSpPr>
              <a:cxnSpLocks/>
            </p:cNvCxnSpPr>
            <p:nvPr/>
          </p:nvCxnSpPr>
          <p:spPr>
            <a:xfrm rot="16200000" flipV="1">
              <a:off x="9550673" y="4139985"/>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sp>
          <p:nvSpPr>
            <p:cNvPr id="44" name="Line 16">
              <a:extLst>
                <a:ext uri="{FF2B5EF4-FFF2-40B4-BE49-F238E27FC236}">
                  <a16:creationId xmlns:a16="http://schemas.microsoft.com/office/drawing/2014/main" id="{85F4B1D2-72E8-4F23-8F5C-ED9A4897DD9C}"/>
                </a:ext>
              </a:extLst>
            </p:cNvPr>
            <p:cNvSpPr>
              <a:spLocks noChangeShapeType="1"/>
            </p:cNvSpPr>
            <p:nvPr/>
          </p:nvSpPr>
          <p:spPr bwMode="auto">
            <a:xfrm>
              <a:off x="9354578" y="4588995"/>
              <a:ext cx="0" cy="324000"/>
            </a:xfrm>
            <a:prstGeom prst="line">
              <a:avLst/>
            </a:prstGeom>
            <a:noFill/>
            <a:ln w="25400">
              <a:solidFill>
                <a:schemeClr val="tx1"/>
              </a:solidFill>
              <a:round/>
              <a:headEnd/>
              <a:tailEnd/>
            </a:ln>
          </p:spPr>
          <p:txBody>
            <a:bodyPr wrap="none" anchor="ctr"/>
            <a:lstStyle/>
            <a:p>
              <a:endParaRPr lang="en-GB"/>
            </a:p>
          </p:txBody>
        </p:sp>
      </p:grpSp>
      <p:sp>
        <p:nvSpPr>
          <p:cNvPr id="5" name="TextBox 4">
            <a:extLst>
              <a:ext uri="{FF2B5EF4-FFF2-40B4-BE49-F238E27FC236}">
                <a16:creationId xmlns:a16="http://schemas.microsoft.com/office/drawing/2014/main" id="{198072AE-E988-54C7-5F4E-9E051A48748C}"/>
              </a:ext>
            </a:extLst>
          </p:cNvPr>
          <p:cNvSpPr txBox="1"/>
          <p:nvPr/>
        </p:nvSpPr>
        <p:spPr>
          <a:xfrm>
            <a:off x="1124404" y="2790078"/>
            <a:ext cx="4204509" cy="2862322"/>
          </a:xfrm>
          <a:prstGeom prst="rect">
            <a:avLst/>
          </a:prstGeom>
          <a:solidFill>
            <a:schemeClr val="accent5">
              <a:lumMod val="20000"/>
              <a:lumOff val="80000"/>
            </a:schemeClr>
          </a:solidFill>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head</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title</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QA</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title</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head</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body</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h1</a:t>
            </a:r>
            <a:r>
              <a:rPr lang="en-GB" sz="1800" b="1" dirty="0">
                <a:solidFill>
                  <a:srgbClr val="0000FF"/>
                </a:solidFill>
                <a:latin typeface="Consolas" panose="020B0609020204030204" pitchFamily="49" charset="0"/>
              </a:rPr>
              <a:t>&gt;</a:t>
            </a:r>
            <a:r>
              <a:rPr lang="en-GB" sz="1800" b="1" dirty="0">
                <a:solidFill>
                  <a:schemeClr val="tx1"/>
                </a:solidFill>
                <a:latin typeface="Consolas" panose="020B0609020204030204" pitchFamily="49" charset="0"/>
              </a:rPr>
              <a:t>QA Training</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h1</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p</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Some text</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p</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hr</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body</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03338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Accessing Elements Using the DOM</a:t>
            </a:r>
          </a:p>
        </p:txBody>
      </p:sp>
      <p:sp>
        <p:nvSpPr>
          <p:cNvPr id="18435" name="Rectangle 6"/>
          <p:cNvSpPr>
            <a:spLocks noGrp="1" noChangeArrowheads="1"/>
          </p:cNvSpPr>
          <p:nvPr>
            <p:ph idx="1"/>
          </p:nvPr>
        </p:nvSpPr>
        <p:spPr>
          <a:xfrm>
            <a:off x="341272" y="1368255"/>
            <a:ext cx="11516239" cy="1213579"/>
          </a:xfrm>
        </p:spPr>
        <p:txBody>
          <a:bodyPr/>
          <a:lstStyle/>
          <a:p>
            <a:pPr marL="342900" indent="-342900">
              <a:buFont typeface="Arial" panose="020B0604020202020204" pitchFamily="34" charset="0"/>
              <a:buChar char="•"/>
            </a:pPr>
            <a:r>
              <a:rPr lang="en-GB" b="1" dirty="0"/>
              <a:t>Elements can be given an ID attribute</a:t>
            </a:r>
          </a:p>
          <a:p>
            <a:pPr marL="342900" indent="-342900">
              <a:buFont typeface="Arial" panose="020B0604020202020204" pitchFamily="34" charset="0"/>
              <a:buChar char="•"/>
            </a:pPr>
            <a:r>
              <a:rPr lang="en-GB" b="1" dirty="0"/>
              <a:t>Call </a:t>
            </a:r>
            <a:r>
              <a:rPr lang="en-GB" b="1" dirty="0" err="1">
                <a:latin typeface="Lucida Console" pitchFamily="49" charset="0"/>
              </a:rPr>
              <a:t>getElementById</a:t>
            </a:r>
            <a:r>
              <a:rPr lang="en-GB" b="1" dirty="0">
                <a:latin typeface="Lucida Console" pitchFamily="49" charset="0"/>
              </a:rPr>
              <a:t>(..) </a:t>
            </a:r>
            <a:r>
              <a:rPr lang="en-GB" b="1" dirty="0">
                <a:latin typeface="+mn-lt"/>
                <a:ea typeface="Arial" charset="0"/>
                <a:cs typeface="Arial" charset="0"/>
              </a:rPr>
              <a:t>to get a single reference</a:t>
            </a:r>
          </a:p>
          <a:p>
            <a:pPr marL="342900" indent="-342900">
              <a:buFont typeface="Arial" panose="020B0604020202020204" pitchFamily="34" charset="0"/>
              <a:buChar char="•"/>
            </a:pPr>
            <a:r>
              <a:rPr lang="en-GB" b="1" dirty="0"/>
              <a:t>Call </a:t>
            </a:r>
            <a:r>
              <a:rPr lang="en-GB" b="1" dirty="0" err="1">
                <a:latin typeface="Lucida Console" pitchFamily="49" charset="0"/>
              </a:rPr>
              <a:t>getElementsByTagName</a:t>
            </a:r>
            <a:r>
              <a:rPr lang="en-GB" b="1" dirty="0">
                <a:latin typeface="Lucida Console" pitchFamily="49" charset="0"/>
              </a:rPr>
              <a:t>(..) </a:t>
            </a:r>
            <a:r>
              <a:rPr lang="en-GB" b="1" dirty="0">
                <a:latin typeface="+mn-lt"/>
              </a:rPr>
              <a:t>to obtain an array of references</a:t>
            </a:r>
          </a:p>
        </p:txBody>
      </p:sp>
      <p:sp>
        <p:nvSpPr>
          <p:cNvPr id="4" name="TextBox 3">
            <a:extLst>
              <a:ext uri="{FF2B5EF4-FFF2-40B4-BE49-F238E27FC236}">
                <a16:creationId xmlns:a16="http://schemas.microsoft.com/office/drawing/2014/main" id="{75A9329E-A89B-E0F9-38C6-1A31D2C3B320}"/>
              </a:ext>
            </a:extLst>
          </p:cNvPr>
          <p:cNvSpPr txBox="1"/>
          <p:nvPr/>
        </p:nvSpPr>
        <p:spPr>
          <a:xfrm>
            <a:off x="763228" y="2729042"/>
            <a:ext cx="8425017" cy="3693319"/>
          </a:xfrm>
          <a:prstGeom prst="rect">
            <a:avLst/>
          </a:prstGeom>
          <a:solidFill>
            <a:schemeClr val="accent5">
              <a:lumMod val="20000"/>
              <a:lumOff val="80000"/>
            </a:schemeClr>
          </a:solidFill>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="hello"&gt;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Another div</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"hello"</a:t>
            </a:r>
            <a:r>
              <a:rPr lang="en-GB" sz="1800" b="1" dirty="0">
                <a:solidFill>
                  <a:srgbClr val="000000"/>
                </a:solidFill>
                <a:latin typeface="Consolas" panose="020B0609020204030204" pitchFamily="49" charset="0"/>
              </a:rPr>
              <a:t>); </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 = </a:t>
            </a:r>
            <a:r>
              <a:rPr lang="en-GB" sz="1800" b="1" dirty="0" err="1">
                <a:solidFill>
                  <a:srgbClr val="000000"/>
                </a:solidFill>
                <a:latin typeface="Consolas" panose="020B0609020204030204" pitchFamily="49" charset="0"/>
              </a:rPr>
              <a:t>document.getElementsByTagName</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"div"</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div2 =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[0];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div3 =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"hello"</a:t>
            </a:r>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div4 =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[1];</a:t>
            </a:r>
          </a:p>
          <a:p>
            <a:r>
              <a:rPr lang="en-GB" sz="1800" b="1" dirty="0">
                <a:solidFill>
                  <a:srgbClr val="000000"/>
                </a:solidFill>
                <a:latin typeface="Consolas" panose="020B0609020204030204" pitchFamily="49" charset="0"/>
              </a:rPr>
              <a:t> </a:t>
            </a:r>
          </a:p>
          <a:p>
            <a:r>
              <a:rPr lang="en-GB" sz="1800" b="1" dirty="0">
                <a:solidFill>
                  <a:srgbClr val="0000FF"/>
                </a:solidFill>
                <a:latin typeface="Consolas" panose="020B0609020204030204" pitchFamily="49" charset="0"/>
              </a:rPr>
              <a:t> &lt;/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b="1" dirty="0"/>
          </a:p>
        </p:txBody>
      </p:sp>
    </p:spTree>
    <p:extLst>
      <p:ext uri="{BB962C8B-B14F-4D97-AF65-F5344CB8AC3E}">
        <p14:creationId xmlns:p14="http://schemas.microsoft.com/office/powerpoint/2010/main" val="85632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Accessing Properties of Elements</a:t>
            </a:r>
          </a:p>
        </p:txBody>
      </p:sp>
      <p:sp>
        <p:nvSpPr>
          <p:cNvPr id="18435" name="Rectangle 6"/>
          <p:cNvSpPr>
            <a:spLocks noGrp="1" noChangeArrowheads="1"/>
          </p:cNvSpPr>
          <p:nvPr>
            <p:ph idx="1"/>
          </p:nvPr>
        </p:nvSpPr>
        <p:spPr/>
        <p:txBody>
          <a:bodyPr/>
          <a:lstStyle/>
          <a:p>
            <a:pPr marL="342900" indent="-342900">
              <a:buFont typeface="Arial" panose="020B0604020202020204" pitchFamily="34" charset="0"/>
              <a:buChar char="•"/>
            </a:pPr>
            <a:r>
              <a:rPr lang="en-GB" b="1" dirty="0" err="1">
                <a:latin typeface="Lucida Console" pitchFamily="49" charset="0"/>
              </a:rPr>
              <a:t>getElementById</a:t>
            </a:r>
            <a:r>
              <a:rPr lang="en-GB" b="1" dirty="0">
                <a:latin typeface="Lucida Console" pitchFamily="49" charset="0"/>
              </a:rPr>
              <a:t>(..) </a:t>
            </a:r>
            <a:r>
              <a:rPr lang="en-GB" b="1" dirty="0"/>
              <a:t>returns an Element object</a:t>
            </a:r>
          </a:p>
          <a:p>
            <a:pPr marL="684000" lvl="1" indent="-342000">
              <a:buSzPct val="115000"/>
              <a:buFont typeface="Arial" panose="020B0604020202020204" pitchFamily="34" charset="0"/>
              <a:buChar char="•"/>
            </a:pPr>
            <a:r>
              <a:rPr lang="en-GB" dirty="0">
                <a:latin typeface="+mn-lt"/>
                <a:ea typeface="Arial" charset="0"/>
                <a:cs typeface="Arial" charset="0"/>
              </a:rPr>
              <a:t>Objects in </a:t>
            </a:r>
            <a:r>
              <a:rPr lang="en-GB" dirty="0" err="1">
                <a:latin typeface="+mn-lt"/>
                <a:ea typeface="Arial" charset="0"/>
                <a:cs typeface="Arial" charset="0"/>
              </a:rPr>
              <a:t>Javascript</a:t>
            </a:r>
            <a:r>
              <a:rPr lang="en-GB" dirty="0">
                <a:latin typeface="+mn-lt"/>
                <a:ea typeface="Arial" charset="0"/>
                <a:cs typeface="Arial" charset="0"/>
              </a:rPr>
              <a:t> have properties and methods. See below</a:t>
            </a: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342000" lvl="1" indent="0">
              <a:buNone/>
            </a:pPr>
            <a:endParaRPr lang="en-GB" dirty="0">
              <a:latin typeface="Arial" charset="0"/>
              <a:ea typeface="Arial" charset="0"/>
              <a:cs typeface="Arial" charset="0"/>
            </a:endParaRP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b="1" dirty="0" err="1">
                <a:latin typeface="Lucida Console" charset="0"/>
                <a:ea typeface="Lucida Console" charset="0"/>
                <a:cs typeface="Lucida Console" charset="0"/>
              </a:rPr>
              <a:t>innerHTML</a:t>
            </a:r>
            <a:r>
              <a:rPr lang="en-GB" dirty="0">
                <a:latin typeface="Arial" charset="0"/>
                <a:ea typeface="Arial" charset="0"/>
                <a:cs typeface="Arial" charset="0"/>
              </a:rPr>
              <a:t> </a:t>
            </a:r>
            <a:r>
              <a:rPr lang="en-GB" dirty="0">
                <a:latin typeface="+mn-lt"/>
                <a:ea typeface="Arial" charset="0"/>
                <a:cs typeface="Arial" charset="0"/>
              </a:rPr>
              <a:t>property gets/sets the HTML within the element</a:t>
            </a:r>
          </a:p>
        </p:txBody>
      </p:sp>
      <p:sp>
        <p:nvSpPr>
          <p:cNvPr id="4" name="TextBox 3">
            <a:extLst>
              <a:ext uri="{FF2B5EF4-FFF2-40B4-BE49-F238E27FC236}">
                <a16:creationId xmlns:a16="http://schemas.microsoft.com/office/drawing/2014/main" id="{59248DC2-AC12-5660-A3A6-C4C067E6A4BA}"/>
              </a:ext>
            </a:extLst>
          </p:cNvPr>
          <p:cNvSpPr txBox="1"/>
          <p:nvPr/>
        </p:nvSpPr>
        <p:spPr>
          <a:xfrm>
            <a:off x="1146688" y="2551837"/>
            <a:ext cx="8911712" cy="1754326"/>
          </a:xfrm>
          <a:prstGeom prst="rect">
            <a:avLst/>
          </a:prstGeom>
          <a:solidFill>
            <a:schemeClr val="accent5">
              <a:lumMod val="20000"/>
              <a:lumOff val="80000"/>
            </a:schemeClr>
          </a:solidFill>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="hello"&gt;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"hello"</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div1.innerHTML = </a:t>
            </a:r>
            <a:r>
              <a:rPr lang="en-GB" sz="1800" b="1" dirty="0">
                <a:solidFill>
                  <a:srgbClr val="A31515"/>
                </a:solidFill>
                <a:latin typeface="Consolas" panose="020B0609020204030204" pitchFamily="49" charset="0"/>
              </a:rPr>
              <a:t>"&lt;h3&gt;Hello QA Apprenticeships&lt;/h3&gt;"</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67556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F948DE-9BA4-4416-B213-36446EDA8F67}"/>
              </a:ext>
            </a:extLst>
          </p:cNvPr>
          <p:cNvSpPr>
            <a:spLocks noGrp="1"/>
          </p:cNvSpPr>
          <p:nvPr>
            <p:ph type="title"/>
          </p:nvPr>
        </p:nvSpPr>
        <p:spPr/>
        <p:txBody>
          <a:bodyPr/>
          <a:lstStyle/>
          <a:p>
            <a:r>
              <a:rPr lang="en-GB" dirty="0"/>
              <a:t>Selection of DOM elements – </a:t>
            </a:r>
            <a:r>
              <a:rPr lang="en-GB" dirty="0" err="1"/>
              <a:t>querySelector</a:t>
            </a:r>
            <a:r>
              <a:rPr lang="en-GB" dirty="0"/>
              <a:t> method</a:t>
            </a:r>
          </a:p>
        </p:txBody>
      </p:sp>
      <p:sp>
        <p:nvSpPr>
          <p:cNvPr id="13" name="TextBox 12">
            <a:extLst>
              <a:ext uri="{FF2B5EF4-FFF2-40B4-BE49-F238E27FC236}">
                <a16:creationId xmlns:a16="http://schemas.microsoft.com/office/drawing/2014/main" id="{C32FDF55-EE2B-4CC3-AEC9-09C42FA4D637}"/>
              </a:ext>
            </a:extLst>
          </p:cNvPr>
          <p:cNvSpPr txBox="1"/>
          <p:nvPr/>
        </p:nvSpPr>
        <p:spPr>
          <a:xfrm>
            <a:off x="334210" y="1334242"/>
            <a:ext cx="4382169" cy="1946687"/>
          </a:xfrm>
          <a:prstGeom prst="rect">
            <a:avLst/>
          </a:prstGeom>
          <a:solidFill>
            <a:schemeClr val="bg1">
              <a:lumMod val="95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id</a:t>
            </a:r>
            <a:r>
              <a:rPr lang="en-GB" sz="1600" b="1" dirty="0">
                <a:solidFill>
                  <a:srgbClr val="0000FF"/>
                </a:solidFill>
                <a:latin typeface="Consolas" panose="020B0609020204030204" pitchFamily="49" charset="0"/>
              </a:rPr>
              <a:t>="</a:t>
            </a:r>
            <a:r>
              <a:rPr lang="en-GB" sz="1600" b="1" dirty="0" err="1">
                <a:solidFill>
                  <a:srgbClr val="0000FF"/>
                </a:solidFill>
                <a:latin typeface="Consolas" panose="020B0609020204030204" pitchFamily="49" charset="0"/>
              </a:rPr>
              <a:t>divInfo</a:t>
            </a:r>
            <a:r>
              <a:rPr lang="en-GB" sz="1600" b="1" dirty="0">
                <a:solidFill>
                  <a:srgbClr val="0000FF"/>
                </a:solidFill>
                <a:latin typeface="Consolas" panose="020B0609020204030204" pitchFamily="49" charset="0"/>
              </a:rPr>
              <a:t>"&gt;</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000" b="1" dirty="0">
                <a:solidFill>
                  <a:srgbClr val="000000"/>
                </a:solidFill>
                <a:latin typeface="Consolas" panose="020B0609020204030204" pitchFamily="49" charset="0"/>
              </a:rPr>
              <a:t>    </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input</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type</a:t>
            </a:r>
            <a:r>
              <a:rPr lang="en-GB" sz="1600" b="1" dirty="0">
                <a:solidFill>
                  <a:srgbClr val="0000FF"/>
                </a:solidFill>
                <a:latin typeface="Consolas" panose="020B0609020204030204" pitchFamily="49" charset="0"/>
              </a:rPr>
              <a:t>="radio"</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name</a:t>
            </a:r>
            <a:r>
              <a:rPr lang="en-GB" sz="1600" b="1" dirty="0">
                <a:solidFill>
                  <a:srgbClr val="0000FF"/>
                </a:solidFill>
                <a:latin typeface="Consolas" panose="020B0609020204030204" pitchFamily="49" charset="0"/>
              </a:rPr>
              <a:t>="drink"</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input</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type</a:t>
            </a:r>
            <a:r>
              <a:rPr lang="en-GB" sz="1600" b="1" dirty="0">
                <a:solidFill>
                  <a:srgbClr val="0000FF"/>
                </a:solidFill>
                <a:latin typeface="Consolas" panose="020B0609020204030204" pitchFamily="49" charset="0"/>
              </a:rPr>
              <a:t>="radio"</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name</a:t>
            </a:r>
            <a:r>
              <a:rPr lang="en-GB" sz="1600" b="1" dirty="0">
                <a:solidFill>
                  <a:srgbClr val="0000FF"/>
                </a:solidFill>
                <a:latin typeface="Consolas" panose="020B0609020204030204" pitchFamily="49" charset="0"/>
              </a:rPr>
              <a:t>="drink"</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input</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type</a:t>
            </a:r>
            <a:r>
              <a:rPr lang="en-GB" sz="1600" b="1" dirty="0">
                <a:solidFill>
                  <a:srgbClr val="0000FF"/>
                </a:solidFill>
                <a:latin typeface="Consolas" panose="020B0609020204030204" pitchFamily="49" charset="0"/>
              </a:rPr>
              <a:t>="radio"</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name</a:t>
            </a:r>
            <a:r>
              <a:rPr lang="en-GB" sz="1600" b="1" dirty="0">
                <a:solidFill>
                  <a:srgbClr val="0000FF"/>
                </a:solidFill>
                <a:latin typeface="Consolas" panose="020B0609020204030204" pitchFamily="49" charset="0"/>
              </a:rPr>
              <a:t>="drink"</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endParaRPr lang="en-GB" sz="10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class</a:t>
            </a:r>
            <a:r>
              <a:rPr lang="en-GB" sz="1600" b="1" dirty="0">
                <a:solidFill>
                  <a:srgbClr val="0000FF"/>
                </a:solidFill>
                <a:latin typeface="Consolas" panose="020B0609020204030204" pitchFamily="49" charset="0"/>
              </a:rPr>
              <a:t>="</a:t>
            </a:r>
            <a:r>
              <a:rPr lang="en-GB" sz="1600" b="1" dirty="0" err="1">
                <a:solidFill>
                  <a:srgbClr val="0000FF"/>
                </a:solidFill>
                <a:latin typeface="Consolas" panose="020B0609020204030204" pitchFamily="49" charset="0"/>
              </a:rPr>
              <a:t>redBorder</a:t>
            </a:r>
            <a:r>
              <a:rPr lang="en-GB" sz="1600" b="1" dirty="0">
                <a:solidFill>
                  <a:srgbClr val="0000FF"/>
                </a:solidFill>
                <a:latin typeface="Consolas" panose="020B0609020204030204" pitchFamily="49" charset="0"/>
              </a:rPr>
              <a:t>"&gt;</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class</a:t>
            </a:r>
            <a:r>
              <a:rPr lang="en-GB" sz="1600" b="1" dirty="0">
                <a:solidFill>
                  <a:srgbClr val="0000FF"/>
                </a:solidFill>
                <a:latin typeface="Consolas" panose="020B0609020204030204" pitchFamily="49" charset="0"/>
              </a:rPr>
              <a:t>="</a:t>
            </a:r>
            <a:r>
              <a:rPr lang="en-GB" sz="1600" b="1" dirty="0" err="1">
                <a:solidFill>
                  <a:srgbClr val="0000FF"/>
                </a:solidFill>
                <a:latin typeface="Consolas" panose="020B0609020204030204" pitchFamily="49" charset="0"/>
              </a:rPr>
              <a:t>redBorder</a:t>
            </a:r>
            <a:r>
              <a:rPr lang="en-GB" sz="1600" b="1" dirty="0">
                <a:solidFill>
                  <a:srgbClr val="0000FF"/>
                </a:solidFill>
                <a:latin typeface="Consolas" panose="020B0609020204030204" pitchFamily="49" charset="0"/>
              </a:rPr>
              <a:t>"&gt;</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p:txBody>
      </p:sp>
      <p:sp>
        <p:nvSpPr>
          <p:cNvPr id="15" name="TextBox 14">
            <a:extLst>
              <a:ext uri="{FF2B5EF4-FFF2-40B4-BE49-F238E27FC236}">
                <a16:creationId xmlns:a16="http://schemas.microsoft.com/office/drawing/2014/main" id="{D680B986-CFE9-4237-B810-6C9F4B6631DC}"/>
              </a:ext>
            </a:extLst>
          </p:cNvPr>
          <p:cNvSpPr txBox="1"/>
          <p:nvPr/>
        </p:nvSpPr>
        <p:spPr>
          <a:xfrm>
            <a:off x="321607" y="3520960"/>
            <a:ext cx="6944431" cy="1160767"/>
          </a:xfrm>
          <a:prstGeom prst="rect">
            <a:avLst/>
          </a:prstGeom>
          <a:solidFill>
            <a:schemeClr val="bg1">
              <a:lumMod val="95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GB" sz="1600" b="1" dirty="0">
                <a:solidFill>
                  <a:srgbClr val="0000FF"/>
                </a:solidFill>
                <a:latin typeface="Consolas" panose="020B0609020204030204" pitchFamily="49" charset="0"/>
              </a:rPr>
              <a:t>let</a:t>
            </a:r>
            <a:r>
              <a:rPr lang="en-GB" sz="1600" b="1" dirty="0">
                <a:solidFill>
                  <a:srgbClr val="000000"/>
                </a:solidFill>
                <a:latin typeface="Consolas" panose="020B0609020204030204" pitchFamily="49" charset="0"/>
              </a:rPr>
              <a:t> info = </a:t>
            </a:r>
            <a:r>
              <a:rPr lang="en-GB" sz="1600" b="1" dirty="0" err="1">
                <a:solidFill>
                  <a:srgbClr val="000000"/>
                </a:solidFill>
                <a:latin typeface="Consolas" panose="020B0609020204030204" pitchFamily="49" charset="0"/>
              </a:rPr>
              <a:t>document.getElementById</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a:t>
            </a:r>
            <a:r>
              <a:rPr lang="en-GB" sz="1600" b="1" dirty="0" err="1">
                <a:solidFill>
                  <a:srgbClr val="A31515"/>
                </a:solidFill>
                <a:latin typeface="Consolas" panose="020B0609020204030204" pitchFamily="49" charset="0"/>
              </a:rPr>
              <a:t>divInfo</a:t>
            </a:r>
            <a:r>
              <a:rPr lang="en-GB" sz="1600" b="1" dirty="0">
                <a:solidFill>
                  <a:srgbClr val="A31515"/>
                </a:solidFill>
                <a:latin typeface="Consolas" panose="020B0609020204030204" pitchFamily="49" charset="0"/>
              </a:rPr>
              <a:t>'</a:t>
            </a:r>
            <a:r>
              <a:rPr lang="en-GB" sz="1600" b="1" dirty="0">
                <a:solidFill>
                  <a:srgbClr val="000000"/>
                </a:solidFill>
                <a:latin typeface="Consolas" panose="020B0609020204030204" pitchFamily="49" charset="0"/>
              </a:rPr>
              <a:t>);</a:t>
            </a:r>
          </a:p>
          <a:p>
            <a:pPr>
              <a:lnSpc>
                <a:spcPct val="150000"/>
              </a:lnSpc>
            </a:pPr>
            <a:r>
              <a:rPr lang="en-GB" sz="1600" b="1" dirty="0">
                <a:solidFill>
                  <a:srgbClr val="0000FF"/>
                </a:solidFill>
                <a:latin typeface="Consolas" panose="020B0609020204030204" pitchFamily="49" charset="0"/>
              </a:rPr>
              <a:t>let</a:t>
            </a:r>
            <a:r>
              <a:rPr lang="en-GB" sz="1600" b="1" dirty="0">
                <a:solidFill>
                  <a:srgbClr val="000000"/>
                </a:solidFill>
                <a:latin typeface="Consolas" panose="020B0609020204030204" pitchFamily="49" charset="0"/>
              </a:rPr>
              <a:t> drinks = </a:t>
            </a:r>
            <a:r>
              <a:rPr lang="en-GB" sz="1600" b="1" dirty="0" err="1">
                <a:solidFill>
                  <a:srgbClr val="000000"/>
                </a:solidFill>
                <a:latin typeface="Consolas" panose="020B0609020204030204" pitchFamily="49" charset="0"/>
              </a:rPr>
              <a:t>document.getElementsByName</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'drink'</a:t>
            </a:r>
            <a:r>
              <a:rPr lang="en-GB" sz="1600" b="1" dirty="0">
                <a:solidFill>
                  <a:srgbClr val="000000"/>
                </a:solidFill>
                <a:latin typeface="Consolas" panose="020B0609020204030204" pitchFamily="49" charset="0"/>
              </a:rPr>
              <a:t>);</a:t>
            </a:r>
          </a:p>
          <a:p>
            <a:pPr>
              <a:lnSpc>
                <a:spcPct val="150000"/>
              </a:lnSpc>
            </a:pPr>
            <a:r>
              <a:rPr lang="en-GB" sz="1600" b="1" dirty="0">
                <a:solidFill>
                  <a:srgbClr val="0000FF"/>
                </a:solidFill>
                <a:latin typeface="Consolas" panose="020B0609020204030204" pitchFamily="49" charset="0"/>
              </a:rPr>
              <a:t>let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divs</a:t>
            </a:r>
            <a:r>
              <a:rPr lang="en-GB" sz="1600" b="1" dirty="0">
                <a:solidFill>
                  <a:srgbClr val="000000"/>
                </a:solidFill>
                <a:latin typeface="Consolas" panose="020B0609020204030204" pitchFamily="49" charset="0"/>
              </a:rPr>
              <a:t> = </a:t>
            </a:r>
            <a:r>
              <a:rPr lang="en-GB" sz="1600" b="1" dirty="0" err="1">
                <a:solidFill>
                  <a:srgbClr val="000000"/>
                </a:solidFill>
                <a:latin typeface="Consolas" panose="020B0609020204030204" pitchFamily="49" charset="0"/>
              </a:rPr>
              <a:t>document.getElementsByClassName</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a:t>
            </a:r>
            <a:r>
              <a:rPr lang="en-GB" sz="1600" b="1" dirty="0" err="1">
                <a:solidFill>
                  <a:srgbClr val="A31515"/>
                </a:solidFill>
                <a:latin typeface="Consolas" panose="020B0609020204030204" pitchFamily="49" charset="0"/>
              </a:rPr>
              <a:t>redBorder</a:t>
            </a:r>
            <a:r>
              <a:rPr lang="en-GB" sz="1600" b="1" dirty="0">
                <a:solidFill>
                  <a:srgbClr val="A31515"/>
                </a:solidFill>
                <a:latin typeface="Consolas" panose="020B0609020204030204" pitchFamily="49" charset="0"/>
              </a:rPr>
              <a:t>'</a:t>
            </a:r>
            <a:r>
              <a:rPr lang="en-GB" sz="1600" b="1" dirty="0">
                <a:solidFill>
                  <a:srgbClr val="000000"/>
                </a:solidFill>
                <a:latin typeface="Consolas" panose="020B0609020204030204" pitchFamily="49" charset="0"/>
              </a:rPr>
              <a:t>);</a:t>
            </a:r>
          </a:p>
        </p:txBody>
      </p:sp>
      <p:sp>
        <p:nvSpPr>
          <p:cNvPr id="17" name="TextBox 16">
            <a:extLst>
              <a:ext uri="{FF2B5EF4-FFF2-40B4-BE49-F238E27FC236}">
                <a16:creationId xmlns:a16="http://schemas.microsoft.com/office/drawing/2014/main" id="{97452C11-CDC4-4C97-990F-FF30793F32C1}"/>
              </a:ext>
            </a:extLst>
          </p:cNvPr>
          <p:cNvSpPr txBox="1"/>
          <p:nvPr/>
        </p:nvSpPr>
        <p:spPr>
          <a:xfrm>
            <a:off x="339971" y="4973165"/>
            <a:ext cx="7200069" cy="1294329"/>
          </a:xfrm>
          <a:prstGeom prst="rect">
            <a:avLst/>
          </a:prstGeom>
          <a:solidFill>
            <a:schemeClr val="bg1">
              <a:lumMod val="95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info = </a:t>
            </a:r>
            <a:r>
              <a:rPr lang="en-GB" b="1" dirty="0" err="1">
                <a:solidFill>
                  <a:srgbClr val="000000"/>
                </a:solidFill>
                <a:latin typeface="Consolas" panose="020B0609020204030204" pitchFamily="49" charset="0"/>
              </a:rPr>
              <a:t>document.querySelector</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a:t>
            </a:r>
            <a:r>
              <a:rPr lang="en-GB" b="1" dirty="0" err="1">
                <a:solidFill>
                  <a:srgbClr val="A31515"/>
                </a:solidFill>
                <a:latin typeface="Consolas" panose="020B0609020204030204" pitchFamily="49" charset="0"/>
              </a:rPr>
              <a:t>divInfo</a:t>
            </a:r>
            <a:r>
              <a:rPr lang="en-GB" b="1" dirty="0">
                <a:solidFill>
                  <a:srgbClr val="A31515"/>
                </a:solidFill>
                <a:latin typeface="Consolas" panose="020B0609020204030204" pitchFamily="49" charset="0"/>
              </a:rPr>
              <a:t>'</a:t>
            </a:r>
            <a:r>
              <a:rPr lang="en-GB" b="1" dirty="0">
                <a:solidFill>
                  <a:srgbClr val="000000"/>
                </a:solidFill>
                <a:latin typeface="Consolas" panose="020B0609020204030204" pitchFamily="49" charset="0"/>
              </a:rPr>
              <a:t>);</a:t>
            </a:r>
          </a:p>
          <a:p>
            <a:pPr>
              <a:lnSpc>
                <a:spcPct val="150000"/>
              </a:lnSpc>
            </a:pP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drinks = </a:t>
            </a:r>
            <a:r>
              <a:rPr lang="en-GB" b="1" dirty="0" err="1">
                <a:solidFill>
                  <a:srgbClr val="000000"/>
                </a:solidFill>
                <a:latin typeface="Consolas" panose="020B0609020204030204" pitchFamily="49" charset="0"/>
              </a:rPr>
              <a:t>document.querySelectorAll</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'[name=drink]'</a:t>
            </a:r>
            <a:r>
              <a:rPr lang="en-GB" b="1" dirty="0">
                <a:solidFill>
                  <a:srgbClr val="000000"/>
                </a:solidFill>
                <a:latin typeface="Consolas" panose="020B0609020204030204" pitchFamily="49" charset="0"/>
              </a:rPr>
              <a:t>);</a:t>
            </a:r>
          </a:p>
          <a:p>
            <a:pPr>
              <a:lnSpc>
                <a:spcPct val="150000"/>
              </a:lnSpc>
            </a:pP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divs</a:t>
            </a:r>
            <a:r>
              <a:rPr lang="en-GB" b="1" dirty="0">
                <a:solidFill>
                  <a:srgbClr val="000000"/>
                </a:solidFill>
                <a:latin typeface="Consolas" panose="020B0609020204030204" pitchFamily="49" charset="0"/>
              </a:rPr>
              <a:t> = </a:t>
            </a:r>
            <a:r>
              <a:rPr lang="en-GB" b="1" dirty="0" err="1">
                <a:solidFill>
                  <a:srgbClr val="000000"/>
                </a:solidFill>
                <a:latin typeface="Consolas" panose="020B0609020204030204" pitchFamily="49" charset="0"/>
              </a:rPr>
              <a:t>document.querySelectorAll</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a:t>
            </a:r>
            <a:r>
              <a:rPr lang="en-GB" b="1" dirty="0" err="1">
                <a:solidFill>
                  <a:srgbClr val="A31515"/>
                </a:solidFill>
                <a:latin typeface="Consolas" panose="020B0609020204030204" pitchFamily="49" charset="0"/>
              </a:rPr>
              <a:t>redBorder</a:t>
            </a:r>
            <a:r>
              <a:rPr lang="en-GB" b="1" dirty="0">
                <a:solidFill>
                  <a:srgbClr val="A31515"/>
                </a:solidFill>
                <a:latin typeface="Consolas" panose="020B0609020204030204" pitchFamily="49" charset="0"/>
              </a:rPr>
              <a:t>'</a:t>
            </a:r>
            <a:r>
              <a:rPr lang="en-GB" b="1" dirty="0">
                <a:solidFill>
                  <a:srgbClr val="000000"/>
                </a:solidFill>
                <a:latin typeface="Consolas" panose="020B0609020204030204" pitchFamily="49" charset="0"/>
              </a:rPr>
              <a:t>);</a:t>
            </a:r>
          </a:p>
        </p:txBody>
      </p:sp>
      <p:sp>
        <p:nvSpPr>
          <p:cNvPr id="19" name="TextBox 18">
            <a:extLst>
              <a:ext uri="{FF2B5EF4-FFF2-40B4-BE49-F238E27FC236}">
                <a16:creationId xmlns:a16="http://schemas.microsoft.com/office/drawing/2014/main" id="{682D595E-439D-48FC-8AA1-59C02279ECD7}"/>
              </a:ext>
            </a:extLst>
          </p:cNvPr>
          <p:cNvSpPr txBox="1"/>
          <p:nvPr/>
        </p:nvSpPr>
        <p:spPr>
          <a:xfrm>
            <a:off x="7979333" y="3520960"/>
            <a:ext cx="4093206" cy="1294329"/>
          </a:xfrm>
          <a:prstGeom prst="rect">
            <a:avLst/>
          </a:prstGeom>
          <a:solidFill>
            <a:schemeClr val="bg1">
              <a:lumMod val="95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GB" sz="1800" b="1" dirty="0" err="1">
                <a:solidFill>
                  <a:srgbClr val="000000"/>
                </a:solidFill>
                <a:latin typeface="Consolas" panose="020B0609020204030204" pitchFamily="49" charset="0"/>
              </a:rPr>
              <a:t>info.innerHTML</a:t>
            </a:r>
            <a:r>
              <a:rPr lang="en-GB" sz="1800" b="1" dirty="0">
                <a:solidFill>
                  <a:srgbClr val="000000"/>
                </a:solidFill>
                <a:latin typeface="Consolas" panose="020B0609020204030204" pitchFamily="49" charset="0"/>
              </a:rPr>
              <a:t> = </a:t>
            </a:r>
            <a:r>
              <a:rPr lang="en-GB" sz="1800" b="1" dirty="0">
                <a:solidFill>
                  <a:srgbClr val="A31515"/>
                </a:solidFill>
                <a:latin typeface="Consolas" panose="020B0609020204030204" pitchFamily="49" charset="0"/>
              </a:rPr>
              <a:t>"&lt;h3&gt;</a:t>
            </a:r>
            <a:r>
              <a:rPr lang="en-GB" sz="1800" b="1" dirty="0">
                <a:solidFill>
                  <a:schemeClr val="tx1"/>
                </a:solidFill>
                <a:latin typeface="Consolas" panose="020B0609020204030204" pitchFamily="49" charset="0"/>
              </a:rPr>
              <a:t>QA</a:t>
            </a:r>
            <a:r>
              <a:rPr lang="en-GB" sz="1800" b="1" dirty="0">
                <a:solidFill>
                  <a:srgbClr val="A31515"/>
                </a:solidFill>
                <a:latin typeface="Consolas" panose="020B0609020204030204" pitchFamily="49" charset="0"/>
              </a:rPr>
              <a:t>&lt;/h3&gt;"</a:t>
            </a:r>
            <a:r>
              <a:rPr lang="en-GB" sz="1800" b="1" dirty="0">
                <a:solidFill>
                  <a:srgbClr val="000000"/>
                </a:solidFill>
                <a:latin typeface="Consolas" panose="020B0609020204030204" pitchFamily="49" charset="0"/>
              </a:rPr>
              <a:t>; drinks[0].checked = </a:t>
            </a:r>
            <a:r>
              <a:rPr lang="en-GB" sz="1800" b="1" dirty="0">
                <a:solidFill>
                  <a:srgbClr val="0000FF"/>
                </a:solidFill>
                <a:latin typeface="Consolas" panose="020B0609020204030204" pitchFamily="49" charset="0"/>
              </a:rPr>
              <a:t>true</a:t>
            </a:r>
            <a:r>
              <a:rPr lang="en-GB" sz="1800" b="1" dirty="0">
                <a:solidFill>
                  <a:srgbClr val="000000"/>
                </a:solidFill>
                <a:latin typeface="Consolas" panose="020B0609020204030204" pitchFamily="49" charset="0"/>
              </a:rPr>
              <a:t>;</a:t>
            </a:r>
          </a:p>
          <a:p>
            <a:pPr>
              <a:lnSpc>
                <a:spcPct val="150000"/>
              </a:lnSpc>
            </a:pPr>
            <a:r>
              <a:rPr lang="en-GB" sz="1800" b="1" dirty="0" err="1">
                <a:solidFill>
                  <a:srgbClr val="000000"/>
                </a:solidFill>
                <a:latin typeface="Consolas" panose="020B0609020204030204" pitchFamily="49" charset="0"/>
              </a:rPr>
              <a:t>divs</a:t>
            </a:r>
            <a:r>
              <a:rPr lang="en-GB" sz="1800" b="1" dirty="0">
                <a:solidFill>
                  <a:srgbClr val="000000"/>
                </a:solidFill>
                <a:latin typeface="Consolas" panose="020B0609020204030204" pitchFamily="49" charset="0"/>
              </a:rPr>
              <a:t>[0].</a:t>
            </a:r>
            <a:r>
              <a:rPr lang="en-GB" sz="1800" b="1" dirty="0" err="1">
                <a:solidFill>
                  <a:srgbClr val="000000"/>
                </a:solidFill>
                <a:latin typeface="Consolas" panose="020B0609020204030204" pitchFamily="49" charset="0"/>
              </a:rPr>
              <a:t>innerText</a:t>
            </a:r>
            <a:r>
              <a:rPr lang="en-GB" sz="1800" b="1" dirty="0">
                <a:solidFill>
                  <a:srgbClr val="000000"/>
                </a:solidFill>
                <a:latin typeface="Consolas" panose="020B0609020204030204" pitchFamily="49" charset="0"/>
              </a:rPr>
              <a:t> = </a:t>
            </a:r>
            <a:r>
              <a:rPr lang="en-GB" sz="1800" b="1" dirty="0">
                <a:solidFill>
                  <a:srgbClr val="A31515"/>
                </a:solidFill>
                <a:latin typeface="Consolas" panose="020B0609020204030204" pitchFamily="49" charset="0"/>
              </a:rPr>
              <a:t>"QA"</a:t>
            </a:r>
            <a:r>
              <a:rPr lang="en-GB" sz="1800" b="1" dirty="0">
                <a:solidFill>
                  <a:srgbClr val="000000"/>
                </a:solidFill>
                <a:latin typeface="Consolas" panose="020B0609020204030204" pitchFamily="49" charset="0"/>
              </a:rPr>
              <a:t>;</a:t>
            </a:r>
          </a:p>
        </p:txBody>
      </p:sp>
      <p:cxnSp>
        <p:nvCxnSpPr>
          <p:cNvPr id="20" name="Straight Arrow Connector 19">
            <a:extLst>
              <a:ext uri="{FF2B5EF4-FFF2-40B4-BE49-F238E27FC236}">
                <a16:creationId xmlns:a16="http://schemas.microsoft.com/office/drawing/2014/main" id="{31DD2BC2-3E59-4F71-8146-EFEDD9FAE532}"/>
              </a:ext>
            </a:extLst>
          </p:cNvPr>
          <p:cNvCxnSpPr/>
          <p:nvPr/>
        </p:nvCxnSpPr>
        <p:spPr>
          <a:xfrm>
            <a:off x="7344697" y="3893574"/>
            <a:ext cx="5633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A1B8F8C-FCEC-44AD-B47E-EFB6CCF51565}"/>
              </a:ext>
            </a:extLst>
          </p:cNvPr>
          <p:cNvCxnSpPr>
            <a:cxnSpLocks/>
          </p:cNvCxnSpPr>
          <p:nvPr/>
        </p:nvCxnSpPr>
        <p:spPr>
          <a:xfrm flipV="1">
            <a:off x="7314688" y="4444290"/>
            <a:ext cx="593034" cy="484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83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Changing the style of an element</a:t>
            </a:r>
          </a:p>
        </p:txBody>
      </p:sp>
      <p:sp>
        <p:nvSpPr>
          <p:cNvPr id="18435" name="Rectangle 6"/>
          <p:cNvSpPr>
            <a:spLocks noGrp="1" noChangeArrowheads="1"/>
          </p:cNvSpPr>
          <p:nvPr>
            <p:ph idx="1"/>
          </p:nvPr>
        </p:nvSpPr>
        <p:spPr/>
        <p:txBody>
          <a:bodyPr/>
          <a:lstStyle/>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err="1">
                <a:latin typeface="Lucida Console" charset="0"/>
                <a:ea typeface="Lucida Console" charset="0"/>
                <a:cs typeface="Lucida Console" charset="0"/>
              </a:rPr>
              <a:t>innerHTML</a:t>
            </a:r>
            <a:r>
              <a:rPr lang="en-GB" dirty="0">
                <a:latin typeface="Arial" charset="0"/>
                <a:ea typeface="Arial" charset="0"/>
                <a:cs typeface="Arial" charset="0"/>
              </a:rPr>
              <a:t> </a:t>
            </a:r>
            <a:r>
              <a:rPr lang="en-GB" dirty="0">
                <a:latin typeface="+mn-lt"/>
                <a:ea typeface="Arial" charset="0"/>
                <a:cs typeface="Arial" charset="0"/>
              </a:rPr>
              <a:t>property gets/sets the HTML within the element</a:t>
            </a: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err="1">
                <a:latin typeface="Lucida Console" charset="0"/>
                <a:ea typeface="Lucida Console" charset="0"/>
                <a:cs typeface="Lucida Console" charset="0"/>
              </a:rPr>
              <a:t>className</a:t>
            </a:r>
            <a:r>
              <a:rPr lang="en-GB" dirty="0">
                <a:latin typeface="Arial" charset="0"/>
                <a:ea typeface="Arial" charset="0"/>
                <a:cs typeface="Arial" charset="0"/>
              </a:rPr>
              <a:t> </a:t>
            </a:r>
            <a:r>
              <a:rPr lang="en-GB" dirty="0">
                <a:latin typeface="+mn-lt"/>
                <a:ea typeface="Arial" charset="0"/>
                <a:cs typeface="Arial" charset="0"/>
              </a:rPr>
              <a:t>property lets you get/set the CSS style</a:t>
            </a: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a:latin typeface="Lucida Console" charset="0"/>
                <a:ea typeface="Lucida Console" charset="0"/>
                <a:cs typeface="Lucida Console" charset="0"/>
              </a:rPr>
              <a:t>style</a:t>
            </a:r>
            <a:r>
              <a:rPr lang="en-GB" dirty="0">
                <a:latin typeface="Arial" charset="0"/>
                <a:ea typeface="Arial" charset="0"/>
                <a:cs typeface="Arial" charset="0"/>
              </a:rPr>
              <a:t> </a:t>
            </a:r>
            <a:r>
              <a:rPr lang="en-GB" dirty="0">
                <a:latin typeface="+mn-lt"/>
                <a:ea typeface="Arial" charset="0"/>
                <a:cs typeface="Arial" charset="0"/>
              </a:rPr>
              <a:t>property lets you set CSS attributes individually</a:t>
            </a:r>
          </a:p>
        </p:txBody>
      </p:sp>
      <p:sp>
        <p:nvSpPr>
          <p:cNvPr id="4" name="TextBox 3">
            <a:extLst>
              <a:ext uri="{FF2B5EF4-FFF2-40B4-BE49-F238E27FC236}">
                <a16:creationId xmlns:a16="http://schemas.microsoft.com/office/drawing/2014/main" id="{59248DC2-AC12-5660-A3A6-C4C067E6A4BA}"/>
              </a:ext>
            </a:extLst>
          </p:cNvPr>
          <p:cNvSpPr txBox="1"/>
          <p:nvPr/>
        </p:nvSpPr>
        <p:spPr>
          <a:xfrm>
            <a:off x="644863" y="1517054"/>
            <a:ext cx="7215648" cy="2031325"/>
          </a:xfrm>
          <a:prstGeom prst="rect">
            <a:avLst/>
          </a:prstGeom>
          <a:solidFill>
            <a:schemeClr val="accent5">
              <a:lumMod val="20000"/>
              <a:lumOff val="80000"/>
            </a:schemeClr>
          </a:solidFill>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="hello"&gt;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"hello"</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div1.className = </a:t>
            </a:r>
            <a:r>
              <a:rPr lang="en-GB" sz="1800" b="1" dirty="0">
                <a:solidFill>
                  <a:srgbClr val="A31515"/>
                </a:solidFill>
                <a:latin typeface="Consolas" panose="020B0609020204030204" pitchFamily="49" charset="0"/>
              </a:rPr>
              <a:t>"</a:t>
            </a:r>
            <a:r>
              <a:rPr lang="en-GB" sz="1800" b="1">
                <a:solidFill>
                  <a:srgbClr val="A31515"/>
                </a:solidFill>
                <a:latin typeface="Consolas" panose="020B0609020204030204" pitchFamily="49" charset="0"/>
              </a:rPr>
              <a:t>redBorder</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div1.style.backgroundColor = </a:t>
            </a:r>
            <a:r>
              <a:rPr lang="en-GB" sz="1800" b="1" dirty="0">
                <a:solidFill>
                  <a:srgbClr val="A31515"/>
                </a:solidFill>
                <a:latin typeface="Consolas" panose="020B0609020204030204" pitchFamily="49" charset="0"/>
              </a:rPr>
              <a:t>"yellow"</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08F27F98-9930-69AF-5242-87E30D55BEB1}"/>
              </a:ext>
            </a:extLst>
          </p:cNvPr>
          <p:cNvSpPr txBox="1"/>
          <p:nvPr/>
        </p:nvSpPr>
        <p:spPr>
          <a:xfrm>
            <a:off x="8164102" y="1517054"/>
            <a:ext cx="3672115" cy="1323439"/>
          </a:xfrm>
          <a:prstGeom prst="rect">
            <a:avLst/>
          </a:prstGeom>
          <a:solidFill>
            <a:schemeClr val="tx1">
              <a:lumMod val="10000"/>
              <a:lumOff val="90000"/>
            </a:schemeClr>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800000"/>
                </a:solidFill>
                <a:latin typeface="Consolas" panose="020B0609020204030204" pitchFamily="49" charset="0"/>
              </a:rPr>
              <a:t>.</a:t>
            </a:r>
            <a:r>
              <a:rPr lang="en-GB" sz="1600" b="1" dirty="0" err="1">
                <a:solidFill>
                  <a:srgbClr val="A31515"/>
                </a:solidFill>
                <a:latin typeface="Consolas" panose="020B0609020204030204" pitchFamily="49" charset="0"/>
              </a:rPr>
              <a:t>redBorder</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border</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3px</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solid</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red</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178489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Changing multiple styles of an element</a:t>
            </a:r>
          </a:p>
        </p:txBody>
      </p:sp>
      <p:sp>
        <p:nvSpPr>
          <p:cNvPr id="18435" name="Rectangle 6"/>
          <p:cNvSpPr>
            <a:spLocks noGrp="1" noChangeArrowheads="1"/>
          </p:cNvSpPr>
          <p:nvPr>
            <p:ph idx="1"/>
          </p:nvPr>
        </p:nvSpPr>
        <p:spPr/>
        <p:txBody>
          <a:bodyPr/>
          <a:lstStyle/>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err="1">
                <a:latin typeface="Lucida Console" charset="0"/>
                <a:ea typeface="Lucida Console" charset="0"/>
                <a:cs typeface="Lucida Console" charset="0"/>
              </a:rPr>
              <a:t>className</a:t>
            </a:r>
            <a:r>
              <a:rPr lang="en-GB" dirty="0">
                <a:latin typeface="Arial" charset="0"/>
                <a:ea typeface="Arial" charset="0"/>
                <a:cs typeface="Arial" charset="0"/>
              </a:rPr>
              <a:t> can only set a single class and it will overwrite previous classes!</a:t>
            </a:r>
            <a:endParaRPr lang="en-GB" dirty="0">
              <a:latin typeface="+mn-lt"/>
              <a:ea typeface="Arial" charset="0"/>
              <a:cs typeface="Arial" charset="0"/>
            </a:endParaRPr>
          </a:p>
          <a:p>
            <a:pPr marL="684000" lvl="1" indent="-342000">
              <a:buSzPct val="115000"/>
              <a:buFont typeface="Arial" panose="020B0604020202020204" pitchFamily="34" charset="0"/>
              <a:buChar char="•"/>
            </a:pPr>
            <a:r>
              <a:rPr lang="en-GB" dirty="0" err="1">
                <a:latin typeface="+mn-lt"/>
                <a:ea typeface="Arial" charset="0"/>
                <a:cs typeface="Arial" charset="0"/>
              </a:rPr>
              <a:t>classList</a:t>
            </a:r>
            <a:r>
              <a:rPr lang="en-GB" dirty="0">
                <a:latin typeface="+mn-lt"/>
                <a:ea typeface="Arial" charset="0"/>
                <a:cs typeface="Arial" charset="0"/>
              </a:rPr>
              <a:t> enables you to apply multiple styles by using code</a:t>
            </a:r>
          </a:p>
        </p:txBody>
      </p:sp>
      <p:sp>
        <p:nvSpPr>
          <p:cNvPr id="4" name="TextBox 3">
            <a:extLst>
              <a:ext uri="{FF2B5EF4-FFF2-40B4-BE49-F238E27FC236}">
                <a16:creationId xmlns:a16="http://schemas.microsoft.com/office/drawing/2014/main" id="{59248DC2-AC12-5660-A3A6-C4C067E6A4BA}"/>
              </a:ext>
            </a:extLst>
          </p:cNvPr>
          <p:cNvSpPr txBox="1"/>
          <p:nvPr/>
        </p:nvSpPr>
        <p:spPr>
          <a:xfrm>
            <a:off x="586807" y="1517054"/>
            <a:ext cx="7215648" cy="2031325"/>
          </a:xfrm>
          <a:prstGeom prst="rect">
            <a:avLst/>
          </a:prstGeom>
          <a:solidFill>
            <a:schemeClr val="accent5">
              <a:lumMod val="20000"/>
              <a:lumOff val="80000"/>
            </a:schemeClr>
          </a:solidFill>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="hello"&gt;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"hello"</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div1.classList.add(</a:t>
            </a:r>
            <a:r>
              <a:rPr lang="en-GB" sz="1800" b="1" dirty="0">
                <a:solidFill>
                  <a:srgbClr val="A31515"/>
                </a:solidFill>
                <a:latin typeface="Consolas" panose="020B0609020204030204" pitchFamily="49" charset="0"/>
              </a:rPr>
              <a:t>"hello")</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div1.classList.add(</a:t>
            </a:r>
            <a:r>
              <a:rPr lang="en-GB" sz="1800" b="1" dirty="0">
                <a:solidFill>
                  <a:srgbClr val="A31515"/>
                </a:solidFill>
                <a:latin typeface="Consolas" panose="020B0609020204030204" pitchFamily="49" charset="0"/>
              </a:rPr>
              <a:t>"note")</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08F27F98-9930-69AF-5242-87E30D55BEB1}"/>
              </a:ext>
            </a:extLst>
          </p:cNvPr>
          <p:cNvSpPr txBox="1"/>
          <p:nvPr/>
        </p:nvSpPr>
        <p:spPr>
          <a:xfrm>
            <a:off x="7960900" y="1517054"/>
            <a:ext cx="3997000" cy="2092881"/>
          </a:xfrm>
          <a:prstGeom prst="rect">
            <a:avLst/>
          </a:prstGeom>
          <a:solidFill>
            <a:schemeClr val="tx1">
              <a:lumMod val="10000"/>
              <a:lumOff val="90000"/>
            </a:schemeClr>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800000"/>
                </a:solidFill>
                <a:latin typeface="Consolas" panose="020B0609020204030204" pitchFamily="49" charset="0"/>
              </a:rPr>
              <a:t>.hello</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border</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3px</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solid</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red</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800000"/>
                </a:solidFill>
                <a:latin typeface="Consolas" panose="020B0609020204030204" pitchFamily="49" charset="0"/>
              </a:rPr>
              <a:t>.note</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background-color</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yellow</a:t>
            </a:r>
            <a:r>
              <a:rPr lang="en-GB" sz="1800" b="1" dirty="0">
                <a:solidFill>
                  <a:srgbClr val="000000"/>
                </a:solidFill>
                <a:latin typeface="Consolas" panose="020B0609020204030204" pitchFamily="49" charset="0"/>
              </a:rPr>
              <a: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32532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F2207E-8810-9A8E-66F8-B295F5307A7B}"/>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
        <p:nvSpPr>
          <p:cNvPr id="3" name="Title 2">
            <a:extLst>
              <a:ext uri="{FF2B5EF4-FFF2-40B4-BE49-F238E27FC236}">
                <a16:creationId xmlns:a16="http://schemas.microsoft.com/office/drawing/2014/main" id="{5797E508-F109-D014-506D-46275A00BCC5}"/>
              </a:ext>
            </a:extLst>
          </p:cNvPr>
          <p:cNvSpPr>
            <a:spLocks noGrp="1"/>
          </p:cNvSpPr>
          <p:nvPr>
            <p:ph type="title"/>
          </p:nvPr>
        </p:nvSpPr>
        <p:spPr/>
        <p:txBody>
          <a:bodyPr/>
          <a:lstStyle/>
          <a:p>
            <a:r>
              <a:rPr lang="en-GB" dirty="0"/>
              <a:t>Creating elements dynamically</a:t>
            </a:r>
          </a:p>
        </p:txBody>
      </p:sp>
      <p:sp>
        <p:nvSpPr>
          <p:cNvPr id="6" name="TextBox 5">
            <a:extLst>
              <a:ext uri="{FF2B5EF4-FFF2-40B4-BE49-F238E27FC236}">
                <a16:creationId xmlns:a16="http://schemas.microsoft.com/office/drawing/2014/main" id="{8D9A97EA-7856-434C-06B1-21E7078020CD}"/>
              </a:ext>
            </a:extLst>
          </p:cNvPr>
          <p:cNvSpPr txBox="1"/>
          <p:nvPr/>
        </p:nvSpPr>
        <p:spPr>
          <a:xfrm>
            <a:off x="438760" y="1367059"/>
            <a:ext cx="11050316" cy="3693319"/>
          </a:xfrm>
          <a:prstGeom prst="rect">
            <a:avLst/>
          </a:prstGeom>
          <a:solidFill>
            <a:schemeClr val="accent5">
              <a:lumMod val="20000"/>
              <a:lumOff val="80000"/>
            </a:schemeClr>
          </a:solidFill>
          <a:ln>
            <a:solidFill>
              <a:schemeClr val="tx1"/>
            </a:solidFill>
          </a:ln>
          <a:effectLst>
            <a:outerShdw blurRad="50800" dist="38100" algn="l" rotWithShape="0">
              <a:prstClr val="black">
                <a:alpha val="40000"/>
              </a:prstClr>
            </a:outerShdw>
          </a:effectLst>
        </p:spPr>
        <p:txBody>
          <a:bodyPr wrap="square">
            <a:spAutoFit/>
          </a:bodyPr>
          <a:lstStyle/>
          <a:p>
            <a:r>
              <a:rPr lang="en-GB"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err="1">
                <a:solidFill>
                  <a:srgbClr val="800000"/>
                </a:solidFill>
                <a:latin typeface="Consolas" panose="020B0609020204030204" pitchFamily="49" charset="0"/>
              </a:rPr>
              <a:t>ol</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="names"&gt;&lt;/</a:t>
            </a:r>
            <a:r>
              <a:rPr lang="en-GB" sz="1800" b="1" dirty="0" err="1">
                <a:solidFill>
                  <a:srgbClr val="800000"/>
                </a:solidFill>
                <a:latin typeface="Consolas" panose="020B0609020204030204" pitchFamily="49" charset="0"/>
              </a:rPr>
              <a:t>ol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FF"/>
                </a:solidFill>
                <a:latin typeface="Consolas" panose="020B0609020204030204" pitchFamily="49" charset="0"/>
              </a:rPr>
              <a:t>const</a:t>
            </a:r>
            <a:r>
              <a:rPr lang="en-GB" sz="1800" b="1" dirty="0">
                <a:solidFill>
                  <a:srgbClr val="0000FF"/>
                </a:solidFill>
                <a:latin typeface="Consolas" panose="020B0609020204030204" pitchFamily="49" charset="0"/>
              </a:rPr>
              <a:t> </a:t>
            </a:r>
            <a:r>
              <a:rPr lang="en-GB" sz="1800" b="1" dirty="0">
                <a:solidFill>
                  <a:srgbClr val="000000"/>
                </a:solidFill>
                <a:latin typeface="Consolas" panose="020B0609020204030204" pitchFamily="49" charset="0"/>
              </a:rPr>
              <a:t>students = [</a:t>
            </a:r>
            <a:r>
              <a:rPr lang="en-GB" sz="1800" b="1" dirty="0">
                <a:solidFill>
                  <a:srgbClr val="A31515"/>
                </a:solidFill>
                <a:latin typeface="Consolas" panose="020B0609020204030204" pitchFamily="49" charset="0"/>
              </a:rPr>
              <a:t>"Bayley"</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"Joshua"</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"Robert"</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"Joanna"</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"Paul"</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"Calum"</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olNames</a:t>
            </a:r>
            <a:r>
              <a:rPr lang="en-GB" sz="1800" b="1" dirty="0">
                <a:solidFill>
                  <a:srgbClr val="000000"/>
                </a:solidFill>
                <a:latin typeface="Consolas" panose="020B0609020204030204" pitchFamily="49" charset="0"/>
              </a:rPr>
              <a:t>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'names'</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nn-NO" sz="1800" b="1" dirty="0">
                <a:solidFill>
                  <a:srgbClr val="000000"/>
                </a:solidFill>
                <a:latin typeface="Consolas" panose="020B0609020204030204" pitchFamily="49" charset="0"/>
              </a:rPr>
              <a:t>        </a:t>
            </a:r>
            <a:r>
              <a:rPr lang="nn-NO" sz="1800" b="1" dirty="0">
                <a:solidFill>
                  <a:srgbClr val="0000FF"/>
                </a:solidFill>
                <a:latin typeface="Consolas" panose="020B0609020204030204" pitchFamily="49" charset="0"/>
              </a:rPr>
              <a:t>for</a:t>
            </a:r>
            <a:r>
              <a:rPr lang="nn-NO" sz="1800" b="1" dirty="0">
                <a:solidFill>
                  <a:srgbClr val="000000"/>
                </a:solidFill>
                <a:latin typeface="Consolas" panose="020B0609020204030204" pitchFamily="49" charset="0"/>
              </a:rPr>
              <a:t> (</a:t>
            </a:r>
            <a:r>
              <a:rPr lang="nn-NO" sz="1800" b="1" dirty="0">
                <a:solidFill>
                  <a:srgbClr val="0000FF"/>
                </a:solidFill>
                <a:latin typeface="Consolas" panose="020B0609020204030204" pitchFamily="49" charset="0"/>
              </a:rPr>
              <a:t>var</a:t>
            </a:r>
            <a:r>
              <a:rPr lang="nn-NO" sz="1800" b="1" dirty="0">
                <a:solidFill>
                  <a:srgbClr val="000000"/>
                </a:solidFill>
                <a:latin typeface="Consolas" panose="020B0609020204030204" pitchFamily="49" charset="0"/>
              </a:rPr>
              <a:t> i = 0; i &lt; students.length; i++) {</a:t>
            </a:r>
          </a:p>
          <a:p>
            <a:r>
              <a:rPr lang="it-IT" sz="1800" b="1" dirty="0">
                <a:solidFill>
                  <a:srgbClr val="000000"/>
                </a:solidFill>
                <a:latin typeface="Consolas" panose="020B0609020204030204" pitchFamily="49" charset="0"/>
              </a:rPr>
              <a:t>            </a:t>
            </a:r>
            <a:r>
              <a:rPr lang="it-IT" sz="1800" b="1" dirty="0">
                <a:solidFill>
                  <a:srgbClr val="0000FF"/>
                </a:solidFill>
                <a:latin typeface="Consolas" panose="020B0609020204030204" pitchFamily="49" charset="0"/>
              </a:rPr>
              <a:t>let</a:t>
            </a:r>
            <a:r>
              <a:rPr lang="it-IT" sz="1800" b="1" dirty="0">
                <a:solidFill>
                  <a:srgbClr val="000000"/>
                </a:solidFill>
                <a:latin typeface="Consolas" panose="020B0609020204030204" pitchFamily="49" charset="0"/>
              </a:rPr>
              <a:t> li = document.createElement(</a:t>
            </a:r>
            <a:r>
              <a:rPr lang="it-IT" sz="1800" b="1" dirty="0">
                <a:solidFill>
                  <a:srgbClr val="A31515"/>
                </a:solidFill>
                <a:latin typeface="Consolas" panose="020B0609020204030204" pitchFamily="49" charset="0"/>
              </a:rPr>
              <a:t>'li'</a:t>
            </a:r>
            <a:r>
              <a:rPr lang="it-IT"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li.innerHTML</a:t>
            </a:r>
            <a:r>
              <a:rPr lang="en-GB" sz="1800" b="1" dirty="0">
                <a:solidFill>
                  <a:srgbClr val="000000"/>
                </a:solidFill>
                <a:latin typeface="Consolas" panose="020B0609020204030204" pitchFamily="49" charset="0"/>
              </a:rPr>
              <a:t> = students[</a:t>
            </a:r>
            <a:r>
              <a:rPr lang="en-GB" sz="1800" b="1" dirty="0" err="1">
                <a:solidFill>
                  <a:srgbClr val="000000"/>
                </a:solidFill>
                <a:latin typeface="Consolas" panose="020B0609020204030204" pitchFamily="49" charset="0"/>
              </a:rPr>
              <a:t>i</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olNames.appendChild</a:t>
            </a:r>
            <a:r>
              <a:rPr lang="en-GB" sz="1800" b="1" dirty="0">
                <a:solidFill>
                  <a:srgbClr val="000000"/>
                </a:solidFill>
                <a:latin typeface="Consolas" panose="020B0609020204030204" pitchFamily="49" charset="0"/>
              </a:rPr>
              <a:t>(li);</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p:txBody>
      </p:sp>
      <p:sp>
        <p:nvSpPr>
          <p:cNvPr id="8" name="TextBox 7">
            <a:extLst>
              <a:ext uri="{FF2B5EF4-FFF2-40B4-BE49-F238E27FC236}">
                <a16:creationId xmlns:a16="http://schemas.microsoft.com/office/drawing/2014/main" id="{6F1C1788-279C-12CD-E295-CD293843A6FA}"/>
              </a:ext>
            </a:extLst>
          </p:cNvPr>
          <p:cNvSpPr txBox="1"/>
          <p:nvPr/>
        </p:nvSpPr>
        <p:spPr>
          <a:xfrm>
            <a:off x="10109579" y="4184983"/>
            <a:ext cx="1537519" cy="1569660"/>
          </a:xfrm>
          <a:prstGeom prst="rect">
            <a:avLst/>
          </a:prstGeom>
          <a:solidFill>
            <a:schemeClr val="tx1">
              <a:lumMod val="10000"/>
              <a:lumOff val="90000"/>
            </a:schemeClr>
          </a:solidFill>
          <a:effectLst>
            <a:outerShdw blurRad="50800" dist="38100" algn="l" rotWithShape="0">
              <a:prstClr val="black">
                <a:alpha val="40000"/>
              </a:prstClr>
            </a:outerShdw>
          </a:effectLst>
        </p:spPr>
        <p:txBody>
          <a:bodyPr wrap="square">
            <a:spAutoFit/>
          </a:bodyPr>
          <a:lstStyle/>
          <a:p>
            <a:pPr algn="l">
              <a:buFont typeface="+mj-lt"/>
              <a:buAutoNum type="arabicPeriod"/>
            </a:pPr>
            <a:r>
              <a:rPr lang="en-GB" sz="1600" b="0" i="0" dirty="0">
                <a:solidFill>
                  <a:srgbClr val="000000"/>
                </a:solidFill>
                <a:effectLst/>
                <a:latin typeface="Times New Roman" panose="02020603050405020304" pitchFamily="18" charset="0"/>
              </a:rPr>
              <a:t>Bayley</a:t>
            </a:r>
          </a:p>
          <a:p>
            <a:pPr algn="l">
              <a:buFont typeface="+mj-lt"/>
              <a:buAutoNum type="arabicPeriod"/>
            </a:pPr>
            <a:r>
              <a:rPr lang="en-GB" sz="1600" b="0" i="0" dirty="0">
                <a:solidFill>
                  <a:srgbClr val="000000"/>
                </a:solidFill>
                <a:effectLst/>
                <a:latin typeface="Times New Roman" panose="02020603050405020304" pitchFamily="18" charset="0"/>
              </a:rPr>
              <a:t>Joshua</a:t>
            </a:r>
          </a:p>
          <a:p>
            <a:pPr algn="l">
              <a:buFont typeface="+mj-lt"/>
              <a:buAutoNum type="arabicPeriod"/>
            </a:pPr>
            <a:r>
              <a:rPr lang="en-GB" sz="1600" b="0" i="0" dirty="0">
                <a:solidFill>
                  <a:srgbClr val="000000"/>
                </a:solidFill>
                <a:effectLst/>
                <a:latin typeface="Times New Roman" panose="02020603050405020304" pitchFamily="18" charset="0"/>
              </a:rPr>
              <a:t>Robert</a:t>
            </a:r>
          </a:p>
          <a:p>
            <a:pPr algn="l">
              <a:buFont typeface="+mj-lt"/>
              <a:buAutoNum type="arabicPeriod"/>
            </a:pPr>
            <a:r>
              <a:rPr lang="en-GB" sz="1600" b="0" i="0" dirty="0">
                <a:solidFill>
                  <a:srgbClr val="000000"/>
                </a:solidFill>
                <a:effectLst/>
                <a:latin typeface="Times New Roman" panose="02020603050405020304" pitchFamily="18" charset="0"/>
              </a:rPr>
              <a:t>Joanna</a:t>
            </a:r>
          </a:p>
          <a:p>
            <a:pPr algn="l">
              <a:buFont typeface="+mj-lt"/>
              <a:buAutoNum type="arabicPeriod"/>
            </a:pPr>
            <a:r>
              <a:rPr lang="en-GB" sz="1600" b="0" i="0" dirty="0">
                <a:solidFill>
                  <a:srgbClr val="000000"/>
                </a:solidFill>
                <a:effectLst/>
                <a:latin typeface="Times New Roman" panose="02020603050405020304" pitchFamily="18" charset="0"/>
              </a:rPr>
              <a:t>Paul</a:t>
            </a:r>
          </a:p>
          <a:p>
            <a:pPr algn="l">
              <a:buFont typeface="+mj-lt"/>
              <a:buAutoNum type="arabicPeriod"/>
            </a:pPr>
            <a:r>
              <a:rPr lang="en-GB" sz="1600" b="0" i="0" dirty="0">
                <a:solidFill>
                  <a:srgbClr val="000000"/>
                </a:solidFill>
                <a:effectLst/>
                <a:latin typeface="Times New Roman" panose="02020603050405020304" pitchFamily="18" charset="0"/>
              </a:rPr>
              <a:t>Calum</a:t>
            </a:r>
          </a:p>
        </p:txBody>
      </p:sp>
      <p:sp>
        <p:nvSpPr>
          <p:cNvPr id="5" name="TextBox 4">
            <a:extLst>
              <a:ext uri="{FF2B5EF4-FFF2-40B4-BE49-F238E27FC236}">
                <a16:creationId xmlns:a16="http://schemas.microsoft.com/office/drawing/2014/main" id="{CA064320-73F7-1AA1-DCA3-CCE3081BDFC4}"/>
              </a:ext>
            </a:extLst>
          </p:cNvPr>
          <p:cNvSpPr txBox="1"/>
          <p:nvPr/>
        </p:nvSpPr>
        <p:spPr>
          <a:xfrm>
            <a:off x="7204670" y="4184983"/>
            <a:ext cx="2746887" cy="2062103"/>
          </a:xfrm>
          <a:prstGeom prst="rect">
            <a:avLst/>
          </a:prstGeom>
          <a:solidFill>
            <a:schemeClr val="bg2">
              <a:lumMod val="95000"/>
            </a:schemeClr>
          </a:solidFill>
          <a:ln>
            <a:solidFill>
              <a:schemeClr val="tx1"/>
            </a:solidFill>
          </a:ln>
          <a:effectLst>
            <a:outerShdw blurRad="50800" dist="38100" algn="l" rotWithShape="0">
              <a:prstClr val="black">
                <a:alpha val="40000"/>
              </a:prstClr>
            </a:outerShdw>
          </a:effectLst>
        </p:spPr>
        <p:txBody>
          <a:bodyPr wrap="square">
            <a:spAutoFit/>
          </a:bodyPr>
          <a:lstStyle/>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Bayley</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Joshua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Robert</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Joanna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Paul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Calum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1283989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8E2140-24F8-DB98-BD90-9D295C538E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B9D1D4-C3E8-8A0E-58BC-258AC1FE3DF5}"/>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
        <p:nvSpPr>
          <p:cNvPr id="3" name="Title 2">
            <a:extLst>
              <a:ext uri="{FF2B5EF4-FFF2-40B4-BE49-F238E27FC236}">
                <a16:creationId xmlns:a16="http://schemas.microsoft.com/office/drawing/2014/main" id="{45AFBD58-9A5D-B027-F108-50F5DDF7BA98}"/>
              </a:ext>
            </a:extLst>
          </p:cNvPr>
          <p:cNvSpPr>
            <a:spLocks noGrp="1"/>
          </p:cNvSpPr>
          <p:nvPr>
            <p:ph type="title"/>
          </p:nvPr>
        </p:nvSpPr>
        <p:spPr/>
        <p:txBody>
          <a:bodyPr/>
          <a:lstStyle/>
          <a:p>
            <a:r>
              <a:rPr lang="en-GB" dirty="0"/>
              <a:t>Creating elements dynamically</a:t>
            </a:r>
          </a:p>
        </p:txBody>
      </p:sp>
      <p:sp>
        <p:nvSpPr>
          <p:cNvPr id="6" name="TextBox 5">
            <a:extLst>
              <a:ext uri="{FF2B5EF4-FFF2-40B4-BE49-F238E27FC236}">
                <a16:creationId xmlns:a16="http://schemas.microsoft.com/office/drawing/2014/main" id="{0BE754A0-7076-F76E-D676-161F1EDB2058}"/>
              </a:ext>
            </a:extLst>
          </p:cNvPr>
          <p:cNvSpPr txBox="1"/>
          <p:nvPr/>
        </p:nvSpPr>
        <p:spPr>
          <a:xfrm>
            <a:off x="438760" y="1367059"/>
            <a:ext cx="11050316" cy="4247317"/>
          </a:xfrm>
          <a:prstGeom prst="rect">
            <a:avLst/>
          </a:prstGeom>
          <a:solidFill>
            <a:schemeClr val="accent5">
              <a:lumMod val="20000"/>
              <a:lumOff val="80000"/>
            </a:schemeClr>
          </a:solidFill>
          <a:ln>
            <a:solidFill>
              <a:schemeClr val="tx1"/>
            </a:solidFill>
          </a:ln>
          <a:effectLst>
            <a:outerShdw blurRad="50800" dist="38100" algn="l" rotWithShape="0">
              <a:prstClr val="black">
                <a:alpha val="40000"/>
              </a:prstClr>
            </a:outerShdw>
          </a:effectLst>
        </p:spPr>
        <p:txBody>
          <a:bodyPr wrap="square">
            <a:spAutoFit/>
          </a:bodyPr>
          <a:lstStyle/>
          <a:p>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body</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&lt;</a:t>
            </a:r>
            <a:r>
              <a:rPr lang="en-GB" b="1" dirty="0" err="1">
                <a:solidFill>
                  <a:srgbClr val="800000"/>
                </a:solidFill>
                <a:latin typeface="Consolas" panose="020B0609020204030204" pitchFamily="49" charset="0"/>
              </a:rPr>
              <a:t>ol</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id</a:t>
            </a:r>
            <a:r>
              <a:rPr lang="en-GB" b="1" dirty="0">
                <a:solidFill>
                  <a:srgbClr val="0000FF"/>
                </a:solidFill>
                <a:latin typeface="Consolas" panose="020B0609020204030204" pitchFamily="49" charset="0"/>
              </a:rPr>
              <a:t>="names"&gt;&lt;/</a:t>
            </a:r>
            <a:r>
              <a:rPr lang="en-GB" b="1" dirty="0" err="1">
                <a:solidFill>
                  <a:srgbClr val="800000"/>
                </a:solidFill>
                <a:latin typeface="Consolas" panose="020B0609020204030204" pitchFamily="49" charset="0"/>
              </a:rPr>
              <a:t>ol</a:t>
            </a:r>
            <a:r>
              <a:rPr lang="en-GB" b="1" dirty="0">
                <a:solidFill>
                  <a:srgbClr val="0000FF"/>
                </a:solidFill>
                <a:latin typeface="Consolas" panose="020B0609020204030204" pitchFamily="49" charset="0"/>
              </a:rPr>
              <a:t>&gt;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script</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students = [</a:t>
            </a:r>
            <a:r>
              <a:rPr lang="en-GB" b="1" dirty="0">
                <a:solidFill>
                  <a:srgbClr val="A31515"/>
                </a:solidFill>
                <a:latin typeface="Consolas" panose="020B0609020204030204" pitchFamily="49" charset="0"/>
              </a:rPr>
              <a:t>"Bayley"</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"Joshua"</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"Robert"</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"Joanna"</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"Paul"</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"Calum"</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nl-NL" b="1" dirty="0">
                <a:solidFill>
                  <a:srgbClr val="000000"/>
                </a:solidFill>
                <a:latin typeface="Consolas" panose="020B0609020204030204" pitchFamily="49" charset="0"/>
              </a:rPr>
              <a:t>        </a:t>
            </a:r>
            <a:r>
              <a:rPr lang="nl-NL" b="1" dirty="0">
                <a:solidFill>
                  <a:srgbClr val="0000FF"/>
                </a:solidFill>
                <a:latin typeface="Consolas" panose="020B0609020204030204" pitchFamily="49" charset="0"/>
              </a:rPr>
              <a:t>let</a:t>
            </a:r>
            <a:r>
              <a:rPr lang="nl-NL" b="1" dirty="0">
                <a:solidFill>
                  <a:srgbClr val="000000"/>
                </a:solidFill>
                <a:latin typeface="Consolas" panose="020B0609020204030204" pitchFamily="49" charset="0"/>
              </a:rPr>
              <a:t> olNames = document.getElementById(</a:t>
            </a:r>
            <a:r>
              <a:rPr lang="nl-NL" b="1" dirty="0">
                <a:solidFill>
                  <a:srgbClr val="A31515"/>
                </a:solidFill>
                <a:latin typeface="Consolas" panose="020B0609020204030204" pitchFamily="49" charset="0"/>
              </a:rPr>
              <a:t>'names'</a:t>
            </a:r>
            <a:r>
              <a:rPr lang="nl-NL"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students.forEach</a:t>
            </a:r>
            <a:r>
              <a:rPr lang="en-GB" b="1" dirty="0">
                <a:solidFill>
                  <a:srgbClr val="000000"/>
                </a:solidFill>
                <a:latin typeface="Consolas" panose="020B0609020204030204" pitchFamily="49" charset="0"/>
              </a:rPr>
              <a:t>(</a:t>
            </a:r>
            <a:r>
              <a:rPr lang="en-GB" b="1" dirty="0" err="1">
                <a:solidFill>
                  <a:srgbClr val="000000"/>
                </a:solidFill>
                <a:latin typeface="Consolas" panose="020B0609020204030204" pitchFamily="49" charset="0"/>
              </a:rPr>
              <a:t>stu</a:t>
            </a:r>
            <a:r>
              <a:rPr lang="en-GB" b="1" dirty="0">
                <a:solidFill>
                  <a:srgbClr val="000000"/>
                </a:solidFill>
                <a:latin typeface="Consolas" panose="020B0609020204030204" pitchFamily="49" charset="0"/>
              </a:rPr>
              <a:t> =&gt; {</a:t>
            </a:r>
          </a:p>
          <a:p>
            <a:r>
              <a:rPr lang="it-IT" b="1" dirty="0">
                <a:solidFill>
                  <a:srgbClr val="000000"/>
                </a:solidFill>
                <a:latin typeface="Consolas" panose="020B0609020204030204" pitchFamily="49" charset="0"/>
              </a:rPr>
              <a:t>            </a:t>
            </a:r>
            <a:r>
              <a:rPr lang="it-IT" b="1" dirty="0">
                <a:solidFill>
                  <a:srgbClr val="0000FF"/>
                </a:solidFill>
                <a:latin typeface="Consolas" panose="020B0609020204030204" pitchFamily="49" charset="0"/>
              </a:rPr>
              <a:t>let</a:t>
            </a:r>
            <a:r>
              <a:rPr lang="it-IT" b="1" dirty="0">
                <a:solidFill>
                  <a:srgbClr val="000000"/>
                </a:solidFill>
                <a:latin typeface="Consolas" panose="020B0609020204030204" pitchFamily="49" charset="0"/>
              </a:rPr>
              <a:t> li = document.createElement(</a:t>
            </a:r>
            <a:r>
              <a:rPr lang="it-IT" b="1" dirty="0">
                <a:solidFill>
                  <a:srgbClr val="A31515"/>
                </a:solidFill>
                <a:latin typeface="Consolas" panose="020B0609020204030204" pitchFamily="49" charset="0"/>
              </a:rPr>
              <a:t>'li'</a:t>
            </a:r>
            <a:r>
              <a:rPr lang="it-IT"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li.innerHTML</a:t>
            </a:r>
            <a:r>
              <a:rPr lang="en-GB" b="1" dirty="0">
                <a:solidFill>
                  <a:srgbClr val="000000"/>
                </a:solidFill>
                <a:latin typeface="Consolas" panose="020B0609020204030204" pitchFamily="49" charset="0"/>
              </a:rPr>
              <a:t> = </a:t>
            </a:r>
            <a:r>
              <a:rPr lang="en-GB" b="1" dirty="0" err="1">
                <a:solidFill>
                  <a:srgbClr val="000000"/>
                </a:solidFill>
                <a:latin typeface="Consolas" panose="020B0609020204030204" pitchFamily="49" charset="0"/>
              </a:rPr>
              <a:t>stu</a:t>
            </a:r>
            <a:r>
              <a:rPr lang="en-GB"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olNames.appendChild</a:t>
            </a:r>
            <a:r>
              <a:rPr lang="en-GB" b="1" dirty="0">
                <a:solidFill>
                  <a:srgbClr val="000000"/>
                </a:solidFill>
                <a:latin typeface="Consolas" panose="020B0609020204030204" pitchFamily="49" charset="0"/>
              </a:rPr>
              <a:t>(li);</a:t>
            </a:r>
          </a:p>
          <a:p>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script</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p:txBody>
      </p:sp>
      <p:sp>
        <p:nvSpPr>
          <p:cNvPr id="8" name="TextBox 7">
            <a:extLst>
              <a:ext uri="{FF2B5EF4-FFF2-40B4-BE49-F238E27FC236}">
                <a16:creationId xmlns:a16="http://schemas.microsoft.com/office/drawing/2014/main" id="{C19357D9-D762-E8C9-3506-2AE11EDFCBD1}"/>
              </a:ext>
            </a:extLst>
          </p:cNvPr>
          <p:cNvSpPr txBox="1"/>
          <p:nvPr/>
        </p:nvSpPr>
        <p:spPr>
          <a:xfrm>
            <a:off x="10109579" y="4184983"/>
            <a:ext cx="1537519" cy="1569660"/>
          </a:xfrm>
          <a:prstGeom prst="rect">
            <a:avLst/>
          </a:prstGeom>
          <a:solidFill>
            <a:schemeClr val="tx1">
              <a:lumMod val="10000"/>
              <a:lumOff val="90000"/>
            </a:schemeClr>
          </a:solidFill>
          <a:effectLst>
            <a:outerShdw blurRad="50800" dist="38100" algn="l" rotWithShape="0">
              <a:prstClr val="black">
                <a:alpha val="40000"/>
              </a:prstClr>
            </a:outerShdw>
          </a:effectLst>
        </p:spPr>
        <p:txBody>
          <a:bodyPr wrap="square">
            <a:spAutoFit/>
          </a:bodyPr>
          <a:lstStyle/>
          <a:p>
            <a:pPr algn="l">
              <a:buFont typeface="+mj-lt"/>
              <a:buAutoNum type="arabicPeriod"/>
            </a:pPr>
            <a:r>
              <a:rPr lang="en-GB" sz="1600" b="0" i="0" dirty="0">
                <a:solidFill>
                  <a:srgbClr val="000000"/>
                </a:solidFill>
                <a:effectLst/>
                <a:latin typeface="Times New Roman" panose="02020603050405020304" pitchFamily="18" charset="0"/>
              </a:rPr>
              <a:t>Bayley</a:t>
            </a:r>
          </a:p>
          <a:p>
            <a:pPr algn="l">
              <a:buFont typeface="+mj-lt"/>
              <a:buAutoNum type="arabicPeriod"/>
            </a:pPr>
            <a:r>
              <a:rPr lang="en-GB" sz="1600" b="0" i="0" dirty="0">
                <a:solidFill>
                  <a:srgbClr val="000000"/>
                </a:solidFill>
                <a:effectLst/>
                <a:latin typeface="Times New Roman" panose="02020603050405020304" pitchFamily="18" charset="0"/>
              </a:rPr>
              <a:t>Joshua</a:t>
            </a:r>
          </a:p>
          <a:p>
            <a:pPr algn="l">
              <a:buFont typeface="+mj-lt"/>
              <a:buAutoNum type="arabicPeriod"/>
            </a:pPr>
            <a:r>
              <a:rPr lang="en-GB" sz="1600" b="0" i="0" dirty="0">
                <a:solidFill>
                  <a:srgbClr val="000000"/>
                </a:solidFill>
                <a:effectLst/>
                <a:latin typeface="Times New Roman" panose="02020603050405020304" pitchFamily="18" charset="0"/>
              </a:rPr>
              <a:t>Robert</a:t>
            </a:r>
          </a:p>
          <a:p>
            <a:pPr algn="l">
              <a:buFont typeface="+mj-lt"/>
              <a:buAutoNum type="arabicPeriod"/>
            </a:pPr>
            <a:r>
              <a:rPr lang="en-GB" sz="1600" b="0" i="0" dirty="0">
                <a:solidFill>
                  <a:srgbClr val="000000"/>
                </a:solidFill>
                <a:effectLst/>
                <a:latin typeface="Times New Roman" panose="02020603050405020304" pitchFamily="18" charset="0"/>
              </a:rPr>
              <a:t>Joanna</a:t>
            </a:r>
          </a:p>
          <a:p>
            <a:pPr algn="l">
              <a:buFont typeface="+mj-lt"/>
              <a:buAutoNum type="arabicPeriod"/>
            </a:pPr>
            <a:r>
              <a:rPr lang="en-GB" sz="1600" b="0" i="0" dirty="0">
                <a:solidFill>
                  <a:srgbClr val="000000"/>
                </a:solidFill>
                <a:effectLst/>
                <a:latin typeface="Times New Roman" panose="02020603050405020304" pitchFamily="18" charset="0"/>
              </a:rPr>
              <a:t>Paul</a:t>
            </a:r>
          </a:p>
          <a:p>
            <a:pPr algn="l">
              <a:buFont typeface="+mj-lt"/>
              <a:buAutoNum type="arabicPeriod"/>
            </a:pPr>
            <a:r>
              <a:rPr lang="en-GB" sz="1600" b="0" i="0" dirty="0">
                <a:solidFill>
                  <a:srgbClr val="000000"/>
                </a:solidFill>
                <a:effectLst/>
                <a:latin typeface="Times New Roman" panose="02020603050405020304" pitchFamily="18" charset="0"/>
              </a:rPr>
              <a:t>Calum</a:t>
            </a:r>
          </a:p>
        </p:txBody>
      </p:sp>
      <p:sp>
        <p:nvSpPr>
          <p:cNvPr id="5" name="TextBox 4">
            <a:extLst>
              <a:ext uri="{FF2B5EF4-FFF2-40B4-BE49-F238E27FC236}">
                <a16:creationId xmlns:a16="http://schemas.microsoft.com/office/drawing/2014/main" id="{A7880293-ADA3-1699-36AF-F3821177F872}"/>
              </a:ext>
            </a:extLst>
          </p:cNvPr>
          <p:cNvSpPr txBox="1"/>
          <p:nvPr/>
        </p:nvSpPr>
        <p:spPr>
          <a:xfrm>
            <a:off x="7204670" y="4184983"/>
            <a:ext cx="2746887" cy="2062103"/>
          </a:xfrm>
          <a:prstGeom prst="rect">
            <a:avLst/>
          </a:prstGeom>
          <a:solidFill>
            <a:schemeClr val="bg2">
              <a:lumMod val="95000"/>
            </a:schemeClr>
          </a:solidFill>
          <a:ln>
            <a:solidFill>
              <a:schemeClr val="tx1"/>
            </a:solidFill>
          </a:ln>
          <a:effectLst>
            <a:outerShdw blurRad="50800" dist="38100" algn="l" rotWithShape="0">
              <a:prstClr val="black">
                <a:alpha val="40000"/>
              </a:prstClr>
            </a:outerShdw>
          </a:effectLst>
        </p:spPr>
        <p:txBody>
          <a:bodyPr wrap="square">
            <a:spAutoFit/>
          </a:bodyPr>
          <a:lstStyle/>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Bayley</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Joshua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Robert</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Joanna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Paul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Calum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1078338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F2207E-8810-9A8E-66F8-B295F5307A7B}"/>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
        <p:nvSpPr>
          <p:cNvPr id="3" name="Title 2">
            <a:extLst>
              <a:ext uri="{FF2B5EF4-FFF2-40B4-BE49-F238E27FC236}">
                <a16:creationId xmlns:a16="http://schemas.microsoft.com/office/drawing/2014/main" id="{5797E508-F109-D014-506D-46275A00BCC5}"/>
              </a:ext>
            </a:extLst>
          </p:cNvPr>
          <p:cNvSpPr>
            <a:spLocks noGrp="1"/>
          </p:cNvSpPr>
          <p:nvPr>
            <p:ph type="title"/>
          </p:nvPr>
        </p:nvSpPr>
        <p:spPr/>
        <p:txBody>
          <a:bodyPr/>
          <a:lstStyle/>
          <a:p>
            <a:r>
              <a:rPr lang="en-GB" dirty="0"/>
              <a:t>Creating elements - another example</a:t>
            </a:r>
          </a:p>
        </p:txBody>
      </p:sp>
      <p:sp>
        <p:nvSpPr>
          <p:cNvPr id="6" name="TextBox 5">
            <a:extLst>
              <a:ext uri="{FF2B5EF4-FFF2-40B4-BE49-F238E27FC236}">
                <a16:creationId xmlns:a16="http://schemas.microsoft.com/office/drawing/2014/main" id="{8D9A97EA-7856-434C-06B1-21E7078020CD}"/>
              </a:ext>
            </a:extLst>
          </p:cNvPr>
          <p:cNvSpPr txBox="1"/>
          <p:nvPr/>
        </p:nvSpPr>
        <p:spPr>
          <a:xfrm>
            <a:off x="339971" y="1406545"/>
            <a:ext cx="11050316" cy="4247317"/>
          </a:xfrm>
          <a:prstGeom prst="rect">
            <a:avLst/>
          </a:prstGeom>
          <a:solidFill>
            <a:schemeClr val="accent5">
              <a:lumMod val="20000"/>
              <a:lumOff val="80000"/>
            </a:schemeClr>
          </a:solidFill>
          <a:ln>
            <a:solidFill>
              <a:schemeClr val="tx1"/>
            </a:solidFill>
          </a:ln>
          <a:effectLst>
            <a:outerShdw blurRad="50800" dist="38100" algn="l" rotWithShape="0">
              <a:prstClr val="black">
                <a:alpha val="40000"/>
              </a:prstClr>
            </a:outerShdw>
          </a:effectLst>
        </p:spPr>
        <p:txBody>
          <a:bodyPr wrap="square">
            <a:spAutoFit/>
          </a:bodyPr>
          <a:lstStyle/>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a:t>
            </a:r>
            <a:r>
              <a:rPr lang="en-GB" sz="1800" b="1" dirty="0" err="1">
                <a:solidFill>
                  <a:srgbClr val="0000FF"/>
                </a:solidFill>
                <a:latin typeface="Consolas" panose="020B0609020204030204" pitchFamily="49" charset="0"/>
              </a:rPr>
              <a:t>divNames</a:t>
            </a:r>
            <a:r>
              <a:rPr lang="en-GB" sz="1800" b="1" dirty="0">
                <a:solidFill>
                  <a:srgbClr val="0000FF"/>
                </a:solidFill>
                <a:latin typeface="Consolas" panose="020B0609020204030204" pitchFamily="49" charset="0"/>
              </a:rPr>
              <a:t>"&gt;&lt;/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students = [</a:t>
            </a:r>
            <a:r>
              <a:rPr lang="en-GB" sz="1800" b="1" dirty="0">
                <a:solidFill>
                  <a:srgbClr val="A31515"/>
                </a:solidFill>
                <a:latin typeface="Consolas" panose="020B0609020204030204" pitchFamily="49" charset="0"/>
              </a:rPr>
              <a:t>"Bayley"</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"Joshua"</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"Robert"</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"Joanna"</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"Paul"</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"Calum"</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selNames</a:t>
            </a:r>
            <a:r>
              <a:rPr lang="en-GB" sz="1800" b="1" dirty="0">
                <a:solidFill>
                  <a:srgbClr val="000000"/>
                </a:solidFill>
                <a:latin typeface="Consolas" panose="020B0609020204030204" pitchFamily="49" charset="0"/>
              </a:rPr>
              <a:t> = </a:t>
            </a:r>
            <a:r>
              <a:rPr lang="en-GB" sz="1800" b="1" dirty="0" err="1">
                <a:solidFill>
                  <a:srgbClr val="000000"/>
                </a:solidFill>
                <a:latin typeface="Consolas" panose="020B0609020204030204" pitchFamily="49" charset="0"/>
              </a:rPr>
              <a:t>document.createElement</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'select'</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nn-NO" sz="1800" b="1" dirty="0">
                <a:solidFill>
                  <a:srgbClr val="000000"/>
                </a:solidFill>
                <a:latin typeface="Consolas" panose="020B0609020204030204" pitchFamily="49" charset="0"/>
              </a:rPr>
              <a:t>        </a:t>
            </a:r>
            <a:r>
              <a:rPr lang="nn-NO" sz="1800" b="1" dirty="0">
                <a:solidFill>
                  <a:srgbClr val="0000FF"/>
                </a:solidFill>
                <a:latin typeface="Consolas" panose="020B0609020204030204" pitchFamily="49" charset="0"/>
              </a:rPr>
              <a:t>for</a:t>
            </a:r>
            <a:r>
              <a:rPr lang="nn-NO" sz="1800" b="1" dirty="0">
                <a:solidFill>
                  <a:srgbClr val="000000"/>
                </a:solidFill>
                <a:latin typeface="Consolas" panose="020B0609020204030204" pitchFamily="49" charset="0"/>
              </a:rPr>
              <a:t> (</a:t>
            </a:r>
            <a:r>
              <a:rPr lang="nn-NO" sz="1800" b="1" dirty="0">
                <a:solidFill>
                  <a:srgbClr val="0000FF"/>
                </a:solidFill>
                <a:latin typeface="Consolas" panose="020B0609020204030204" pitchFamily="49" charset="0"/>
              </a:rPr>
              <a:t>var</a:t>
            </a:r>
            <a:r>
              <a:rPr lang="nn-NO" sz="1800" b="1" dirty="0">
                <a:solidFill>
                  <a:srgbClr val="000000"/>
                </a:solidFill>
                <a:latin typeface="Consolas" panose="020B0609020204030204" pitchFamily="49" charset="0"/>
              </a:rPr>
              <a:t> i = 0; i &lt; students.length; i++)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option = </a:t>
            </a:r>
            <a:r>
              <a:rPr lang="en-GB" sz="1800" b="1" dirty="0" err="1">
                <a:solidFill>
                  <a:srgbClr val="000000"/>
                </a:solidFill>
                <a:latin typeface="Consolas" panose="020B0609020204030204" pitchFamily="49" charset="0"/>
              </a:rPr>
              <a:t>document.createElement</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'option'</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option.innerHTML</a:t>
            </a:r>
            <a:r>
              <a:rPr lang="en-GB" sz="1800" b="1" dirty="0">
                <a:solidFill>
                  <a:srgbClr val="000000"/>
                </a:solidFill>
                <a:latin typeface="Consolas" panose="020B0609020204030204" pitchFamily="49" charset="0"/>
              </a:rPr>
              <a:t> = students[</a:t>
            </a:r>
            <a:r>
              <a:rPr lang="en-GB" sz="1800" b="1" dirty="0" err="1">
                <a:solidFill>
                  <a:srgbClr val="000000"/>
                </a:solidFill>
                <a:latin typeface="Consolas" panose="020B0609020204030204" pitchFamily="49" charset="0"/>
              </a:rPr>
              <a:t>i</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selNames.appendChild</a:t>
            </a:r>
            <a:r>
              <a:rPr lang="en-GB" sz="1800" b="1" dirty="0">
                <a:solidFill>
                  <a:srgbClr val="000000"/>
                </a:solidFill>
                <a:latin typeface="Consolas" panose="020B0609020204030204" pitchFamily="49" charset="0"/>
              </a:rPr>
              <a:t>(option);</a:t>
            </a:r>
          </a:p>
          <a:p>
            <a:r>
              <a:rPr lang="en-GB" sz="1800" b="1" dirty="0">
                <a:solidFill>
                  <a:srgbClr val="000000"/>
                </a:solidFill>
                <a:latin typeface="Consolas" panose="020B0609020204030204" pitchFamily="49" charset="0"/>
              </a:rPr>
              <a:t>        }</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a:t>
            </a:r>
            <a:r>
              <a:rPr lang="en-GB" sz="1800" b="1" dirty="0" err="1">
                <a:solidFill>
                  <a:srgbClr val="A31515"/>
                </a:solidFill>
                <a:latin typeface="Consolas" panose="020B0609020204030204" pitchFamily="49" charset="0"/>
              </a:rPr>
              <a:t>divNames</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r>
              <a:rPr lang="en-GB" sz="1800" b="1" dirty="0" err="1">
                <a:solidFill>
                  <a:srgbClr val="000000"/>
                </a:solidFill>
                <a:latin typeface="Consolas" panose="020B0609020204030204" pitchFamily="49" charset="0"/>
              </a:rPr>
              <a:t>appendChild</a:t>
            </a:r>
            <a:r>
              <a:rPr lang="en-GB" sz="1800" b="1" dirty="0">
                <a:solidFill>
                  <a:srgbClr val="000000"/>
                </a:solidFill>
                <a:latin typeface="Consolas" panose="020B0609020204030204" pitchFamily="49" charset="0"/>
              </a:rPr>
              <a:t>(</a:t>
            </a:r>
            <a:r>
              <a:rPr lang="en-GB" sz="1800" b="1" dirty="0" err="1">
                <a:solidFill>
                  <a:srgbClr val="000000"/>
                </a:solidFill>
                <a:latin typeface="Consolas" panose="020B0609020204030204" pitchFamily="49" charset="0"/>
              </a:rPr>
              <a:t>selNames</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b="1" dirty="0"/>
          </a:p>
        </p:txBody>
      </p:sp>
      <p:pic>
        <p:nvPicPr>
          <p:cNvPr id="9" name="Picture 8">
            <a:extLst>
              <a:ext uri="{FF2B5EF4-FFF2-40B4-BE49-F238E27FC236}">
                <a16:creationId xmlns:a16="http://schemas.microsoft.com/office/drawing/2014/main" id="{85622EC3-A294-0831-276F-665516457CDF}"/>
              </a:ext>
            </a:extLst>
          </p:cNvPr>
          <p:cNvPicPr>
            <a:picLocks noChangeAspect="1"/>
          </p:cNvPicPr>
          <p:nvPr/>
        </p:nvPicPr>
        <p:blipFill>
          <a:blip r:embed="rId2"/>
          <a:stretch>
            <a:fillRect/>
          </a:stretch>
        </p:blipFill>
        <p:spPr>
          <a:xfrm>
            <a:off x="10686906" y="1838924"/>
            <a:ext cx="1015575" cy="1702161"/>
          </a:xfrm>
          <a:prstGeom prst="rect">
            <a:avLst/>
          </a:prstGeom>
        </p:spPr>
      </p:pic>
      <p:sp>
        <p:nvSpPr>
          <p:cNvPr id="11" name="TextBox 10">
            <a:extLst>
              <a:ext uri="{FF2B5EF4-FFF2-40B4-BE49-F238E27FC236}">
                <a16:creationId xmlns:a16="http://schemas.microsoft.com/office/drawing/2014/main" id="{713C61EB-9D80-BAB6-E141-97FACC8CD13B}"/>
              </a:ext>
            </a:extLst>
          </p:cNvPr>
          <p:cNvSpPr txBox="1"/>
          <p:nvPr/>
        </p:nvSpPr>
        <p:spPr>
          <a:xfrm>
            <a:off x="9092299" y="3835998"/>
            <a:ext cx="2765490" cy="2246769"/>
          </a:xfrm>
          <a:prstGeom prst="rect">
            <a:avLst/>
          </a:prstGeom>
          <a:solidFill>
            <a:schemeClr val="bg2">
              <a:lumMod val="95000"/>
            </a:schemeClr>
          </a:solidFill>
        </p:spPr>
        <p:style>
          <a:lnRef idx="2">
            <a:schemeClr val="accent3"/>
          </a:lnRef>
          <a:fillRef idx="1">
            <a:schemeClr val="lt1"/>
          </a:fillRef>
          <a:effectRef idx="0">
            <a:schemeClr val="accent3"/>
          </a:effectRef>
          <a:fontRef idx="minor">
            <a:schemeClr val="dk1"/>
          </a:fontRef>
        </p:style>
        <p:txBody>
          <a:bodyPr wrap="square">
            <a:spAutoFit/>
          </a:bodyPr>
          <a:lstStyle/>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div</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id</a:t>
            </a:r>
            <a:r>
              <a:rPr lang="en-GB" sz="1400" b="1" dirty="0">
                <a:solidFill>
                  <a:srgbClr val="0000FF"/>
                </a:solidFill>
                <a:latin typeface="Consolas" panose="020B0609020204030204" pitchFamily="49" charset="0"/>
              </a:rPr>
              <a:t>="</a:t>
            </a:r>
            <a:r>
              <a:rPr lang="en-GB" sz="1400" b="1" dirty="0" err="1">
                <a:solidFill>
                  <a:srgbClr val="0000FF"/>
                </a:solidFill>
                <a:latin typeface="Consolas" panose="020B0609020204030204" pitchFamily="49" charset="0"/>
              </a:rPr>
              <a:t>divNames</a:t>
            </a:r>
            <a:r>
              <a:rPr lang="en-GB" sz="1400" b="1" dirty="0">
                <a:solidFill>
                  <a:srgbClr val="0000FF"/>
                </a:solidFill>
                <a:latin typeface="Consolas" panose="020B0609020204030204" pitchFamily="49" charset="0"/>
              </a:rPr>
              <a:t>"&gt;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select</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Bayley</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Joshua</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Robert</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Joanna</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Paul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Calum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select</a:t>
            </a:r>
            <a:r>
              <a:rPr lang="en-GB" sz="1400" dirty="0">
                <a:solidFill>
                  <a:srgbClr val="0000FF"/>
                </a:solidFill>
                <a:latin typeface="Consolas" panose="020B0609020204030204" pitchFamily="49" charset="0"/>
              </a:rPr>
              <a:t>&gt;</a:t>
            </a:r>
          </a:p>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div</a:t>
            </a:r>
            <a:r>
              <a:rPr lang="en-GB" sz="1400" b="1" dirty="0">
                <a:solidFill>
                  <a:srgbClr val="0000FF"/>
                </a:solidFill>
                <a:latin typeface="Consolas" panose="020B0609020204030204" pitchFamily="49" charset="0"/>
              </a:rPr>
              <a:t>&gt;</a:t>
            </a:r>
            <a:endParaRPr lang="en-GB" sz="1400" dirty="0"/>
          </a:p>
        </p:txBody>
      </p:sp>
    </p:spTree>
    <p:extLst>
      <p:ext uri="{BB962C8B-B14F-4D97-AF65-F5344CB8AC3E}">
        <p14:creationId xmlns:p14="http://schemas.microsoft.com/office/powerpoint/2010/main" val="2244175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D5E514-BC36-6CF9-369C-DCF578A13B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1C4084-57ED-1143-83D5-A8F3AF83BA0D}"/>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
        <p:nvSpPr>
          <p:cNvPr id="3" name="Title 2">
            <a:extLst>
              <a:ext uri="{FF2B5EF4-FFF2-40B4-BE49-F238E27FC236}">
                <a16:creationId xmlns:a16="http://schemas.microsoft.com/office/drawing/2014/main" id="{D04CE558-CFAA-89F2-BA95-7DF3627CB4DA}"/>
              </a:ext>
            </a:extLst>
          </p:cNvPr>
          <p:cNvSpPr>
            <a:spLocks noGrp="1"/>
          </p:cNvSpPr>
          <p:nvPr>
            <p:ph type="title"/>
          </p:nvPr>
        </p:nvSpPr>
        <p:spPr/>
        <p:txBody>
          <a:bodyPr/>
          <a:lstStyle/>
          <a:p>
            <a:r>
              <a:rPr lang="en-GB" dirty="0"/>
              <a:t>Creating elements - another example</a:t>
            </a:r>
          </a:p>
        </p:txBody>
      </p:sp>
      <p:sp>
        <p:nvSpPr>
          <p:cNvPr id="6" name="TextBox 5">
            <a:extLst>
              <a:ext uri="{FF2B5EF4-FFF2-40B4-BE49-F238E27FC236}">
                <a16:creationId xmlns:a16="http://schemas.microsoft.com/office/drawing/2014/main" id="{B5F6EACA-062D-8BCB-B3F3-BE755D9E3450}"/>
              </a:ext>
            </a:extLst>
          </p:cNvPr>
          <p:cNvSpPr txBox="1"/>
          <p:nvPr/>
        </p:nvSpPr>
        <p:spPr>
          <a:xfrm>
            <a:off x="339971" y="1406545"/>
            <a:ext cx="11050316" cy="4247317"/>
          </a:xfrm>
          <a:prstGeom prst="rect">
            <a:avLst/>
          </a:prstGeom>
          <a:solidFill>
            <a:schemeClr val="accent5">
              <a:lumMod val="20000"/>
              <a:lumOff val="80000"/>
            </a:schemeClr>
          </a:solidFill>
          <a:ln>
            <a:solidFill>
              <a:schemeClr val="tx1"/>
            </a:solidFill>
          </a:ln>
          <a:effectLst>
            <a:outerShdw blurRad="50800" dist="38100" algn="l" rotWithShape="0">
              <a:prstClr val="black">
                <a:alpha val="40000"/>
              </a:prstClr>
            </a:outerShdw>
          </a:effectLst>
        </p:spPr>
        <p:txBody>
          <a:bodyPr wrap="square">
            <a:spAutoFit/>
          </a:bodyPr>
          <a:lstStyle/>
          <a:p>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div</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id</a:t>
            </a:r>
            <a:r>
              <a:rPr lang="en-GB" b="1" dirty="0">
                <a:solidFill>
                  <a:srgbClr val="0000FF"/>
                </a:solidFill>
                <a:latin typeface="Consolas" panose="020B0609020204030204" pitchFamily="49" charset="0"/>
              </a:rPr>
              <a:t>="</a:t>
            </a:r>
            <a:r>
              <a:rPr lang="en-GB" b="1" dirty="0" err="1">
                <a:solidFill>
                  <a:srgbClr val="0000FF"/>
                </a:solidFill>
                <a:latin typeface="Consolas" panose="020B0609020204030204" pitchFamily="49" charset="0"/>
              </a:rPr>
              <a:t>divNames</a:t>
            </a:r>
            <a:r>
              <a:rPr lang="en-GB" b="1" dirty="0">
                <a:solidFill>
                  <a:srgbClr val="0000FF"/>
                </a:solidFill>
                <a:latin typeface="Consolas" panose="020B0609020204030204" pitchFamily="49" charset="0"/>
              </a:rPr>
              <a:t>"&gt;&lt;/</a:t>
            </a:r>
            <a:r>
              <a:rPr lang="en-GB" b="1" dirty="0">
                <a:solidFill>
                  <a:srgbClr val="800000"/>
                </a:solidFill>
                <a:latin typeface="Consolas" panose="020B0609020204030204" pitchFamily="49" charset="0"/>
              </a:rPr>
              <a:t>div</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script</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students = [</a:t>
            </a:r>
            <a:r>
              <a:rPr lang="en-GB" b="1" dirty="0">
                <a:solidFill>
                  <a:srgbClr val="A31515"/>
                </a:solidFill>
                <a:latin typeface="Consolas" panose="020B0609020204030204" pitchFamily="49" charset="0"/>
              </a:rPr>
              <a:t>"Bayley"</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"Joshua"</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"Robert"</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"Joanna"</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"Paul"</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"Calum"</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selNames</a:t>
            </a:r>
            <a:r>
              <a:rPr lang="en-GB" b="1" dirty="0">
                <a:solidFill>
                  <a:srgbClr val="000000"/>
                </a:solidFill>
                <a:latin typeface="Consolas" panose="020B0609020204030204" pitchFamily="49" charset="0"/>
              </a:rPr>
              <a:t> = </a:t>
            </a:r>
            <a:r>
              <a:rPr lang="en-GB" b="1" dirty="0" err="1">
                <a:solidFill>
                  <a:srgbClr val="000000"/>
                </a:solidFill>
                <a:latin typeface="Consolas" panose="020B0609020204030204" pitchFamily="49" charset="0"/>
              </a:rPr>
              <a:t>document.createElement</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'select'</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students.forEach</a:t>
            </a:r>
            <a:r>
              <a:rPr lang="en-GB" b="1" dirty="0">
                <a:solidFill>
                  <a:srgbClr val="000000"/>
                </a:solidFill>
                <a:latin typeface="Consolas" panose="020B0609020204030204" pitchFamily="49" charset="0"/>
              </a:rPr>
              <a:t>(</a:t>
            </a:r>
            <a:r>
              <a:rPr lang="en-GB" b="1" dirty="0" err="1">
                <a:solidFill>
                  <a:srgbClr val="000000"/>
                </a:solidFill>
                <a:latin typeface="Consolas" panose="020B0609020204030204" pitchFamily="49" charset="0"/>
              </a:rPr>
              <a:t>stu</a:t>
            </a:r>
            <a:r>
              <a:rPr lang="en-GB" b="1" dirty="0">
                <a:solidFill>
                  <a:srgbClr val="000000"/>
                </a:solidFill>
                <a:latin typeface="Consolas" panose="020B0609020204030204" pitchFamily="49" charset="0"/>
              </a:rPr>
              <a:t> =&gt; {</a:t>
            </a: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option = </a:t>
            </a:r>
            <a:r>
              <a:rPr lang="en-GB" b="1" dirty="0" err="1">
                <a:solidFill>
                  <a:srgbClr val="000000"/>
                </a:solidFill>
                <a:latin typeface="Consolas" panose="020B0609020204030204" pitchFamily="49" charset="0"/>
              </a:rPr>
              <a:t>document.createElement</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'option'</a:t>
            </a:r>
            <a:r>
              <a:rPr lang="en-GB"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option.innerHTML</a:t>
            </a:r>
            <a:r>
              <a:rPr lang="en-GB" b="1" dirty="0">
                <a:solidFill>
                  <a:srgbClr val="000000"/>
                </a:solidFill>
                <a:latin typeface="Consolas" panose="020B0609020204030204" pitchFamily="49" charset="0"/>
              </a:rPr>
              <a:t> = </a:t>
            </a:r>
            <a:r>
              <a:rPr lang="en-GB" b="1" dirty="0" err="1">
                <a:solidFill>
                  <a:srgbClr val="000000"/>
                </a:solidFill>
                <a:latin typeface="Consolas" panose="020B0609020204030204" pitchFamily="49" charset="0"/>
              </a:rPr>
              <a:t>stu</a:t>
            </a:r>
            <a:r>
              <a:rPr lang="en-GB"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selNames.appendChild</a:t>
            </a:r>
            <a:r>
              <a:rPr lang="en-GB" b="1" dirty="0">
                <a:solidFill>
                  <a:srgbClr val="000000"/>
                </a:solidFill>
                <a:latin typeface="Consolas" panose="020B0609020204030204" pitchFamily="49" charset="0"/>
              </a:rPr>
              <a:t>(option);</a:t>
            </a:r>
          </a:p>
          <a:p>
            <a:r>
              <a:rPr lang="en-GB" b="1" dirty="0">
                <a:solidFill>
                  <a:srgbClr val="000000"/>
                </a:solidFill>
                <a:latin typeface="Consolas" panose="020B0609020204030204" pitchFamily="49" charset="0"/>
              </a:rPr>
              <a:t>    });</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document.getElementById</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a:t>
            </a:r>
            <a:r>
              <a:rPr lang="en-GB" b="1" dirty="0" err="1">
                <a:solidFill>
                  <a:srgbClr val="A31515"/>
                </a:solidFill>
                <a:latin typeface="Consolas" panose="020B0609020204030204" pitchFamily="49" charset="0"/>
              </a:rPr>
              <a:t>divNames</a:t>
            </a:r>
            <a:r>
              <a:rPr lang="en-GB" b="1" dirty="0">
                <a:solidFill>
                  <a:srgbClr val="A31515"/>
                </a:solidFill>
                <a:latin typeface="Consolas" panose="020B0609020204030204" pitchFamily="49" charset="0"/>
              </a:rPr>
              <a:t>'</a:t>
            </a:r>
            <a:r>
              <a:rPr lang="en-GB" b="1" dirty="0">
                <a:solidFill>
                  <a:srgbClr val="000000"/>
                </a:solidFill>
                <a:latin typeface="Consolas" panose="020B0609020204030204" pitchFamily="49" charset="0"/>
              </a:rPr>
              <a:t>).</a:t>
            </a:r>
            <a:r>
              <a:rPr lang="en-GB" b="1" dirty="0" err="1">
                <a:solidFill>
                  <a:srgbClr val="000000"/>
                </a:solidFill>
                <a:latin typeface="Consolas" panose="020B0609020204030204" pitchFamily="49" charset="0"/>
              </a:rPr>
              <a:t>appendChild</a:t>
            </a:r>
            <a:r>
              <a:rPr lang="en-GB" b="1" dirty="0">
                <a:solidFill>
                  <a:srgbClr val="000000"/>
                </a:solidFill>
                <a:latin typeface="Consolas" panose="020B0609020204030204" pitchFamily="49" charset="0"/>
              </a:rPr>
              <a:t>(</a:t>
            </a:r>
            <a:r>
              <a:rPr lang="en-GB" b="1" dirty="0" err="1">
                <a:solidFill>
                  <a:srgbClr val="000000"/>
                </a:solidFill>
                <a:latin typeface="Consolas" panose="020B0609020204030204" pitchFamily="49" charset="0"/>
              </a:rPr>
              <a:t>selNames</a:t>
            </a:r>
            <a:r>
              <a:rPr lang="en-GB" b="1" dirty="0">
                <a:solidFill>
                  <a:srgbClr val="000000"/>
                </a:solidFill>
                <a:latin typeface="Consolas" panose="020B0609020204030204" pitchFamily="49" charset="0"/>
              </a:rPr>
              <a:t>);</a:t>
            </a:r>
          </a:p>
          <a:p>
            <a:endParaRPr lang="en-GB" b="1" dirty="0">
              <a:solidFill>
                <a:srgbClr val="0000FF"/>
              </a:solidFill>
              <a:latin typeface="Consolas" panose="020B0609020204030204" pitchFamily="49" charset="0"/>
            </a:endParaRPr>
          </a:p>
          <a:p>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script</a:t>
            </a:r>
            <a:r>
              <a:rPr lang="en-GB" b="1" dirty="0">
                <a:solidFill>
                  <a:srgbClr val="0000FF"/>
                </a:solidFill>
                <a:latin typeface="Consolas" panose="020B0609020204030204" pitchFamily="49" charset="0"/>
              </a:rPr>
              <a:t>&gt;</a:t>
            </a:r>
            <a:endParaRPr lang="en-GB" b="1" dirty="0"/>
          </a:p>
        </p:txBody>
      </p:sp>
      <p:pic>
        <p:nvPicPr>
          <p:cNvPr id="9" name="Picture 8">
            <a:extLst>
              <a:ext uri="{FF2B5EF4-FFF2-40B4-BE49-F238E27FC236}">
                <a16:creationId xmlns:a16="http://schemas.microsoft.com/office/drawing/2014/main" id="{0420B801-02D8-B82F-C785-CF04C37C240E}"/>
              </a:ext>
            </a:extLst>
          </p:cNvPr>
          <p:cNvPicPr>
            <a:picLocks noChangeAspect="1"/>
          </p:cNvPicPr>
          <p:nvPr/>
        </p:nvPicPr>
        <p:blipFill>
          <a:blip r:embed="rId2"/>
          <a:stretch>
            <a:fillRect/>
          </a:stretch>
        </p:blipFill>
        <p:spPr>
          <a:xfrm>
            <a:off x="10686906" y="1406545"/>
            <a:ext cx="1015575" cy="1702161"/>
          </a:xfrm>
          <a:prstGeom prst="rect">
            <a:avLst/>
          </a:prstGeom>
        </p:spPr>
      </p:pic>
      <p:sp>
        <p:nvSpPr>
          <p:cNvPr id="11" name="TextBox 10">
            <a:extLst>
              <a:ext uri="{FF2B5EF4-FFF2-40B4-BE49-F238E27FC236}">
                <a16:creationId xmlns:a16="http://schemas.microsoft.com/office/drawing/2014/main" id="{B42B7C36-F217-D5E4-2DC9-6F94DD167B52}"/>
              </a:ext>
            </a:extLst>
          </p:cNvPr>
          <p:cNvSpPr txBox="1"/>
          <p:nvPr/>
        </p:nvSpPr>
        <p:spPr>
          <a:xfrm>
            <a:off x="9086539" y="3323135"/>
            <a:ext cx="2765490" cy="2246769"/>
          </a:xfrm>
          <a:prstGeom prst="rect">
            <a:avLst/>
          </a:prstGeom>
          <a:solidFill>
            <a:schemeClr val="bg2">
              <a:lumMod val="95000"/>
            </a:schemeClr>
          </a:solidFill>
        </p:spPr>
        <p:style>
          <a:lnRef idx="2">
            <a:schemeClr val="accent3"/>
          </a:lnRef>
          <a:fillRef idx="1">
            <a:schemeClr val="lt1"/>
          </a:fillRef>
          <a:effectRef idx="0">
            <a:schemeClr val="accent3"/>
          </a:effectRef>
          <a:fontRef idx="minor">
            <a:schemeClr val="dk1"/>
          </a:fontRef>
        </p:style>
        <p:txBody>
          <a:bodyPr wrap="square">
            <a:spAutoFit/>
          </a:bodyPr>
          <a:lstStyle/>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div</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id</a:t>
            </a:r>
            <a:r>
              <a:rPr lang="en-GB" sz="1400" b="1" dirty="0">
                <a:solidFill>
                  <a:srgbClr val="0000FF"/>
                </a:solidFill>
                <a:latin typeface="Consolas" panose="020B0609020204030204" pitchFamily="49" charset="0"/>
              </a:rPr>
              <a:t>="</a:t>
            </a:r>
            <a:r>
              <a:rPr lang="en-GB" sz="1400" b="1" dirty="0" err="1">
                <a:solidFill>
                  <a:srgbClr val="0000FF"/>
                </a:solidFill>
                <a:latin typeface="Consolas" panose="020B0609020204030204" pitchFamily="49" charset="0"/>
              </a:rPr>
              <a:t>divNames</a:t>
            </a:r>
            <a:r>
              <a:rPr lang="en-GB" sz="1400" b="1" dirty="0">
                <a:solidFill>
                  <a:srgbClr val="0000FF"/>
                </a:solidFill>
                <a:latin typeface="Consolas" panose="020B0609020204030204" pitchFamily="49" charset="0"/>
              </a:rPr>
              <a:t>"&gt;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select</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Bayley</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Joshua</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Robert</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Joanna</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Paul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Calum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select</a:t>
            </a:r>
            <a:r>
              <a:rPr lang="en-GB" sz="1400" dirty="0">
                <a:solidFill>
                  <a:srgbClr val="0000FF"/>
                </a:solidFill>
                <a:latin typeface="Consolas" panose="020B0609020204030204" pitchFamily="49" charset="0"/>
              </a:rPr>
              <a:t>&gt;</a:t>
            </a:r>
          </a:p>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div</a:t>
            </a:r>
            <a:r>
              <a:rPr lang="en-GB" sz="1400" b="1" dirty="0">
                <a:solidFill>
                  <a:srgbClr val="0000FF"/>
                </a:solidFill>
                <a:latin typeface="Consolas" panose="020B0609020204030204" pitchFamily="49" charset="0"/>
              </a:rPr>
              <a:t>&gt;</a:t>
            </a:r>
            <a:endParaRPr lang="en-GB" sz="1400" dirty="0"/>
          </a:p>
        </p:txBody>
      </p:sp>
    </p:spTree>
    <p:extLst>
      <p:ext uri="{BB962C8B-B14F-4D97-AF65-F5344CB8AC3E}">
        <p14:creationId xmlns:p14="http://schemas.microsoft.com/office/powerpoint/2010/main" val="213523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7D2B0A1-21A1-4AA3-B561-1B055B620AF6}"/>
              </a:ext>
            </a:extLst>
          </p:cNvPr>
          <p:cNvSpPr>
            <a:spLocks noGrp="1"/>
          </p:cNvSpPr>
          <p:nvPr>
            <p:ph type="body" sz="quarter" idx="10"/>
          </p:nvPr>
        </p:nvSpPr>
        <p:spPr/>
        <p:txBody>
          <a:bodyPr/>
          <a:lstStyle/>
          <a:p>
            <a:r>
              <a:rPr lang="en-GB" dirty="0"/>
              <a:t>Summary</a:t>
            </a:r>
            <a:endParaRPr lang="en-IN" dirty="0"/>
          </a:p>
        </p:txBody>
      </p:sp>
      <p:sp>
        <p:nvSpPr>
          <p:cNvPr id="5" name="Text Placeholder 4">
            <a:extLst>
              <a:ext uri="{FF2B5EF4-FFF2-40B4-BE49-F238E27FC236}">
                <a16:creationId xmlns:a16="http://schemas.microsoft.com/office/drawing/2014/main" id="{BF710268-7E94-46C4-8F34-8C3655EBF8F1}"/>
              </a:ext>
            </a:extLst>
          </p:cNvPr>
          <p:cNvSpPr>
            <a:spLocks noGrp="1"/>
          </p:cNvSpPr>
          <p:nvPr>
            <p:ph type="body" sz="quarter" idx="11"/>
          </p:nvPr>
        </p:nvSpPr>
        <p:spPr/>
        <p:txBody>
          <a:bodyPr anchor="ctr"/>
          <a:lstStyle/>
          <a:p>
            <a:pPr marL="342900" indent="-342900">
              <a:buFont typeface="Arial" panose="020B0604020202020204" pitchFamily="34" charset="0"/>
              <a:buChar char="•"/>
            </a:pPr>
            <a:r>
              <a:rPr lang="en-GB" b="1" dirty="0"/>
              <a:t>You learned how to access DOM elements using the document object.</a:t>
            </a:r>
          </a:p>
        </p:txBody>
      </p:sp>
    </p:spTree>
    <p:extLst>
      <p:ext uri="{BB962C8B-B14F-4D97-AF65-F5344CB8AC3E}">
        <p14:creationId xmlns:p14="http://schemas.microsoft.com/office/powerpoint/2010/main" val="1898720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1C99F30-4D39-43EE-88FF-228163738EA5}"/>
              </a:ext>
            </a:extLst>
          </p:cNvPr>
          <p:cNvSpPr>
            <a:spLocks noGrp="1"/>
          </p:cNvSpPr>
          <p:nvPr>
            <p:ph type="body" sz="quarter" idx="10"/>
          </p:nvPr>
        </p:nvSpPr>
        <p:spPr/>
        <p:txBody>
          <a:bodyPr/>
          <a:lstStyle/>
          <a:p>
            <a:r>
              <a:rPr lang="en-GB" dirty="0"/>
              <a:t>Lab</a:t>
            </a:r>
            <a:endParaRPr lang="en-IN" dirty="0"/>
          </a:p>
        </p:txBody>
      </p:sp>
      <p:sp>
        <p:nvSpPr>
          <p:cNvPr id="7" name="Text Placeholder 6">
            <a:extLst>
              <a:ext uri="{FF2B5EF4-FFF2-40B4-BE49-F238E27FC236}">
                <a16:creationId xmlns:a16="http://schemas.microsoft.com/office/drawing/2014/main" id="{504F6B18-691A-431F-B944-FA1F3BD344B7}"/>
              </a:ext>
            </a:extLst>
          </p:cNvPr>
          <p:cNvSpPr>
            <a:spLocks noGrp="1"/>
          </p:cNvSpPr>
          <p:nvPr>
            <p:ph type="body" sz="quarter" idx="15"/>
          </p:nvPr>
        </p:nvSpPr>
        <p:spPr/>
        <p:txBody>
          <a:bodyPr/>
          <a:lstStyle/>
          <a:p>
            <a:pPr marL="342900" indent="-342900">
              <a:buFont typeface="Arial" panose="020B0604020202020204" pitchFamily="34" charset="0"/>
              <a:buChar char="•"/>
            </a:pPr>
            <a:r>
              <a:rPr lang="en-GB" b="1" dirty="0"/>
              <a:t>In this lab you will use the </a:t>
            </a:r>
            <a:r>
              <a:rPr lang="en-GB" b="1" dirty="0" err="1"/>
              <a:t>document.get</a:t>
            </a:r>
            <a:r>
              <a:rPr lang="en-GB" b="1" dirty="0"/>
              <a:t> functions to access DOM elements</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Refer to lab document "</a:t>
            </a:r>
            <a:r>
              <a:rPr lang="en-GB" b="1" i="1" dirty="0"/>
              <a:t>Accessing DOM elements</a:t>
            </a:r>
            <a:r>
              <a:rPr lang="en-GB" b="1" dirty="0"/>
              <a:t>"</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Duration 25 minutes</a:t>
            </a:r>
          </a:p>
          <a:p>
            <a:endParaRPr lang="en-IN" dirty="0"/>
          </a:p>
        </p:txBody>
      </p:sp>
    </p:spTree>
    <p:extLst>
      <p:ext uri="{BB962C8B-B14F-4D97-AF65-F5344CB8AC3E}">
        <p14:creationId xmlns:p14="http://schemas.microsoft.com/office/powerpoint/2010/main" val="34417361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76D8A5-6460-41D8-B2BB-D6C022FE8A5C}">
  <ds:schemaRefs>
    <ds:schemaRef ds:uri="http://schemas.microsoft.com/office/2006/metadata/properties"/>
    <ds:schemaRef ds:uri="http://schemas.microsoft.com/office/infopath/2007/PartnerControls"/>
    <ds:schemaRef ds:uri="B42EA499-AA80-4ED5-9ED5-37A17D3EB549"/>
  </ds:schemaRefs>
</ds:datastoreItem>
</file>

<file path=customXml/itemProps2.xml><?xml version="1.0" encoding="utf-8"?>
<ds:datastoreItem xmlns:ds="http://schemas.openxmlformats.org/officeDocument/2006/customXml" ds:itemID="{D47B5C6E-C195-4668-928F-F519F583A6D4}">
  <ds:schemaRefs>
    <ds:schemaRef ds:uri="http://schemas.microsoft.com/sharepoint/v3/contenttype/forms"/>
  </ds:schemaRefs>
</ds:datastoreItem>
</file>

<file path=customXml/itemProps3.xml><?xml version="1.0" encoding="utf-8"?>
<ds:datastoreItem xmlns:ds="http://schemas.openxmlformats.org/officeDocument/2006/customXml" ds:itemID="{96C7C959-319B-49E2-8C8F-A5D510E8AE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2076</Words>
  <Application>Microsoft Office PowerPoint</Application>
  <PresentationFormat>Widescreen</PresentationFormat>
  <Paragraphs>286</Paragraphs>
  <Slides>16</Slides>
  <Notes>12</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Consolas</vt:lpstr>
      <vt:lpstr>Krana Fat B</vt:lpstr>
      <vt:lpstr>Lucida Console</vt:lpstr>
      <vt:lpstr>Montserrat</vt:lpstr>
      <vt:lpstr>Times New Roman</vt:lpstr>
      <vt:lpstr>Master</vt:lpstr>
      <vt:lpstr>Web Development</vt:lpstr>
      <vt:lpstr>Accessing DOM elements </vt:lpstr>
      <vt:lpstr>PowerPoint Presentation</vt:lpstr>
      <vt:lpstr>PowerPoint Presentation</vt:lpstr>
      <vt:lpstr>Objects</vt:lpstr>
      <vt:lpstr>Accessing Elements Using the DOM</vt:lpstr>
      <vt:lpstr>Accessing Properties of Elements</vt:lpstr>
      <vt:lpstr>Selection of DOM elements – querySelector method</vt:lpstr>
      <vt:lpstr>Changing the style of an element</vt:lpstr>
      <vt:lpstr>Changing multiple styles of an element</vt:lpstr>
      <vt:lpstr>Creating elements dynamically</vt:lpstr>
      <vt:lpstr>Creating elements dynamically</vt:lpstr>
      <vt:lpstr>Creating elements - another example</vt:lpstr>
      <vt:lpstr>Creating elements - another example</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157</cp:revision>
  <cp:lastPrinted>2019-07-03T09:46:41Z</cp:lastPrinted>
  <dcterms:created xsi:type="dcterms:W3CDTF">2019-09-05T08:17:12Z</dcterms:created>
  <dcterms:modified xsi:type="dcterms:W3CDTF">2026-05-20T09:02:22Z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