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3" r:id="rId5"/>
    <p:sldId id="491" r:id="rId6"/>
    <p:sldId id="493" r:id="rId7"/>
    <p:sldId id="536" r:id="rId8"/>
    <p:sldId id="538" r:id="rId9"/>
    <p:sldId id="543" r:id="rId10"/>
    <p:sldId id="539" r:id="rId11"/>
    <p:sldId id="542" r:id="rId12"/>
    <p:sldId id="540" r:id="rId13"/>
    <p:sldId id="537" r:id="rId14"/>
    <p:sldId id="544" r:id="rId15"/>
    <p:sldId id="541" r:id="rId16"/>
    <p:sldId id="494" r:id="rId17"/>
    <p:sldId id="535" r:id="rId18"/>
  </p:sldIdLst>
  <p:sldSz cx="12192000" cy="6858000"/>
  <p:notesSz cx="6645275" cy="9775825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1258"/>
    <a:srgbClr val="7E007C"/>
    <a:srgbClr val="09EDB8"/>
    <a:srgbClr val="004050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87661" autoAdjust="0"/>
  </p:normalViewPr>
  <p:slideViewPr>
    <p:cSldViewPr snapToGrid="0" snapToObjects="1" showGuides="1">
      <p:cViewPr varScale="1">
        <p:scale>
          <a:sx n="93" d="100"/>
          <a:sy n="93" d="100"/>
        </p:scale>
        <p:origin x="1548" y="78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07/02/2024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07/02/2024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AA5024-7929-4056-8E94-172B36B7A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320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671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90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327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920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03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3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3050" algn="l"/>
                <a:tab pos="544513" algn="l"/>
                <a:tab pos="796925" algn="l"/>
                <a:tab pos="1069975" algn="l"/>
                <a:tab pos="1343025" algn="l"/>
                <a:tab pos="1614488" algn="l"/>
                <a:tab pos="1887538" algn="l"/>
                <a:tab pos="2159000" algn="l"/>
                <a:tab pos="2413000" algn="l"/>
                <a:tab pos="2684463" algn="l"/>
              </a:tabLst>
              <a:defRPr/>
            </a:pPr>
            <a:r>
              <a:rPr lang="en-GB" dirty="0"/>
              <a:t>JavaScript is a class-less language but it can define </a:t>
            </a:r>
            <a:br>
              <a:rPr lang="en-GB" dirty="0"/>
            </a:br>
            <a:r>
              <a:rPr lang="en-GB" dirty="0"/>
              <a:t>prototype-based classes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66AAD-4822-4D35-BB45-065DFB66B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383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768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View the slide and notice:</a:t>
            </a:r>
          </a:p>
          <a:p>
            <a:pPr lvl="1"/>
            <a:r>
              <a:rPr lang="en-GB" dirty="0"/>
              <a:t>How easy it is to nest one object inside another</a:t>
            </a:r>
          </a:p>
          <a:p>
            <a:pPr lvl="1"/>
            <a:r>
              <a:rPr lang="en-GB" dirty="0"/>
              <a:t>How easy it is to use arrays and objects together</a:t>
            </a:r>
          </a:p>
          <a:p>
            <a:pPr lvl="1"/>
            <a:r>
              <a:rPr lang="en-GB" dirty="0"/>
              <a:t>It is human-readable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69C43-4E8F-4FF0-A691-CFB225A61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544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091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54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768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47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42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json.org/example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6238" y="2067007"/>
            <a:ext cx="6024562" cy="235343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br>
              <a:rPr lang="en-GB" dirty="0"/>
            </a:br>
            <a:r>
              <a:rPr lang="en-GB" dirty="0"/>
              <a:t>Web Development</a:t>
            </a:r>
            <a:br>
              <a:rPr lang="en-GB" dirty="0"/>
            </a:br>
            <a:r>
              <a:rPr lang="en-GB" dirty="0"/>
              <a:t>JavaScript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Objects and JSON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621FA40-AB49-43AD-8B4B-4F0D69968C2E}"/>
              </a:ext>
            </a:extLst>
          </p:cNvPr>
          <p:cNvSpPr txBox="1">
            <a:spLocks/>
          </p:cNvSpPr>
          <p:nvPr/>
        </p:nvSpPr>
        <p:spPr>
          <a:xfrm>
            <a:off x="376239" y="5608948"/>
            <a:ext cx="6480175" cy="44273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6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99F027-5CFF-4864-8579-4B8F7161E2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0D0BA9-3349-41D8-B07D-492F58BDA0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you'll learn :</a:t>
            </a:r>
          </a:p>
          <a:p>
            <a:pPr marL="342900" lvl="1" indent="-342900">
              <a:buSzPct val="115000"/>
            </a:pPr>
            <a:r>
              <a:rPr lang="en-GB" dirty="0"/>
              <a:t>How to create objects in JavaScript</a:t>
            </a:r>
          </a:p>
          <a:p>
            <a:pPr marL="342900" lvl="1" indent="-342900">
              <a:buSzPct val="115000"/>
            </a:pPr>
            <a:r>
              <a:rPr lang="en-GB" dirty="0"/>
              <a:t>What JSON 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80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23A454-2319-421B-AAF7-A6FBB34ADC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572" y="1349984"/>
            <a:ext cx="7162253" cy="511940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Variables in JavaScript can hold values of any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They can also hold objects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Unlike other languages, objects are not usually based on classes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To create an object, you specify what properties the object has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You can also add new properties to an existing object later on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Objects are declared using { }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Within the { }, you can write a list of comma-separated properties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See the next page for an example</a:t>
            </a:r>
          </a:p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3BB6D5-5626-488F-A1D3-90F3D4E8B8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Objects </a:t>
            </a:r>
          </a:p>
          <a:p>
            <a:r>
              <a:rPr lang="en-GB" dirty="0"/>
              <a:t>in JavaScript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05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7C3FD8-D0A7-40BF-BB53-C78EB459DCB0}"/>
              </a:ext>
            </a:extLst>
          </p:cNvPr>
          <p:cNvSpPr/>
          <p:nvPr/>
        </p:nvSpPr>
        <p:spPr>
          <a:xfrm>
            <a:off x="1380271" y="1633671"/>
            <a:ext cx="8590500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 = {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Person1.age = 42;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alert(person1.firstName);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alert(person1.age);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in JavaScript </a:t>
            </a:r>
            <a:r>
              <a:rPr lang="mr-IN" dirty="0"/>
              <a:t>–</a:t>
            </a:r>
            <a:r>
              <a:rPr lang="en-GB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42712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in JavaScript </a:t>
            </a:r>
            <a:r>
              <a:rPr lang="mr-IN" dirty="0"/>
              <a:t>–</a:t>
            </a:r>
            <a:r>
              <a:rPr lang="en-GB" dirty="0"/>
              <a:t> Passing objects as parameter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2F1C3-205B-42C8-82FE-59A565D4A839}"/>
              </a:ext>
            </a:extLst>
          </p:cNvPr>
          <p:cNvSpPr txBox="1"/>
          <p:nvPr/>
        </p:nvSpPr>
        <p:spPr>
          <a:xfrm>
            <a:off x="959857" y="1574640"/>
            <a:ext cx="9203647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showPerson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(person) {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alert(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 is 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person.age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 years old"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person1 = {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person1.age = 42;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showPerson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(person1);</a:t>
            </a:r>
          </a:p>
        </p:txBody>
      </p:sp>
    </p:spTree>
    <p:extLst>
      <p:ext uri="{BB962C8B-B14F-4D97-AF65-F5344CB8AC3E}">
        <p14:creationId xmlns:p14="http://schemas.microsoft.com/office/powerpoint/2010/main" val="168078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Methods in JavaScript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1368256"/>
            <a:ext cx="3782493" cy="4955354"/>
          </a:xfrm>
        </p:spPr>
        <p:txBody>
          <a:bodyPr>
            <a:normAutofit/>
          </a:bodyPr>
          <a:lstStyle/>
          <a:p>
            <a:r>
              <a:rPr lang="en-GB" b="1" dirty="0"/>
              <a:t>To add a method, assign </a:t>
            </a:r>
            <a:br>
              <a:rPr lang="en-GB" b="1" dirty="0"/>
            </a:br>
            <a:r>
              <a:rPr lang="en-GB" b="1" dirty="0"/>
              <a:t>it as a property</a:t>
            </a:r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Function gets its name from the property you assign it to</a:t>
            </a:r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Can do this either during or after object creation</a:t>
            </a:r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endParaRPr lang="en-GB" dirty="0"/>
          </a:p>
          <a:p>
            <a:pPr marL="342000" lvl="1" indent="-3420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From within a method, use “</a:t>
            </a:r>
            <a:r>
              <a:rPr lang="en-GB" b="1" dirty="0" err="1">
                <a:latin typeface="Consolas" charset="0"/>
                <a:ea typeface="Consolas" charset="0"/>
                <a:cs typeface="Consolas" charset="0"/>
              </a:rPr>
              <a:t>this.property</a:t>
            </a:r>
            <a:r>
              <a:rPr lang="en-GB" dirty="0"/>
              <a:t>” to access a property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E7D41-6A5F-4074-82C4-0B4FC74A6F08}"/>
              </a:ext>
            </a:extLst>
          </p:cNvPr>
          <p:cNvSpPr txBox="1"/>
          <p:nvPr/>
        </p:nvSpPr>
        <p:spPr>
          <a:xfrm>
            <a:off x="4123765" y="1413807"/>
            <a:ext cx="7734024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 =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surname: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showAge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.firstName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is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.age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years old`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person1.age = 25;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person1.showAge();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1F7E0-98C0-4F24-9DA3-94000FE52CDF}"/>
              </a:ext>
            </a:extLst>
          </p:cNvPr>
          <p:cNvSpPr txBox="1"/>
          <p:nvPr/>
        </p:nvSpPr>
        <p:spPr>
          <a:xfrm>
            <a:off x="4116704" y="4548830"/>
            <a:ext cx="7734024" cy="17543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Example of adding methods afterwards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person1.showFullName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.firstName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.surname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person1.showFullName(person1);</a:t>
            </a:r>
          </a:p>
        </p:txBody>
      </p:sp>
    </p:spTree>
    <p:extLst>
      <p:ext uri="{BB962C8B-B14F-4D97-AF65-F5344CB8AC3E}">
        <p14:creationId xmlns:p14="http://schemas.microsoft.com/office/powerpoint/2010/main" val="2115797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8D39-34B6-4304-B637-E389CF01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a class in ES6 (2015+)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121708" y="1367059"/>
            <a:ext cx="5803900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constructor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(name)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.name = name;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doWork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.name +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 is working"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708" y="4463082"/>
            <a:ext cx="58039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p =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Employee(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"Mike"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p.doWork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039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283EB3-0F73-46ED-83D9-FF26450D6D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is JSON  (</a:t>
            </a:r>
            <a:r>
              <a:rPr lang="en-GB" dirty="0">
                <a:solidFill>
                  <a:srgbClr val="F91258"/>
                </a:solidFill>
              </a:rPr>
              <a:t>J</a:t>
            </a:r>
            <a:r>
              <a:rPr lang="en-GB" dirty="0"/>
              <a:t>ava</a:t>
            </a:r>
            <a:r>
              <a:rPr lang="en-GB" dirty="0">
                <a:solidFill>
                  <a:srgbClr val="F91258"/>
                </a:solidFill>
              </a:rPr>
              <a:t>S</a:t>
            </a:r>
            <a:r>
              <a:rPr lang="en-GB" dirty="0"/>
              <a:t>cript </a:t>
            </a:r>
            <a:r>
              <a:rPr lang="en-GB" dirty="0">
                <a:solidFill>
                  <a:srgbClr val="F91258"/>
                </a:solidFill>
              </a:rPr>
              <a:t>O</a:t>
            </a:r>
            <a:r>
              <a:rPr lang="en-GB" dirty="0"/>
              <a:t>bject </a:t>
            </a:r>
          </a:p>
          <a:p>
            <a:r>
              <a:rPr lang="en-GB" dirty="0">
                <a:solidFill>
                  <a:srgbClr val="F91258"/>
                </a:solidFill>
              </a:rPr>
              <a:t>N</a:t>
            </a:r>
            <a:r>
              <a:rPr lang="en-GB" dirty="0"/>
              <a:t>otation)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D88A61-DAF2-4693-BED1-D86B901D45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349984"/>
            <a:ext cx="6967492" cy="40941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JSON is a data-interchange format</a:t>
            </a:r>
          </a:p>
          <a:p>
            <a:pPr marL="684000" lvl="2" indent="-342900">
              <a:buSzPct val="115000"/>
            </a:pPr>
            <a:r>
              <a:rPr lang="en-GB" dirty="0"/>
              <a:t>A way of moving data from one place to another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JSON was originally developed as part of JavaScript</a:t>
            </a:r>
          </a:p>
          <a:p>
            <a:pPr marL="684000" lvl="2" indent="-342900">
              <a:buSzPct val="115000"/>
            </a:pPr>
            <a:r>
              <a:rPr lang="en-GB" dirty="0"/>
              <a:t>But it is now a language-independent data-interchange format</a:t>
            </a:r>
          </a:p>
          <a:p>
            <a:pPr marL="1026000" lvl="2" indent="-342900">
              <a:buSzPct val="115000"/>
            </a:pPr>
            <a:r>
              <a:rPr lang="en-GB" dirty="0"/>
              <a:t>Many languages, including JavaScript, have built-in capabilities to convert data to/from 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Example:</a:t>
            </a:r>
          </a:p>
          <a:p>
            <a:pPr marL="684000" lvl="2" indent="-342900">
              <a:buSzPct val="115000"/>
            </a:pPr>
            <a:r>
              <a:rPr lang="en-GB" dirty="0"/>
              <a:t>We’ve already seen an example of JSON, embedded into our JavaScript code: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782306" y="5685666"/>
            <a:ext cx="5538930" cy="400110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B8CCE4"/>
              </a:buClr>
            </a:pP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en-GB" sz="1900" dirty="0">
              <a:solidFill>
                <a:srgbClr val="000000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00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complex example of some JSON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4939553"/>
            <a:ext cx="11516239" cy="15812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You could create a JavaScript variable:</a:t>
            </a:r>
            <a:br>
              <a:rPr lang="en-GB" dirty="0"/>
            </a:b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 = {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More examples at </a:t>
            </a:r>
            <a:r>
              <a:rPr lang="en-GB" b="1" dirty="0">
                <a:solidFill>
                  <a:srgbClr val="7E007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http://json.org/example.html</a:t>
            </a:r>
            <a:endParaRPr lang="en-GB" b="1" dirty="0">
              <a:solidFill>
                <a:srgbClr val="7E007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7810" y="1371483"/>
            <a:ext cx="7156379" cy="3293209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"menu"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"id"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"file"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"value"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"File"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"popup"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menuitem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"value"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"New"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onclick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CreateNewDoc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()"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"value"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"Open"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onclick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"OpenDoc()"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},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"value"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"Close"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2E75B6"/>
                </a:solidFill>
                <a:latin typeface="Consolas" panose="020B0609020204030204" pitchFamily="49" charset="0"/>
              </a:rPr>
              <a:t>onclick</a:t>
            </a:r>
            <a:r>
              <a:rPr lang="en-GB" sz="1600" b="1" dirty="0">
                <a:solidFill>
                  <a:srgbClr val="2E75B6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CloseDoc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()"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 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]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C5CE8A-38D6-41CD-9B61-E6BF0081C471}"/>
              </a:ext>
            </a:extLst>
          </p:cNvPr>
          <p:cNvSpPr/>
          <p:nvPr/>
        </p:nvSpPr>
        <p:spPr>
          <a:xfrm>
            <a:off x="6095999" y="1932367"/>
            <a:ext cx="2229025" cy="466165"/>
          </a:xfrm>
          <a:prstGeom prst="round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cs typeface="Arial" pitchFamily="34" charset="0"/>
              </a:rPr>
              <a:t>Object within object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A13222-C9B3-49C4-9E22-4BB8BD0F0CAF}"/>
              </a:ext>
            </a:extLst>
          </p:cNvPr>
          <p:cNvSpPr/>
          <p:nvPr/>
        </p:nvSpPr>
        <p:spPr>
          <a:xfrm>
            <a:off x="6095998" y="4004263"/>
            <a:ext cx="2229025" cy="466165"/>
          </a:xfrm>
          <a:prstGeom prst="round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  <a:cs typeface="Arial" pitchFamily="34" charset="0"/>
              </a:rPr>
              <a:t>Arrays of objects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A004E6-49A8-4017-B04E-E10AE76BB4EC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527176" y="2165450"/>
            <a:ext cx="1568823" cy="3361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6D2847-D2B6-4117-B2ED-C23AB4F49849}"/>
              </a:ext>
            </a:extLst>
          </p:cNvPr>
          <p:cNvCxnSpPr>
            <a:cxnSpLocks/>
          </p:cNvCxnSpPr>
          <p:nvPr/>
        </p:nvCxnSpPr>
        <p:spPr>
          <a:xfrm flipH="1" flipV="1">
            <a:off x="5585012" y="3612776"/>
            <a:ext cx="510987" cy="6245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58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an Object to JSON string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8328" y="2453891"/>
            <a:ext cx="7890387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data =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JSON.stringify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(names))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8328" y="4193777"/>
            <a:ext cx="7890387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person = {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surname: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age:21 }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data =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JSON.stringify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(person))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DBA0964-B206-4274-8A46-89B460F5B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1106003"/>
          </a:xfrm>
        </p:spPr>
        <p:txBody>
          <a:bodyPr/>
          <a:lstStyle/>
          <a:p>
            <a:r>
              <a:rPr lang="en-GB" b="1" dirty="0"/>
              <a:t>JSON is often used to exchange data to/from a web server.</a:t>
            </a:r>
          </a:p>
          <a:p>
            <a:pPr marL="342900" lvl="1" indent="-342900"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This data has to be a string.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432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Converting a JSON string to an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07005" y="1709292"/>
            <a:ext cx="7890387" cy="41549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data = </a:t>
            </a:r>
            <a:r>
              <a:rPr lang="en-GB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[</a:t>
            </a:r>
          </a:p>
          <a:p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"value": "New",   "onclick": "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CreateNewDoc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()"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"value": "Open",  "onclick": "OpenDoc()"    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"value": "Close", "onclick": "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CloseDoc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()"    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]</a:t>
            </a:r>
            <a:r>
              <a:rPr lang="en-GB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menus =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JSON.parse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(data);</a:t>
            </a: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menus.length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console.log(menus[i].value);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283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F89A57-F7D7-4AE7-9213-FE2A66C8A1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2780FB-FEC4-4425-9840-E1754CCF3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en-GB" b="1" dirty="0"/>
              <a:t>In this chapter you learned: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create and use objects in JavaScript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What JSON is and why we use 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417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05EC2-B267-4B28-B06B-EEBDD7327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784" y="1349984"/>
            <a:ext cx="3443732" cy="2751998"/>
          </a:xfrm>
        </p:spPr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6E09-98B6-4AAA-B8BF-EEA5094185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Please do the following lab</a:t>
            </a:r>
          </a:p>
          <a:p>
            <a:r>
              <a:rPr lang="en-GB" b="1" dirty="0"/>
              <a:t>Objects and JSON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5974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Props1.xml><?xml version="1.0" encoding="utf-8"?>
<ds:datastoreItem xmlns:ds="http://schemas.openxmlformats.org/officeDocument/2006/customXml" ds:itemID="{B46469E3-16EC-4EB5-87ED-90831C1B18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ED7078-7D27-4FC6-86A3-6FA7A5164F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1FFE42-38A4-4A2A-B4F9-4F01E4315AB4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860</Words>
  <Application>Microsoft Office PowerPoint</Application>
  <PresentationFormat>Widescreen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  Web Development JavaScript</vt:lpstr>
      <vt:lpstr>Objects and JSON  </vt:lpstr>
      <vt:lpstr>PowerPoint Presentation</vt:lpstr>
      <vt:lpstr>PowerPoint Presentation</vt:lpstr>
      <vt:lpstr>Objects in JavaScript – example</vt:lpstr>
      <vt:lpstr>Objects in JavaScript – Passing objects as parameter</vt:lpstr>
      <vt:lpstr>Adding Methods in JavaScript</vt:lpstr>
      <vt:lpstr>Defining a class in ES6 (2015+)</vt:lpstr>
      <vt:lpstr>PowerPoint Presentation</vt:lpstr>
      <vt:lpstr>A complex example of some JSON</vt:lpstr>
      <vt:lpstr>Converting an Object to JSON string</vt:lpstr>
      <vt:lpstr>Converting a JSON string to an Object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145</cp:revision>
  <cp:lastPrinted>2019-07-03T09:46:41Z</cp:lastPrinted>
  <dcterms:created xsi:type="dcterms:W3CDTF">2019-09-05T08:17:12Z</dcterms:created>
  <dcterms:modified xsi:type="dcterms:W3CDTF">2024-02-07T23:37:22Z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