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3" r:id="rId5"/>
    <p:sldId id="529" r:id="rId6"/>
    <p:sldId id="451" r:id="rId7"/>
    <p:sldId id="532" r:id="rId8"/>
    <p:sldId id="533" r:id="rId9"/>
    <p:sldId id="922" r:id="rId10"/>
    <p:sldId id="1056" r:id="rId11"/>
    <p:sldId id="1065" r:id="rId12"/>
    <p:sldId id="1066" r:id="rId13"/>
    <p:sldId id="497" r:id="rId14"/>
    <p:sldId id="534" r:id="rId15"/>
    <p:sldId id="1067" r:id="rId16"/>
    <p:sldId id="523" r:id="rId17"/>
    <p:sldId id="531" r:id="rId18"/>
  </p:sldIdLst>
  <p:sldSz cx="12192000" cy="6858000"/>
  <p:notesSz cx="6645275" cy="9775825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9">
          <p15:clr>
            <a:srgbClr val="A4A3A4"/>
          </p15:clr>
        </p15:guide>
        <p15:guide id="2" pos="209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DB5"/>
    <a:srgbClr val="3022E6"/>
    <a:srgbClr val="0D0848"/>
    <a:srgbClr val="0C0749"/>
    <a:srgbClr val="FF4040"/>
    <a:srgbClr val="FFFFFF"/>
    <a:srgbClr val="004050"/>
    <a:srgbClr val="09EDB8"/>
    <a:srgbClr val="F91258"/>
    <a:srgbClr val="7E00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80129" autoAdjust="0"/>
  </p:normalViewPr>
  <p:slideViewPr>
    <p:cSldViewPr snapToGrid="0" snapToObjects="1" showGuides="1">
      <p:cViewPr varScale="1">
        <p:scale>
          <a:sx n="61" d="100"/>
          <a:sy n="61" d="100"/>
        </p:scale>
        <p:origin x="1368" y="72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91" d="100"/>
          <a:sy n="91" d="100"/>
        </p:scale>
        <p:origin x="-3804" y="-108"/>
      </p:cViewPr>
      <p:guideLst>
        <p:guide orient="horz" pos="3079"/>
        <p:guide pos="209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19/05/2026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19/05/2026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A19D69-3FA2-416E-A1B6-6EDA1BC37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396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77" tIns="45239" rIns="90477" bIns="45239"/>
          <a:lstStyle/>
          <a:p>
            <a:pPr>
              <a:lnSpc>
                <a:spcPct val="85000"/>
              </a:lnSpc>
            </a:pPr>
            <a:r>
              <a:rPr lang="en-US" dirty="0"/>
              <a:t>The example above demonstrates JavaScript functions.  The first part of the code is typically placed in the </a:t>
            </a:r>
            <a:r>
              <a:rPr lang="en-US" b="1" dirty="0">
                <a:latin typeface="Courier New" pitchFamily="49" charset="0"/>
              </a:rPr>
              <a:t>&lt;head&gt;</a:t>
            </a:r>
            <a:r>
              <a:rPr lang="en-US" dirty="0"/>
              <a:t> section of the HTML document.  It isn’t essential to have it in the </a:t>
            </a:r>
            <a:r>
              <a:rPr lang="en-US" b="1" dirty="0">
                <a:latin typeface="Courier New" pitchFamily="49" charset="0"/>
              </a:rPr>
              <a:t>&lt;head&gt;</a:t>
            </a:r>
            <a:r>
              <a:rPr lang="en-US" dirty="0"/>
              <a:t> section, but placing it there ensures that the function is loaded into the browser before it is required. </a:t>
            </a:r>
          </a:p>
          <a:p>
            <a:pPr>
              <a:lnSpc>
                <a:spcPct val="85000"/>
              </a:lnSpc>
            </a:pPr>
            <a:endParaRPr lang="en-US" sz="1100" b="1" dirty="0">
              <a:latin typeface="Courier New" pitchFamily="49" charset="0"/>
            </a:endParaRPr>
          </a:p>
          <a:p>
            <a:pPr>
              <a:lnSpc>
                <a:spcPct val="85000"/>
              </a:lnSpc>
            </a:pPr>
            <a:r>
              <a:rPr lang="en-US" dirty="0"/>
              <a:t>The second part of the code actually calls this function.  It can go anywhere in the HTML page, as long as it follows the function definition above.</a:t>
            </a:r>
          </a:p>
          <a:p>
            <a:pPr>
              <a:lnSpc>
                <a:spcPct val="85000"/>
              </a:lnSpc>
            </a:pPr>
            <a:r>
              <a:rPr lang="en-US" b="1" dirty="0">
                <a:latin typeface="Lucida Console" pitchFamily="49" charset="0"/>
              </a:rPr>
              <a:t>&lt;script type=</a:t>
            </a:r>
            <a:r>
              <a:rPr lang="en-US" b="1" dirty="0"/>
              <a:t>“</a:t>
            </a:r>
            <a:r>
              <a:rPr lang="en-US" b="1" dirty="0">
                <a:latin typeface="Lucida Console" pitchFamily="49" charset="0"/>
              </a:rPr>
              <a:t>text/JavaScript"&gt;</a:t>
            </a:r>
            <a:br>
              <a:rPr lang="en-US" b="1" dirty="0">
                <a:latin typeface="Lucida Console" pitchFamily="49" charset="0"/>
              </a:rPr>
            </a:br>
            <a:r>
              <a:rPr lang="en-US" b="1" dirty="0">
                <a:latin typeface="Lucida Console" pitchFamily="49" charset="0"/>
              </a:rPr>
              <a:t>    </a:t>
            </a:r>
            <a:r>
              <a:rPr lang="en-US" b="1" dirty="0" err="1">
                <a:latin typeface="Lucida Console" pitchFamily="49" charset="0"/>
              </a:rPr>
              <a:t>ShowTheDay</a:t>
            </a:r>
            <a:r>
              <a:rPr lang="en-US" b="1" dirty="0">
                <a:latin typeface="Lucida Console" pitchFamily="49" charset="0"/>
              </a:rPr>
              <a:t>()</a:t>
            </a:r>
            <a:br>
              <a:rPr lang="en-US" b="1" dirty="0">
                <a:latin typeface="Lucida Console" pitchFamily="49" charset="0"/>
              </a:rPr>
            </a:br>
            <a:r>
              <a:rPr lang="en-US" b="1" dirty="0">
                <a:latin typeface="Lucida Console" pitchFamily="49" charset="0"/>
              </a:rPr>
              <a:t>&lt;/script&gt;</a:t>
            </a:r>
          </a:p>
        </p:txBody>
      </p:sp>
      <p:sp>
        <p:nvSpPr>
          <p:cNvPr id="39939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ln/>
        </p:spPr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6164A4-53AD-4061-90E8-1FCF0A662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0450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727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363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1192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8" y="7699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1ACF1-2815-4BBE-B2A5-27D4E810855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128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8" y="7699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1ACF1-2815-4BBE-B2A5-27D4E810855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968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30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488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984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3467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284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2061" y="383649"/>
            <a:ext cx="1142576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8813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2" r:id="rId3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7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array_methods.asp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875F23-B0CC-4BEE-B0BD-7F2F7C75AC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5"/>
            <a:ext cx="6143484" cy="4376323"/>
          </a:xfrm>
        </p:spPr>
        <p:txBody>
          <a:bodyPr anchor="t">
            <a:normAutofit/>
          </a:bodyPr>
          <a:lstStyle/>
          <a:p>
            <a:r>
              <a:rPr lang="en-IN"/>
              <a:t>JavaScript</a:t>
            </a:r>
          </a:p>
        </p:txBody>
      </p:sp>
      <p:pic>
        <p:nvPicPr>
          <p:cNvPr id="3076" name="Picture 3075" descr="Computer script on a screen">
            <a:extLst>
              <a:ext uri="{FF2B5EF4-FFF2-40B4-BE49-F238E27FC236}">
                <a16:creationId xmlns:a16="http://schemas.microsoft.com/office/drawing/2014/main" id="{936BB4AA-12B5-2109-D84F-AEB91188BA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90" r="44463" b="-1"/>
          <a:stretch>
            <a:fillRect/>
          </a:stretch>
        </p:blipFill>
        <p:spPr>
          <a:xfrm>
            <a:off x="6967959" y="10"/>
            <a:ext cx="5224040" cy="6857989"/>
          </a:xfrm>
          <a:prstGeom prst="rect">
            <a:avLst/>
          </a:prstGeom>
          <a:noFill/>
        </p:spPr>
      </p:pic>
      <p:sp>
        <p:nvSpPr>
          <p:cNvPr id="3074" name="Rectangle 2"/>
          <p:cNvSpPr>
            <a:spLocks noGrp="1" noChangeArrowheads="1"/>
          </p:cNvSpPr>
          <p:nvPr>
            <p:ph type="body" sz="quarter" idx="12"/>
          </p:nvPr>
        </p:nvSpPr>
        <p:spPr>
          <a:xfrm>
            <a:off x="385650" y="1147572"/>
            <a:ext cx="5123903" cy="520262"/>
          </a:xfrm>
        </p:spPr>
        <p:txBody>
          <a:bodyPr anchor="t">
            <a:normAutofit/>
          </a:bodyPr>
          <a:lstStyle/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GB"/>
              <a:t>Web Development</a:t>
            </a:r>
            <a:endParaRPr lang="en-US"/>
          </a:p>
        </p:txBody>
      </p:sp>
      <p:sp>
        <p:nvSpPr>
          <p:cNvPr id="3080" name="Slide Number Placeholder 4">
            <a:extLst>
              <a:ext uri="{FF2B5EF4-FFF2-40B4-BE49-F238E27FC236}">
                <a16:creationId xmlns:a16="http://schemas.microsoft.com/office/drawing/2014/main" id="{8A24C6D9-86E9-A06A-3C71-01E5AC780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EF892D59-8F09-EF4B-AD6D-DA609442F868}" type="slidenum">
              <a:rPr lang="en-GB" smtClean="0"/>
              <a:pPr>
                <a:spcAft>
                  <a:spcPts val="600"/>
                </a:spcAft>
              </a:pPr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8B538688-52FD-11D3-98C0-5270837814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3063" y="1892635"/>
            <a:ext cx="6143484" cy="4376323"/>
          </a:xfrm>
        </p:spPr>
        <p:txBody>
          <a:bodyPr/>
          <a:lstStyle/>
          <a:p>
            <a:endParaRPr lang="en-US"/>
          </a:p>
        </p:txBody>
      </p:sp>
      <p:pic>
        <p:nvPicPr>
          <p:cNvPr id="14" name="Picture 13" descr="People checking a computer">
            <a:extLst>
              <a:ext uri="{FF2B5EF4-FFF2-40B4-BE49-F238E27FC236}">
                <a16:creationId xmlns:a16="http://schemas.microsoft.com/office/drawing/2014/main" id="{57ECDCA1-C51C-B126-23E9-25CAACD10F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608" r="24608"/>
          <a:stretch/>
        </p:blipFill>
        <p:spPr>
          <a:xfrm>
            <a:off x="6967959" y="10"/>
            <a:ext cx="5224040" cy="6857989"/>
          </a:xfrm>
          <a:prstGeom prst="rect">
            <a:avLst/>
          </a:prstGeom>
          <a:noFill/>
        </p:spPr>
      </p:pic>
      <p:sp>
        <p:nvSpPr>
          <p:cNvPr id="4" name="Title 3"/>
          <p:cNvSpPr>
            <a:spLocks noGrp="1"/>
          </p:cNvSpPr>
          <p:nvPr>
            <p:ph type="body" sz="quarter" idx="12"/>
          </p:nvPr>
        </p:nvSpPr>
        <p:spPr>
          <a:xfrm>
            <a:off x="385650" y="1147572"/>
            <a:ext cx="5123903" cy="52026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dirty="0"/>
              <a:t>Functions and Arrays</a:t>
            </a:r>
            <a:endParaRPr lang="en-GB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21896C05-3C7F-EB5C-CD4C-C5EBA35E3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EF892D59-8F09-EF4B-AD6D-DA609442F868}" type="slidenum">
              <a:rPr lang="en-GB" smtClean="0"/>
              <a:pPr>
                <a:spcAft>
                  <a:spcPts val="600"/>
                </a:spcAft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96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42998" y="1268860"/>
            <a:ext cx="6459586" cy="47089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showTheDay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w =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Date().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getDay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s;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(w == 0)      s 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"Sunday"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(w == 1) s 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"Monday"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(w == 2) s 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"Tuesday"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(w == 3) s 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"Wednesday"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(w == 4) s 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"Thursday"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(w == 5) s 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"Friday"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(w == 6) s =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"Saturday"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alert(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'Today is '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+ s);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20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GB" sz="20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showTheDay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GB" sz="20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7119384" y="5124615"/>
            <a:ext cx="1768867" cy="503432"/>
          </a:xfrm>
          <a:prstGeom prst="wedgeRoundRectCallout">
            <a:avLst>
              <a:gd name="adj1" fmla="val -41285"/>
              <a:gd name="adj2" fmla="val 79742"/>
              <a:gd name="adj3" fmla="val 16667"/>
            </a:avLst>
          </a:prstGeom>
          <a:solidFill>
            <a:srgbClr val="00ED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cs typeface="Arial" pitchFamily="34" charset="0"/>
              </a:rPr>
              <a:t>Call it later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CD9BF9-D05F-4EDE-A597-60E2280FCC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Using Functions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2324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Passing values to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There is often a need to pass a value to a function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Here the value </a:t>
            </a:r>
            <a:r>
              <a:rPr lang="en-GB" b="1" dirty="0">
                <a:solidFill>
                  <a:srgbClr val="00EDB5"/>
                </a:solidFill>
              </a:rPr>
              <a:t>10</a:t>
            </a:r>
            <a:r>
              <a:rPr lang="en-GB" b="1" dirty="0"/>
              <a:t> is passed into the </a:t>
            </a:r>
            <a:r>
              <a:rPr lang="en-GB" b="1" dirty="0">
                <a:solidFill>
                  <a:srgbClr val="00EDB5"/>
                </a:solidFill>
              </a:rPr>
              <a:t>max</a:t>
            </a:r>
            <a:r>
              <a:rPr lang="en-GB" b="1" dirty="0"/>
              <a:t> parameter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153697" y="1951673"/>
            <a:ext cx="5884606" cy="3077766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addNumbers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</a:p>
          <a:p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total = 0;</a:t>
            </a:r>
          </a:p>
          <a:p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GB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0; 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&lt;= </a:t>
            </a:r>
            <a:r>
              <a:rPr lang="en-GB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++) {</a:t>
            </a:r>
          </a:p>
          <a:p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total += 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document.write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b="1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"Total is: "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total);</a:t>
            </a:r>
          </a:p>
          <a:p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GB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b="1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addNumbers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20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GB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78393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return a value from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There is often a need to return a value from a function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Here the value of </a:t>
            </a:r>
            <a:r>
              <a:rPr lang="en-GB" b="1" dirty="0">
                <a:solidFill>
                  <a:srgbClr val="0070C0"/>
                </a:solidFill>
              </a:rPr>
              <a:t>total</a:t>
            </a:r>
            <a:r>
              <a:rPr lang="en-GB" b="1" dirty="0"/>
              <a:t> is returned to the caller and captured by the variable </a:t>
            </a:r>
            <a:r>
              <a:rPr lang="en-GB" b="1" dirty="0">
                <a:solidFill>
                  <a:srgbClr val="0070C0"/>
                </a:solidFill>
              </a:rPr>
              <a:t>result</a:t>
            </a:r>
            <a:r>
              <a:rPr lang="en-GB" b="1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39693" y="2132235"/>
            <a:ext cx="5884606" cy="3416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addNumbers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(max)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total = 0;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&lt;= max;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total +=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total;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Var result =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addNumbers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(100);</a:t>
            </a:r>
          </a:p>
          <a:p>
            <a:endParaRPr lang="en-GB" sz="1600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626CD77D-CE1C-14D9-A5B9-4743D15A4ED4}"/>
              </a:ext>
            </a:extLst>
          </p:cNvPr>
          <p:cNvSpPr/>
          <p:nvPr/>
        </p:nvSpPr>
        <p:spPr>
          <a:xfrm>
            <a:off x="7749915" y="3102964"/>
            <a:ext cx="2833141" cy="1094282"/>
          </a:xfrm>
          <a:prstGeom prst="wedgeRoundRectCallout">
            <a:avLst>
              <a:gd name="adj1" fmla="val -59451"/>
              <a:gd name="adj2" fmla="val -10103"/>
              <a:gd name="adj3" fmla="val 16667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Functions can return only one item</a:t>
            </a:r>
          </a:p>
        </p:txBody>
      </p:sp>
    </p:spTree>
    <p:extLst>
      <p:ext uri="{BB962C8B-B14F-4D97-AF65-F5344CB8AC3E}">
        <p14:creationId xmlns:p14="http://schemas.microsoft.com/office/powerpoint/2010/main" val="1712644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/>
              <a:t>Three ways to define a function</a:t>
            </a:r>
            <a:br>
              <a:rPr lang="en-GB" sz="3600" b="1" dirty="0"/>
            </a:br>
            <a:r>
              <a:rPr lang="en-GB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D4F2BB-C917-4A62-A826-F654C7946E2B}"/>
              </a:ext>
            </a:extLst>
          </p:cNvPr>
          <p:cNvSpPr txBox="1"/>
          <p:nvPr/>
        </p:nvSpPr>
        <p:spPr>
          <a:xfrm>
            <a:off x="2402542" y="1754398"/>
            <a:ext cx="4081831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add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(a, b)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C894E0-0DA3-43D7-A2AF-16E187615DF4}"/>
              </a:ext>
            </a:extLst>
          </p:cNvPr>
          <p:cNvSpPr txBox="1"/>
          <p:nvPr/>
        </p:nvSpPr>
        <p:spPr>
          <a:xfrm>
            <a:off x="2402542" y="3001059"/>
            <a:ext cx="4071998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add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(a, b)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54399-F18F-43BD-B875-92B236B510D5}"/>
              </a:ext>
            </a:extLst>
          </p:cNvPr>
          <p:cNvSpPr txBox="1"/>
          <p:nvPr/>
        </p:nvSpPr>
        <p:spPr>
          <a:xfrm>
            <a:off x="2402542" y="4247720"/>
            <a:ext cx="4071998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add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(a, b) =&gt;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9B189-D270-4AE9-9BDB-81E875D6A3C5}"/>
              </a:ext>
            </a:extLst>
          </p:cNvPr>
          <p:cNvSpPr txBox="1"/>
          <p:nvPr/>
        </p:nvSpPr>
        <p:spPr>
          <a:xfrm>
            <a:off x="648929" y="1995948"/>
            <a:ext cx="1956619" cy="143305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l"/>
            <a:endParaRPr lang="en-GB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D19235-618A-43F3-906D-3DC0D74A3DB7}"/>
              </a:ext>
            </a:extLst>
          </p:cNvPr>
          <p:cNvSpPr txBox="1"/>
          <p:nvPr/>
        </p:nvSpPr>
        <p:spPr>
          <a:xfrm>
            <a:off x="7261123" y="3001059"/>
            <a:ext cx="3367548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result = 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add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(1, 2);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console.log(result);</a:t>
            </a:r>
          </a:p>
          <a:p>
            <a:endParaRPr lang="en-GB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75CF09-6C8C-46F7-96D9-4479EA2BDD39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6558116" y="2433582"/>
            <a:ext cx="703007" cy="1044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684F66-5230-48D1-9CCC-2EF31250B690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6567949" y="3462724"/>
            <a:ext cx="693174" cy="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FF16F6-B9A1-4AF4-9DDA-52F057B0BDC1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6597444" y="3478113"/>
            <a:ext cx="663679" cy="987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D36E6B2-1FB4-4BB5-AD2A-500A1BF005A9}"/>
              </a:ext>
            </a:extLst>
          </p:cNvPr>
          <p:cNvSpPr/>
          <p:nvPr/>
        </p:nvSpPr>
        <p:spPr>
          <a:xfrm>
            <a:off x="1828796" y="5589166"/>
            <a:ext cx="7853084" cy="914400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Arrow functions can be used in place of anonymous functions</a:t>
            </a:r>
          </a:p>
          <a:p>
            <a:pPr lvl="1" algn="ctr"/>
            <a:r>
              <a:rPr lang="en-US" b="1" dirty="0">
                <a:latin typeface="Montserrat" panose="00000500000000000000" pitchFamily="2" charset="0"/>
              </a:rPr>
              <a:t>Useful where a callback function must be supplied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7CF46DED-3C92-4328-BF9A-C37553279C6B}"/>
              </a:ext>
            </a:extLst>
          </p:cNvPr>
          <p:cNvSpPr/>
          <p:nvPr/>
        </p:nvSpPr>
        <p:spPr>
          <a:xfrm>
            <a:off x="3299014" y="5201827"/>
            <a:ext cx="376518" cy="387339"/>
          </a:xfrm>
          <a:prstGeom prst="up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06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AC359-12A6-4375-9140-52AE6215CD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Variable declaration – global, </a:t>
            </a:r>
            <a:r>
              <a:rPr lang="en-GB" dirty="0" err="1"/>
              <a:t>const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FCCE6-A851-4819-91DB-D1A096AF2317}"/>
              </a:ext>
            </a:extLst>
          </p:cNvPr>
          <p:cNvSpPr txBox="1"/>
          <p:nvPr/>
        </p:nvSpPr>
        <p:spPr>
          <a:xfrm>
            <a:off x="413590" y="1161412"/>
            <a:ext cx="10559208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scopeDemo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	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glob = 100;             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becomes global when the function is called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VAT = 0.2;        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local scope and value cannot change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	// … some code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	VAT = 0.15;	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TypeError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Assignment to constant variable.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D73BA01D-829A-44D9-9429-B30DCE451CF6}"/>
              </a:ext>
            </a:extLst>
          </p:cNvPr>
          <p:cNvSpPr/>
          <p:nvPr/>
        </p:nvSpPr>
        <p:spPr>
          <a:xfrm>
            <a:off x="3205657" y="3090038"/>
            <a:ext cx="483475" cy="346842"/>
          </a:xfrm>
          <a:prstGeom prst="lef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CDF827-E032-43C6-8215-69884BA30D4D}"/>
              </a:ext>
            </a:extLst>
          </p:cNvPr>
          <p:cNvSpPr txBox="1"/>
          <p:nvPr/>
        </p:nvSpPr>
        <p:spPr>
          <a:xfrm>
            <a:off x="429358" y="4183129"/>
            <a:ext cx="10543440" cy="16619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GB" sz="105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scopeDemo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console.log(glob);	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100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VAT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 	 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ReferenceError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: VAT is not defined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91C51F8B-C74A-4DD7-834A-D154407AA3F0}"/>
              </a:ext>
            </a:extLst>
          </p:cNvPr>
          <p:cNvSpPr/>
          <p:nvPr/>
        </p:nvSpPr>
        <p:spPr>
          <a:xfrm>
            <a:off x="3151922" y="5449601"/>
            <a:ext cx="483475" cy="346842"/>
          </a:xfrm>
          <a:prstGeom prst="lef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35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AC359-12A6-4375-9140-52AE6215CD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Variable declaration – var, let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FCCE6-A851-4819-91DB-D1A096AF2317}"/>
              </a:ext>
            </a:extLst>
          </p:cNvPr>
          <p:cNvSpPr txBox="1"/>
          <p:nvPr/>
        </p:nvSpPr>
        <p:spPr>
          <a:xfrm>
            <a:off x="445123" y="1150902"/>
            <a:ext cx="11147788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scopeDemo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endParaRPr lang="en-GB" sz="18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 = 10;             			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function scope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q = 2;              			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local scope (see for loop)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5;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++) {   	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scope of </a:t>
            </a:r>
            <a:r>
              <a:rPr lang="en-GB" sz="1800" b="1" dirty="0" err="1"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 is within the for loop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  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total = q 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p +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    		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following lines have access to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total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console.log(total);</a:t>
            </a: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     	  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ReferenceError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 err="1">
                <a:latin typeface="Consolas" panose="020B0609020204030204" pitchFamily="49" charset="0"/>
              </a:rPr>
              <a:t>i</a:t>
            </a:r>
            <a:r>
              <a:rPr lang="en-GB" sz="1800" b="1" dirty="0"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is not defined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E0C496-FE83-4739-92B7-AEE11E177A47}"/>
              </a:ext>
            </a:extLst>
          </p:cNvPr>
          <p:cNvSpPr txBox="1"/>
          <p:nvPr/>
        </p:nvSpPr>
        <p:spPr>
          <a:xfrm>
            <a:off x="5737590" y="5477467"/>
            <a:ext cx="5886852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R</a:t>
            </a:r>
            <a:r>
              <a:rPr lang="en-GB" sz="1800" b="1" dirty="0">
                <a:latin typeface="Consolas" panose="020B0609020204030204" pitchFamily="49" charset="0"/>
              </a:rPr>
              <a:t>ecommendations</a:t>
            </a:r>
          </a:p>
          <a:p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1- use </a:t>
            </a:r>
            <a:r>
              <a:rPr lang="en-GB" sz="1800" b="1" dirty="0">
                <a:latin typeface="Consolas" panose="020B0609020204030204" pitchFamily="49" charset="0"/>
              </a:rPr>
              <a:t>const 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if value should not be change</a:t>
            </a:r>
          </a:p>
          <a:p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2- use </a:t>
            </a:r>
            <a:r>
              <a:rPr lang="en-GB" sz="1800" b="1" dirty="0">
                <a:latin typeface="Consolas" panose="020B0609020204030204" pitchFamily="49" charset="0"/>
              </a:rPr>
              <a:t>let 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to limit scope</a:t>
            </a:r>
          </a:p>
          <a:p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3- do not use </a:t>
            </a:r>
            <a:r>
              <a:rPr lang="en-GB" sz="1800" b="1" dirty="0">
                <a:solidFill>
                  <a:schemeClr val="accent6"/>
                </a:solidFill>
                <a:latin typeface="Consolas" panose="020B0609020204030204" pitchFamily="49" charset="0"/>
              </a:rPr>
              <a:t>global variables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!</a:t>
            </a:r>
            <a:endParaRPr lang="en-GB" b="1" dirty="0"/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47BB1F3C-AD41-49B9-B994-8FE713C20A26}"/>
              </a:ext>
            </a:extLst>
          </p:cNvPr>
          <p:cNvSpPr/>
          <p:nvPr/>
        </p:nvSpPr>
        <p:spPr>
          <a:xfrm>
            <a:off x="3909848" y="3647083"/>
            <a:ext cx="483475" cy="346842"/>
          </a:xfrm>
          <a:prstGeom prst="lef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CFD59-9175-4749-9330-4523847C0539}"/>
              </a:ext>
            </a:extLst>
          </p:cNvPr>
          <p:cNvSpPr txBox="1"/>
          <p:nvPr/>
        </p:nvSpPr>
        <p:spPr>
          <a:xfrm>
            <a:off x="445123" y="4385395"/>
            <a:ext cx="1114778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scopeDemo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console.log(p); 	 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ReferenceError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: p is not defined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console.log(q); 	 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ReferenceError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: q is not defined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36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61927E-BF9A-45A7-A3CC-510C74A788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part you'll learn how to</a:t>
            </a:r>
          </a:p>
          <a:p>
            <a:pPr marL="342000" lvl="1" indent="-342000">
              <a:buSzPct val="115000"/>
            </a:pPr>
            <a:r>
              <a:rPr lang="en-GB" dirty="0"/>
              <a:t>Declare an array</a:t>
            </a:r>
          </a:p>
          <a:p>
            <a:pPr marL="342000" lvl="1" indent="-342000">
              <a:buSzPct val="115000"/>
            </a:pPr>
            <a:r>
              <a:rPr lang="en-GB" dirty="0"/>
              <a:t>Access elements</a:t>
            </a:r>
          </a:p>
          <a:p>
            <a:pPr marL="342000" lvl="1" indent="-342000">
              <a:buSzPct val="115000"/>
            </a:pPr>
            <a:r>
              <a:rPr lang="en-GB" dirty="0"/>
              <a:t>Change an element's content</a:t>
            </a:r>
          </a:p>
          <a:p>
            <a:pPr marL="342000" lvl="1" indent="-342000">
              <a:buSzPct val="115000"/>
            </a:pPr>
            <a:r>
              <a:rPr lang="en-GB" dirty="0"/>
              <a:t>Add and remove elements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7F78E3-FD16-4DCF-A84A-AA6ACB24C6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Arrays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60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JavaScript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167900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Arrays are contiguous elements in memory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Like lots of boxes with the same group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Each box is numbered (indexed). First box has an index of zero</a:t>
            </a:r>
          </a:p>
          <a:p>
            <a:pPr marL="341100" lvl="1" indent="0">
              <a:buSzPct val="115000"/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400899" y="3007192"/>
            <a:ext cx="10377029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'Bob'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'Jon'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'Linda'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sv-SE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sv-SE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ages = [21, 18, 20];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n-NO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nn-NO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names.length; i++)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(names[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 is 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+ ages[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 years old &lt;</a:t>
            </a:r>
            <a:r>
              <a:rPr lang="en-GB" sz="18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br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 /&gt;"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806C1B8-6552-13AD-045D-544028737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982006"/>
              </p:ext>
            </p:extLst>
          </p:nvPr>
        </p:nvGraphicFramePr>
        <p:xfrm>
          <a:off x="9821057" y="2745833"/>
          <a:ext cx="1214203" cy="1508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203">
                  <a:extLst>
                    <a:ext uri="{9D8B030D-6E8A-4147-A177-3AD203B41FA5}">
                      <a16:colId xmlns:a16="http://schemas.microsoft.com/office/drawing/2014/main" val="2299994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highlight>
                            <a:srgbClr val="00EDB5"/>
                          </a:highlight>
                        </a:rPr>
                        <a:t>ages</a:t>
                      </a:r>
                      <a:endParaRPr lang="en-GB" b="1" dirty="0">
                        <a:highlight>
                          <a:srgbClr val="00EDB5"/>
                        </a:highlight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876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239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843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326300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E2BE5F7-6416-1CB8-18F4-01B75AA0D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784207"/>
              </p:ext>
            </p:extLst>
          </p:nvPr>
        </p:nvGraphicFramePr>
        <p:xfrm>
          <a:off x="8094692" y="2743333"/>
          <a:ext cx="1214203" cy="1508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203">
                  <a:extLst>
                    <a:ext uri="{9D8B030D-6E8A-4147-A177-3AD203B41FA5}">
                      <a16:colId xmlns:a16="http://schemas.microsoft.com/office/drawing/2014/main" val="22999943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highlight>
                            <a:srgbClr val="00EDB5"/>
                          </a:highlight>
                        </a:rPr>
                        <a:t>names</a:t>
                      </a:r>
                      <a:endParaRPr lang="en-GB" b="1" dirty="0">
                        <a:highlight>
                          <a:srgbClr val="00EDB5"/>
                        </a:highlight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876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Bob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239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Jon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843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Linda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326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209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Manipulating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3" y="1368255"/>
            <a:ext cx="9689968" cy="505047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You can append to an array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b="1" dirty="0"/>
          </a:p>
          <a:p>
            <a:pPr lvl="1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Remove an element from the 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Remove an element from the top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Change an element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000"/>
            <a:r>
              <a:rPr lang="en-GB" sz="1800" b="1" dirty="0">
                <a:hlinkClick r:id="rId3"/>
              </a:rPr>
              <a:t>https://www.w3schools.com/js/js_array_methods.asp</a:t>
            </a:r>
            <a:endParaRPr lang="en-GB" sz="1800" b="1" dirty="0"/>
          </a:p>
        </p:txBody>
      </p:sp>
      <p:sp>
        <p:nvSpPr>
          <p:cNvPr id="4" name="Rectangle 3"/>
          <p:cNvSpPr/>
          <p:nvPr/>
        </p:nvSpPr>
        <p:spPr>
          <a:xfrm>
            <a:off x="622800" y="1692000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"Ken"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"Linda"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GB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names.push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"Dave"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);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7293415" y="1692000"/>
            <a:ext cx="2619628" cy="369332"/>
          </a:xfrm>
          <a:prstGeom prst="rect">
            <a:avLst/>
          </a:prstGeom>
          <a:ln w="25400">
            <a:solidFill>
              <a:srgbClr val="00EDB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b="1" dirty="0" err="1"/>
              <a:t>Bob,Ken,Linda,Dave</a:t>
            </a:r>
            <a:endParaRPr lang="en-GB" b="1" dirty="0"/>
          </a:p>
        </p:txBody>
      </p:sp>
      <p:sp>
        <p:nvSpPr>
          <p:cNvPr id="7" name="Rectangle 6"/>
          <p:cNvSpPr/>
          <p:nvPr/>
        </p:nvSpPr>
        <p:spPr>
          <a:xfrm>
            <a:off x="622348" y="2859630"/>
            <a:ext cx="50095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"Ken"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"Linda"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names.pop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</p:txBody>
      </p:sp>
      <p:sp>
        <p:nvSpPr>
          <p:cNvPr id="8" name="Rectangle 7"/>
          <p:cNvSpPr/>
          <p:nvPr/>
        </p:nvSpPr>
        <p:spPr>
          <a:xfrm>
            <a:off x="7324795" y="2817664"/>
            <a:ext cx="1208985" cy="369332"/>
          </a:xfrm>
          <a:prstGeom prst="rect">
            <a:avLst/>
          </a:prstGeom>
          <a:ln w="25400">
            <a:solidFill>
              <a:srgbClr val="00EDB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b="1" dirty="0" err="1"/>
              <a:t>Bob,Ken</a:t>
            </a:r>
            <a:endParaRPr lang="en-GB" b="1" dirty="0"/>
          </a:p>
        </p:txBody>
      </p:sp>
      <p:sp>
        <p:nvSpPr>
          <p:cNvPr id="9" name="Rectangle 8"/>
          <p:cNvSpPr/>
          <p:nvPr/>
        </p:nvSpPr>
        <p:spPr>
          <a:xfrm>
            <a:off x="622348" y="4046812"/>
            <a:ext cx="50095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"Ken"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"Linda"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names.shift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4375" y="4005766"/>
            <a:ext cx="1394934" cy="369332"/>
          </a:xfrm>
          <a:prstGeom prst="rect">
            <a:avLst/>
          </a:prstGeom>
          <a:ln w="25400">
            <a:solidFill>
              <a:srgbClr val="00EDB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b="1" dirty="0" err="1"/>
              <a:t>Ken,Linda</a:t>
            </a:r>
            <a:endParaRPr lang="en-GB" b="1" dirty="0"/>
          </a:p>
        </p:txBody>
      </p:sp>
      <p:sp>
        <p:nvSpPr>
          <p:cNvPr id="11" name="Rectangle 10"/>
          <p:cNvSpPr/>
          <p:nvPr/>
        </p:nvSpPr>
        <p:spPr>
          <a:xfrm>
            <a:off x="622348" y="5278815"/>
            <a:ext cx="50095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"Bob"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"Ken"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600" dirty="0">
                <a:solidFill>
                  <a:srgbClr val="A31515"/>
                </a:solidFill>
                <a:latin typeface="Consolas" panose="020B0609020204030204" pitchFamily="49" charset="0"/>
              </a:rPr>
              <a:t>"Linda"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names[1] = "Lee";</a:t>
            </a:r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2771" y="5278815"/>
            <a:ext cx="1895071" cy="369332"/>
          </a:xfrm>
          <a:prstGeom prst="rect">
            <a:avLst/>
          </a:prstGeom>
          <a:ln w="25400">
            <a:solidFill>
              <a:srgbClr val="00EDB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GB" b="1" dirty="0" err="1"/>
              <a:t>Bob,Lee,Linda</a:t>
            </a:r>
            <a:endParaRPr lang="en-GB" b="1" dirty="0"/>
          </a:p>
        </p:txBody>
      </p:sp>
      <p:sp>
        <p:nvSpPr>
          <p:cNvPr id="14" name="Rounded Rectangular Callout 13"/>
          <p:cNvSpPr/>
          <p:nvPr/>
        </p:nvSpPr>
        <p:spPr>
          <a:xfrm>
            <a:off x="7305215" y="5951821"/>
            <a:ext cx="1265947" cy="326938"/>
          </a:xfrm>
          <a:prstGeom prst="wedgeRoundRectCallout">
            <a:avLst>
              <a:gd name="adj1" fmla="val -58335"/>
              <a:gd name="adj2" fmla="val 41094"/>
              <a:gd name="adj3" fmla="val 16667"/>
            </a:avLst>
          </a:prstGeom>
          <a:solidFill>
            <a:srgbClr val="00EDB5"/>
          </a:solidFill>
          <a:ln w="25400">
            <a:solidFill>
              <a:srgbClr val="00ED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cs typeface="Arial" pitchFamily="34" charset="0"/>
              </a:rPr>
              <a:t>See also</a:t>
            </a:r>
          </a:p>
        </p:txBody>
      </p:sp>
    </p:spTree>
    <p:extLst>
      <p:ext uri="{BB962C8B-B14F-4D97-AF65-F5344CB8AC3E}">
        <p14:creationId xmlns:p14="http://schemas.microsoft.com/office/powerpoint/2010/main" val="495106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78849-C69B-9CB2-8079-BA495B4FB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9ADBF-27ED-C522-75E3-07539A58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Simpler </a:t>
            </a:r>
            <a:r>
              <a:rPr lang="en-GB" dirty="0" err="1"/>
              <a:t>showTheDay</a:t>
            </a:r>
            <a:r>
              <a:rPr lang="en-GB" dirty="0"/>
              <a:t>() function using an array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587A50-13C9-64B6-F08E-49E17A1ECBA1}"/>
              </a:ext>
            </a:extLst>
          </p:cNvPr>
          <p:cNvSpPr txBox="1"/>
          <p:nvPr/>
        </p:nvSpPr>
        <p:spPr>
          <a:xfrm>
            <a:off x="1174665" y="1710750"/>
            <a:ext cx="9379035" cy="34778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showTheDay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0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days = [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'Sunday'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'Monday'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'Tuesday'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'Wednesday'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				   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'Thursday'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'Friday'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'Saturday'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x = 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Date().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getDay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document.write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"&lt;h3&gt;Today is 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+ days[x] + </a:t>
            </a:r>
            <a:r>
              <a:rPr lang="en-GB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"&lt;/h3&gt;"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GB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showTheDay</a:t>
            </a:r>
            <a:r>
              <a:rPr lang="en-GB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20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4060681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58C18E-2045-47EE-A73A-AB62E8FDAD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0ADAD9-A3F2-460F-9848-B25DA1AAD3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b="1" dirty="0"/>
              <a:t>In this chapter you learned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/>
              <a:t>How </a:t>
            </a:r>
            <a:r>
              <a:rPr lang="en-GB" dirty="0"/>
              <a:t>to invoke and create functions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pass parameter values to a function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How to return values</a:t>
            </a:r>
          </a:p>
          <a:p>
            <a:pPr marL="342900" lvl="1" indent="-342900">
              <a:spcAft>
                <a:spcPts val="650"/>
              </a:spcAft>
              <a:buSzPct val="115000"/>
            </a:pPr>
            <a:r>
              <a:rPr lang="en-GB" dirty="0"/>
              <a:t>Create and use arrays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2874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B61927E-BF9A-45A7-A3CC-510C74A788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b="1" dirty="0"/>
              <a:t>In this lab you'll </a:t>
            </a:r>
            <a:r>
              <a:rPr lang="en-GB" b="1"/>
              <a:t>practice using Functions </a:t>
            </a:r>
            <a:r>
              <a:rPr lang="en-GB" b="1" dirty="0"/>
              <a:t>and Arrays</a:t>
            </a:r>
          </a:p>
          <a:p>
            <a:pPr marL="342000" lvl="1" indent="-342000">
              <a:buSzPct val="115000"/>
            </a:pPr>
            <a:endParaRPr lang="en-GB" dirty="0"/>
          </a:p>
          <a:p>
            <a:pPr marL="342000" lvl="1" indent="-342000">
              <a:buSzPct val="115000"/>
            </a:pPr>
            <a:r>
              <a:rPr lang="en-GB" dirty="0"/>
              <a:t>Duration 45 minutes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7F78E3-FD16-4DCF-A84A-AA6ACB24C6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90702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>
        <TermInfo xmlns="http://schemas.microsoft.com/office/infopath/2007/PartnerControls">
          <TermName xmlns="http://schemas.microsoft.com/office/infopath/2007/PartnerControls">IK</TermName>
          <TermId xmlns="http://schemas.microsoft.com/office/infopath/2007/PartnerControls">5abe6401-e87a-4499-80b4-3d21a1a6ebd7</TermId>
        </TermInfo>
      </Terms>
    </BookTypeField0>
    <IsBuildFile xmlns="B42EA499-AA80-4ED5-9ED5-37A17D3EB549" xsi:nil="true"/>
    <SequenceNumber xmlns="B42EA499-AA80-4ED5-9ED5-37A17D3EB54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EA98CF-C510-4EFD-AD9B-2E56AA485948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customXml/itemProps2.xml><?xml version="1.0" encoding="utf-8"?>
<ds:datastoreItem xmlns:ds="http://schemas.openxmlformats.org/officeDocument/2006/customXml" ds:itemID="{F9378FA9-83B0-4D86-9D8F-62E62FFB11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1700AF-229C-4131-B568-6C0F8EFF99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1144</Words>
  <Application>Microsoft Office PowerPoint</Application>
  <PresentationFormat>Widescreen</PresentationFormat>
  <Paragraphs>212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Consolas</vt:lpstr>
      <vt:lpstr>Courier New</vt:lpstr>
      <vt:lpstr>Krana Fat B</vt:lpstr>
      <vt:lpstr>Lucida Console</vt:lpstr>
      <vt:lpstr>Montserrat</vt:lpstr>
      <vt:lpstr>Master</vt:lpstr>
      <vt:lpstr>PowerPoint Presentation</vt:lpstr>
      <vt:lpstr>PowerPoint Presentation</vt:lpstr>
      <vt:lpstr>PowerPoint Presentation</vt:lpstr>
      <vt:lpstr>Passing values to a function</vt:lpstr>
      <vt:lpstr>How to return a value from a function</vt:lpstr>
      <vt:lpstr>Three ways to define a function  </vt:lpstr>
      <vt:lpstr>PowerPoint Presentation</vt:lpstr>
      <vt:lpstr>PowerPoint Presentation</vt:lpstr>
      <vt:lpstr>PowerPoint Presentation</vt:lpstr>
      <vt:lpstr>Basic JavaScript Arrays</vt:lpstr>
      <vt:lpstr>Manipulating arrays</vt:lpstr>
      <vt:lpstr>Simpler showTheDay() function using an array</vt:lpstr>
      <vt:lpstr>PowerPoint Presentation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157</cp:revision>
  <cp:lastPrinted>2019-07-03T09:46:41Z</cp:lastPrinted>
  <dcterms:created xsi:type="dcterms:W3CDTF">2019-09-05T08:17:12Z</dcterms:created>
  <dcterms:modified xsi:type="dcterms:W3CDTF">2026-05-19T14:11:30Z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  <property fmtid="{D5CDD505-2E9C-101B-9397-08002B2CF9AE}" pid="3" name="BookType">
    <vt:lpwstr>4</vt:lpwstr>
  </property>
</Properties>
</file>