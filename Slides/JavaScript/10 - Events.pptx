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491" r:id="rId5"/>
    <p:sldId id="493" r:id="rId6"/>
    <p:sldId id="456" r:id="rId7"/>
    <p:sldId id="457" r:id="rId8"/>
    <p:sldId id="458" r:id="rId9"/>
    <p:sldId id="473" r:id="rId10"/>
    <p:sldId id="474" r:id="rId11"/>
    <p:sldId id="459" r:id="rId12"/>
    <p:sldId id="467" r:id="rId13"/>
    <p:sldId id="468" r:id="rId14"/>
    <p:sldId id="469" r:id="rId15"/>
    <p:sldId id="494" r:id="rId16"/>
    <p:sldId id="535" r:id="rId17"/>
  </p:sldIdLst>
  <p:sldSz cx="12192000" cy="6858000"/>
  <p:notesSz cx="6645275" cy="9775825"/>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8"/>
    <a:srgbClr val="28CFF9"/>
    <a:srgbClr val="004050"/>
    <a:srgbClr val="09EDB8"/>
    <a:srgbClr val="F91258"/>
    <a:srgbClr val="7E007C"/>
    <a:srgbClr val="F3622C"/>
    <a:srgbClr val="31D3AE"/>
    <a:srgbClr val="F3F3F3"/>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2" autoAdjust="0"/>
    <p:restoredTop sz="90283" autoAdjust="0"/>
  </p:normalViewPr>
  <p:slideViewPr>
    <p:cSldViewPr snapToGrid="0" snapToObjects="1" showGuides="1">
      <p:cViewPr varScale="1">
        <p:scale>
          <a:sx n="95" d="100"/>
          <a:sy n="95" d="100"/>
        </p:scale>
        <p:origin x="1716" y="96"/>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3156"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pPr/>
              <a:t>07/02/2024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pPr/>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07/02/2024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4111323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752628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noFill/>
          <a:ln/>
        </p:spPr>
        <p:txBody>
          <a:bodyPr lIns="90477" tIns="45239" rIns="90477" bIns="45239"/>
          <a:lstStyle/>
          <a:p>
            <a:r>
              <a:rPr lang="en-US" dirty="0"/>
              <a:t>You can attach JavaScript code to some HTML elements such as forms and buttons.  When this is done, the  code fragments will execute not when they are encountered but when specified events occur.  Example events are when a document has completed loading, or when a button has been pressed.</a:t>
            </a:r>
          </a:p>
          <a:p>
            <a:r>
              <a:rPr lang="en-US" dirty="0"/>
              <a:t>Each type of component has a different set of events that it </a:t>
            </a:r>
            <a:r>
              <a:rPr lang="en-US" dirty="0" err="1"/>
              <a:t>recognises</a:t>
            </a:r>
            <a:r>
              <a:rPr lang="en-US" dirty="0"/>
              <a:t>.</a:t>
            </a:r>
          </a:p>
          <a:p>
            <a:r>
              <a:rPr lang="en-US" dirty="0"/>
              <a:t>A particular use of events comes in validation.  Client-side scripts can be used with forms to provide locally executed validation before submission to a server-side script.  In order to do this, some JavaScript code is attached to a form’s </a:t>
            </a:r>
            <a:r>
              <a:rPr lang="en-US" b="1" dirty="0">
                <a:latin typeface="Courier New" pitchFamily="49" charset="0"/>
              </a:rPr>
              <a:t>ONSUBMIT</a:t>
            </a:r>
            <a:r>
              <a:rPr lang="en-US" dirty="0"/>
              <a:t> event.</a:t>
            </a:r>
          </a:p>
        </p:txBody>
      </p:sp>
      <p:sp>
        <p:nvSpPr>
          <p:cNvPr id="45059"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EB6C0581-05B0-488E-8F7F-3E729FC0344A}"/>
              </a:ext>
            </a:extLst>
          </p:cNvPr>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3650890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noFill/>
          <a:ln/>
        </p:spPr>
        <p:txBody>
          <a:bodyPr lIns="90477" tIns="45239" rIns="90477" bIns="45239"/>
          <a:lstStyle/>
          <a:p>
            <a:r>
              <a:rPr lang="en-US"/>
              <a:t>The </a:t>
            </a:r>
            <a:r>
              <a:rPr lang="en-US" b="1">
                <a:latin typeface="Courier New" pitchFamily="49" charset="0"/>
              </a:rPr>
              <a:t>&lt;form&gt;</a:t>
            </a:r>
            <a:r>
              <a:rPr lang="en-US"/>
              <a:t> tag has an </a:t>
            </a:r>
            <a:r>
              <a:rPr lang="en-US" b="1">
                <a:latin typeface="Courier New" pitchFamily="49" charset="0"/>
              </a:rPr>
              <a:t>ONSUBMIT</a:t>
            </a:r>
            <a:r>
              <a:rPr lang="en-US"/>
              <a:t> attribute which defines a script expression.  This expression (usually a function call) must return true or false.  If true, the form can be submitted.  If it returns false, then the form is not submitted.</a:t>
            </a:r>
          </a:p>
        </p:txBody>
      </p:sp>
      <p:sp>
        <p:nvSpPr>
          <p:cNvPr id="46083"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C9D6979C-3A2A-46C9-BBDD-87DAC9C8E61E}"/>
              </a:ext>
            </a:extLst>
          </p:cNvPr>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173747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noFill/>
          <a:ln/>
        </p:spPr>
        <p:txBody>
          <a:bodyPr lIns="90477" tIns="45239" rIns="90477" bIns="45239"/>
          <a:lstStyle/>
          <a:p>
            <a:r>
              <a:rPr lang="en-US" dirty="0"/>
              <a:t>The variable </a:t>
            </a:r>
            <a:r>
              <a:rPr lang="en-US" b="1" dirty="0" err="1">
                <a:latin typeface="Courier New" pitchFamily="49" charset="0"/>
              </a:rPr>
              <a:t>theForm</a:t>
            </a:r>
            <a:r>
              <a:rPr lang="en-US" dirty="0"/>
              <a:t> is a reference to the form being validated.  The script can use this value to access the radio buttons and option buttons to ensure that only valid combinations are accepted.  In this example the script detects if the soup button has been checked, and if so goes on to further check the milk and sugar buttons. </a:t>
            </a:r>
          </a:p>
          <a:p>
            <a:r>
              <a:rPr lang="en-US" dirty="0"/>
              <a:t>This function is incorporated into the form using the </a:t>
            </a:r>
            <a:r>
              <a:rPr lang="en-US" b="1" dirty="0">
                <a:latin typeface="Courier New" pitchFamily="49" charset="0"/>
              </a:rPr>
              <a:t>ONSUBMIT</a:t>
            </a:r>
            <a:r>
              <a:rPr lang="en-US" dirty="0"/>
              <a:t> attribute, which will be of the form shown below.</a:t>
            </a:r>
          </a:p>
          <a:p>
            <a:r>
              <a:rPr lang="en-US" b="1" dirty="0">
                <a:latin typeface="Courier New" pitchFamily="49" charset="0"/>
              </a:rPr>
              <a:t>&lt;form .. .. </a:t>
            </a:r>
            <a:r>
              <a:rPr lang="en-US" b="1" dirty="0" err="1">
                <a:latin typeface="Courier New" pitchFamily="49" charset="0"/>
              </a:rPr>
              <a:t>onsubmit</a:t>
            </a:r>
            <a:r>
              <a:rPr lang="en-US" b="1" dirty="0">
                <a:latin typeface="Courier New" pitchFamily="49" charset="0"/>
              </a:rPr>
              <a:t>="return </a:t>
            </a:r>
            <a:r>
              <a:rPr lang="en-US" b="1" dirty="0" err="1">
                <a:latin typeface="Courier New" pitchFamily="49" charset="0"/>
              </a:rPr>
              <a:t>ValDrink</a:t>
            </a:r>
            <a:r>
              <a:rPr lang="en-US" b="1" dirty="0">
                <a:latin typeface="Courier New" pitchFamily="49" charset="0"/>
              </a:rPr>
              <a:t>(this)"&gt;</a:t>
            </a:r>
            <a:endParaRPr lang="en-US" dirty="0"/>
          </a:p>
          <a:p>
            <a:r>
              <a:rPr lang="en-US" dirty="0"/>
              <a:t>The function ultimately returns </a:t>
            </a:r>
            <a:r>
              <a:rPr lang="en-US" b="1" dirty="0">
                <a:latin typeface="Courier New" pitchFamily="49" charset="0"/>
              </a:rPr>
              <a:t>true</a:t>
            </a:r>
            <a:r>
              <a:rPr lang="en-US" dirty="0"/>
              <a:t> or </a:t>
            </a:r>
            <a:r>
              <a:rPr lang="en-US" b="1" dirty="0">
                <a:latin typeface="Courier New" pitchFamily="49" charset="0"/>
              </a:rPr>
              <a:t>false</a:t>
            </a:r>
            <a:r>
              <a:rPr lang="en-US" dirty="0"/>
              <a:t>.  This value is then passed back to the form handler.  When the function returns false, the validation fails and the form’s server script is not submitted.</a:t>
            </a:r>
          </a:p>
        </p:txBody>
      </p:sp>
      <p:sp>
        <p:nvSpPr>
          <p:cNvPr id="47107"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4C0627DD-161E-4F10-91E2-2F07C0DB241D}"/>
              </a:ext>
            </a:extLst>
          </p:cNvPr>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4206153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3588264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26974820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body" idx="1"/>
          </p:nvPr>
        </p:nvSpPr>
        <p:spPr>
          <a:noFill/>
          <a:ln/>
        </p:spPr>
        <p:txBody>
          <a:bodyPr lIns="90477" tIns="45239" rIns="90477" bIns="45239"/>
          <a:lstStyle/>
          <a:p>
            <a:pPr defTabSz="736600">
              <a:tabLst/>
            </a:pPr>
            <a:r>
              <a:rPr lang="en-US"/>
              <a:t>Microsoft, Netscape, Sun and other vendors are working with the ECMA standards organisation to establish a language standard that encompasses the functionality found in Microsoft JScript and Netscape JavaScript. </a:t>
            </a:r>
          </a:p>
          <a:p>
            <a:pPr defTabSz="736600">
              <a:tabLst/>
            </a:pPr>
            <a:r>
              <a:rPr lang="en-US"/>
              <a:t>The committee’s scope is “To standardise the syntax and semantics of a general purpose, cross platform, vendor-neutral scripting language”.</a:t>
            </a:r>
          </a:p>
          <a:p>
            <a:pPr defTabSz="736600">
              <a:tabLst/>
            </a:pPr>
            <a:r>
              <a:rPr lang="en-US"/>
              <a:t>In June 1997 an ECMA standard 262 was released for cross-platform scripting language called ECMAScript.</a:t>
            </a:r>
          </a:p>
          <a:p>
            <a:pPr defTabSz="736600">
              <a:tabLst/>
            </a:pPr>
            <a:r>
              <a:rPr lang="en-GB"/>
              <a:t>The latest versions of JavaScript and JScript are compliant with the European Computer Manufacturing Association's ECMAScript Language Specification. Note that the name for this language is ECMAScript, however, the names JavaScript and Jscript will still be used.</a:t>
            </a:r>
          </a:p>
          <a:p>
            <a:pPr defTabSz="736600">
              <a:tabLst/>
            </a:pPr>
            <a:r>
              <a:rPr lang="en-GB"/>
              <a:t>The ECMA standards sets minimum compatibility requirements. You should expect current and future versions of both JavaScript and JScript to also contain additional proprietary features, beyond the minimum requirements. </a:t>
            </a:r>
            <a:endParaRPr lang="en-US"/>
          </a:p>
          <a:p>
            <a:pPr defTabSz="736600">
              <a:tabLst/>
            </a:pPr>
            <a:r>
              <a:rPr lang="en-US"/>
              <a:t>For more information on ECMA in general, see their web site home page at </a:t>
            </a:r>
            <a:r>
              <a:rPr lang="en-US" b="1"/>
              <a:t>http://www.ecma-international.org/default.htm</a:t>
            </a:r>
          </a:p>
        </p:txBody>
      </p:sp>
      <p:sp>
        <p:nvSpPr>
          <p:cNvPr id="51203"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3571E192-DABA-4A6F-81E7-0CE86CAC82D1}"/>
              </a:ext>
            </a:extLst>
          </p:cNvPr>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2492186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noFill/>
          <a:ln/>
        </p:spPr>
        <p:txBody>
          <a:bodyPr lIns="90477" tIns="45239" rIns="90477" bIns="45239"/>
          <a:lstStyle/>
          <a:p>
            <a:r>
              <a:rPr lang="en-US" dirty="0"/>
              <a:t>What can be done for users whose browsers don’t support scripting? There isn’t a great deal: if you have decided that your web page </a:t>
            </a:r>
            <a:r>
              <a:rPr lang="en-US" i="1" dirty="0"/>
              <a:t>must</a:t>
            </a:r>
            <a:r>
              <a:rPr lang="en-US" dirty="0"/>
              <a:t> use client-side scripting, then all you can do is notify non script-enabled browsers that they should obtain a copy of a browser that can handle scripts.  Tell the users that if a user’s Web browser does not support the scripting language, it will not have full access to the features in your Web page.  The usual way of doing this is to put a disclaimer on the home page, so that users can see if scripting is required.  Many “web surfers” are not highly technical, so it is often best to phrase the requirement in terms of products and version numbers rather than in rather abstract concepts like scripting languages.</a:t>
            </a:r>
          </a:p>
          <a:p>
            <a:r>
              <a:rPr lang="en-US" dirty="0"/>
              <a:t>This problem is more likely to occur for webs on the Internet rather than on a corporate intranet web where there is often a higher degree of browser homogeneity. </a:t>
            </a:r>
          </a:p>
          <a:p>
            <a:r>
              <a:rPr lang="en-US" dirty="0"/>
              <a:t>One option is to consider server-side scripting instead of client-side scripting.  This is not always appropriate (some things, such as window management, simply can’t be done by the server) but it does allow a more generic solution in a few cases.</a:t>
            </a:r>
          </a:p>
        </p:txBody>
      </p:sp>
      <p:sp>
        <p:nvSpPr>
          <p:cNvPr id="48131"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591F0653-8D21-409E-8316-B4EA74932B0B}"/>
              </a:ext>
            </a:extLst>
          </p:cNvPr>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1312495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body" idx="1"/>
          </p:nvPr>
        </p:nvSpPr>
        <p:spPr>
          <a:noFill/>
          <a:ln/>
        </p:spPr>
        <p:txBody>
          <a:bodyPr lIns="90477" tIns="45239" rIns="90477" bIns="45239"/>
          <a:lstStyle/>
          <a:p>
            <a:r>
              <a:rPr lang="en-US"/>
              <a:t>The </a:t>
            </a:r>
            <a:r>
              <a:rPr lang="en-US" b="1">
                <a:latin typeface="Courier New" pitchFamily="49" charset="0"/>
              </a:rPr>
              <a:t>&lt;noscript&gt;</a:t>
            </a:r>
            <a:r>
              <a:rPr lang="en-US"/>
              <a:t> tag is used to delimit the content for a browser to display when JavaScript is not available, or when the user has turned off support for JavaScript. </a:t>
            </a:r>
          </a:p>
          <a:p>
            <a:r>
              <a:rPr lang="en-US"/>
              <a:t>This will work fine with most browsers.  In these cases the browser will display the contents, and so long as the actual </a:t>
            </a:r>
            <a:r>
              <a:rPr lang="en-US" b="1">
                <a:latin typeface="Courier New" pitchFamily="49" charset="0"/>
              </a:rPr>
              <a:t>&lt;script&gt;</a:t>
            </a:r>
            <a:r>
              <a:rPr lang="en-US"/>
              <a:t> contents are in a HTML comment, all will be fine. </a:t>
            </a:r>
          </a:p>
        </p:txBody>
      </p:sp>
      <p:sp>
        <p:nvSpPr>
          <p:cNvPr id="4915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7783E27F-CB0C-4679-AE8B-51DB9124B5F2}"/>
              </a:ext>
            </a:extLst>
          </p:cNvPr>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1293246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body" idx="1"/>
          </p:nvPr>
        </p:nvSpPr>
        <p:spPr>
          <a:noFill/>
          <a:ln/>
        </p:spPr>
        <p:txBody>
          <a:bodyPr lIns="90477" tIns="45239" rIns="90477" bIns="45239"/>
          <a:lstStyle/>
          <a:p>
            <a:r>
              <a:rPr lang="en-US" dirty="0"/>
              <a:t>Although not ideal, there is another mechanism for detecting whether a browser supports JavaScript.  First, direct the user to a page on which the following JavaScript function has been defined:</a:t>
            </a:r>
          </a:p>
          <a:p>
            <a:r>
              <a:rPr lang="en-US" b="1" dirty="0">
                <a:latin typeface="Courier New" pitchFamily="49" charset="0"/>
              </a:rPr>
              <a:t>Function </a:t>
            </a:r>
            <a:r>
              <a:rPr lang="en-US" b="1" dirty="0" err="1">
                <a:latin typeface="Courier New" pitchFamily="49" charset="0"/>
              </a:rPr>
              <a:t>JumpToJavaScriptPage</a:t>
            </a:r>
            <a:r>
              <a:rPr lang="en-US" b="1" dirty="0">
                <a:latin typeface="Courier New" pitchFamily="49" charset="0"/>
              </a:rPr>
              <a:t>()</a:t>
            </a:r>
            <a:br>
              <a:rPr lang="en-US" b="1" dirty="0">
                <a:latin typeface="Courier New" pitchFamily="49" charset="0"/>
              </a:rPr>
            </a:br>
            <a:r>
              <a:rPr lang="en-US" b="1" dirty="0">
                <a:latin typeface="Courier New" pitchFamily="49" charset="0"/>
              </a:rPr>
              <a:t>{</a:t>
            </a:r>
            <a:br>
              <a:rPr lang="en-US" b="1" dirty="0">
                <a:latin typeface="Courier New" pitchFamily="49" charset="0"/>
              </a:rPr>
            </a:br>
            <a:r>
              <a:rPr lang="en-US" b="1" dirty="0">
                <a:latin typeface="Courier New" pitchFamily="49" charset="0"/>
              </a:rPr>
              <a:t>    location="auto2.htm";</a:t>
            </a:r>
            <a:br>
              <a:rPr lang="en-US" b="1" dirty="0">
                <a:latin typeface="Courier New" pitchFamily="49" charset="0"/>
              </a:rPr>
            </a:br>
            <a:r>
              <a:rPr lang="en-US" b="1" dirty="0">
                <a:latin typeface="Courier New" pitchFamily="49" charset="0"/>
              </a:rPr>
              <a:t>}</a:t>
            </a:r>
            <a:endParaRPr lang="en-US" dirty="0"/>
          </a:p>
          <a:p>
            <a:r>
              <a:rPr lang="en-US" dirty="0"/>
              <a:t>This function is called from the </a:t>
            </a:r>
            <a:r>
              <a:rPr lang="en-US" b="1" dirty="0" err="1">
                <a:latin typeface="Courier New" pitchFamily="49" charset="0"/>
              </a:rPr>
              <a:t>onLoad</a:t>
            </a:r>
            <a:r>
              <a:rPr lang="en-US" dirty="0"/>
              <a:t> event of the HTML body tag, so when the HTML page has been loaded, the function will be executed.  By setting the location property to a given URL, this function causes the browser to switch immediately to another page.  If the browser does not have JavaScript, or if it is disabled, then the script is ignored and the browser does not move on to the second URL.</a:t>
            </a:r>
          </a:p>
          <a:p>
            <a:r>
              <a:rPr lang="en-US" dirty="0"/>
              <a:t>The first page will be displayed for a short time, so you should keep it small in the interests of efficiency if most users are expected to have scripting enabled.</a:t>
            </a:r>
          </a:p>
          <a:p>
            <a:endParaRPr lang="en-US" dirty="0"/>
          </a:p>
        </p:txBody>
      </p:sp>
      <p:sp>
        <p:nvSpPr>
          <p:cNvPr id="50179"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9E563890-F471-4A7F-A2A1-488CCF83AAE5}"/>
              </a:ext>
            </a:extLst>
          </p:cNvPr>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65016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2615606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3150502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8" name="Picture 7" descr="NewSwoop_Footer.jpg"/>
          <p:cNvPicPr>
            <a:picLocks noChangeAspect="1"/>
          </p:cNvPicPr>
          <p:nvPr userDrawn="1"/>
        </p:nvPicPr>
        <p:blipFill>
          <a:blip r:embed="rId2" cstate="print"/>
          <a:srcRect b="6922"/>
          <a:stretch>
            <a:fillRect/>
          </a:stretch>
        </p:blipFill>
        <p:spPr>
          <a:xfrm>
            <a:off x="0" y="5015952"/>
            <a:ext cx="12192000" cy="1775961"/>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8917" y="785794"/>
            <a:ext cx="956780" cy="698898"/>
          </a:xfrm>
          <a:prstGeom prst="rect">
            <a:avLst/>
          </a:prstGeom>
        </p:spPr>
      </p:pic>
    </p:spTree>
    <p:extLst>
      <p:ext uri="{BB962C8B-B14F-4D97-AF65-F5344CB8AC3E}">
        <p14:creationId xmlns:p14="http://schemas.microsoft.com/office/powerpoint/2010/main" val="23830105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spcBef>
                <a:spcPts val="1200"/>
              </a:spcBef>
              <a:defRPr b="1"/>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Tree>
    <p:extLst>
      <p:ext uri="{BB962C8B-B14F-4D97-AF65-F5344CB8AC3E}">
        <p14:creationId xmlns:p14="http://schemas.microsoft.com/office/powerpoint/2010/main" val="38451184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8"/>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8"/>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8"/>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8"/>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CFF9"/>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F76FE6F-FF15-B514-43F7-644A2DD8036C}"/>
              </a:ext>
            </a:extLst>
          </p:cNvPr>
          <p:cNvSpPr>
            <a:spLocks noGrp="1"/>
          </p:cNvSpPr>
          <p:nvPr>
            <p:ph type="body" sz="quarter" idx="12"/>
          </p:nvPr>
        </p:nvSpPr>
        <p:spPr/>
        <p:txBody>
          <a:bodyPr/>
          <a:lstStyle/>
          <a:p>
            <a:r>
              <a:rPr lang="en-IN" dirty="0"/>
              <a:t>JavaScript</a:t>
            </a:r>
            <a:endParaRPr lang="en-GB" dirty="0"/>
          </a:p>
        </p:txBody>
      </p:sp>
      <p:sp>
        <p:nvSpPr>
          <p:cNvPr id="4" name="Title 3"/>
          <p:cNvSpPr>
            <a:spLocks noGrp="1"/>
          </p:cNvSpPr>
          <p:nvPr>
            <p:ph type="ctrTitle"/>
          </p:nvPr>
        </p:nvSpPr>
        <p:spPr/>
        <p:txBody>
          <a:bodyPr/>
          <a:lstStyle/>
          <a:p>
            <a:pPr>
              <a:lnSpc>
                <a:spcPct val="100000"/>
              </a:lnSpc>
            </a:pPr>
            <a:r>
              <a:rPr lang="en-GB" dirty="0"/>
              <a:t>Events</a:t>
            </a:r>
          </a:p>
        </p:txBody>
      </p:sp>
      <p:sp>
        <p:nvSpPr>
          <p:cNvPr id="6" name="Subtitle 2">
            <a:extLst>
              <a:ext uri="{FF2B5EF4-FFF2-40B4-BE49-F238E27FC236}">
                <a16:creationId xmlns:a16="http://schemas.microsoft.com/office/drawing/2014/main" id="{048D3F38-6B64-4147-A3A7-62CEA1D3EA7C}"/>
              </a:ext>
            </a:extLst>
          </p:cNvPr>
          <p:cNvSpPr txBox="1">
            <a:spLocks/>
          </p:cNvSpPr>
          <p:nvPr/>
        </p:nvSpPr>
        <p:spPr>
          <a:xfrm>
            <a:off x="376239" y="5608948"/>
            <a:ext cx="6480175" cy="442733"/>
          </a:xfrm>
          <a:prstGeom prst="rect">
            <a:avLst/>
          </a:prstGeom>
        </p:spPr>
        <p:txBody>
          <a:bodyPr vert="horz" lIns="0" tIns="0" rIns="0" bIns="0" rtlCol="0" anchor="t" anchorCtr="0">
            <a:norm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p:txBody>
      </p:sp>
    </p:spTree>
    <p:extLst>
      <p:ext uri="{BB962C8B-B14F-4D97-AF65-F5344CB8AC3E}">
        <p14:creationId xmlns:p14="http://schemas.microsoft.com/office/powerpoint/2010/main" val="69465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0F20A93-7B43-4BA8-BA3A-21CA9B9AB327}"/>
              </a:ext>
            </a:extLst>
          </p:cNvPr>
          <p:cNvSpPr>
            <a:spLocks noGrp="1"/>
          </p:cNvSpPr>
          <p:nvPr>
            <p:ph type="body" sz="quarter" idx="10"/>
          </p:nvPr>
        </p:nvSpPr>
        <p:spPr/>
        <p:txBody>
          <a:bodyPr/>
          <a:lstStyle/>
          <a:p>
            <a:r>
              <a:rPr lang="en-GB"/>
              <a:t>Objectives</a:t>
            </a:r>
            <a:endParaRPr lang="en-IN" dirty="0"/>
          </a:p>
        </p:txBody>
      </p:sp>
      <p:sp>
        <p:nvSpPr>
          <p:cNvPr id="7" name="Text Placeholder 6">
            <a:extLst>
              <a:ext uri="{FF2B5EF4-FFF2-40B4-BE49-F238E27FC236}">
                <a16:creationId xmlns:a16="http://schemas.microsoft.com/office/drawing/2014/main" id="{EB8DE155-8FF0-4244-A471-A3DC2220D22D}"/>
              </a:ext>
            </a:extLst>
          </p:cNvPr>
          <p:cNvSpPr>
            <a:spLocks noGrp="1"/>
          </p:cNvSpPr>
          <p:nvPr>
            <p:ph type="body" sz="quarter" idx="15"/>
          </p:nvPr>
        </p:nvSpPr>
        <p:spPr>
          <a:xfrm>
            <a:off x="5037138" y="1349984"/>
            <a:ext cx="6770078" cy="4094163"/>
          </a:xfrm>
        </p:spPr>
        <p:txBody>
          <a:bodyPr/>
          <a:lstStyle/>
          <a:p>
            <a:r>
              <a:rPr lang="en-GB" b="1" dirty="0"/>
              <a:t>In this chapter you'll learn how to:</a:t>
            </a:r>
          </a:p>
          <a:p>
            <a:pPr marL="342000" lvl="1" indent="-342000">
              <a:buSzPct val="115000"/>
            </a:pPr>
            <a:endParaRPr lang="en-GB" dirty="0"/>
          </a:p>
          <a:p>
            <a:pPr marL="342000" lvl="1" indent="-342000">
              <a:buSzPct val="115000"/>
            </a:pPr>
            <a:r>
              <a:rPr lang="en-GB" dirty="0"/>
              <a:t>Use the </a:t>
            </a:r>
            <a:r>
              <a:rPr lang="en-GB" b="1" dirty="0"/>
              <a:t>form </a:t>
            </a:r>
            <a:r>
              <a:rPr lang="en-GB" dirty="0"/>
              <a:t>element to capture user input</a:t>
            </a:r>
          </a:p>
          <a:p>
            <a:pPr marL="342000" lvl="1" indent="-342000">
              <a:buSzPct val="115000"/>
            </a:pPr>
            <a:endParaRPr lang="en-GB" dirty="0"/>
          </a:p>
          <a:p>
            <a:pPr marL="342000" lvl="1" indent="-342000">
              <a:buSzPct val="115000"/>
            </a:pPr>
            <a:r>
              <a:rPr lang="en-GB" dirty="0"/>
              <a:t>Use event handlers</a:t>
            </a:r>
          </a:p>
          <a:p>
            <a:pPr marL="342000" lvl="1" indent="-342000">
              <a:buSzPct val="115000"/>
            </a:pPr>
            <a:endParaRPr lang="en-GB" dirty="0"/>
          </a:p>
          <a:p>
            <a:pPr marL="342000" lvl="1" indent="-342000">
              <a:buSzPct val="115000"/>
            </a:pPr>
            <a:r>
              <a:rPr lang="en-GB" dirty="0"/>
              <a:t>Validate user input</a:t>
            </a:r>
          </a:p>
          <a:p>
            <a:pPr marL="342000" lvl="1" indent="-342000">
              <a:buSzPct val="115000"/>
            </a:pPr>
            <a:endParaRPr lang="en-GB" dirty="0"/>
          </a:p>
          <a:p>
            <a:pPr marL="342000" lvl="1" indent="-342000">
              <a:buSzPct val="115000"/>
            </a:pPr>
            <a:r>
              <a:rPr lang="en-GB" dirty="0"/>
              <a:t>Cope with browsers with no support for JavaScript</a:t>
            </a:r>
          </a:p>
          <a:p>
            <a:endParaRPr lang="en-IN" dirty="0"/>
          </a:p>
        </p:txBody>
      </p:sp>
    </p:spTree>
    <p:extLst>
      <p:ext uri="{BB962C8B-B14F-4D97-AF65-F5344CB8AC3E}">
        <p14:creationId xmlns:p14="http://schemas.microsoft.com/office/powerpoint/2010/main" val="1304802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A910162-3E01-4AD9-ADDB-D49B7807EF7E}"/>
              </a:ext>
            </a:extLst>
          </p:cNvPr>
          <p:cNvSpPr>
            <a:spLocks noGrp="1"/>
          </p:cNvSpPr>
          <p:nvPr>
            <p:ph type="body" sz="quarter" idx="10"/>
          </p:nvPr>
        </p:nvSpPr>
        <p:spPr/>
        <p:txBody>
          <a:bodyPr/>
          <a:lstStyle/>
          <a:p>
            <a:r>
              <a:rPr lang="en-US" dirty="0"/>
              <a:t>Events and </a:t>
            </a:r>
          </a:p>
          <a:p>
            <a:r>
              <a:rPr lang="en-US" dirty="0"/>
              <a:t>Form Validation</a:t>
            </a:r>
            <a:endParaRPr lang="en-IN" dirty="0"/>
          </a:p>
        </p:txBody>
      </p:sp>
      <p:sp>
        <p:nvSpPr>
          <p:cNvPr id="5" name="Text Placeholder 4">
            <a:extLst>
              <a:ext uri="{FF2B5EF4-FFF2-40B4-BE49-F238E27FC236}">
                <a16:creationId xmlns:a16="http://schemas.microsoft.com/office/drawing/2014/main" id="{3528C203-D039-4CDC-94E6-FEBDD3D8704E}"/>
              </a:ext>
            </a:extLst>
          </p:cNvPr>
          <p:cNvSpPr>
            <a:spLocks noGrp="1"/>
          </p:cNvSpPr>
          <p:nvPr>
            <p:ph type="body" sz="quarter" idx="11"/>
          </p:nvPr>
        </p:nvSpPr>
        <p:spPr>
          <a:xfrm>
            <a:off x="5981700" y="579549"/>
            <a:ext cx="5834671" cy="5899039"/>
          </a:xfrm>
        </p:spPr>
        <p:txBody>
          <a:bodyPr/>
          <a:lstStyle/>
          <a:p>
            <a:pPr marL="342900" indent="-342900">
              <a:buFont typeface="Arial" panose="020B0604020202020204" pitchFamily="34" charset="0"/>
              <a:buChar char="•"/>
            </a:pPr>
            <a:r>
              <a:rPr lang="en-US" b="1" dirty="0"/>
              <a:t>You can attach code to HTML elements</a:t>
            </a:r>
          </a:p>
          <a:p>
            <a:pPr marL="684000" lvl="1" indent="-342900">
              <a:spcAft>
                <a:spcPts val="650"/>
              </a:spcAft>
              <a:buSzPct val="115000"/>
            </a:pPr>
            <a:r>
              <a:rPr lang="en-US" dirty="0"/>
              <a:t>form, button, div, input…</a:t>
            </a:r>
            <a:br>
              <a:rPr lang="en-US" dirty="0"/>
            </a:br>
            <a:endParaRPr lang="en-US" dirty="0"/>
          </a:p>
          <a:p>
            <a:pPr marL="342900" indent="-342900">
              <a:buFont typeface="Arial" panose="020B0604020202020204" pitchFamily="34" charset="0"/>
              <a:buChar char="•"/>
            </a:pPr>
            <a:r>
              <a:rPr lang="en-US" b="1" dirty="0"/>
              <a:t>Events are code that will execute when events occur</a:t>
            </a:r>
            <a:endParaRPr lang="en-US" dirty="0"/>
          </a:p>
          <a:p>
            <a:pPr marL="684000" lvl="1" indent="-342900">
              <a:spcAft>
                <a:spcPts val="650"/>
              </a:spcAft>
              <a:buSzPct val="115000"/>
            </a:pPr>
            <a:r>
              <a:rPr lang="en-US" b="1" dirty="0" err="1">
                <a:solidFill>
                  <a:srgbClr val="0000C8"/>
                </a:solidFill>
              </a:rPr>
              <a:t>onClick</a:t>
            </a:r>
            <a:r>
              <a:rPr lang="en-US" dirty="0"/>
              <a:t>	      When something is clicked</a:t>
            </a:r>
          </a:p>
          <a:p>
            <a:pPr marL="684000" lvl="1" indent="-342900">
              <a:spcAft>
                <a:spcPts val="650"/>
              </a:spcAft>
              <a:buSzPct val="115000"/>
            </a:pPr>
            <a:r>
              <a:rPr lang="en-US" b="1" dirty="0" err="1">
                <a:solidFill>
                  <a:srgbClr val="0000C8"/>
                </a:solidFill>
              </a:rPr>
              <a:t>onLoad</a:t>
            </a:r>
            <a:r>
              <a:rPr lang="en-US" dirty="0"/>
              <a:t>	      When a document has 			      completed loading </a:t>
            </a:r>
          </a:p>
          <a:p>
            <a:pPr marL="684000" lvl="1" indent="-342900">
              <a:spcAft>
                <a:spcPts val="650"/>
              </a:spcAft>
              <a:buSzPct val="115000"/>
            </a:pPr>
            <a:r>
              <a:rPr lang="en-US" b="1" dirty="0" err="1">
                <a:solidFill>
                  <a:srgbClr val="0000C8"/>
                </a:solidFill>
              </a:rPr>
              <a:t>onSubmit</a:t>
            </a:r>
            <a:r>
              <a:rPr lang="en-US" dirty="0"/>
              <a:t>    When a form is submitting</a:t>
            </a:r>
          </a:p>
          <a:p>
            <a:pPr marL="684000" lvl="1" indent="-342900">
              <a:spcAft>
                <a:spcPts val="650"/>
              </a:spcAft>
              <a:buSzPct val="115000"/>
            </a:pPr>
            <a:r>
              <a:rPr lang="en-US" b="1" dirty="0" err="1">
                <a:solidFill>
                  <a:srgbClr val="0000C8"/>
                </a:solidFill>
              </a:rPr>
              <a:t>onReset</a:t>
            </a:r>
            <a:r>
              <a:rPr lang="en-US" dirty="0"/>
              <a:t>      When reset button clicked</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You can use events to validate information before submission</a:t>
            </a:r>
          </a:p>
          <a:p>
            <a:endParaRPr lang="en-IN" dirty="0"/>
          </a:p>
        </p:txBody>
      </p:sp>
    </p:spTree>
    <p:extLst>
      <p:ext uri="{BB962C8B-B14F-4D97-AF65-F5344CB8AC3E}">
        <p14:creationId xmlns:p14="http://schemas.microsoft.com/office/powerpoint/2010/main" val="4102289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Validation (1)</a:t>
            </a:r>
          </a:p>
        </p:txBody>
      </p:sp>
      <p:sp>
        <p:nvSpPr>
          <p:cNvPr id="20483" name="Rectangle 3"/>
          <p:cNvSpPr>
            <a:spLocks noGrp="1" noChangeArrowheads="1"/>
          </p:cNvSpPr>
          <p:nvPr>
            <p:ph idx="1"/>
          </p:nvPr>
        </p:nvSpPr>
        <p:spPr>
          <a:xfrm>
            <a:off x="341272" y="1368256"/>
            <a:ext cx="11516239" cy="1285297"/>
          </a:xfrm>
        </p:spPr>
        <p:txBody>
          <a:bodyPr/>
          <a:lstStyle/>
          <a:p>
            <a:r>
              <a:rPr lang="en-US" b="1" dirty="0"/>
              <a:t>A form’s </a:t>
            </a:r>
            <a:r>
              <a:rPr lang="en-GB" b="1" dirty="0" err="1">
                <a:solidFill>
                  <a:srgbClr val="FF0000"/>
                </a:solidFill>
                <a:highlight>
                  <a:srgbClr val="FFFFFF"/>
                </a:highlight>
                <a:latin typeface="Consolas" panose="020B0609020204030204" pitchFamily="49" charset="0"/>
              </a:rPr>
              <a:t>onsubmit</a:t>
            </a:r>
            <a:r>
              <a:rPr lang="en-GB" b="1" dirty="0">
                <a:solidFill>
                  <a:srgbClr val="FF0000"/>
                </a:solidFill>
                <a:highlight>
                  <a:srgbClr val="FFFFFF"/>
                </a:highlight>
                <a:latin typeface="Consolas" panose="020B0609020204030204" pitchFamily="49" charset="0"/>
              </a:rPr>
              <a:t> </a:t>
            </a:r>
            <a:r>
              <a:rPr lang="en-US" b="1" dirty="0"/>
              <a:t>attribute is a Boolean value</a:t>
            </a:r>
          </a:p>
          <a:p>
            <a:pPr marL="342000" lvl="1" indent="-342000">
              <a:buSzPct val="115000"/>
              <a:buFont typeface="Arial" panose="020B0604020202020204" pitchFamily="34" charset="0"/>
              <a:buChar char="•"/>
            </a:pPr>
            <a:r>
              <a:rPr lang="en-US" dirty="0"/>
              <a:t>Returns </a:t>
            </a:r>
            <a:r>
              <a:rPr lang="en-US" b="1" dirty="0">
                <a:solidFill>
                  <a:srgbClr val="0000C8"/>
                </a:solidFill>
              </a:rPr>
              <a:t>true</a:t>
            </a:r>
            <a:r>
              <a:rPr lang="en-US" dirty="0">
                <a:solidFill>
                  <a:srgbClr val="0000C8"/>
                </a:solidFill>
              </a:rPr>
              <a:t>:</a:t>
            </a:r>
            <a:r>
              <a:rPr lang="en-US" dirty="0"/>
              <a:t> 	form is valid and is submitted</a:t>
            </a:r>
          </a:p>
          <a:p>
            <a:pPr marL="342000" lvl="1" indent="-342000">
              <a:buSzPct val="115000"/>
              <a:buFont typeface="Arial" panose="020B0604020202020204" pitchFamily="34" charset="0"/>
              <a:buChar char="•"/>
            </a:pPr>
            <a:r>
              <a:rPr lang="en-US" dirty="0"/>
              <a:t>Returns </a:t>
            </a:r>
            <a:r>
              <a:rPr lang="en-US" b="1" dirty="0">
                <a:solidFill>
                  <a:srgbClr val="0000C8"/>
                </a:solidFill>
              </a:rPr>
              <a:t>false</a:t>
            </a:r>
            <a:r>
              <a:rPr lang="en-US" dirty="0">
                <a:solidFill>
                  <a:srgbClr val="0000C8"/>
                </a:solidFill>
              </a:rPr>
              <a:t>: </a:t>
            </a:r>
            <a:r>
              <a:rPr lang="en-US" dirty="0"/>
              <a:t>	form is not valid and is not submitted</a:t>
            </a:r>
          </a:p>
        </p:txBody>
      </p:sp>
      <p:sp>
        <p:nvSpPr>
          <p:cNvPr id="4" name="Rectangle 3"/>
          <p:cNvSpPr/>
          <p:nvPr/>
        </p:nvSpPr>
        <p:spPr>
          <a:xfrm>
            <a:off x="341272" y="2730519"/>
            <a:ext cx="9602828" cy="3139321"/>
          </a:xfrm>
          <a:prstGeom prst="rect">
            <a:avLst/>
          </a:prstGeom>
          <a:solidFill>
            <a:schemeClr val="accent5">
              <a:lumMod val="20000"/>
              <a:lumOff val="80000"/>
            </a:schemeClr>
          </a:solidFill>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form</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method</a:t>
            </a:r>
            <a:r>
              <a:rPr lang="en-GB" sz="1800" dirty="0">
                <a:solidFill>
                  <a:srgbClr val="0000FF"/>
                </a:solidFill>
                <a:latin typeface="Consolas" panose="020B0609020204030204" pitchFamily="49" charset="0"/>
              </a:rPr>
              <a:t>="get"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action</a:t>
            </a:r>
            <a:r>
              <a:rPr lang="en-GB" sz="1800" dirty="0">
                <a:solidFill>
                  <a:srgbClr val="0000FF"/>
                </a:solidFill>
                <a:latin typeface="Consolas" panose="020B0609020204030204" pitchFamily="49" charset="0"/>
              </a:rPr>
              <a:t>="serve.asp"</a:t>
            </a:r>
            <a:r>
              <a:rPr lang="en-GB" sz="1800" dirty="0">
                <a:solidFill>
                  <a:srgbClr val="000000"/>
                </a:solidFill>
                <a:latin typeface="Consolas" panose="020B0609020204030204" pitchFamily="49" charset="0"/>
              </a:rPr>
              <a:t> </a:t>
            </a:r>
            <a:r>
              <a:rPr lang="en-GB" sz="1800" dirty="0" err="1">
                <a:solidFill>
                  <a:srgbClr val="FF0000"/>
                </a:solidFill>
                <a:latin typeface="Consolas" panose="020B0609020204030204" pitchFamily="49" charset="0"/>
              </a:rPr>
              <a:t>onsubmit</a:t>
            </a:r>
            <a:r>
              <a:rPr lang="en-GB" sz="1800" dirty="0">
                <a:solidFill>
                  <a:srgbClr val="0000FF"/>
                </a:solidFill>
                <a:latin typeface="Consolas" panose="020B0609020204030204" pitchFamily="49" charset="0"/>
              </a:rPr>
              <a:t>="return</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valDrink</a:t>
            </a:r>
            <a:r>
              <a:rPr lang="en-GB" sz="1800" dirty="0">
                <a:solidFill>
                  <a:srgbClr val="000000"/>
                </a:solidFill>
                <a:latin typeface="Consolas" panose="020B0609020204030204" pitchFamily="49" charset="0"/>
              </a:rPr>
              <a:t>(</a:t>
            </a:r>
            <a:r>
              <a:rPr lang="en-GB" sz="1800" dirty="0">
                <a:solidFill>
                  <a:srgbClr val="0000FF"/>
                </a:solidFill>
                <a:latin typeface="Consolas" panose="020B0609020204030204" pitchFamily="49" charset="0"/>
              </a:rPr>
              <a:t>this</a:t>
            </a:r>
            <a:r>
              <a:rPr lang="en-GB" sz="1800" dirty="0">
                <a:solidFill>
                  <a:srgbClr val="000000"/>
                </a:solidFill>
                <a:latin typeface="Consolas" panose="020B0609020204030204" pitchFamily="49" charset="0"/>
              </a:rPr>
              <a:t>)</a:t>
            </a:r>
            <a:r>
              <a:rPr lang="en-GB" sz="1800" dirty="0">
                <a:solidFill>
                  <a:srgbClr val="0000FF"/>
                </a:solidFill>
                <a:latin typeface="Consolas" panose="020B0609020204030204" pitchFamily="49" charset="0"/>
              </a:rPr>
              <a:t>"&gt;</a:t>
            </a:r>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="radio"</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checked</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name</a:t>
            </a:r>
            <a:r>
              <a:rPr lang="en-GB" sz="1800" dirty="0">
                <a:solidFill>
                  <a:srgbClr val="0000FF"/>
                </a:solidFill>
                <a:latin typeface="Consolas" panose="020B0609020204030204" pitchFamily="49" charset="0"/>
              </a:rPr>
              <a:t>="drink"</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="t"</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r>
              <a:rPr lang="en-GB" sz="1800" dirty="0">
                <a:solidFill>
                  <a:srgbClr val="000000"/>
                </a:solidFill>
                <a:latin typeface="Consolas" panose="020B0609020204030204" pitchFamily="49" charset="0"/>
              </a:rPr>
              <a:t>Tea</a:t>
            </a: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="radio"</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name</a:t>
            </a:r>
            <a:r>
              <a:rPr lang="en-GB" sz="1800" dirty="0">
                <a:solidFill>
                  <a:srgbClr val="0000FF"/>
                </a:solidFill>
                <a:latin typeface="Consolas" panose="020B0609020204030204" pitchFamily="49" charset="0"/>
              </a:rPr>
              <a:t>="drink"</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="c"</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r>
              <a:rPr lang="en-GB" sz="1800" dirty="0">
                <a:solidFill>
                  <a:srgbClr val="000000"/>
                </a:solidFill>
                <a:latin typeface="Consolas" panose="020B0609020204030204" pitchFamily="49" charset="0"/>
              </a:rPr>
              <a:t>Coffee</a:t>
            </a: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="radio"</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name</a:t>
            </a:r>
            <a:r>
              <a:rPr lang="en-GB" sz="1800" dirty="0">
                <a:solidFill>
                  <a:srgbClr val="0000FF"/>
                </a:solidFill>
                <a:latin typeface="Consolas" panose="020B0609020204030204" pitchFamily="49" charset="0"/>
              </a:rPr>
              <a:t>="drink"</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="s"</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r>
              <a:rPr lang="en-GB" sz="1800" dirty="0">
                <a:solidFill>
                  <a:srgbClr val="000000"/>
                </a:solidFill>
                <a:latin typeface="Consolas" panose="020B0609020204030204" pitchFamily="49" charset="0"/>
              </a:rPr>
              <a:t>Soup</a:t>
            </a:r>
          </a:p>
          <a:p>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="checkbox"</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name</a:t>
            </a:r>
            <a:r>
              <a:rPr lang="en-GB" sz="1800" dirty="0">
                <a:solidFill>
                  <a:srgbClr val="0000FF"/>
                </a:solidFill>
                <a:latin typeface="Consolas" panose="020B0609020204030204" pitchFamily="49" charset="0"/>
              </a:rPr>
              <a:t>="milk"</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="y"</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r>
              <a:rPr lang="en-GB" sz="1800" dirty="0">
                <a:solidFill>
                  <a:srgbClr val="000000"/>
                </a:solidFill>
                <a:latin typeface="Consolas" panose="020B0609020204030204" pitchFamily="49" charset="0"/>
              </a:rPr>
              <a:t>Milk</a:t>
            </a: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="checkbox"</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name</a:t>
            </a:r>
            <a:r>
              <a:rPr lang="en-GB" sz="1800" dirty="0">
                <a:solidFill>
                  <a:srgbClr val="0000FF"/>
                </a:solidFill>
                <a:latin typeface="Consolas" panose="020B0609020204030204" pitchFamily="49" charset="0"/>
              </a:rPr>
              <a:t>="sugar"</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="y"</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r>
              <a:rPr lang="en-GB" sz="1800" dirty="0">
                <a:solidFill>
                  <a:srgbClr val="000000"/>
                </a:solidFill>
                <a:latin typeface="Consolas" panose="020B0609020204030204" pitchFamily="49" charset="0"/>
              </a:rPr>
              <a:t>Sugar</a:t>
            </a:r>
          </a:p>
          <a:p>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="submit"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="Vend"</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endParaRPr lang="en-GB" sz="1800" dirty="0">
              <a:solidFill>
                <a:srgbClr val="000000"/>
              </a:solidFill>
              <a:latin typeface="Consolas" panose="020B0609020204030204" pitchFamily="49" charset="0"/>
            </a:endParaRPr>
          </a:p>
          <a:p>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form</a:t>
            </a:r>
            <a:r>
              <a:rPr lang="en-GB" sz="1800" dirty="0">
                <a:solidFill>
                  <a:srgbClr val="0000FF"/>
                </a:solidFill>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p:txBody>
      </p:sp>
      <p:pic>
        <p:nvPicPr>
          <p:cNvPr id="3" name="Picture 2"/>
          <p:cNvPicPr>
            <a:picLocks noChangeAspect="1"/>
          </p:cNvPicPr>
          <p:nvPr/>
        </p:nvPicPr>
        <p:blipFill>
          <a:blip r:embed="rId3"/>
          <a:stretch>
            <a:fillRect/>
          </a:stretch>
        </p:blipFill>
        <p:spPr>
          <a:xfrm>
            <a:off x="6715125" y="5132355"/>
            <a:ext cx="4704514" cy="549712"/>
          </a:xfrm>
          <a:prstGeom prst="rect">
            <a:avLst/>
          </a:prstGeom>
          <a:ln w="25400">
            <a:solidFill>
              <a:schemeClr val="accent1"/>
            </a:solidFill>
          </a:ln>
          <a:effectLst/>
        </p:spPr>
      </p:pic>
    </p:spTree>
    <p:extLst>
      <p:ext uri="{BB962C8B-B14F-4D97-AF65-F5344CB8AC3E}">
        <p14:creationId xmlns:p14="http://schemas.microsoft.com/office/powerpoint/2010/main" val="1542339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a:t>Validation code</a:t>
            </a:r>
          </a:p>
        </p:txBody>
      </p:sp>
      <p:sp>
        <p:nvSpPr>
          <p:cNvPr id="3" name="Rectangle 2"/>
          <p:cNvSpPr/>
          <p:nvPr/>
        </p:nvSpPr>
        <p:spPr>
          <a:xfrm>
            <a:off x="1081767" y="1367059"/>
            <a:ext cx="8757558" cy="4247317"/>
          </a:xfrm>
          <a:prstGeom prst="rect">
            <a:avLst/>
          </a:prstGeom>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00"/>
                </a:solidFill>
                <a:highlight>
                  <a:srgbClr val="FFFFFF"/>
                </a:highlight>
                <a:latin typeface="Consolas" panose="020B0609020204030204" pitchFamily="49" charset="0"/>
              </a:rPr>
              <a:t> </a:t>
            </a:r>
            <a:r>
              <a:rPr lang="en-GB" b="1" dirty="0">
                <a:solidFill>
                  <a:srgbClr val="FF0000"/>
                </a:solidFill>
                <a:highlight>
                  <a:srgbClr val="FFFFFF"/>
                </a:highlight>
                <a:latin typeface="Consolas" panose="020B0609020204030204" pitchFamily="49" charset="0"/>
              </a:rPr>
              <a:t>type</a:t>
            </a:r>
            <a:r>
              <a:rPr lang="en-GB" b="1" dirty="0">
                <a:solidFill>
                  <a:srgbClr val="0000FF"/>
                </a:solidFill>
                <a:highlight>
                  <a:srgbClr val="FFFFFF"/>
                </a:highlight>
                <a:latin typeface="Consolas" panose="020B0609020204030204" pitchFamily="49" charset="0"/>
              </a:rPr>
              <a:t>="text/JavaScript"&gt;</a:t>
            </a:r>
            <a:endParaRPr lang="en-GB" b="1" dirty="0">
              <a:solidFill>
                <a:srgbClr val="000000"/>
              </a:solidFill>
              <a:highlight>
                <a:srgbClr val="FFFFFF"/>
              </a:highlight>
              <a:latin typeface="Consolas" panose="020B0609020204030204" pitchFamily="49" charset="0"/>
            </a:endParaRPr>
          </a:p>
          <a:p>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function</a:t>
            </a:r>
            <a:r>
              <a:rPr lang="en-GB" b="1" dirty="0">
                <a:solidFill>
                  <a:srgbClr val="000000"/>
                </a:solidFill>
                <a:highlight>
                  <a:srgbClr val="FFFFFF"/>
                </a:highlight>
                <a:latin typeface="Consolas" panose="020B0609020204030204" pitchFamily="49" charset="0"/>
              </a:rPr>
              <a:t> </a:t>
            </a:r>
            <a:r>
              <a:rPr lang="en-GB" b="1" dirty="0" err="1">
                <a:solidFill>
                  <a:srgbClr val="000000"/>
                </a:solidFill>
                <a:highlight>
                  <a:srgbClr val="FFFFFF"/>
                </a:highlight>
                <a:latin typeface="Consolas" panose="020B0609020204030204" pitchFamily="49" charset="0"/>
              </a:rPr>
              <a:t>valDrink</a:t>
            </a:r>
            <a:r>
              <a:rPr lang="en-GB" b="1" dirty="0">
                <a:solidFill>
                  <a:srgbClr val="000000"/>
                </a:solidFill>
                <a:highlight>
                  <a:srgbClr val="FFFFFF"/>
                </a:highlight>
                <a:latin typeface="Consolas" panose="020B0609020204030204" pitchFamily="49" charset="0"/>
              </a:rPr>
              <a:t>(</a:t>
            </a:r>
            <a:r>
              <a:rPr lang="en-GB" b="1" dirty="0" err="1">
                <a:solidFill>
                  <a:srgbClr val="000000"/>
                </a:solidFill>
                <a:highlight>
                  <a:srgbClr val="FFFFFF"/>
                </a:highlight>
                <a:latin typeface="Consolas" panose="020B0609020204030204" pitchFamily="49" charset="0"/>
              </a:rPr>
              <a:t>theForm</a:t>
            </a:r>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if</a:t>
            </a:r>
            <a:r>
              <a:rPr lang="en-GB" b="1" dirty="0">
                <a:solidFill>
                  <a:srgbClr val="000000"/>
                </a:solidFill>
                <a:highlight>
                  <a:srgbClr val="FFFFFF"/>
                </a:highlight>
                <a:latin typeface="Consolas" panose="020B0609020204030204" pitchFamily="49" charset="0"/>
              </a:rPr>
              <a:t> (</a:t>
            </a:r>
            <a:r>
              <a:rPr lang="en-GB" b="1" dirty="0" err="1">
                <a:solidFill>
                  <a:srgbClr val="000000"/>
                </a:solidFill>
                <a:highlight>
                  <a:srgbClr val="FFFFFF"/>
                </a:highlight>
                <a:latin typeface="Consolas" panose="020B0609020204030204" pitchFamily="49" charset="0"/>
              </a:rPr>
              <a:t>theForm.drink</a:t>
            </a:r>
            <a:r>
              <a:rPr lang="en-GB" b="1" dirty="0">
                <a:solidFill>
                  <a:srgbClr val="000000"/>
                </a:solidFill>
                <a:highlight>
                  <a:srgbClr val="FFFFFF"/>
                </a:highlight>
                <a:latin typeface="Consolas" panose="020B0609020204030204" pitchFamily="49" charset="0"/>
              </a:rPr>
              <a:t>[2].checked &amp;&amp;</a:t>
            </a:r>
          </a:p>
          <a:p>
            <a:r>
              <a:rPr lang="en-GB" b="1" dirty="0">
                <a:solidFill>
                  <a:srgbClr val="000000"/>
                </a:solidFill>
                <a:highlight>
                  <a:srgbClr val="FFFFFF"/>
                </a:highlight>
                <a:latin typeface="Consolas" panose="020B0609020204030204" pitchFamily="49" charset="0"/>
              </a:rPr>
              <a:t>            (</a:t>
            </a:r>
            <a:r>
              <a:rPr lang="en-GB" b="1" dirty="0" err="1">
                <a:solidFill>
                  <a:srgbClr val="000000"/>
                </a:solidFill>
                <a:highlight>
                  <a:srgbClr val="FFFFFF"/>
                </a:highlight>
                <a:latin typeface="Consolas" panose="020B0609020204030204" pitchFamily="49" charset="0"/>
              </a:rPr>
              <a:t>theForm.milk.checked</a:t>
            </a:r>
            <a:r>
              <a:rPr lang="en-GB" b="1" dirty="0">
                <a:solidFill>
                  <a:srgbClr val="000000"/>
                </a:solidFill>
                <a:highlight>
                  <a:srgbClr val="FFFFFF"/>
                </a:highlight>
                <a:latin typeface="Consolas" panose="020B0609020204030204" pitchFamily="49" charset="0"/>
              </a:rPr>
              <a:t> || </a:t>
            </a:r>
            <a:r>
              <a:rPr lang="en-GB" b="1" dirty="0" err="1">
                <a:solidFill>
                  <a:srgbClr val="000000"/>
                </a:solidFill>
                <a:highlight>
                  <a:srgbClr val="FFFFFF"/>
                </a:highlight>
                <a:latin typeface="Consolas" panose="020B0609020204030204" pitchFamily="49" charset="0"/>
              </a:rPr>
              <a:t>theForm.sugar.checked</a:t>
            </a:r>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alert(</a:t>
            </a:r>
            <a:r>
              <a:rPr lang="en-GB" b="1" dirty="0">
                <a:solidFill>
                  <a:srgbClr val="A31515"/>
                </a:solidFill>
                <a:highlight>
                  <a:srgbClr val="FFFFFF"/>
                </a:highlight>
                <a:latin typeface="Consolas" panose="020B0609020204030204" pitchFamily="49" charset="0"/>
              </a:rPr>
              <a:t>"You can't have milk or sugar with soup!"</a:t>
            </a:r>
            <a:r>
              <a:rPr lang="en-GB" b="1" dirty="0">
                <a:solidFill>
                  <a:srgbClr val="000000"/>
                </a:solidFill>
                <a:highlight>
                  <a:srgbClr val="FFFFFF"/>
                </a:highlight>
                <a:latin typeface="Consolas" panose="020B0609020204030204" pitchFamily="49" charset="0"/>
              </a:rPr>
              <a:t>);</a:t>
            </a: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return</a:t>
            </a:r>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false</a:t>
            </a:r>
            <a:r>
              <a:rPr lang="en-GB" b="1" dirty="0">
                <a:solidFill>
                  <a:srgbClr val="000000"/>
                </a:solidFill>
                <a:highlight>
                  <a:srgbClr val="FFFFFF"/>
                </a:highlight>
                <a:latin typeface="Consolas" panose="020B0609020204030204" pitchFamily="49" charset="0"/>
              </a:rPr>
              <a:t>; 	</a:t>
            </a:r>
            <a:r>
              <a:rPr lang="en-GB" b="1" dirty="0">
                <a:solidFill>
                  <a:srgbClr val="008000"/>
                </a:solidFill>
                <a:highlight>
                  <a:srgbClr val="FFFFFF"/>
                </a:highlight>
                <a:latin typeface="Consolas" panose="020B0609020204030204" pitchFamily="49" charset="0"/>
              </a:rPr>
              <a:t>// Problem</a:t>
            </a:r>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else</a:t>
            </a:r>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return</a:t>
            </a:r>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true</a:t>
            </a:r>
            <a:r>
              <a:rPr lang="en-GB" b="1" dirty="0">
                <a:solidFill>
                  <a:srgbClr val="000000"/>
                </a:solidFill>
                <a:highlight>
                  <a:srgbClr val="FFFFFF"/>
                </a:highlight>
                <a:latin typeface="Consolas" panose="020B0609020204030204" pitchFamily="49" charset="0"/>
              </a:rPr>
              <a:t>; 	</a:t>
            </a:r>
            <a:r>
              <a:rPr lang="en-GB" b="1" dirty="0">
                <a:solidFill>
                  <a:srgbClr val="008000"/>
                </a:solidFill>
                <a:highlight>
                  <a:srgbClr val="FFFFFF"/>
                </a:highlight>
                <a:latin typeface="Consolas" panose="020B0609020204030204" pitchFamily="49" charset="0"/>
              </a:rPr>
              <a:t>// OK</a:t>
            </a:r>
            <a:br>
              <a:rPr lang="en-GB" b="1" dirty="0">
                <a:solidFill>
                  <a:srgbClr val="000000"/>
                </a:solidFill>
                <a:highlight>
                  <a:srgbClr val="FFFFFF"/>
                </a:highlight>
                <a:latin typeface="Consolas" panose="020B0609020204030204" pitchFamily="49" charset="0"/>
              </a:rPr>
            </a:br>
            <a:r>
              <a:rPr lang="en-GB" b="1" dirty="0">
                <a:solidFill>
                  <a:srgbClr val="000000"/>
                </a:solidFill>
                <a:highlight>
                  <a:srgbClr val="FFFFFF"/>
                </a:highlight>
                <a:latin typeface="Consolas" panose="020B0609020204030204" pitchFamily="49" charset="0"/>
              </a:rPr>
              <a:t>    }</a:t>
            </a:r>
          </a:p>
          <a:p>
            <a:endParaRPr lang="en-GB" b="1" dirty="0">
              <a:solidFill>
                <a:srgbClr val="000000"/>
              </a:solidFill>
              <a:highlight>
                <a:srgbClr val="FFFFFF"/>
              </a:highlight>
              <a:latin typeface="Consolas" panose="020B0609020204030204" pitchFamily="49" charset="0"/>
            </a:endParaRPr>
          </a:p>
          <a:p>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3183880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Alternative Code – Coding for div, </a:t>
            </a:r>
            <a:r>
              <a:rPr lang="en-GB" dirty="0" err="1"/>
              <a:t>chechBox</a:t>
            </a:r>
            <a:r>
              <a:rPr lang="en-GB" dirty="0"/>
              <a:t> and radio</a:t>
            </a:r>
          </a:p>
        </p:txBody>
      </p:sp>
      <p:sp>
        <p:nvSpPr>
          <p:cNvPr id="4" name="Rectangle 3"/>
          <p:cNvSpPr/>
          <p:nvPr/>
        </p:nvSpPr>
        <p:spPr>
          <a:xfrm>
            <a:off x="677325" y="1175086"/>
            <a:ext cx="8590500" cy="2800767"/>
          </a:xfrm>
          <a:prstGeom prst="rect">
            <a:avLst/>
          </a:prstGeom>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script</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a:p>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function</a:t>
            </a:r>
            <a:r>
              <a:rPr lang="en-GB" sz="1600" b="1" dirty="0">
                <a:solidFill>
                  <a:srgbClr val="000000"/>
                </a:solidFill>
                <a:highlight>
                  <a:srgbClr val="FFFFFF"/>
                </a:highlight>
                <a:latin typeface="Consolas" panose="020B0609020204030204" pitchFamily="49" charset="0"/>
              </a:rPr>
              <a:t> </a:t>
            </a:r>
            <a:r>
              <a:rPr lang="en-GB" sz="1600" b="1" dirty="0" err="1">
                <a:solidFill>
                  <a:srgbClr val="000000"/>
                </a:solidFill>
                <a:highlight>
                  <a:srgbClr val="FFFFFF"/>
                </a:highlight>
                <a:latin typeface="Consolas" panose="020B0609020204030204" pitchFamily="49" charset="0"/>
              </a:rPr>
              <a:t>ValDrink</a:t>
            </a:r>
            <a:r>
              <a:rPr lang="en-GB" sz="1600" b="1" dirty="0">
                <a:solidFill>
                  <a:srgbClr val="000000"/>
                </a:solidFill>
                <a:highlight>
                  <a:srgbClr val="FFFFFF"/>
                </a:highlight>
                <a:latin typeface="Consolas" panose="020B0609020204030204" pitchFamily="49" charset="0"/>
              </a:rPr>
              <a:t>(</a:t>
            </a:r>
            <a:r>
              <a:rPr lang="en-GB" sz="1600" b="1" dirty="0" err="1">
                <a:solidFill>
                  <a:srgbClr val="000000"/>
                </a:solidFill>
                <a:highlight>
                  <a:srgbClr val="FFFFFF"/>
                </a:highlight>
                <a:latin typeface="Consolas" panose="020B0609020204030204" pitchFamily="49" charset="0"/>
              </a:rPr>
              <a:t>theForm</a:t>
            </a:r>
            <a:r>
              <a:rPr lang="en-GB" sz="1600" b="1" dirty="0">
                <a:solidFill>
                  <a:srgbClr val="000000"/>
                </a:solidFill>
                <a:highlight>
                  <a:srgbClr val="FFFFFF"/>
                </a:highlight>
                <a:latin typeface="Consolas" panose="020B0609020204030204" pitchFamily="49" charset="0"/>
              </a:rPr>
              <a:t>) {</a:t>
            </a:r>
          </a:p>
          <a:p>
            <a:r>
              <a:rPr lang="en-GB" sz="1600" b="1" dirty="0">
                <a:solidFill>
                  <a:srgbClr val="000000"/>
                </a:solidFill>
                <a:highlight>
                  <a:srgbClr val="FFFFFF"/>
                </a:highlight>
                <a:latin typeface="Consolas" panose="020B0609020204030204" pitchFamily="49" charset="0"/>
              </a:rPr>
              <a:t>        </a:t>
            </a:r>
            <a:r>
              <a:rPr lang="en-GB" sz="1600" b="1" dirty="0" err="1">
                <a:solidFill>
                  <a:srgbClr val="0000FF"/>
                </a:solidFill>
                <a:highlight>
                  <a:srgbClr val="FFFFFF"/>
                </a:highlight>
                <a:latin typeface="Consolas" panose="020B0609020204030204" pitchFamily="49" charset="0"/>
              </a:rPr>
              <a:t>var</a:t>
            </a:r>
            <a:r>
              <a:rPr lang="en-GB" sz="1600" b="1" dirty="0">
                <a:solidFill>
                  <a:srgbClr val="000000"/>
                </a:solidFill>
                <a:highlight>
                  <a:srgbClr val="FFFFFF"/>
                </a:highlight>
                <a:latin typeface="Consolas" panose="020B0609020204030204" pitchFamily="49" charset="0"/>
              </a:rPr>
              <a:t> </a:t>
            </a:r>
            <a:r>
              <a:rPr lang="en-GB" sz="1600" b="1" dirty="0" err="1">
                <a:solidFill>
                  <a:srgbClr val="000000"/>
                </a:solidFill>
                <a:highlight>
                  <a:srgbClr val="FFFFFF"/>
                </a:highlight>
                <a:latin typeface="Consolas" panose="020B0609020204030204" pitchFamily="49" charset="0"/>
              </a:rPr>
              <a:t>divInfo</a:t>
            </a:r>
            <a:r>
              <a:rPr lang="en-GB" sz="1600" b="1" dirty="0">
                <a:solidFill>
                  <a:srgbClr val="000000"/>
                </a:solidFill>
                <a:highlight>
                  <a:srgbClr val="FFFFFF"/>
                </a:highlight>
                <a:latin typeface="Consolas" panose="020B0609020204030204" pitchFamily="49" charset="0"/>
              </a:rPr>
              <a:t> = </a:t>
            </a:r>
            <a:r>
              <a:rPr lang="en-GB" sz="1600" b="1" dirty="0" err="1">
                <a:solidFill>
                  <a:srgbClr val="000000"/>
                </a:solidFill>
                <a:highlight>
                  <a:srgbClr val="FFFFFF"/>
                </a:highlight>
                <a:latin typeface="Consolas" panose="020B0609020204030204" pitchFamily="49" charset="0"/>
              </a:rPr>
              <a:t>document.getElementById</a:t>
            </a:r>
            <a:r>
              <a:rPr lang="en-GB" sz="1600" b="1" dirty="0">
                <a:solidFill>
                  <a:srgbClr val="000000"/>
                </a:solidFill>
                <a:highlight>
                  <a:srgbClr val="FFFFFF"/>
                </a:highlight>
                <a:latin typeface="Consolas" panose="020B0609020204030204" pitchFamily="49" charset="0"/>
              </a:rPr>
              <a:t>(</a:t>
            </a:r>
            <a:r>
              <a:rPr lang="en-GB" sz="1600" b="1" dirty="0">
                <a:solidFill>
                  <a:srgbClr val="A31515"/>
                </a:solidFill>
                <a:highlight>
                  <a:srgbClr val="FFFFFF"/>
                </a:highlight>
                <a:latin typeface="Consolas" panose="020B0609020204030204" pitchFamily="49" charset="0"/>
              </a:rPr>
              <a:t>"</a:t>
            </a:r>
            <a:r>
              <a:rPr lang="en-GB" sz="1600" b="1" dirty="0" err="1">
                <a:solidFill>
                  <a:srgbClr val="A31515"/>
                </a:solidFill>
                <a:highlight>
                  <a:srgbClr val="FFFFFF"/>
                </a:highlight>
                <a:latin typeface="Consolas" panose="020B0609020204030204" pitchFamily="49" charset="0"/>
              </a:rPr>
              <a:t>divInfo</a:t>
            </a:r>
            <a:r>
              <a:rPr lang="en-GB" sz="1600" b="1" dirty="0">
                <a:solidFill>
                  <a:srgbClr val="A31515"/>
                </a:solidFill>
                <a:highlight>
                  <a:srgbClr val="FFFFFF"/>
                </a:highlight>
                <a:latin typeface="Consolas" panose="020B0609020204030204" pitchFamily="49" charset="0"/>
              </a:rPr>
              <a:t>"</a:t>
            </a:r>
            <a:r>
              <a:rPr lang="en-GB" sz="1600" b="1" dirty="0">
                <a:solidFill>
                  <a:srgbClr val="000000"/>
                </a:solidFill>
                <a:highlight>
                  <a:srgbClr val="FFFFFF"/>
                </a:highlight>
                <a:latin typeface="Consolas" panose="020B0609020204030204" pitchFamily="49" charset="0"/>
              </a:rPr>
              <a:t>);</a:t>
            </a:r>
          </a:p>
          <a:p>
            <a:endParaRPr lang="en-GB" sz="1600" b="1" dirty="0">
              <a:solidFill>
                <a:srgbClr val="000000"/>
              </a:solidFill>
              <a:highlight>
                <a:srgbClr val="FFFFFF"/>
              </a:highlight>
              <a:latin typeface="Consolas" panose="020B0609020204030204" pitchFamily="49" charset="0"/>
            </a:endParaRPr>
          </a:p>
          <a:p>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if</a:t>
            </a:r>
            <a:r>
              <a:rPr lang="en-GB" sz="1600" b="1" dirty="0">
                <a:solidFill>
                  <a:srgbClr val="000000"/>
                </a:solidFill>
                <a:highlight>
                  <a:srgbClr val="FFFFFF"/>
                </a:highlight>
                <a:latin typeface="Consolas" panose="020B0609020204030204" pitchFamily="49" charset="0"/>
              </a:rPr>
              <a:t> (</a:t>
            </a:r>
            <a:r>
              <a:rPr lang="en-GB" sz="1600" b="1" dirty="0" err="1">
                <a:solidFill>
                  <a:srgbClr val="000000"/>
                </a:solidFill>
                <a:highlight>
                  <a:srgbClr val="FFFFFF"/>
                </a:highlight>
                <a:latin typeface="Consolas" panose="020B0609020204030204" pitchFamily="49" charset="0"/>
              </a:rPr>
              <a:t>theForm.drink.value</a:t>
            </a:r>
            <a:r>
              <a:rPr lang="en-GB" sz="1600" b="1" dirty="0">
                <a:solidFill>
                  <a:srgbClr val="000000"/>
                </a:solidFill>
                <a:highlight>
                  <a:srgbClr val="FFFFFF"/>
                </a:highlight>
                <a:latin typeface="Consolas" panose="020B0609020204030204" pitchFamily="49" charset="0"/>
              </a:rPr>
              <a:t> == </a:t>
            </a:r>
            <a:r>
              <a:rPr lang="en-GB" sz="1600" b="1" dirty="0">
                <a:solidFill>
                  <a:srgbClr val="A31515"/>
                </a:solidFill>
                <a:highlight>
                  <a:srgbClr val="FFFFFF"/>
                </a:highlight>
                <a:latin typeface="Consolas" panose="020B0609020204030204" pitchFamily="49" charset="0"/>
              </a:rPr>
              <a:t>"</a:t>
            </a:r>
            <a:r>
              <a:rPr lang="en-GB" sz="1600" b="1" dirty="0">
                <a:solidFill>
                  <a:srgbClr val="0000FF"/>
                </a:solidFill>
                <a:highlight>
                  <a:srgbClr val="FFFFFF"/>
                </a:highlight>
                <a:latin typeface="Consolas" panose="020B0609020204030204" pitchFamily="49" charset="0"/>
              </a:rPr>
              <a:t>s</a:t>
            </a:r>
            <a:r>
              <a:rPr lang="en-GB" sz="1600" b="1" dirty="0">
                <a:solidFill>
                  <a:srgbClr val="A31515"/>
                </a:solidFill>
                <a:highlight>
                  <a:srgbClr val="FFFFFF"/>
                </a:highlight>
                <a:latin typeface="Consolas" panose="020B0609020204030204" pitchFamily="49" charset="0"/>
              </a:rPr>
              <a:t>"</a:t>
            </a:r>
            <a:r>
              <a:rPr lang="en-GB" sz="1600" b="1" dirty="0">
                <a:solidFill>
                  <a:srgbClr val="000000"/>
                </a:solidFill>
                <a:highlight>
                  <a:srgbClr val="FFFFFF"/>
                </a:highlight>
                <a:latin typeface="Consolas" panose="020B0609020204030204" pitchFamily="49" charset="0"/>
              </a:rPr>
              <a:t> &amp;&amp;</a:t>
            </a:r>
          </a:p>
          <a:p>
            <a:r>
              <a:rPr lang="en-GB" sz="1600" b="1" dirty="0">
                <a:solidFill>
                  <a:srgbClr val="000000"/>
                </a:solidFill>
                <a:highlight>
                  <a:srgbClr val="FFFFFF"/>
                </a:highlight>
                <a:latin typeface="Consolas" panose="020B0609020204030204" pitchFamily="49" charset="0"/>
              </a:rPr>
              <a:t>            (</a:t>
            </a:r>
            <a:r>
              <a:rPr lang="en-GB" sz="1600" b="1" dirty="0" err="1">
                <a:solidFill>
                  <a:srgbClr val="000000"/>
                </a:solidFill>
                <a:highlight>
                  <a:srgbClr val="FFFFFF"/>
                </a:highlight>
                <a:latin typeface="Consolas" panose="020B0609020204030204" pitchFamily="49" charset="0"/>
              </a:rPr>
              <a:t>theForm.</a:t>
            </a:r>
            <a:r>
              <a:rPr lang="en-GB" sz="1600" b="1" dirty="0" err="1">
                <a:solidFill>
                  <a:srgbClr val="0000FF"/>
                </a:solidFill>
                <a:highlight>
                  <a:srgbClr val="FFFFFF"/>
                </a:highlight>
                <a:latin typeface="Consolas" panose="020B0609020204030204" pitchFamily="49" charset="0"/>
              </a:rPr>
              <a:t>milk</a:t>
            </a:r>
            <a:r>
              <a:rPr lang="en-GB" sz="1600" b="1" dirty="0" err="1">
                <a:solidFill>
                  <a:srgbClr val="000000"/>
                </a:solidFill>
                <a:highlight>
                  <a:srgbClr val="FFFFFF"/>
                </a:highlight>
                <a:latin typeface="Consolas" panose="020B0609020204030204" pitchFamily="49" charset="0"/>
              </a:rPr>
              <a:t>.checked</a:t>
            </a:r>
            <a:r>
              <a:rPr lang="en-GB" sz="1600" b="1" dirty="0">
                <a:solidFill>
                  <a:srgbClr val="000000"/>
                </a:solidFill>
                <a:highlight>
                  <a:srgbClr val="FFFFFF"/>
                </a:highlight>
                <a:latin typeface="Consolas" panose="020B0609020204030204" pitchFamily="49" charset="0"/>
              </a:rPr>
              <a:t> || </a:t>
            </a:r>
            <a:r>
              <a:rPr lang="en-GB" sz="1600" b="1" dirty="0" err="1">
                <a:solidFill>
                  <a:srgbClr val="000000"/>
                </a:solidFill>
                <a:highlight>
                  <a:srgbClr val="FFFFFF"/>
                </a:highlight>
                <a:latin typeface="Consolas" panose="020B0609020204030204" pitchFamily="49" charset="0"/>
              </a:rPr>
              <a:t>theForm.</a:t>
            </a:r>
            <a:r>
              <a:rPr lang="en-GB" sz="1600" b="1" dirty="0" err="1">
                <a:solidFill>
                  <a:srgbClr val="0000FF"/>
                </a:solidFill>
                <a:highlight>
                  <a:srgbClr val="FFFFFF"/>
                </a:highlight>
                <a:latin typeface="Consolas" panose="020B0609020204030204" pitchFamily="49" charset="0"/>
              </a:rPr>
              <a:t>sugar</a:t>
            </a:r>
            <a:r>
              <a:rPr lang="en-GB" sz="1600" b="1" dirty="0" err="1">
                <a:solidFill>
                  <a:srgbClr val="000000"/>
                </a:solidFill>
                <a:highlight>
                  <a:srgbClr val="FFFFFF"/>
                </a:highlight>
                <a:latin typeface="Consolas" panose="020B0609020204030204" pitchFamily="49" charset="0"/>
              </a:rPr>
              <a:t>.checked</a:t>
            </a:r>
            <a:r>
              <a:rPr lang="en-GB" sz="1600" b="1" dirty="0">
                <a:solidFill>
                  <a:srgbClr val="000000"/>
                </a:solidFill>
                <a:highlight>
                  <a:srgbClr val="FFFFFF"/>
                </a:highlight>
                <a:latin typeface="Consolas" panose="020B0609020204030204" pitchFamily="49" charset="0"/>
              </a:rPr>
              <a:t>) ) {</a:t>
            </a:r>
          </a:p>
          <a:p>
            <a:r>
              <a:rPr lang="en-GB" sz="1600" b="1" dirty="0">
                <a:solidFill>
                  <a:srgbClr val="000000"/>
                </a:solidFill>
                <a:highlight>
                  <a:srgbClr val="FFFFFF"/>
                </a:highlight>
                <a:latin typeface="Consolas" panose="020B0609020204030204" pitchFamily="49" charset="0"/>
              </a:rPr>
              <a:t> 	    </a:t>
            </a:r>
            <a:r>
              <a:rPr lang="es-ES" sz="1600" b="1" dirty="0" err="1">
                <a:solidFill>
                  <a:srgbClr val="0000FF"/>
                </a:solidFill>
                <a:highlight>
                  <a:srgbClr val="FFFFFF"/>
                </a:highlight>
                <a:latin typeface="Consolas" panose="020B0609020204030204" pitchFamily="49" charset="0"/>
              </a:rPr>
              <a:t>divInfo</a:t>
            </a:r>
            <a:r>
              <a:rPr lang="en-GB" sz="1600" b="1" dirty="0">
                <a:solidFill>
                  <a:srgbClr val="000000"/>
                </a:solidFill>
                <a:highlight>
                  <a:srgbClr val="FFFFFF"/>
                </a:highlight>
                <a:latin typeface="Consolas" panose="020B0609020204030204" pitchFamily="49" charset="0"/>
              </a:rPr>
              <a:t>.</a:t>
            </a:r>
            <a:r>
              <a:rPr lang="en-GB" sz="1600" b="1" dirty="0" err="1">
                <a:solidFill>
                  <a:srgbClr val="000000"/>
                </a:solidFill>
                <a:highlight>
                  <a:srgbClr val="FFFFFF"/>
                </a:highlight>
                <a:latin typeface="Consolas" panose="020B0609020204030204" pitchFamily="49" charset="0"/>
              </a:rPr>
              <a:t>innerHTML</a:t>
            </a:r>
            <a:r>
              <a:rPr lang="en-GB" sz="1600" b="1" dirty="0">
                <a:solidFill>
                  <a:srgbClr val="000000"/>
                </a:solidFill>
                <a:highlight>
                  <a:srgbClr val="FFFFFF"/>
                </a:highlight>
                <a:latin typeface="Consolas" panose="020B0609020204030204" pitchFamily="49" charset="0"/>
              </a:rPr>
              <a:t> = </a:t>
            </a:r>
            <a:r>
              <a:rPr lang="en-GB" sz="1600" b="1" dirty="0">
                <a:solidFill>
                  <a:srgbClr val="A31515"/>
                </a:solidFill>
                <a:highlight>
                  <a:srgbClr val="FFFFFF"/>
                </a:highlight>
                <a:latin typeface="Consolas" panose="020B0609020204030204" pitchFamily="49" charset="0"/>
              </a:rPr>
              <a:t>"Can't have milk or sugar with soup!"</a:t>
            </a:r>
            <a:r>
              <a:rPr lang="en-GB" sz="1600" b="1" dirty="0">
                <a:solidFill>
                  <a:srgbClr val="000000"/>
                </a:solidFill>
                <a:highlight>
                  <a:srgbClr val="FFFFFF"/>
                </a:highlight>
                <a:latin typeface="Consolas" panose="020B0609020204030204" pitchFamily="49" charset="0"/>
              </a:rPr>
              <a:t>;</a:t>
            </a:r>
          </a:p>
          <a:p>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return</a:t>
            </a: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false</a:t>
            </a:r>
            <a:r>
              <a:rPr lang="en-GB" sz="1600" b="1" dirty="0">
                <a:solidFill>
                  <a:srgbClr val="000000"/>
                </a:solidFill>
                <a:highlight>
                  <a:srgbClr val="FFFFFF"/>
                </a:highlight>
                <a:latin typeface="Consolas" panose="020B0609020204030204" pitchFamily="49" charset="0"/>
              </a:rPr>
              <a:t>;</a:t>
            </a:r>
          </a:p>
          <a:p>
            <a:r>
              <a:rPr lang="en-GB" sz="1600" b="1" dirty="0">
                <a:solidFill>
                  <a:srgbClr val="000000"/>
                </a:solidFill>
                <a:highlight>
                  <a:srgbClr val="FFFFFF"/>
                </a:highlight>
                <a:latin typeface="Consolas" panose="020B0609020204030204" pitchFamily="49" charset="0"/>
              </a:rPr>
              <a:t>        }</a:t>
            </a:r>
          </a:p>
          <a:p>
            <a:r>
              <a:rPr lang="en-GB" sz="1600" b="1" dirty="0">
                <a:solidFill>
                  <a:srgbClr val="000000"/>
                </a:solidFill>
                <a:highlight>
                  <a:srgbClr val="FFFFFF"/>
                </a:highlight>
                <a:latin typeface="Consolas" panose="020B0609020204030204" pitchFamily="49" charset="0"/>
              </a:rPr>
              <a:t>    }</a:t>
            </a:r>
          </a:p>
          <a:p>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script</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p:txBody>
      </p:sp>
      <p:sp>
        <p:nvSpPr>
          <p:cNvPr id="5" name="Rectangle 4">
            <a:extLst>
              <a:ext uri="{FF2B5EF4-FFF2-40B4-BE49-F238E27FC236}">
                <a16:creationId xmlns:a16="http://schemas.microsoft.com/office/drawing/2014/main" id="{C9321B43-A309-0CE9-574E-182B1A94B2DA}"/>
              </a:ext>
            </a:extLst>
          </p:cNvPr>
          <p:cNvSpPr/>
          <p:nvPr/>
        </p:nvSpPr>
        <p:spPr>
          <a:xfrm>
            <a:off x="2477026" y="3741397"/>
            <a:ext cx="8590500" cy="2554545"/>
          </a:xfrm>
          <a:prstGeom prst="rect">
            <a:avLst/>
          </a:prstGeom>
          <a:solidFill>
            <a:schemeClr val="accent5">
              <a:lumMod val="20000"/>
              <a:lumOff val="80000"/>
            </a:schemeClr>
          </a:solidFill>
          <a:ln w="2540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body</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form</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method</a:t>
            </a:r>
            <a:r>
              <a:rPr lang="en-GB" sz="1600" dirty="0">
                <a:solidFill>
                  <a:srgbClr val="0000FF"/>
                </a:solidFill>
                <a:latin typeface="Consolas" panose="020B0609020204030204" pitchFamily="49" charset="0"/>
              </a:rPr>
              <a:t>="get"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action</a:t>
            </a:r>
            <a:r>
              <a:rPr lang="en-GB" sz="1600" dirty="0">
                <a:solidFill>
                  <a:srgbClr val="0000FF"/>
                </a:solidFill>
                <a:latin typeface="Consolas" panose="020B0609020204030204" pitchFamily="49" charset="0"/>
              </a:rPr>
              <a:t>="serve.asp" </a:t>
            </a:r>
            <a:r>
              <a:rPr lang="en-GB" sz="1600" dirty="0" err="1">
                <a:solidFill>
                  <a:srgbClr val="FF0000"/>
                </a:solidFill>
                <a:latin typeface="Consolas" panose="020B0609020204030204" pitchFamily="49" charset="0"/>
              </a:rPr>
              <a:t>onsubmit</a:t>
            </a:r>
            <a:r>
              <a:rPr lang="en-GB" sz="1600" dirty="0">
                <a:solidFill>
                  <a:srgbClr val="0000FF"/>
                </a:solidFill>
                <a:latin typeface="Consolas" panose="020B0609020204030204" pitchFamily="49" charset="0"/>
              </a:rPr>
              <a:t>="return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ValDrink</a:t>
            </a:r>
            <a:r>
              <a:rPr lang="en-GB" sz="1600" dirty="0">
                <a:solidFill>
                  <a:srgbClr val="000000"/>
                </a:solidFill>
                <a:latin typeface="Consolas" panose="020B0609020204030204" pitchFamily="49" charset="0"/>
              </a:rPr>
              <a:t>(</a:t>
            </a:r>
            <a:r>
              <a:rPr lang="en-GB" sz="1600" dirty="0">
                <a:solidFill>
                  <a:srgbClr val="0000FF"/>
                </a:solidFill>
                <a:latin typeface="Consolas" panose="020B0609020204030204" pitchFamily="49" charset="0"/>
              </a:rPr>
              <a:t>this</a:t>
            </a:r>
            <a:r>
              <a:rPr lang="en-GB" sz="1600" dirty="0">
                <a:solidFill>
                  <a:srgbClr val="000000"/>
                </a:solidFill>
                <a:latin typeface="Consolas" panose="020B0609020204030204" pitchFamily="49" charset="0"/>
              </a:rPr>
              <a:t>)</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="radio"</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checked</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name</a:t>
            </a:r>
            <a:r>
              <a:rPr lang="en-GB" sz="1600" dirty="0">
                <a:solidFill>
                  <a:srgbClr val="0000FF"/>
                </a:solidFill>
                <a:latin typeface="Consolas" panose="020B0609020204030204" pitchFamily="49" charset="0"/>
              </a:rPr>
              <a:t>="drink"</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value</a:t>
            </a:r>
            <a:r>
              <a:rPr lang="en-GB" sz="1600" dirty="0">
                <a:solidFill>
                  <a:srgbClr val="0000FF"/>
                </a:solidFill>
                <a:latin typeface="Consolas" panose="020B0609020204030204" pitchFamily="49" charset="0"/>
              </a:rPr>
              <a:t>="t"</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r>
              <a:rPr lang="en-GB" sz="1600" dirty="0">
                <a:solidFill>
                  <a:srgbClr val="000000"/>
                </a:solidFill>
                <a:latin typeface="Consolas" panose="020B0609020204030204" pitchFamily="49" charset="0"/>
              </a:rPr>
              <a:t>Tea</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="radio"</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name</a:t>
            </a:r>
            <a:r>
              <a:rPr lang="en-GB" sz="1600" dirty="0">
                <a:solidFill>
                  <a:srgbClr val="0000FF"/>
                </a:solidFill>
                <a:latin typeface="Consolas" panose="020B0609020204030204" pitchFamily="49" charset="0"/>
              </a:rPr>
              <a:t>="drink"</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value</a:t>
            </a:r>
            <a:r>
              <a:rPr lang="en-GB" sz="1600" dirty="0">
                <a:solidFill>
                  <a:srgbClr val="0000FF"/>
                </a:solidFill>
                <a:latin typeface="Consolas" panose="020B0609020204030204" pitchFamily="49" charset="0"/>
              </a:rPr>
              <a:t>="c"</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r>
              <a:rPr lang="en-GB" sz="1600" dirty="0">
                <a:solidFill>
                  <a:srgbClr val="000000"/>
                </a:solidFill>
                <a:latin typeface="Consolas" panose="020B0609020204030204" pitchFamily="49" charset="0"/>
              </a:rPr>
              <a:t>Coffee</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="radio"</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name</a:t>
            </a:r>
            <a:r>
              <a:rPr lang="en-GB" sz="1600" dirty="0">
                <a:solidFill>
                  <a:srgbClr val="0000FF"/>
                </a:solidFill>
                <a:latin typeface="Consolas" panose="020B0609020204030204" pitchFamily="49" charset="0"/>
              </a:rPr>
              <a:t>="drink"</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value</a:t>
            </a:r>
            <a:r>
              <a:rPr lang="en-GB" sz="1600" dirty="0">
                <a:solidFill>
                  <a:srgbClr val="0000FF"/>
                </a:solidFill>
                <a:latin typeface="Consolas" panose="020B0609020204030204" pitchFamily="49" charset="0"/>
              </a:rPr>
              <a:t>="s"</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r>
              <a:rPr lang="en-GB" sz="1600" dirty="0">
                <a:solidFill>
                  <a:srgbClr val="000000"/>
                </a:solidFill>
                <a:latin typeface="Consolas" panose="020B0609020204030204" pitchFamily="49" charset="0"/>
              </a:rPr>
              <a:t>Soup</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="checkbox"</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name</a:t>
            </a:r>
            <a:r>
              <a:rPr lang="en-GB" sz="1600" dirty="0">
                <a:solidFill>
                  <a:srgbClr val="0000FF"/>
                </a:solidFill>
                <a:latin typeface="Consolas" panose="020B0609020204030204" pitchFamily="49" charset="0"/>
              </a:rPr>
              <a:t>="milk"</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r>
              <a:rPr lang="en-GB" sz="1600" dirty="0">
                <a:solidFill>
                  <a:srgbClr val="000000"/>
                </a:solidFill>
                <a:latin typeface="Consolas" panose="020B0609020204030204" pitchFamily="49" charset="0"/>
              </a:rPr>
              <a:t>Milk</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="checkbox"</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name</a:t>
            </a:r>
            <a:r>
              <a:rPr lang="en-GB" sz="1600" dirty="0">
                <a:solidFill>
                  <a:srgbClr val="0000FF"/>
                </a:solidFill>
                <a:latin typeface="Consolas" panose="020B0609020204030204" pitchFamily="49" charset="0"/>
              </a:rPr>
              <a:t>="sugar"</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r>
              <a:rPr lang="en-GB" sz="1600" dirty="0">
                <a:solidFill>
                  <a:srgbClr val="000000"/>
                </a:solidFill>
                <a:latin typeface="Consolas" panose="020B0609020204030204" pitchFamily="49" charset="0"/>
              </a:rPr>
              <a:t>Sugar</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="submit"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value</a:t>
            </a:r>
            <a:r>
              <a:rPr lang="en-GB" sz="1600" dirty="0">
                <a:solidFill>
                  <a:srgbClr val="0000FF"/>
                </a:solidFill>
                <a:latin typeface="Consolas" panose="020B0609020204030204" pitchFamily="49" charset="0"/>
              </a:rPr>
              <a:t>="Vend"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form</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div</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id</a:t>
            </a:r>
            <a:r>
              <a:rPr lang="en-GB" sz="1600" dirty="0">
                <a:solidFill>
                  <a:srgbClr val="0000FF"/>
                </a:solidFill>
                <a:latin typeface="Consolas" panose="020B0609020204030204" pitchFamily="49" charset="0"/>
              </a:rPr>
              <a:t>="</a:t>
            </a:r>
            <a:r>
              <a:rPr lang="en-GB" sz="1600" dirty="0" err="1">
                <a:solidFill>
                  <a:srgbClr val="0000FF"/>
                </a:solidFill>
                <a:latin typeface="Consolas" panose="020B0609020204030204" pitchFamily="49" charset="0"/>
              </a:rPr>
              <a:t>divInfo</a:t>
            </a:r>
            <a:r>
              <a:rPr lang="en-GB" sz="1600" dirty="0">
                <a:solidFill>
                  <a:srgbClr val="0000FF"/>
                </a:solidFill>
                <a:latin typeface="Consolas" panose="020B0609020204030204" pitchFamily="49" charset="0"/>
              </a:rPr>
              <a:t>"&gt;&lt;/</a:t>
            </a:r>
            <a:r>
              <a:rPr lang="en-GB" sz="1600" dirty="0">
                <a:solidFill>
                  <a:srgbClr val="800000"/>
                </a:solidFill>
                <a:latin typeface="Consolas" panose="020B0609020204030204" pitchFamily="49" charset="0"/>
              </a:rPr>
              <a:t>div</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413163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List controls – value or </a:t>
            </a:r>
            <a:r>
              <a:rPr lang="en-GB" dirty="0" err="1"/>
              <a:t>selectedIndex</a:t>
            </a:r>
            <a:r>
              <a:rPr lang="en-GB" dirty="0"/>
              <a:t> attributes</a:t>
            </a:r>
          </a:p>
        </p:txBody>
      </p:sp>
      <p:sp>
        <p:nvSpPr>
          <p:cNvPr id="4" name="Rectangle 3"/>
          <p:cNvSpPr/>
          <p:nvPr/>
        </p:nvSpPr>
        <p:spPr>
          <a:xfrm>
            <a:off x="1863213" y="1255108"/>
            <a:ext cx="8465574" cy="2677656"/>
          </a:xfrm>
          <a:prstGeom prst="rect">
            <a:avLst/>
          </a:prstGeom>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sz="1400" b="1" dirty="0">
                <a:solidFill>
                  <a:srgbClr val="0000FF"/>
                </a:solidFill>
                <a:highlight>
                  <a:srgbClr val="FFFFFF"/>
                </a:highlight>
                <a:latin typeface="Consolas" panose="020B0609020204030204" pitchFamily="49" charset="0"/>
              </a:rPr>
              <a:t>&lt;</a:t>
            </a:r>
            <a:r>
              <a:rPr lang="en-GB" sz="1400" b="1" dirty="0">
                <a:solidFill>
                  <a:srgbClr val="800000"/>
                </a:solidFill>
                <a:highlight>
                  <a:srgbClr val="FFFFFF"/>
                </a:highlight>
                <a:latin typeface="Consolas" panose="020B0609020204030204" pitchFamily="49" charset="0"/>
              </a:rPr>
              <a:t>script</a:t>
            </a:r>
            <a:r>
              <a:rPr lang="en-GB" sz="1400" b="1" dirty="0">
                <a:solidFill>
                  <a:srgbClr val="0000FF"/>
                </a:solidFill>
                <a:highlight>
                  <a:srgbClr val="FFFFFF"/>
                </a:highlight>
                <a:latin typeface="Consolas" panose="020B0609020204030204" pitchFamily="49" charset="0"/>
              </a:rPr>
              <a:t>&gt;</a:t>
            </a:r>
            <a:endParaRPr lang="en-GB" sz="1400" b="1" dirty="0">
              <a:solidFill>
                <a:srgbClr val="000000"/>
              </a:solidFill>
              <a:highlight>
                <a:srgbClr val="FFFFFF"/>
              </a:highlight>
              <a:latin typeface="Consolas" panose="020B0609020204030204" pitchFamily="49" charset="0"/>
            </a:endParaRPr>
          </a:p>
          <a:p>
            <a:r>
              <a:rPr lang="en-GB" sz="1400" b="1" dirty="0">
                <a:solidFill>
                  <a:srgbClr val="000000"/>
                </a:solidFill>
                <a:highlight>
                  <a:srgbClr val="FFFFFF"/>
                </a:highlight>
                <a:latin typeface="Consolas" panose="020B0609020204030204" pitchFamily="49" charset="0"/>
              </a:rPr>
              <a:t>    </a:t>
            </a:r>
            <a:r>
              <a:rPr lang="en-GB" sz="1400" b="1" dirty="0">
                <a:solidFill>
                  <a:srgbClr val="0000FF"/>
                </a:solidFill>
                <a:highlight>
                  <a:srgbClr val="FFFFFF"/>
                </a:highlight>
                <a:latin typeface="Consolas" panose="020B0609020204030204" pitchFamily="49" charset="0"/>
              </a:rPr>
              <a:t>function</a:t>
            </a:r>
            <a:r>
              <a:rPr lang="en-GB" sz="1400" b="1" dirty="0">
                <a:solidFill>
                  <a:srgbClr val="000000"/>
                </a:solidFill>
                <a:highlight>
                  <a:srgbClr val="FFFFFF"/>
                </a:highlight>
                <a:latin typeface="Consolas" panose="020B0609020204030204" pitchFamily="49" charset="0"/>
              </a:rPr>
              <a:t> </a:t>
            </a:r>
            <a:r>
              <a:rPr lang="en-GB" sz="1400" b="1" dirty="0" err="1">
                <a:solidFill>
                  <a:srgbClr val="000000"/>
                </a:solidFill>
                <a:highlight>
                  <a:srgbClr val="FFFFFF"/>
                </a:highlight>
                <a:latin typeface="Consolas" panose="020B0609020204030204" pitchFamily="49" charset="0"/>
              </a:rPr>
              <a:t>ValDrink</a:t>
            </a:r>
            <a:r>
              <a:rPr lang="en-GB" sz="1400" b="1" dirty="0">
                <a:solidFill>
                  <a:srgbClr val="000000"/>
                </a:solidFill>
                <a:highlight>
                  <a:srgbClr val="FFFFFF"/>
                </a:highlight>
                <a:latin typeface="Consolas" panose="020B0609020204030204" pitchFamily="49" charset="0"/>
              </a:rPr>
              <a:t>(</a:t>
            </a:r>
            <a:r>
              <a:rPr lang="en-GB" sz="1400" b="1" dirty="0" err="1">
                <a:solidFill>
                  <a:srgbClr val="000000"/>
                </a:solidFill>
                <a:highlight>
                  <a:srgbClr val="FFFFFF"/>
                </a:highlight>
                <a:latin typeface="Consolas" panose="020B0609020204030204" pitchFamily="49" charset="0"/>
              </a:rPr>
              <a:t>theForm</a:t>
            </a:r>
            <a:r>
              <a:rPr lang="en-GB" sz="1400" b="1" dirty="0">
                <a:solidFill>
                  <a:srgbClr val="000000"/>
                </a:solidFill>
                <a:highlight>
                  <a:srgbClr val="FFFFFF"/>
                </a:highlight>
                <a:latin typeface="Consolas" panose="020B0609020204030204" pitchFamily="49" charset="0"/>
              </a:rPr>
              <a:t>) {</a:t>
            </a:r>
          </a:p>
          <a:p>
            <a:r>
              <a:rPr lang="en-GB" sz="1400" b="1" dirty="0">
                <a:solidFill>
                  <a:srgbClr val="000000"/>
                </a:solidFill>
                <a:highlight>
                  <a:srgbClr val="FFFFFF"/>
                </a:highlight>
                <a:latin typeface="Consolas" panose="020B0609020204030204" pitchFamily="49" charset="0"/>
              </a:rPr>
              <a:t>        </a:t>
            </a:r>
            <a:r>
              <a:rPr lang="en-GB" sz="1400" b="1" dirty="0" err="1">
                <a:solidFill>
                  <a:srgbClr val="0000FF"/>
                </a:solidFill>
                <a:highlight>
                  <a:srgbClr val="FFFFFF"/>
                </a:highlight>
                <a:latin typeface="Consolas" panose="020B0609020204030204" pitchFamily="49" charset="0"/>
              </a:rPr>
              <a:t>var</a:t>
            </a:r>
            <a:r>
              <a:rPr lang="en-GB" sz="1400" b="1" dirty="0">
                <a:solidFill>
                  <a:srgbClr val="000000"/>
                </a:solidFill>
                <a:highlight>
                  <a:srgbClr val="FFFFFF"/>
                </a:highlight>
                <a:latin typeface="Consolas" panose="020B0609020204030204" pitchFamily="49" charset="0"/>
              </a:rPr>
              <a:t> </a:t>
            </a:r>
            <a:r>
              <a:rPr lang="en-GB" sz="1400" b="1" dirty="0" err="1">
                <a:solidFill>
                  <a:srgbClr val="000000"/>
                </a:solidFill>
                <a:highlight>
                  <a:srgbClr val="FFFFFF"/>
                </a:highlight>
                <a:latin typeface="Consolas" panose="020B0609020204030204" pitchFamily="49" charset="0"/>
              </a:rPr>
              <a:t>divInfo</a:t>
            </a:r>
            <a:r>
              <a:rPr lang="en-GB" sz="1400" b="1" dirty="0">
                <a:solidFill>
                  <a:srgbClr val="000000"/>
                </a:solidFill>
                <a:highlight>
                  <a:srgbClr val="FFFFFF"/>
                </a:highlight>
                <a:latin typeface="Consolas" panose="020B0609020204030204" pitchFamily="49" charset="0"/>
              </a:rPr>
              <a:t> = </a:t>
            </a:r>
            <a:r>
              <a:rPr lang="en-GB" sz="1400" b="1" dirty="0" err="1">
                <a:solidFill>
                  <a:srgbClr val="000000"/>
                </a:solidFill>
                <a:highlight>
                  <a:srgbClr val="FFFFFF"/>
                </a:highlight>
                <a:latin typeface="Consolas" panose="020B0609020204030204" pitchFamily="49" charset="0"/>
              </a:rPr>
              <a:t>document.getElementById</a:t>
            </a:r>
            <a:r>
              <a:rPr lang="en-GB" sz="1400" b="1" dirty="0">
                <a:solidFill>
                  <a:srgbClr val="000000"/>
                </a:solidFill>
                <a:highlight>
                  <a:srgbClr val="FFFFFF"/>
                </a:highlight>
                <a:latin typeface="Consolas" panose="020B0609020204030204" pitchFamily="49" charset="0"/>
              </a:rPr>
              <a:t>(</a:t>
            </a:r>
            <a:r>
              <a:rPr lang="en-GB" sz="1400" b="1" dirty="0">
                <a:solidFill>
                  <a:srgbClr val="A31515"/>
                </a:solidFill>
                <a:highlight>
                  <a:srgbClr val="FFFFFF"/>
                </a:highlight>
                <a:latin typeface="Consolas" panose="020B0609020204030204" pitchFamily="49" charset="0"/>
              </a:rPr>
              <a:t>"</a:t>
            </a:r>
            <a:r>
              <a:rPr lang="en-GB" sz="1400" b="1" dirty="0" err="1">
                <a:solidFill>
                  <a:srgbClr val="A31515"/>
                </a:solidFill>
                <a:highlight>
                  <a:srgbClr val="FFFFFF"/>
                </a:highlight>
                <a:latin typeface="Consolas" panose="020B0609020204030204" pitchFamily="49" charset="0"/>
              </a:rPr>
              <a:t>divInfo</a:t>
            </a:r>
            <a:r>
              <a:rPr lang="en-GB" sz="1400" b="1" dirty="0">
                <a:solidFill>
                  <a:srgbClr val="A31515"/>
                </a:solidFill>
                <a:highlight>
                  <a:srgbClr val="FFFFFF"/>
                </a:highlight>
                <a:latin typeface="Consolas" panose="020B0609020204030204" pitchFamily="49" charset="0"/>
              </a:rPr>
              <a:t>"</a:t>
            </a:r>
            <a:r>
              <a:rPr lang="en-GB" sz="1400" b="1" dirty="0">
                <a:solidFill>
                  <a:srgbClr val="000000"/>
                </a:solidFill>
                <a:highlight>
                  <a:srgbClr val="FFFFFF"/>
                </a:highlight>
                <a:latin typeface="Consolas" panose="020B0609020204030204" pitchFamily="49" charset="0"/>
              </a:rPr>
              <a:t>);</a:t>
            </a:r>
          </a:p>
          <a:p>
            <a:endParaRPr lang="en-GB" sz="1400" b="1" dirty="0">
              <a:solidFill>
                <a:srgbClr val="000000"/>
              </a:solidFill>
              <a:highlight>
                <a:srgbClr val="FFFFFF"/>
              </a:highlight>
              <a:latin typeface="Consolas" panose="020B0609020204030204" pitchFamily="49" charset="0"/>
            </a:endParaRPr>
          </a:p>
          <a:p>
            <a:r>
              <a:rPr lang="en-GB" sz="1400" b="1" dirty="0">
                <a:solidFill>
                  <a:srgbClr val="000000"/>
                </a:solidFill>
                <a:highlight>
                  <a:srgbClr val="FFFFFF"/>
                </a:highlight>
                <a:latin typeface="Consolas" panose="020B0609020204030204" pitchFamily="49" charset="0"/>
              </a:rPr>
              <a:t>        </a:t>
            </a:r>
            <a:r>
              <a:rPr lang="en-GB" sz="1400" b="1" dirty="0">
                <a:solidFill>
                  <a:srgbClr val="0000FF"/>
                </a:solidFill>
                <a:highlight>
                  <a:srgbClr val="FFFFFF"/>
                </a:highlight>
                <a:latin typeface="Consolas" panose="020B0609020204030204" pitchFamily="49" charset="0"/>
              </a:rPr>
              <a:t>if</a:t>
            </a:r>
            <a:r>
              <a:rPr lang="en-GB" sz="1400" b="1" dirty="0">
                <a:solidFill>
                  <a:srgbClr val="000000"/>
                </a:solidFill>
                <a:highlight>
                  <a:srgbClr val="FFFFFF"/>
                </a:highlight>
                <a:latin typeface="Consolas" panose="020B0609020204030204" pitchFamily="49" charset="0"/>
              </a:rPr>
              <a:t> (</a:t>
            </a:r>
            <a:r>
              <a:rPr lang="en-GB" sz="1400" b="1" dirty="0" err="1">
                <a:solidFill>
                  <a:srgbClr val="000000"/>
                </a:solidFill>
                <a:highlight>
                  <a:srgbClr val="FFFFFF"/>
                </a:highlight>
                <a:latin typeface="Consolas" panose="020B0609020204030204" pitchFamily="49" charset="0"/>
              </a:rPr>
              <a:t>theForm.drinks.value</a:t>
            </a:r>
            <a:r>
              <a:rPr lang="en-GB" sz="1400" b="1" dirty="0">
                <a:solidFill>
                  <a:srgbClr val="000000"/>
                </a:solidFill>
                <a:highlight>
                  <a:srgbClr val="FFFFFF"/>
                </a:highlight>
                <a:latin typeface="Consolas" panose="020B0609020204030204" pitchFamily="49" charset="0"/>
              </a:rPr>
              <a:t> == </a:t>
            </a:r>
            <a:r>
              <a:rPr lang="en-GB" sz="1400" b="1" dirty="0">
                <a:solidFill>
                  <a:srgbClr val="A31515"/>
                </a:solidFill>
                <a:highlight>
                  <a:srgbClr val="FFFFFF"/>
                </a:highlight>
                <a:latin typeface="Consolas" panose="020B0609020204030204" pitchFamily="49" charset="0"/>
              </a:rPr>
              <a:t>"Soup"</a:t>
            </a:r>
            <a:r>
              <a:rPr lang="en-GB" sz="1400" b="1" dirty="0">
                <a:solidFill>
                  <a:srgbClr val="000000"/>
                </a:solidFill>
                <a:highlight>
                  <a:srgbClr val="FFFFFF"/>
                </a:highlight>
                <a:latin typeface="Consolas" panose="020B0609020204030204" pitchFamily="49" charset="0"/>
              </a:rPr>
              <a:t> &amp;&amp;</a:t>
            </a:r>
          </a:p>
          <a:p>
            <a:r>
              <a:rPr lang="en-GB" sz="1400" b="1" dirty="0">
                <a:solidFill>
                  <a:srgbClr val="000000"/>
                </a:solidFill>
                <a:highlight>
                  <a:srgbClr val="FFFFFF"/>
                </a:highlight>
                <a:latin typeface="Consolas" panose="020B0609020204030204" pitchFamily="49" charset="0"/>
              </a:rPr>
              <a:t>            (</a:t>
            </a:r>
            <a:r>
              <a:rPr lang="en-GB" sz="1400" b="1" dirty="0" err="1">
                <a:solidFill>
                  <a:srgbClr val="000000"/>
                </a:solidFill>
                <a:highlight>
                  <a:srgbClr val="FFFFFF"/>
                </a:highlight>
                <a:latin typeface="Consolas" panose="020B0609020204030204" pitchFamily="49" charset="0"/>
              </a:rPr>
              <a:t>theForm.milk.checked</a:t>
            </a:r>
            <a:r>
              <a:rPr lang="en-GB" sz="1400" b="1" dirty="0">
                <a:solidFill>
                  <a:srgbClr val="000000"/>
                </a:solidFill>
                <a:highlight>
                  <a:srgbClr val="FFFFFF"/>
                </a:highlight>
                <a:latin typeface="Consolas" panose="020B0609020204030204" pitchFamily="49" charset="0"/>
              </a:rPr>
              <a:t> || </a:t>
            </a:r>
            <a:r>
              <a:rPr lang="en-GB" sz="1400" b="1" dirty="0" err="1">
                <a:solidFill>
                  <a:srgbClr val="000000"/>
                </a:solidFill>
                <a:highlight>
                  <a:srgbClr val="FFFFFF"/>
                </a:highlight>
                <a:latin typeface="Consolas" panose="020B0609020204030204" pitchFamily="49" charset="0"/>
              </a:rPr>
              <a:t>theForm.sugar.checked</a:t>
            </a:r>
            <a:r>
              <a:rPr lang="en-GB" sz="1400" b="1" dirty="0">
                <a:solidFill>
                  <a:srgbClr val="000000"/>
                </a:solidFill>
                <a:highlight>
                  <a:srgbClr val="FFFFFF"/>
                </a:highlight>
                <a:latin typeface="Consolas" panose="020B0609020204030204" pitchFamily="49" charset="0"/>
              </a:rPr>
              <a:t>) ) {</a:t>
            </a:r>
          </a:p>
          <a:p>
            <a:r>
              <a:rPr lang="en-GB" sz="1400" b="1" dirty="0">
                <a:solidFill>
                  <a:srgbClr val="000000"/>
                </a:solidFill>
                <a:highlight>
                  <a:srgbClr val="FFFFFF"/>
                </a:highlight>
                <a:latin typeface="Consolas" panose="020B0609020204030204" pitchFamily="49" charset="0"/>
              </a:rPr>
              <a:t>            </a:t>
            </a:r>
            <a:r>
              <a:rPr lang="en-GB" sz="1400" b="1" dirty="0" err="1">
                <a:solidFill>
                  <a:srgbClr val="000000"/>
                </a:solidFill>
                <a:highlight>
                  <a:srgbClr val="FFFFFF"/>
                </a:highlight>
                <a:latin typeface="Consolas" panose="020B0609020204030204" pitchFamily="49" charset="0"/>
              </a:rPr>
              <a:t>divInfo.innerHTML</a:t>
            </a:r>
            <a:r>
              <a:rPr lang="en-GB" sz="1400" b="1" dirty="0">
                <a:solidFill>
                  <a:srgbClr val="000000"/>
                </a:solidFill>
                <a:highlight>
                  <a:srgbClr val="FFFFFF"/>
                </a:highlight>
                <a:latin typeface="Consolas" panose="020B0609020204030204" pitchFamily="49" charset="0"/>
              </a:rPr>
              <a:t> = </a:t>
            </a:r>
            <a:r>
              <a:rPr lang="en-GB" sz="1400" b="1" dirty="0">
                <a:solidFill>
                  <a:srgbClr val="A31515"/>
                </a:solidFill>
                <a:highlight>
                  <a:srgbClr val="FFFFFF"/>
                </a:highlight>
                <a:latin typeface="Consolas" panose="020B0609020204030204" pitchFamily="49" charset="0"/>
              </a:rPr>
              <a:t>"You can't have milk or sugar with soup!"</a:t>
            </a:r>
            <a:r>
              <a:rPr lang="en-GB" sz="1400" b="1" dirty="0">
                <a:solidFill>
                  <a:srgbClr val="000000"/>
                </a:solidFill>
                <a:highlight>
                  <a:srgbClr val="FFFFFF"/>
                </a:highlight>
                <a:latin typeface="Consolas" panose="020B0609020204030204" pitchFamily="49" charset="0"/>
              </a:rPr>
              <a:t>;</a:t>
            </a:r>
          </a:p>
          <a:p>
            <a:r>
              <a:rPr lang="en-GB" sz="1400" b="1" dirty="0">
                <a:solidFill>
                  <a:srgbClr val="000000"/>
                </a:solidFill>
                <a:highlight>
                  <a:srgbClr val="FFFFFF"/>
                </a:highlight>
                <a:latin typeface="Consolas" panose="020B0609020204030204" pitchFamily="49" charset="0"/>
              </a:rPr>
              <a:t>            </a:t>
            </a:r>
            <a:r>
              <a:rPr lang="en-GB" sz="1400" b="1" dirty="0">
                <a:solidFill>
                  <a:srgbClr val="0000FF"/>
                </a:solidFill>
                <a:highlight>
                  <a:srgbClr val="FFFFFF"/>
                </a:highlight>
                <a:latin typeface="Consolas" panose="020B0609020204030204" pitchFamily="49" charset="0"/>
              </a:rPr>
              <a:t>return</a:t>
            </a:r>
            <a:r>
              <a:rPr lang="en-GB" sz="1400" b="1" dirty="0">
                <a:solidFill>
                  <a:srgbClr val="000000"/>
                </a:solidFill>
                <a:highlight>
                  <a:srgbClr val="FFFFFF"/>
                </a:highlight>
                <a:latin typeface="Consolas" panose="020B0609020204030204" pitchFamily="49" charset="0"/>
              </a:rPr>
              <a:t> </a:t>
            </a:r>
            <a:r>
              <a:rPr lang="en-GB" sz="1400" b="1" dirty="0">
                <a:solidFill>
                  <a:srgbClr val="0000FF"/>
                </a:solidFill>
                <a:highlight>
                  <a:srgbClr val="FFFFFF"/>
                </a:highlight>
                <a:latin typeface="Consolas" panose="020B0609020204030204" pitchFamily="49" charset="0"/>
              </a:rPr>
              <a:t>false</a:t>
            </a:r>
            <a:r>
              <a:rPr lang="en-GB" sz="1400" b="1" dirty="0">
                <a:solidFill>
                  <a:srgbClr val="000000"/>
                </a:solidFill>
                <a:highlight>
                  <a:srgbClr val="FFFFFF"/>
                </a:highlight>
                <a:latin typeface="Consolas" panose="020B0609020204030204" pitchFamily="49" charset="0"/>
              </a:rPr>
              <a:t>;</a:t>
            </a:r>
          </a:p>
          <a:p>
            <a:r>
              <a:rPr lang="en-GB" sz="1400" b="1" dirty="0">
                <a:solidFill>
                  <a:srgbClr val="000000"/>
                </a:solidFill>
                <a:highlight>
                  <a:srgbClr val="FFFFFF"/>
                </a:highlight>
                <a:latin typeface="Consolas" panose="020B0609020204030204" pitchFamily="49" charset="0"/>
              </a:rPr>
              <a:t>        }</a:t>
            </a:r>
          </a:p>
          <a:p>
            <a:r>
              <a:rPr lang="en-GB" sz="1400" b="1" dirty="0">
                <a:solidFill>
                  <a:srgbClr val="000000"/>
                </a:solidFill>
                <a:highlight>
                  <a:srgbClr val="FFFFFF"/>
                </a:highlight>
                <a:latin typeface="Consolas" panose="020B0609020204030204" pitchFamily="49" charset="0"/>
              </a:rPr>
              <a:t>    }</a:t>
            </a:r>
          </a:p>
          <a:p>
            <a:r>
              <a:rPr lang="en-GB" sz="1400" b="1" dirty="0">
                <a:solidFill>
                  <a:srgbClr val="0000FF"/>
                </a:solidFill>
                <a:highlight>
                  <a:srgbClr val="FFFFFF"/>
                </a:highlight>
                <a:latin typeface="Consolas" panose="020B0609020204030204" pitchFamily="49" charset="0"/>
              </a:rPr>
              <a:t>&lt;/</a:t>
            </a:r>
            <a:r>
              <a:rPr lang="en-GB" sz="1400" b="1" dirty="0">
                <a:solidFill>
                  <a:srgbClr val="800000"/>
                </a:solidFill>
                <a:highlight>
                  <a:srgbClr val="FFFFFF"/>
                </a:highlight>
                <a:latin typeface="Consolas" panose="020B0609020204030204" pitchFamily="49" charset="0"/>
              </a:rPr>
              <a:t>script</a:t>
            </a:r>
            <a:r>
              <a:rPr lang="en-GB" sz="1400" b="1" dirty="0">
                <a:solidFill>
                  <a:srgbClr val="0000FF"/>
                </a:solidFill>
                <a:highlight>
                  <a:srgbClr val="FFFFFF"/>
                </a:highlight>
                <a:latin typeface="Consolas" panose="020B0609020204030204" pitchFamily="49" charset="0"/>
              </a:rPr>
              <a:t>&gt;</a:t>
            </a:r>
            <a:endParaRPr lang="en-GB" sz="1400" b="1" dirty="0">
              <a:solidFill>
                <a:srgbClr val="000000"/>
              </a:solidFill>
              <a:highlight>
                <a:srgbClr val="FFFFFF"/>
              </a:highlight>
              <a:latin typeface="Consolas" panose="020B0609020204030204" pitchFamily="49" charset="0"/>
            </a:endParaRPr>
          </a:p>
          <a:p>
            <a:r>
              <a:rPr lang="en-GB" sz="1400" b="1" dirty="0">
                <a:solidFill>
                  <a:srgbClr val="0000FF"/>
                </a:solidFill>
                <a:highlight>
                  <a:srgbClr val="FFFFFF"/>
                </a:highlight>
                <a:latin typeface="Consolas" panose="020B0609020204030204" pitchFamily="49" charset="0"/>
              </a:rPr>
              <a:t>&lt;/</a:t>
            </a:r>
            <a:r>
              <a:rPr lang="en-GB" sz="1400" b="1" dirty="0">
                <a:solidFill>
                  <a:srgbClr val="800000"/>
                </a:solidFill>
                <a:highlight>
                  <a:srgbClr val="FFFFFF"/>
                </a:highlight>
                <a:latin typeface="Consolas" panose="020B0609020204030204" pitchFamily="49" charset="0"/>
              </a:rPr>
              <a:t>head</a:t>
            </a:r>
            <a:r>
              <a:rPr lang="en-GB" sz="1400" b="1" dirty="0">
                <a:solidFill>
                  <a:srgbClr val="0000FF"/>
                </a:solidFill>
                <a:highlight>
                  <a:srgbClr val="FFFFFF"/>
                </a:highlight>
                <a:latin typeface="Consolas" panose="020B0609020204030204" pitchFamily="49" charset="0"/>
              </a:rPr>
              <a:t>&gt;</a:t>
            </a:r>
            <a:endParaRPr lang="en-GB" sz="1400" b="1" dirty="0">
              <a:solidFill>
                <a:srgbClr val="000000"/>
              </a:solidFill>
              <a:highlight>
                <a:srgbClr val="FFFFFF"/>
              </a:highlight>
              <a:latin typeface="Consolas" panose="020B0609020204030204" pitchFamily="49" charset="0"/>
            </a:endParaRPr>
          </a:p>
        </p:txBody>
      </p:sp>
      <p:sp>
        <p:nvSpPr>
          <p:cNvPr id="3" name="Rectangle: Rounded Corners 2">
            <a:extLst>
              <a:ext uri="{FF2B5EF4-FFF2-40B4-BE49-F238E27FC236}">
                <a16:creationId xmlns:a16="http://schemas.microsoft.com/office/drawing/2014/main" id="{F4FDA81F-AF2C-4022-A1FD-D9E76D0CF929}"/>
              </a:ext>
            </a:extLst>
          </p:cNvPr>
          <p:cNvSpPr/>
          <p:nvPr/>
        </p:nvSpPr>
        <p:spPr>
          <a:xfrm>
            <a:off x="7907637" y="1713169"/>
            <a:ext cx="3446163" cy="555812"/>
          </a:xfrm>
          <a:prstGeom prst="roundRect">
            <a:avLst>
              <a:gd name="adj" fmla="val 8603"/>
            </a:avLst>
          </a:prstGeom>
          <a:solidFill>
            <a:schemeClr val="bg1"/>
          </a:solidFill>
          <a:ln w="25400">
            <a:solidFill>
              <a:srgbClr val="28C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err="1">
                <a:solidFill>
                  <a:schemeClr val="tx1"/>
                </a:solidFill>
              </a:rPr>
              <a:t>theForm.drinks.selectedIndex</a:t>
            </a:r>
            <a:r>
              <a:rPr lang="en-GB" sz="1400" b="1" dirty="0">
                <a:solidFill>
                  <a:schemeClr val="tx1"/>
                </a:solidFill>
              </a:rPr>
              <a:t> == 2</a:t>
            </a:r>
            <a:endParaRPr lang="en-GB" sz="1400" b="1" dirty="0">
              <a:solidFill>
                <a:schemeClr val="tx1"/>
              </a:solidFill>
              <a:latin typeface="Arial" pitchFamily="34" charset="0"/>
              <a:cs typeface="Arial" pitchFamily="34" charset="0"/>
            </a:endParaRPr>
          </a:p>
        </p:txBody>
      </p:sp>
      <p:cxnSp>
        <p:nvCxnSpPr>
          <p:cNvPr id="7" name="Straight Connector 6">
            <a:extLst>
              <a:ext uri="{FF2B5EF4-FFF2-40B4-BE49-F238E27FC236}">
                <a16:creationId xmlns:a16="http://schemas.microsoft.com/office/drawing/2014/main" id="{8116FB9B-004E-4DCB-AF44-B62543BD2EAB}"/>
              </a:ext>
            </a:extLst>
          </p:cNvPr>
          <p:cNvCxnSpPr/>
          <p:nvPr/>
        </p:nvCxnSpPr>
        <p:spPr>
          <a:xfrm flipH="1">
            <a:off x="6624918" y="2124635"/>
            <a:ext cx="1282719" cy="14434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6EEC55E-164E-9E76-2BC4-447D85901BE0}"/>
              </a:ext>
            </a:extLst>
          </p:cNvPr>
          <p:cNvSpPr txBox="1"/>
          <p:nvPr/>
        </p:nvSpPr>
        <p:spPr>
          <a:xfrm>
            <a:off x="3695700" y="3605243"/>
            <a:ext cx="7658100" cy="2893100"/>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body</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form</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method</a:t>
            </a:r>
            <a:r>
              <a:rPr lang="en-GB" sz="1400" b="1" dirty="0">
                <a:solidFill>
                  <a:srgbClr val="0000FF"/>
                </a:solidFill>
                <a:latin typeface="Consolas" panose="020B0609020204030204" pitchFamily="49" charset="0"/>
              </a:rPr>
              <a:t>="get" </a:t>
            </a:r>
            <a:r>
              <a:rPr lang="en-GB" sz="1400" b="1" dirty="0">
                <a:solidFill>
                  <a:srgbClr val="FF0000"/>
                </a:solidFill>
                <a:latin typeface="Consolas" panose="020B0609020204030204" pitchFamily="49" charset="0"/>
              </a:rPr>
              <a:t>action</a:t>
            </a:r>
            <a:r>
              <a:rPr lang="en-GB" sz="1400" b="1" dirty="0">
                <a:solidFill>
                  <a:srgbClr val="0000FF"/>
                </a:solidFill>
                <a:latin typeface="Consolas" panose="020B0609020204030204" pitchFamily="49" charset="0"/>
              </a:rPr>
              <a:t>="serve.asp"</a:t>
            </a:r>
            <a:r>
              <a:rPr lang="en-GB" sz="1400" b="1" dirty="0">
                <a:solidFill>
                  <a:srgbClr val="000000"/>
                </a:solidFill>
                <a:latin typeface="Consolas" panose="020B0609020204030204" pitchFamily="49" charset="0"/>
              </a:rPr>
              <a:t> </a:t>
            </a:r>
            <a:r>
              <a:rPr lang="en-GB" sz="1400" b="1" dirty="0" err="1">
                <a:solidFill>
                  <a:srgbClr val="FF0000"/>
                </a:solidFill>
                <a:latin typeface="Consolas" panose="020B0609020204030204" pitchFamily="49" charset="0"/>
              </a:rPr>
              <a:t>onsubmit</a:t>
            </a:r>
            <a:r>
              <a:rPr lang="en-GB" sz="1400" b="1" dirty="0">
                <a:solidFill>
                  <a:srgbClr val="0000FF"/>
                </a:solidFill>
                <a:latin typeface="Consolas" panose="020B0609020204030204" pitchFamily="49" charset="0"/>
              </a:rPr>
              <a:t>="return</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ValDrink</a:t>
            </a:r>
            <a:r>
              <a:rPr lang="en-GB" sz="1400" b="1" dirty="0">
                <a:solidFill>
                  <a:srgbClr val="000000"/>
                </a:solidFill>
                <a:latin typeface="Consolas" panose="020B0609020204030204" pitchFamily="49" charset="0"/>
              </a:rPr>
              <a:t>(</a:t>
            </a:r>
            <a:r>
              <a:rPr lang="en-GB" sz="1400" b="1" dirty="0">
                <a:solidFill>
                  <a:srgbClr val="0000FF"/>
                </a:solidFill>
                <a:latin typeface="Consolas" panose="020B0609020204030204" pitchFamily="49" charset="0"/>
              </a:rPr>
              <a:t>this</a:t>
            </a:r>
            <a:r>
              <a:rPr lang="en-GB" sz="1400" b="1" dirty="0">
                <a:solidFill>
                  <a:srgbClr val="000000"/>
                </a:solidFill>
                <a:latin typeface="Consolas" panose="020B0609020204030204" pitchFamily="49" charset="0"/>
              </a:rPr>
              <a:t>)</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select</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name</a:t>
            </a:r>
            <a:r>
              <a:rPr lang="en-GB" sz="1400" b="1" dirty="0">
                <a:solidFill>
                  <a:srgbClr val="0000FF"/>
                </a:solidFill>
                <a:latin typeface="Consolas" panose="020B0609020204030204" pitchFamily="49" charset="0"/>
              </a:rPr>
              <a:t>="drinks"&gt;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r>
              <a:rPr lang="en-GB" sz="1400" b="1" dirty="0">
                <a:solidFill>
                  <a:srgbClr val="000000"/>
                </a:solidFill>
                <a:latin typeface="Consolas" panose="020B0609020204030204" pitchFamily="49" charset="0"/>
              </a:rPr>
              <a:t>Tea</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r>
              <a:rPr lang="en-GB" sz="1400" b="1" dirty="0">
                <a:solidFill>
                  <a:srgbClr val="000000"/>
                </a:solidFill>
                <a:latin typeface="Consolas" panose="020B0609020204030204" pitchFamily="49" charset="0"/>
              </a:rPr>
              <a:t>Coffee</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r>
              <a:rPr lang="en-GB" sz="1400" b="1" dirty="0">
                <a:solidFill>
                  <a:srgbClr val="000000"/>
                </a:solidFill>
                <a:latin typeface="Consolas" panose="020B0609020204030204" pitchFamily="49" charset="0"/>
              </a:rPr>
              <a:t>Soup</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select</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input</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type</a:t>
            </a:r>
            <a:r>
              <a:rPr lang="en-GB" sz="1400" b="1" dirty="0">
                <a:solidFill>
                  <a:srgbClr val="0000FF"/>
                </a:solidFill>
                <a:latin typeface="Consolas" panose="020B0609020204030204" pitchFamily="49" charset="0"/>
              </a:rPr>
              <a:t>="checkbox"</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name</a:t>
            </a:r>
            <a:r>
              <a:rPr lang="en-GB" sz="1400" b="1" dirty="0">
                <a:solidFill>
                  <a:srgbClr val="0000FF"/>
                </a:solidFill>
                <a:latin typeface="Consolas" panose="020B0609020204030204" pitchFamily="49" charset="0"/>
              </a:rPr>
              <a:t>="milk"</a:t>
            </a:r>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/&gt;</a:t>
            </a:r>
            <a:r>
              <a:rPr lang="en-GB" sz="1400" b="1" dirty="0">
                <a:solidFill>
                  <a:srgbClr val="000000"/>
                </a:solidFill>
                <a:latin typeface="Consolas" panose="020B0609020204030204" pitchFamily="49" charset="0"/>
              </a:rPr>
              <a:t>Milk</a:t>
            </a: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input</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type</a:t>
            </a:r>
            <a:r>
              <a:rPr lang="en-GB" sz="1400" b="1" dirty="0">
                <a:solidFill>
                  <a:srgbClr val="0000FF"/>
                </a:solidFill>
                <a:latin typeface="Consolas" panose="020B0609020204030204" pitchFamily="49" charset="0"/>
              </a:rPr>
              <a:t>="checkbox"</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name</a:t>
            </a:r>
            <a:r>
              <a:rPr lang="en-GB" sz="1400" b="1" dirty="0">
                <a:solidFill>
                  <a:srgbClr val="0000FF"/>
                </a:solidFill>
                <a:latin typeface="Consolas" panose="020B0609020204030204" pitchFamily="49" charset="0"/>
              </a:rPr>
              <a:t>="sugar"</a:t>
            </a:r>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/&gt;</a:t>
            </a:r>
            <a:r>
              <a:rPr lang="en-GB" sz="1400" b="1" dirty="0">
                <a:solidFill>
                  <a:srgbClr val="000000"/>
                </a:solidFill>
                <a:latin typeface="Consolas" panose="020B0609020204030204" pitchFamily="49" charset="0"/>
              </a:rPr>
              <a:t>Sugar</a:t>
            </a: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input</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type</a:t>
            </a:r>
            <a:r>
              <a:rPr lang="en-GB" sz="1400" b="1" dirty="0">
                <a:solidFill>
                  <a:srgbClr val="0000FF"/>
                </a:solidFill>
                <a:latin typeface="Consolas" panose="020B0609020204030204" pitchFamily="49" charset="0"/>
              </a:rPr>
              <a:t>="submit"</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value</a:t>
            </a:r>
            <a:r>
              <a:rPr lang="en-GB" sz="1400" b="1" dirty="0">
                <a:solidFill>
                  <a:srgbClr val="0000FF"/>
                </a:solidFill>
                <a:latin typeface="Consolas" panose="020B0609020204030204" pitchFamily="49" charset="0"/>
              </a:rPr>
              <a:t>="Vend"</a:t>
            </a:r>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form</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s-ES" sz="1400" b="1" dirty="0">
                <a:solidFill>
                  <a:srgbClr val="000000"/>
                </a:solidFill>
                <a:latin typeface="Consolas" panose="020B0609020204030204" pitchFamily="49" charset="0"/>
              </a:rPr>
              <a:t>    </a:t>
            </a:r>
            <a:r>
              <a:rPr lang="es-ES" sz="1400" b="1" dirty="0">
                <a:solidFill>
                  <a:srgbClr val="0000FF"/>
                </a:solidFill>
                <a:latin typeface="Consolas" panose="020B0609020204030204" pitchFamily="49" charset="0"/>
              </a:rPr>
              <a:t>&lt;</a:t>
            </a:r>
            <a:r>
              <a:rPr lang="es-ES" sz="1400" b="1" dirty="0" err="1">
                <a:solidFill>
                  <a:srgbClr val="800000"/>
                </a:solidFill>
                <a:latin typeface="Consolas" panose="020B0609020204030204" pitchFamily="49" charset="0"/>
              </a:rPr>
              <a:t>div</a:t>
            </a:r>
            <a:r>
              <a:rPr lang="es-ES" sz="1400" b="1" dirty="0">
                <a:solidFill>
                  <a:srgbClr val="000000"/>
                </a:solidFill>
                <a:latin typeface="Consolas" panose="020B0609020204030204" pitchFamily="49" charset="0"/>
              </a:rPr>
              <a:t> </a:t>
            </a:r>
            <a:r>
              <a:rPr lang="es-ES" sz="1400" b="1" dirty="0">
                <a:solidFill>
                  <a:srgbClr val="FF0000"/>
                </a:solidFill>
                <a:latin typeface="Consolas" panose="020B0609020204030204" pitchFamily="49" charset="0"/>
              </a:rPr>
              <a:t>id</a:t>
            </a:r>
            <a:r>
              <a:rPr lang="es-ES" sz="1400" b="1" dirty="0">
                <a:solidFill>
                  <a:srgbClr val="0000FF"/>
                </a:solidFill>
                <a:latin typeface="Consolas" panose="020B0609020204030204" pitchFamily="49" charset="0"/>
              </a:rPr>
              <a:t>="</a:t>
            </a:r>
            <a:r>
              <a:rPr lang="es-ES" sz="1400" b="1" dirty="0" err="1">
                <a:solidFill>
                  <a:srgbClr val="0000FF"/>
                </a:solidFill>
                <a:latin typeface="Consolas" panose="020B0609020204030204" pitchFamily="49" charset="0"/>
              </a:rPr>
              <a:t>divInfo</a:t>
            </a:r>
            <a:r>
              <a:rPr lang="es-ES" sz="1400" b="1" dirty="0">
                <a:solidFill>
                  <a:srgbClr val="0000FF"/>
                </a:solidFill>
                <a:latin typeface="Consolas" panose="020B0609020204030204" pitchFamily="49" charset="0"/>
              </a:rPr>
              <a:t>"&gt;&lt;/</a:t>
            </a:r>
            <a:r>
              <a:rPr lang="es-ES" sz="1400" b="1" dirty="0" err="1">
                <a:solidFill>
                  <a:srgbClr val="800000"/>
                </a:solidFill>
                <a:latin typeface="Consolas" panose="020B0609020204030204" pitchFamily="49" charset="0"/>
              </a:rPr>
              <a:t>div</a:t>
            </a:r>
            <a:r>
              <a:rPr lang="es-ES" sz="1400" b="1" dirty="0">
                <a:solidFill>
                  <a:srgbClr val="0000FF"/>
                </a:solidFill>
                <a:latin typeface="Consolas" panose="020B0609020204030204" pitchFamily="49" charset="0"/>
              </a:rPr>
              <a:t>&gt;</a:t>
            </a:r>
            <a:endParaRPr lang="es-ES" sz="1400" b="1" dirty="0">
              <a:solidFill>
                <a:srgbClr val="000000"/>
              </a:solidFill>
              <a:latin typeface="Consolas" panose="020B0609020204030204" pitchFamily="49" charset="0"/>
            </a:endParaRPr>
          </a:p>
          <a:p>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body</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495209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EE10932-0E39-4A46-AAF5-56EA2F153C16}"/>
              </a:ext>
            </a:extLst>
          </p:cNvPr>
          <p:cNvSpPr>
            <a:spLocks noGrp="1"/>
          </p:cNvSpPr>
          <p:nvPr>
            <p:ph type="body" sz="quarter" idx="10"/>
          </p:nvPr>
        </p:nvSpPr>
        <p:spPr/>
        <p:txBody>
          <a:bodyPr/>
          <a:lstStyle/>
          <a:p>
            <a:r>
              <a:rPr lang="en-US" dirty="0"/>
              <a:t>JavaScript Standards</a:t>
            </a:r>
            <a:endParaRPr lang="en-IN" dirty="0"/>
          </a:p>
        </p:txBody>
      </p:sp>
      <p:sp>
        <p:nvSpPr>
          <p:cNvPr id="5" name="Text Placeholder 4">
            <a:extLst>
              <a:ext uri="{FF2B5EF4-FFF2-40B4-BE49-F238E27FC236}">
                <a16:creationId xmlns:a16="http://schemas.microsoft.com/office/drawing/2014/main" id="{3BAED401-3740-47B4-8CE5-8BFD86938F63}"/>
              </a:ext>
            </a:extLst>
          </p:cNvPr>
          <p:cNvSpPr>
            <a:spLocks noGrp="1"/>
          </p:cNvSpPr>
          <p:nvPr>
            <p:ph type="body" sz="quarter" idx="15"/>
          </p:nvPr>
        </p:nvSpPr>
        <p:spPr>
          <a:xfrm>
            <a:off x="4770436" y="1130909"/>
            <a:ext cx="7154863" cy="4503969"/>
          </a:xfrm>
        </p:spPr>
        <p:txBody>
          <a:bodyPr/>
          <a:lstStyle/>
          <a:p>
            <a:pPr marL="342900" indent="-342900">
              <a:buFont typeface="Arial" panose="020B0604020202020204" pitchFamily="34" charset="0"/>
              <a:buChar char="•"/>
            </a:pPr>
            <a:r>
              <a:rPr lang="en-US" b="1" dirty="0"/>
              <a:t>Lack of consistency is a major issue</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Sun, Netscape, Microsoft working together with </a:t>
            </a:r>
            <a:r>
              <a:rPr lang="en-US" b="1" dirty="0">
                <a:solidFill>
                  <a:srgbClr val="C00000"/>
                </a:solidFill>
              </a:rPr>
              <a:t>E</a:t>
            </a:r>
            <a:r>
              <a:rPr lang="en-US" b="1" dirty="0">
                <a:solidFill>
                  <a:srgbClr val="0070C0"/>
                </a:solidFill>
              </a:rPr>
              <a:t>uropean </a:t>
            </a:r>
            <a:r>
              <a:rPr lang="en-US" b="1" dirty="0">
                <a:solidFill>
                  <a:srgbClr val="C00000"/>
                </a:solidFill>
              </a:rPr>
              <a:t>C</a:t>
            </a:r>
            <a:r>
              <a:rPr lang="en-US" b="1" dirty="0">
                <a:solidFill>
                  <a:srgbClr val="0070C0"/>
                </a:solidFill>
              </a:rPr>
              <a:t>omputer </a:t>
            </a:r>
            <a:r>
              <a:rPr lang="en-US" b="1" dirty="0">
                <a:solidFill>
                  <a:srgbClr val="C00000"/>
                </a:solidFill>
              </a:rPr>
              <a:t>M</a:t>
            </a:r>
            <a:r>
              <a:rPr lang="en-US" b="1" dirty="0">
                <a:solidFill>
                  <a:srgbClr val="0070C0"/>
                </a:solidFill>
              </a:rPr>
              <a:t>anufacturers </a:t>
            </a:r>
            <a:r>
              <a:rPr lang="en-US" b="1" dirty="0">
                <a:solidFill>
                  <a:srgbClr val="C00000"/>
                </a:solidFill>
              </a:rPr>
              <a:t>A</a:t>
            </a:r>
            <a:r>
              <a:rPr lang="en-US" b="1" dirty="0">
                <a:solidFill>
                  <a:srgbClr val="0070C0"/>
                </a:solidFill>
              </a:rPr>
              <a:t>ssociation </a:t>
            </a:r>
            <a:r>
              <a:rPr lang="en-US" b="1" dirty="0"/>
              <a:t>(</a:t>
            </a:r>
            <a:r>
              <a:rPr lang="en-US" b="1" i="1" dirty="0">
                <a:solidFill>
                  <a:srgbClr val="002060"/>
                </a:solidFill>
              </a:rPr>
              <a:t>ECMA</a:t>
            </a:r>
            <a:r>
              <a:rPr lang="en-US" b="1" dirty="0"/>
              <a:t>) created the </a:t>
            </a:r>
            <a:r>
              <a:rPr lang="en-US" b="1" i="1" dirty="0">
                <a:solidFill>
                  <a:srgbClr val="C00000"/>
                </a:solidFill>
              </a:rPr>
              <a:t>ECMAScript</a:t>
            </a:r>
            <a:r>
              <a:rPr lang="en-US" dirty="0"/>
              <a:t> language standard</a:t>
            </a:r>
          </a:p>
          <a:p>
            <a:pPr marL="684000" lvl="1" indent="-342900">
              <a:buSzPct val="115000"/>
            </a:pPr>
            <a:r>
              <a:rPr lang="en-GB" dirty="0"/>
              <a:t>Sets minimum compatibility requirements</a:t>
            </a:r>
          </a:p>
          <a:p>
            <a:pPr marL="684000" lvl="1" indent="-342900">
              <a:buSzPct val="115000"/>
            </a:pPr>
            <a:endParaRPr lang="en-US" dirty="0"/>
          </a:p>
          <a:p>
            <a:pPr marL="342900" indent="-342900">
              <a:buFont typeface="Arial" panose="020B0604020202020204" pitchFamily="34" charset="0"/>
              <a:buChar char="•"/>
            </a:pPr>
            <a:r>
              <a:rPr lang="en-GB" b="1" dirty="0"/>
              <a:t>Latest versions of JavaScript and JScript are compliant with the </a:t>
            </a:r>
            <a:r>
              <a:rPr lang="en-GB" b="1" i="1" dirty="0"/>
              <a:t>ECMAScript</a:t>
            </a:r>
            <a:r>
              <a:rPr lang="en-GB" b="1" dirty="0"/>
              <a:t> Specification</a:t>
            </a:r>
          </a:p>
          <a:p>
            <a:pPr marL="684000" lvl="1" indent="-342900">
              <a:buSzPct val="115000"/>
            </a:pPr>
            <a:r>
              <a:rPr lang="en-GB" dirty="0"/>
              <a:t>Although each has additional proprietary features</a:t>
            </a:r>
            <a:endParaRPr lang="en-US" dirty="0"/>
          </a:p>
          <a:p>
            <a:endParaRPr lang="en-IN" dirty="0"/>
          </a:p>
        </p:txBody>
      </p:sp>
    </p:spTree>
    <p:extLst>
      <p:ext uri="{BB962C8B-B14F-4D97-AF65-F5344CB8AC3E}">
        <p14:creationId xmlns:p14="http://schemas.microsoft.com/office/powerpoint/2010/main" val="3916011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9E55579-712A-475A-B458-6292920F9F12}"/>
              </a:ext>
            </a:extLst>
          </p:cNvPr>
          <p:cNvSpPr>
            <a:spLocks noGrp="1"/>
          </p:cNvSpPr>
          <p:nvPr>
            <p:ph type="body" sz="quarter" idx="10"/>
          </p:nvPr>
        </p:nvSpPr>
        <p:spPr/>
        <p:txBody>
          <a:bodyPr/>
          <a:lstStyle/>
          <a:p>
            <a:r>
              <a:rPr lang="en-US" dirty="0"/>
              <a:t>Browsers Without Scripting </a:t>
            </a:r>
            <a:endParaRPr lang="en-IN" dirty="0"/>
          </a:p>
        </p:txBody>
      </p:sp>
      <p:sp>
        <p:nvSpPr>
          <p:cNvPr id="7" name="Text Placeholder 6">
            <a:extLst>
              <a:ext uri="{FF2B5EF4-FFF2-40B4-BE49-F238E27FC236}">
                <a16:creationId xmlns:a16="http://schemas.microsoft.com/office/drawing/2014/main" id="{5022D510-3F0B-422E-AEA9-2E30E25534F6}"/>
              </a:ext>
            </a:extLst>
          </p:cNvPr>
          <p:cNvSpPr>
            <a:spLocks noGrp="1"/>
          </p:cNvSpPr>
          <p:nvPr>
            <p:ph type="body" sz="quarter" idx="11"/>
          </p:nvPr>
        </p:nvSpPr>
        <p:spPr/>
        <p:txBody>
          <a:bodyPr/>
          <a:lstStyle/>
          <a:p>
            <a:pPr marL="342900" indent="-342900">
              <a:buFont typeface="Arial" panose="020B0604020202020204" pitchFamily="34" charset="0"/>
              <a:buChar char="•"/>
            </a:pPr>
            <a:r>
              <a:rPr lang="en-US" b="1" dirty="0"/>
              <a:t>What if a browser has no scripting language?</a:t>
            </a:r>
          </a:p>
          <a:p>
            <a:pPr marL="342900" indent="-342900">
              <a:buFont typeface="Arial" panose="020B0604020202020204" pitchFamily="34" charset="0"/>
              <a:buChar char="•"/>
            </a:pPr>
            <a:r>
              <a:rPr lang="en-US" b="1" dirty="0"/>
              <a:t>What if users disable JavaScript?</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You can warn users on the home page</a:t>
            </a:r>
          </a:p>
          <a:p>
            <a:pPr marL="342900" indent="-342900">
              <a:buFont typeface="Arial" panose="020B0604020202020204" pitchFamily="34" charset="0"/>
              <a:buChar char="•"/>
            </a:pPr>
            <a:r>
              <a:rPr lang="en-US" b="1" dirty="0"/>
              <a:t>Hyperlink to browser distribution sites</a:t>
            </a:r>
          </a:p>
          <a:p>
            <a:pPr marL="342900" indent="-342900">
              <a:buFont typeface="Arial" panose="020B0604020202020204" pitchFamily="34" charset="0"/>
              <a:buChar char="•"/>
            </a:pPr>
            <a:r>
              <a:rPr lang="en-US" b="1" dirty="0"/>
              <a:t>Consider server-side scripting instead</a:t>
            </a:r>
          </a:p>
          <a:p>
            <a:pPr marL="684000" lvl="1" indent="-342900">
              <a:spcAft>
                <a:spcPts val="650"/>
              </a:spcAft>
              <a:buSzPct val="115000"/>
            </a:pPr>
            <a:r>
              <a:rPr lang="en-US" dirty="0"/>
              <a:t>Not always viable</a:t>
            </a:r>
          </a:p>
          <a:p>
            <a:endParaRPr lang="en-IN" dirty="0"/>
          </a:p>
        </p:txBody>
      </p:sp>
      <p:pic>
        <p:nvPicPr>
          <p:cNvPr id="3" name="Picture 2"/>
          <p:cNvPicPr>
            <a:picLocks noChangeAspect="1"/>
          </p:cNvPicPr>
          <p:nvPr/>
        </p:nvPicPr>
        <p:blipFill>
          <a:blip r:embed="rId3"/>
          <a:stretch>
            <a:fillRect/>
          </a:stretch>
        </p:blipFill>
        <p:spPr>
          <a:xfrm>
            <a:off x="6098146" y="4008606"/>
            <a:ext cx="5158446" cy="1481138"/>
          </a:xfrm>
          <a:prstGeom prst="rect">
            <a:avLst/>
          </a:prstGeom>
          <a:ln w="25400">
            <a:solidFill>
              <a:srgbClr val="004050"/>
            </a:solidFill>
          </a:ln>
          <a:effectLst/>
        </p:spPr>
      </p:pic>
      <p:sp>
        <p:nvSpPr>
          <p:cNvPr id="4" name="Rounded Rectangular Callout 3"/>
          <p:cNvSpPr/>
          <p:nvPr/>
        </p:nvSpPr>
        <p:spPr>
          <a:xfrm>
            <a:off x="9496610" y="3631806"/>
            <a:ext cx="2095500" cy="609600"/>
          </a:xfrm>
          <a:prstGeom prst="wedgeRoundRectCallout">
            <a:avLst>
              <a:gd name="adj1" fmla="val -34469"/>
              <a:gd name="adj2" fmla="val 71875"/>
              <a:gd name="adj3" fmla="val 16667"/>
            </a:avLst>
          </a:prstGeom>
          <a:solidFill>
            <a:srgbClr val="28CFF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Chrome's options</a:t>
            </a:r>
          </a:p>
        </p:txBody>
      </p:sp>
    </p:spTree>
    <p:extLst>
      <p:ext uri="{BB962C8B-B14F-4D97-AF65-F5344CB8AC3E}">
        <p14:creationId xmlns:p14="http://schemas.microsoft.com/office/powerpoint/2010/main" val="226644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Auto-Detecting JavaScript (1)</a:t>
            </a:r>
          </a:p>
        </p:txBody>
      </p:sp>
      <p:sp>
        <p:nvSpPr>
          <p:cNvPr id="23555" name="Rectangle 3"/>
          <p:cNvSpPr>
            <a:spLocks noGrp="1" noChangeArrowheads="1"/>
          </p:cNvSpPr>
          <p:nvPr>
            <p:ph idx="1"/>
          </p:nvPr>
        </p:nvSpPr>
        <p:spPr>
          <a:xfrm>
            <a:off x="341272" y="1368256"/>
            <a:ext cx="11516239" cy="1661815"/>
          </a:xfrm>
        </p:spPr>
        <p:txBody>
          <a:bodyPr/>
          <a:lstStyle/>
          <a:p>
            <a:pPr marL="342900" indent="-342900">
              <a:buClr>
                <a:schemeClr val="tx1"/>
              </a:buClr>
              <a:buFont typeface="Arial" panose="020B0604020202020204" pitchFamily="34" charset="0"/>
              <a:buChar char="•"/>
            </a:pPr>
            <a:r>
              <a:rPr lang="en-GB" b="1" dirty="0">
                <a:solidFill>
                  <a:srgbClr val="0000FF"/>
                </a:solidFill>
                <a:highlight>
                  <a:srgbClr val="FFFFFF"/>
                </a:highlight>
                <a:latin typeface="Consolas" panose="020B0609020204030204" pitchFamily="49" charset="0"/>
              </a:rPr>
              <a:t>&lt;</a:t>
            </a:r>
            <a:r>
              <a:rPr lang="en-GB" b="1" dirty="0" err="1">
                <a:solidFill>
                  <a:srgbClr val="800000"/>
                </a:solidFill>
                <a:highlight>
                  <a:srgbClr val="FFFFFF"/>
                </a:highlight>
                <a:latin typeface="Consolas" panose="020B0609020204030204" pitchFamily="49" charset="0"/>
              </a:rPr>
              <a:t>noscript</a:t>
            </a:r>
            <a:r>
              <a:rPr lang="en-GB" b="1" dirty="0">
                <a:solidFill>
                  <a:srgbClr val="0000FF"/>
                </a:solidFill>
                <a:highlight>
                  <a:srgbClr val="FFFFFF"/>
                </a:highlight>
                <a:latin typeface="Consolas" panose="020B0609020204030204" pitchFamily="49" charset="0"/>
              </a:rPr>
              <a:t>&gt;</a:t>
            </a:r>
            <a:r>
              <a:rPr lang="en-US" b="1" dirty="0"/>
              <a:t> tag contains “no script” message</a:t>
            </a:r>
          </a:p>
          <a:p>
            <a:pPr marL="342900" indent="-342900">
              <a:buFont typeface="Arial" panose="020B0604020202020204" pitchFamily="34" charset="0"/>
              <a:buChar char="•"/>
            </a:pPr>
            <a:r>
              <a:rPr lang="en-US" b="1" dirty="0"/>
              <a:t>Shown if</a:t>
            </a:r>
          </a:p>
          <a:p>
            <a:pPr marL="684000" lvl="1" indent="-342900">
              <a:buSzPct val="115000"/>
              <a:buFont typeface="Arial" panose="020B0604020202020204" pitchFamily="34" charset="0"/>
              <a:buChar char="•"/>
            </a:pPr>
            <a:r>
              <a:rPr lang="en-US" dirty="0"/>
              <a:t>The browser has no script capability</a:t>
            </a:r>
          </a:p>
          <a:p>
            <a:pPr marL="684000" lvl="1" indent="-342900">
              <a:buSzPct val="115000"/>
              <a:buFont typeface="Arial" panose="020B0604020202020204" pitchFamily="34" charset="0"/>
              <a:buChar char="•"/>
            </a:pPr>
            <a:r>
              <a:rPr lang="en-US" dirty="0"/>
              <a:t>The browser does have scripting, but it is turned off</a:t>
            </a:r>
          </a:p>
        </p:txBody>
      </p:sp>
      <p:sp>
        <p:nvSpPr>
          <p:cNvPr id="2" name="Rectangle 1"/>
          <p:cNvSpPr/>
          <p:nvPr/>
        </p:nvSpPr>
        <p:spPr>
          <a:xfrm>
            <a:off x="1925054" y="3180305"/>
            <a:ext cx="8341892" cy="2031325"/>
          </a:xfrm>
          <a:prstGeom prst="rect">
            <a:avLst/>
          </a:prstGeom>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body</a:t>
            </a:r>
            <a:r>
              <a:rPr lang="en-GB" b="1" dirty="0">
                <a:solidFill>
                  <a:srgbClr val="0000FF"/>
                </a:solidFill>
                <a:highlight>
                  <a:srgbClr val="FFFFFF"/>
                </a:highlight>
                <a:latin typeface="Consolas" panose="020B0609020204030204" pitchFamily="49" charset="0"/>
              </a:rPr>
              <a:t>&gt;</a:t>
            </a:r>
            <a:endParaRPr lang="en-GB" b="1" dirty="0"/>
          </a:p>
          <a:p>
            <a:r>
              <a:rPr lang="en-GB" b="1" dirty="0">
                <a:solidFill>
                  <a:srgbClr val="0000FF"/>
                </a:solidFill>
                <a:highlight>
                  <a:srgbClr val="FFFFFF"/>
                </a:highlight>
                <a:latin typeface="Consolas" panose="020B0609020204030204" pitchFamily="49" charset="0"/>
              </a:rPr>
              <a:t>&lt;</a:t>
            </a:r>
            <a:r>
              <a:rPr lang="en-GB" b="1" dirty="0" err="1">
                <a:solidFill>
                  <a:srgbClr val="800000"/>
                </a:solidFill>
                <a:highlight>
                  <a:srgbClr val="FFFFFF"/>
                </a:highlight>
                <a:latin typeface="Consolas" panose="020B0609020204030204" pitchFamily="49" charset="0"/>
              </a:rPr>
              <a:t>noscript</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p</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If you can read this, either your browser cannot handle</a:t>
            </a:r>
          </a:p>
          <a:p>
            <a:r>
              <a:rPr lang="en-GB" b="1" dirty="0">
                <a:solidFill>
                  <a:srgbClr val="000000"/>
                </a:solidFill>
                <a:highlight>
                  <a:srgbClr val="FFFFFF"/>
                </a:highlight>
                <a:latin typeface="Consolas" panose="020B0609020204030204" pitchFamily="49" charset="0"/>
              </a:rPr>
              <a:t>        scripts or you have turned scripting off.</a:t>
            </a: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p</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FF"/>
                </a:solidFill>
                <a:highlight>
                  <a:srgbClr val="FFFFFF"/>
                </a:highlight>
                <a:latin typeface="Consolas" panose="020B0609020204030204" pitchFamily="49" charset="0"/>
              </a:rPr>
              <a:t>&lt;/</a:t>
            </a:r>
            <a:r>
              <a:rPr lang="en-GB" b="1" dirty="0" err="1">
                <a:solidFill>
                  <a:srgbClr val="800000"/>
                </a:solidFill>
                <a:highlight>
                  <a:srgbClr val="FFFFFF"/>
                </a:highlight>
                <a:latin typeface="Consolas" panose="020B0609020204030204" pitchFamily="49" charset="0"/>
              </a:rPr>
              <a:t>noscript</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2291059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Auto-Detecting JavaScript (2)</a:t>
            </a:r>
          </a:p>
        </p:txBody>
      </p:sp>
      <p:sp>
        <p:nvSpPr>
          <p:cNvPr id="24579" name="Rectangle 3"/>
          <p:cNvSpPr>
            <a:spLocks noGrp="1" noChangeArrowheads="1"/>
          </p:cNvSpPr>
          <p:nvPr>
            <p:ph idx="1"/>
          </p:nvPr>
        </p:nvSpPr>
        <p:spPr>
          <a:xfrm>
            <a:off x="341272" y="1368256"/>
            <a:ext cx="11516239" cy="1205139"/>
          </a:xfrm>
        </p:spPr>
        <p:txBody>
          <a:bodyPr/>
          <a:lstStyle/>
          <a:p>
            <a:r>
              <a:rPr lang="en-US" b="1" dirty="0"/>
              <a:t>Define a page which automatically jumps elsewhere</a:t>
            </a:r>
          </a:p>
          <a:p>
            <a:pPr marL="342900" lvl="1" indent="-342900">
              <a:buSzPct val="115000"/>
              <a:buFont typeface="Arial" panose="020B0604020202020204" pitchFamily="34" charset="0"/>
              <a:buChar char="•"/>
            </a:pPr>
            <a:r>
              <a:rPr lang="en-US" dirty="0"/>
              <a:t>If it jumped: you have JavaScript</a:t>
            </a:r>
          </a:p>
          <a:p>
            <a:pPr marL="342900" lvl="1" indent="-342900">
              <a:buSzPct val="115000"/>
              <a:buFont typeface="Arial" panose="020B0604020202020204" pitchFamily="34" charset="0"/>
              <a:buChar char="•"/>
            </a:pPr>
            <a:r>
              <a:rPr lang="en-US" dirty="0"/>
              <a:t>If it didn’t: you don’t (or it is disabled)</a:t>
            </a:r>
          </a:p>
        </p:txBody>
      </p:sp>
      <p:sp>
        <p:nvSpPr>
          <p:cNvPr id="2" name="Rectangle 1"/>
          <p:cNvSpPr/>
          <p:nvPr/>
        </p:nvSpPr>
        <p:spPr>
          <a:xfrm>
            <a:off x="2601685" y="2574443"/>
            <a:ext cx="6988630" cy="4031873"/>
          </a:xfrm>
          <a:prstGeom prst="rect">
            <a:avLst/>
          </a:prstGeom>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html</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a:p>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head</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a:p>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title</a:t>
            </a:r>
            <a:r>
              <a:rPr lang="en-GB" sz="1600" b="1" dirty="0">
                <a:solidFill>
                  <a:srgbClr val="0000FF"/>
                </a:solidFill>
                <a:highlight>
                  <a:srgbClr val="FFFFFF"/>
                </a:highlight>
                <a:latin typeface="Consolas" panose="020B0609020204030204" pitchFamily="49" charset="0"/>
              </a:rPr>
              <a:t>&gt;&lt;/</a:t>
            </a:r>
            <a:r>
              <a:rPr lang="en-GB" sz="1600" b="1" dirty="0">
                <a:solidFill>
                  <a:srgbClr val="800000"/>
                </a:solidFill>
                <a:highlight>
                  <a:srgbClr val="FFFFFF"/>
                </a:highlight>
                <a:latin typeface="Consolas" panose="020B0609020204030204" pitchFamily="49" charset="0"/>
              </a:rPr>
              <a:t>title</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a:p>
            <a:endParaRPr lang="en-GB" sz="1600" b="1" dirty="0">
              <a:solidFill>
                <a:srgbClr val="000000"/>
              </a:solidFill>
              <a:highlight>
                <a:srgbClr val="FFFFFF"/>
              </a:highlight>
              <a:latin typeface="Consolas" panose="020B0609020204030204" pitchFamily="49" charset="0"/>
            </a:endParaRPr>
          </a:p>
          <a:p>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script</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a:p>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function</a:t>
            </a:r>
            <a:r>
              <a:rPr lang="en-GB" sz="1600" b="1" dirty="0">
                <a:solidFill>
                  <a:srgbClr val="000000"/>
                </a:solidFill>
                <a:highlight>
                  <a:srgbClr val="FFFFFF"/>
                </a:highlight>
                <a:latin typeface="Consolas" panose="020B0609020204030204" pitchFamily="49" charset="0"/>
              </a:rPr>
              <a:t> </a:t>
            </a:r>
            <a:r>
              <a:rPr lang="en-GB" sz="1600" b="1" dirty="0" err="1">
                <a:solidFill>
                  <a:srgbClr val="000000"/>
                </a:solidFill>
                <a:highlight>
                  <a:srgbClr val="FFFFFF"/>
                </a:highlight>
                <a:latin typeface="Consolas" panose="020B0609020204030204" pitchFamily="49" charset="0"/>
              </a:rPr>
              <a:t>JumpToJavaScriptPage</a:t>
            </a:r>
            <a:r>
              <a:rPr lang="en-GB" sz="1600" b="1" dirty="0">
                <a:solidFill>
                  <a:srgbClr val="000000"/>
                </a:solidFill>
                <a:highlight>
                  <a:srgbClr val="FFFFFF"/>
                </a:highlight>
                <a:latin typeface="Consolas" panose="020B0609020204030204" pitchFamily="49" charset="0"/>
              </a:rPr>
              <a:t>() {</a:t>
            </a:r>
          </a:p>
          <a:p>
            <a:r>
              <a:rPr lang="en-GB" sz="1600" b="1" dirty="0">
                <a:solidFill>
                  <a:srgbClr val="000000"/>
                </a:solidFill>
                <a:highlight>
                  <a:srgbClr val="FFFFFF"/>
                </a:highlight>
                <a:latin typeface="Consolas" panose="020B0609020204030204" pitchFamily="49" charset="0"/>
              </a:rPr>
              <a:t>            location = </a:t>
            </a:r>
            <a:r>
              <a:rPr lang="en-GB" sz="1600" b="1" dirty="0">
                <a:solidFill>
                  <a:srgbClr val="A31515"/>
                </a:solidFill>
                <a:highlight>
                  <a:srgbClr val="FFFFFF"/>
                </a:highlight>
                <a:latin typeface="Consolas" panose="020B0609020204030204" pitchFamily="49" charset="0"/>
              </a:rPr>
              <a:t>"auto2.htm"</a:t>
            </a:r>
            <a:r>
              <a:rPr lang="en-GB" sz="1600" b="1" dirty="0">
                <a:solidFill>
                  <a:srgbClr val="000000"/>
                </a:solidFill>
                <a:highlight>
                  <a:srgbClr val="FFFFFF"/>
                </a:highlight>
                <a:latin typeface="Consolas" panose="020B0609020204030204" pitchFamily="49" charset="0"/>
              </a:rPr>
              <a:t>;</a:t>
            </a:r>
          </a:p>
          <a:p>
            <a:r>
              <a:rPr lang="en-GB" sz="1600" b="1" dirty="0">
                <a:solidFill>
                  <a:srgbClr val="000000"/>
                </a:solidFill>
                <a:highlight>
                  <a:srgbClr val="FFFFFF"/>
                </a:highlight>
                <a:latin typeface="Consolas" panose="020B0609020204030204" pitchFamily="49" charset="0"/>
              </a:rPr>
              <a:t>        }</a:t>
            </a:r>
          </a:p>
          <a:p>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script</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a:p>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head</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a:p>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body</a:t>
            </a:r>
            <a:r>
              <a:rPr lang="en-GB" sz="1600" b="1" dirty="0">
                <a:solidFill>
                  <a:srgbClr val="000000"/>
                </a:solidFill>
                <a:highlight>
                  <a:srgbClr val="FFFFFF"/>
                </a:highlight>
                <a:latin typeface="Consolas" panose="020B0609020204030204" pitchFamily="49" charset="0"/>
              </a:rPr>
              <a:t> </a:t>
            </a:r>
            <a:r>
              <a:rPr lang="en-GB" sz="1600" b="1" dirty="0" err="1">
                <a:solidFill>
                  <a:srgbClr val="FF0000"/>
                </a:solidFill>
                <a:highlight>
                  <a:srgbClr val="FFFFFF"/>
                </a:highlight>
                <a:latin typeface="Consolas" panose="020B0609020204030204" pitchFamily="49" charset="0"/>
              </a:rPr>
              <a:t>onLoad</a:t>
            </a:r>
            <a:r>
              <a:rPr lang="en-GB" sz="1600" b="1" dirty="0">
                <a:solidFill>
                  <a:srgbClr val="0000FF"/>
                </a:solidFill>
                <a:highlight>
                  <a:srgbClr val="FFFFFF"/>
                </a:highlight>
                <a:latin typeface="Consolas" panose="020B0609020204030204" pitchFamily="49" charset="0"/>
              </a:rPr>
              <a:t>="</a:t>
            </a:r>
            <a:r>
              <a:rPr lang="en-GB" sz="1600" b="1" dirty="0" err="1">
                <a:solidFill>
                  <a:srgbClr val="000000"/>
                </a:solidFill>
                <a:highlight>
                  <a:srgbClr val="FFFFFF"/>
                </a:highlight>
                <a:latin typeface="Consolas" panose="020B0609020204030204" pitchFamily="49" charset="0"/>
              </a:rPr>
              <a:t>JumpToJavaScriptPage</a:t>
            </a:r>
            <a:r>
              <a:rPr lang="en-GB" sz="1600" b="1" dirty="0">
                <a:solidFill>
                  <a:srgbClr val="000000"/>
                </a:solidFill>
                <a:highlight>
                  <a:srgbClr val="FFFFFF"/>
                </a:highlight>
                <a:latin typeface="Consolas" panose="020B0609020204030204" pitchFamily="49" charset="0"/>
              </a:rPr>
              <a:t>()</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a:p>
            <a:r>
              <a:rPr lang="en-GB" sz="1600" b="1" dirty="0">
                <a:solidFill>
                  <a:srgbClr val="000000"/>
                </a:solidFill>
                <a:highlight>
                  <a:srgbClr val="FFFFFF"/>
                </a:highlight>
                <a:latin typeface="Consolas" panose="020B0609020204030204" pitchFamily="49" charset="0"/>
              </a:rPr>
              <a:t>    If your browser stays on this page,</a:t>
            </a:r>
          </a:p>
          <a:p>
            <a:r>
              <a:rPr lang="en-GB" sz="1600" b="1" dirty="0">
                <a:solidFill>
                  <a:srgbClr val="000000"/>
                </a:solidFill>
                <a:highlight>
                  <a:srgbClr val="FFFFFF"/>
                </a:highlight>
                <a:latin typeface="Consolas" panose="020B0609020204030204" pitchFamily="49" charset="0"/>
              </a:rPr>
              <a:t>    you don't have </a:t>
            </a:r>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b</a:t>
            </a:r>
            <a:r>
              <a:rPr lang="en-GB" sz="1600" b="1" dirty="0">
                <a:solidFill>
                  <a:srgbClr val="0000FF"/>
                </a:solidFill>
                <a:highlight>
                  <a:srgbClr val="FFFFFF"/>
                </a:highlight>
                <a:latin typeface="Consolas" panose="020B0609020204030204" pitchFamily="49" charset="0"/>
              </a:rPr>
              <a:t>&gt;</a:t>
            </a:r>
            <a:r>
              <a:rPr lang="en-GB" sz="1600" b="1" dirty="0">
                <a:solidFill>
                  <a:srgbClr val="000000"/>
                </a:solidFill>
                <a:highlight>
                  <a:srgbClr val="FFFFFF"/>
                </a:highlight>
                <a:latin typeface="Consolas" panose="020B0609020204030204" pitchFamily="49" charset="0"/>
              </a:rPr>
              <a:t>JavaScript</a:t>
            </a:r>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b</a:t>
            </a:r>
            <a:r>
              <a:rPr lang="en-GB" sz="1600" b="1" dirty="0">
                <a:solidFill>
                  <a:srgbClr val="0000FF"/>
                </a:solidFill>
                <a:highlight>
                  <a:srgbClr val="FFFFFF"/>
                </a:highlight>
                <a:latin typeface="Consolas" panose="020B0609020204030204" pitchFamily="49" charset="0"/>
              </a:rPr>
              <a:t>&gt;</a:t>
            </a:r>
            <a:r>
              <a:rPr lang="en-GB" sz="1600" b="1" dirty="0">
                <a:solidFill>
                  <a:srgbClr val="000000"/>
                </a:solidFill>
                <a:highlight>
                  <a:srgbClr val="FFFFFF"/>
                </a:highlight>
                <a:latin typeface="Consolas" panose="020B0609020204030204" pitchFamily="49" charset="0"/>
              </a:rPr>
              <a:t> or</a:t>
            </a:r>
          </a:p>
          <a:p>
            <a:r>
              <a:rPr lang="en-GB" sz="1600" b="1" dirty="0">
                <a:solidFill>
                  <a:srgbClr val="000000"/>
                </a:solidFill>
                <a:highlight>
                  <a:srgbClr val="FFFFFF"/>
                </a:highlight>
                <a:latin typeface="Consolas" panose="020B0609020204030204" pitchFamily="49" charset="0"/>
              </a:rPr>
              <a:t>    it is not currently enabled.</a:t>
            </a:r>
          </a:p>
          <a:p>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body</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a:p>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html</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p:txBody>
      </p:sp>
      <p:sp>
        <p:nvSpPr>
          <p:cNvPr id="3" name="Right Arrow 2"/>
          <p:cNvSpPr/>
          <p:nvPr/>
        </p:nvSpPr>
        <p:spPr>
          <a:xfrm>
            <a:off x="6829738" y="4151421"/>
            <a:ext cx="855406" cy="206475"/>
          </a:xfrm>
          <a:prstGeom prst="rightArrow">
            <a:avLst/>
          </a:prstGeom>
          <a:solidFill>
            <a:srgbClr val="004050"/>
          </a:solidFill>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4" name="Rectangle: Rounded Corners 3">
            <a:extLst>
              <a:ext uri="{FF2B5EF4-FFF2-40B4-BE49-F238E27FC236}">
                <a16:creationId xmlns:a16="http://schemas.microsoft.com/office/drawing/2014/main" id="{8648F0F4-6E4E-4C7F-A4FD-6CE189501FC4}"/>
              </a:ext>
            </a:extLst>
          </p:cNvPr>
          <p:cNvSpPr/>
          <p:nvPr/>
        </p:nvSpPr>
        <p:spPr>
          <a:xfrm>
            <a:off x="7709646" y="3872754"/>
            <a:ext cx="2804293" cy="1541930"/>
          </a:xfrm>
          <a:prstGeom prst="roundRect">
            <a:avLst>
              <a:gd name="adj" fmla="val 7946"/>
            </a:avLst>
          </a:prstGeom>
          <a:solidFill>
            <a:schemeClr val="bg1"/>
          </a:solidFill>
          <a:ln w="25400">
            <a:solidFill>
              <a:srgbClr val="28C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739775">
              <a:spcBef>
                <a:spcPct val="5000"/>
              </a:spcBef>
              <a:defRPr/>
            </a:pPr>
            <a:r>
              <a:rPr lang="en-US" dirty="0">
                <a:solidFill>
                  <a:schemeClr val="tx1"/>
                </a:solidFill>
                <a:latin typeface="Lucida Console" pitchFamily="49" charset="0"/>
              </a:rPr>
              <a:t>… </a:t>
            </a:r>
          </a:p>
          <a:p>
            <a:pPr defTabSz="739775">
              <a:spcBef>
                <a:spcPct val="5000"/>
              </a:spcBef>
              <a:defRPr/>
            </a:pPr>
            <a:r>
              <a:rPr lang="en-US" dirty="0">
                <a:solidFill>
                  <a:schemeClr val="tx1"/>
                </a:solidFill>
                <a:latin typeface="Lucida Console" pitchFamily="49" charset="0"/>
              </a:rPr>
              <a:t>Well done. You </a:t>
            </a:r>
            <a:br>
              <a:rPr lang="en-US" dirty="0">
                <a:solidFill>
                  <a:schemeClr val="tx1"/>
                </a:solidFill>
                <a:latin typeface="Lucida Console" pitchFamily="49" charset="0"/>
              </a:rPr>
            </a:br>
            <a:r>
              <a:rPr lang="en-US" dirty="0">
                <a:solidFill>
                  <a:schemeClr val="tx1"/>
                </a:solidFill>
                <a:latin typeface="Lucida Console" pitchFamily="49" charset="0"/>
              </a:rPr>
              <a:t>have </a:t>
            </a:r>
            <a:r>
              <a:rPr lang="en-US" b="1" dirty="0">
                <a:solidFill>
                  <a:schemeClr val="tx1"/>
                </a:solidFill>
                <a:latin typeface="Lucida Console" pitchFamily="49" charset="0"/>
              </a:rPr>
              <a:t>JavaScript</a:t>
            </a:r>
          </a:p>
          <a:p>
            <a:pPr defTabSz="739775">
              <a:spcBef>
                <a:spcPct val="5000"/>
              </a:spcBef>
              <a:defRPr/>
            </a:pPr>
            <a:r>
              <a:rPr lang="en-US" dirty="0">
                <a:solidFill>
                  <a:schemeClr val="tx1"/>
                </a:solidFill>
                <a:latin typeface="Lucida Console" pitchFamily="49" charset="0"/>
              </a:rPr>
              <a:t>and it is enabled</a:t>
            </a:r>
          </a:p>
          <a:p>
            <a:pPr defTabSz="739775">
              <a:spcBef>
                <a:spcPct val="5000"/>
              </a:spcBef>
              <a:defRPr/>
            </a:pPr>
            <a:r>
              <a:rPr lang="en-US" dirty="0">
                <a:solidFill>
                  <a:schemeClr val="tx1"/>
                </a:solidFill>
                <a:latin typeface="Lucida Console" pitchFamily="49" charset="0"/>
              </a:rPr>
              <a:t>…</a:t>
            </a:r>
          </a:p>
        </p:txBody>
      </p:sp>
    </p:spTree>
    <p:extLst>
      <p:ext uri="{BB962C8B-B14F-4D97-AF65-F5344CB8AC3E}">
        <p14:creationId xmlns:p14="http://schemas.microsoft.com/office/powerpoint/2010/main" val="2470868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27D2956-26FC-4DA1-A108-FAFE16937C38}"/>
              </a:ext>
            </a:extLst>
          </p:cNvPr>
          <p:cNvSpPr>
            <a:spLocks noGrp="1"/>
          </p:cNvSpPr>
          <p:nvPr>
            <p:ph type="body" sz="quarter" idx="10"/>
          </p:nvPr>
        </p:nvSpPr>
        <p:spPr/>
        <p:txBody>
          <a:bodyPr/>
          <a:lstStyle/>
          <a:p>
            <a:r>
              <a:rPr lang="en-GB"/>
              <a:t>Summary</a:t>
            </a:r>
            <a:endParaRPr lang="en-IN" dirty="0"/>
          </a:p>
        </p:txBody>
      </p:sp>
      <p:sp>
        <p:nvSpPr>
          <p:cNvPr id="7" name="Text Placeholder 6">
            <a:extLst>
              <a:ext uri="{FF2B5EF4-FFF2-40B4-BE49-F238E27FC236}">
                <a16:creationId xmlns:a16="http://schemas.microsoft.com/office/drawing/2014/main" id="{79046D74-B14A-4277-88DC-E6DCBCBB0E75}"/>
              </a:ext>
            </a:extLst>
          </p:cNvPr>
          <p:cNvSpPr>
            <a:spLocks noGrp="1"/>
          </p:cNvSpPr>
          <p:nvPr>
            <p:ph type="body" sz="quarter" idx="11"/>
          </p:nvPr>
        </p:nvSpPr>
        <p:spPr>
          <a:xfrm>
            <a:off x="5907646" y="731949"/>
            <a:ext cx="5941454" cy="5899039"/>
          </a:xfrm>
        </p:spPr>
        <p:txBody>
          <a:bodyPr/>
          <a:lstStyle/>
          <a:p>
            <a:r>
              <a:rPr lang="en-GB" b="1" dirty="0"/>
              <a:t>In this chapter you learned how to:</a:t>
            </a:r>
          </a:p>
          <a:p>
            <a:pPr marL="342900" lvl="1" indent="-342900">
              <a:spcAft>
                <a:spcPts val="650"/>
              </a:spcAft>
              <a:buSzPct val="115000"/>
            </a:pPr>
            <a:r>
              <a:rPr lang="en-GB" dirty="0"/>
              <a:t>Use the </a:t>
            </a:r>
            <a:r>
              <a:rPr lang="en-GB" b="1" dirty="0"/>
              <a:t>form</a:t>
            </a:r>
            <a:r>
              <a:rPr lang="en-GB" dirty="0"/>
              <a:t> element to capture user input</a:t>
            </a:r>
          </a:p>
          <a:p>
            <a:pPr marL="342900" lvl="1" indent="-342900">
              <a:spcAft>
                <a:spcPts val="650"/>
              </a:spcAft>
              <a:buSzPct val="115000"/>
            </a:pPr>
            <a:r>
              <a:rPr lang="en-GB" dirty="0"/>
              <a:t>Use event handlers</a:t>
            </a:r>
          </a:p>
          <a:p>
            <a:pPr marL="342900" lvl="1" indent="-342900">
              <a:spcAft>
                <a:spcPts val="650"/>
              </a:spcAft>
              <a:buSzPct val="115000"/>
            </a:pPr>
            <a:r>
              <a:rPr lang="en-GB" dirty="0"/>
              <a:t>Validate user input</a:t>
            </a:r>
          </a:p>
          <a:p>
            <a:pPr marL="342900" lvl="1" indent="-342900">
              <a:spcAft>
                <a:spcPts val="650"/>
              </a:spcAft>
              <a:buSzPct val="115000"/>
            </a:pPr>
            <a:r>
              <a:rPr lang="en-GB" dirty="0"/>
              <a:t>Cope with browsers with no support for JavaScript</a:t>
            </a:r>
          </a:p>
          <a:p>
            <a:endParaRPr lang="en-IN" dirty="0"/>
          </a:p>
        </p:txBody>
      </p:sp>
    </p:spTree>
    <p:extLst>
      <p:ext uri="{BB962C8B-B14F-4D97-AF65-F5344CB8AC3E}">
        <p14:creationId xmlns:p14="http://schemas.microsoft.com/office/powerpoint/2010/main" val="1800417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1B655DE-AA07-4FA3-9809-9799ABBB2BD2}"/>
              </a:ext>
            </a:extLst>
          </p:cNvPr>
          <p:cNvSpPr>
            <a:spLocks noGrp="1"/>
          </p:cNvSpPr>
          <p:nvPr>
            <p:ph type="body" sz="quarter" idx="10"/>
          </p:nvPr>
        </p:nvSpPr>
        <p:spPr/>
        <p:txBody>
          <a:bodyPr/>
          <a:lstStyle/>
          <a:p>
            <a:r>
              <a:rPr lang="en-GB"/>
              <a:t>Lab</a:t>
            </a:r>
            <a:endParaRPr lang="en-IN" dirty="0"/>
          </a:p>
        </p:txBody>
      </p:sp>
      <p:sp>
        <p:nvSpPr>
          <p:cNvPr id="7" name="Text Placeholder 6">
            <a:extLst>
              <a:ext uri="{FF2B5EF4-FFF2-40B4-BE49-F238E27FC236}">
                <a16:creationId xmlns:a16="http://schemas.microsoft.com/office/drawing/2014/main" id="{53B11AF3-4FEC-4993-B0F6-79234A74EE68}"/>
              </a:ext>
            </a:extLst>
          </p:cNvPr>
          <p:cNvSpPr>
            <a:spLocks noGrp="1"/>
          </p:cNvSpPr>
          <p:nvPr>
            <p:ph type="body" sz="quarter" idx="15"/>
          </p:nvPr>
        </p:nvSpPr>
        <p:spPr>
          <a:xfrm>
            <a:off x="5037138" y="670980"/>
            <a:ext cx="6770078" cy="5409404"/>
          </a:xfrm>
        </p:spPr>
        <p:txBody>
          <a:bodyPr/>
          <a:lstStyle/>
          <a:p>
            <a:pPr marL="342900" indent="-342900">
              <a:buFont typeface="Arial" panose="020B0604020202020204" pitchFamily="34" charset="0"/>
              <a:buChar char="•"/>
            </a:pPr>
            <a:r>
              <a:rPr lang="en-GB" sz="1900" b="1" dirty="0"/>
              <a:t>In this lab you'll implement several events using JavaScript</a:t>
            </a:r>
          </a:p>
          <a:p>
            <a:pPr marL="342900" indent="-342900">
              <a:buFont typeface="Arial" panose="020B0604020202020204" pitchFamily="34" charset="0"/>
              <a:buChar char="•"/>
            </a:pPr>
            <a:endParaRPr lang="en-GB" sz="1900" b="1" dirty="0"/>
          </a:p>
          <a:p>
            <a:pPr marL="342900" indent="-342900">
              <a:buFont typeface="Arial" panose="020B0604020202020204" pitchFamily="34" charset="0"/>
              <a:buChar char="•"/>
            </a:pPr>
            <a:r>
              <a:rPr lang="en-GB" sz="1900" b="1" dirty="0"/>
              <a:t>Detecting JavaScript</a:t>
            </a:r>
          </a:p>
          <a:p>
            <a:pPr marL="342900" indent="-342900">
              <a:buFont typeface="Arial" panose="020B0604020202020204" pitchFamily="34" charset="0"/>
              <a:buChar char="•"/>
            </a:pPr>
            <a:r>
              <a:rPr lang="en-GB" sz="1900" b="1" dirty="0"/>
              <a:t>There is no exercise file for this task. </a:t>
            </a:r>
            <a:br>
              <a:rPr lang="en-GB" sz="1900" b="1" dirty="0"/>
            </a:br>
            <a:r>
              <a:rPr lang="en-GB" sz="1900" b="1" dirty="0"/>
              <a:t>Please do the following:</a:t>
            </a:r>
          </a:p>
          <a:p>
            <a:pPr marL="684000" lvl="1" indent="-342900">
              <a:buSzPct val="115000"/>
            </a:pPr>
            <a:r>
              <a:rPr lang="en-GB" sz="1900" dirty="0"/>
              <a:t>Open a site that uses JavaScript</a:t>
            </a:r>
          </a:p>
          <a:p>
            <a:pPr marL="684000" lvl="1" indent="-342900">
              <a:buSzPct val="115000"/>
            </a:pPr>
            <a:r>
              <a:rPr lang="en-GB" sz="1900" dirty="0"/>
              <a:t>Switch off JavaScript support in Chrome</a:t>
            </a:r>
          </a:p>
          <a:p>
            <a:pPr marL="1026000" lvl="2" indent="-342900">
              <a:buSzPct val="115000"/>
            </a:pPr>
            <a:r>
              <a:rPr lang="en-GB" sz="1900" dirty="0"/>
              <a:t>Go to Settings</a:t>
            </a:r>
          </a:p>
          <a:p>
            <a:pPr marL="1026000" lvl="2" indent="-342900">
              <a:buSzPct val="115000"/>
            </a:pPr>
            <a:r>
              <a:rPr lang="en-GB" sz="1900" dirty="0"/>
              <a:t>Select the “</a:t>
            </a:r>
            <a:r>
              <a:rPr lang="en-GB" sz="1900" i="1" dirty="0"/>
              <a:t>Show advanced settings…</a:t>
            </a:r>
            <a:r>
              <a:rPr lang="en-GB" sz="1900" dirty="0"/>
              <a:t>” option</a:t>
            </a:r>
          </a:p>
          <a:p>
            <a:pPr marL="1026000" lvl="2" indent="-342900">
              <a:buSzPct val="115000"/>
            </a:pPr>
            <a:r>
              <a:rPr lang="en-GB" sz="1900" dirty="0"/>
              <a:t>Select the “Content settings…” button</a:t>
            </a:r>
          </a:p>
          <a:p>
            <a:pPr marL="1026000" lvl="2" indent="-342900">
              <a:buSzPct val="115000"/>
            </a:pPr>
            <a:r>
              <a:rPr lang="en-GB" sz="1900" dirty="0"/>
              <a:t>Select “Do not allow any site to run JavaScript”</a:t>
            </a:r>
          </a:p>
          <a:p>
            <a:pPr marL="684000" lvl="1" indent="-342900">
              <a:buSzPct val="115000"/>
            </a:pPr>
            <a:r>
              <a:rPr lang="en-GB" sz="1900" dirty="0"/>
              <a:t>Make sure your web page shows a suitable message</a:t>
            </a:r>
          </a:p>
          <a:p>
            <a:pPr marL="684000" lvl="1" indent="-342900">
              <a:buSzPct val="115000"/>
            </a:pPr>
            <a:r>
              <a:rPr lang="en-GB" sz="1900" dirty="0"/>
              <a:t>Don't forget to enable this option after this lab!</a:t>
            </a:r>
          </a:p>
          <a:p>
            <a:endParaRPr lang="en-IN" sz="1900" dirty="0"/>
          </a:p>
        </p:txBody>
      </p:sp>
    </p:spTree>
    <p:extLst>
      <p:ext uri="{BB962C8B-B14F-4D97-AF65-F5344CB8AC3E}">
        <p14:creationId xmlns:p14="http://schemas.microsoft.com/office/powerpoint/2010/main" val="18505974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ookTypeField0 xmlns="B42EA499-AA80-4ED5-9ED5-37A17D3EB549">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IsBuildFile xmlns="B42EA499-AA80-4ED5-9ED5-37A17D3EB549" xsi:nil="true"/>
    <SequenceNumber xmlns="B42EA499-AA80-4ED5-9ED5-37A17D3EB54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Courseware" ma:contentTypeID="0x010100F0967B7CEE8D417F966757887D9466FB005CB7CECC996A5B448C70C3215DE65491" ma:contentTypeVersion="0" ma:contentTypeDescription="Base content type which represents courseware documents" ma:contentTypeScope="" ma:versionID="633ed7bf8a9769dc10b8af609c2e65e8">
  <xsd:schema xmlns:xsd="http://www.w3.org/2001/XMLSchema" xmlns:xs="http://www.w3.org/2001/XMLSchema" xmlns:p="http://schemas.microsoft.com/office/2006/metadata/properties" xmlns:ns2="B42EA499-AA80-4ED5-9ED5-37A17D3EB549" targetNamespace="http://schemas.microsoft.com/office/2006/metadata/properties" ma:root="true" ma:fieldsID="6641bdc0935a9ffdc34b1682c1e0febc" ns2:_="">
    <xsd:import namespace="B42EA499-AA80-4ED5-9ED5-37A17D3EB549"/>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EA499-AA80-4ED5-9ED5-37A17D3EB549"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E249E2-EA4A-4828-AD8D-26E38C8E00BC}">
  <ds:schemaRefs>
    <ds:schemaRef ds:uri="http://schemas.microsoft.com/office/2006/metadata/properties"/>
    <ds:schemaRef ds:uri="http://schemas.microsoft.com/office/infopath/2007/PartnerControls"/>
    <ds:schemaRef ds:uri="B42EA499-AA80-4ED5-9ED5-37A17D3EB549"/>
  </ds:schemaRefs>
</ds:datastoreItem>
</file>

<file path=customXml/itemProps2.xml><?xml version="1.0" encoding="utf-8"?>
<ds:datastoreItem xmlns:ds="http://schemas.openxmlformats.org/officeDocument/2006/customXml" ds:itemID="{C0536A94-18DD-4217-AC4E-8E62A56F4D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2EA499-AA80-4ED5-9ED5-37A17D3EB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2CCA017-734D-45D9-9C7C-0D66DB10E6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2099</Words>
  <Application>Microsoft Office PowerPoint</Application>
  <PresentationFormat>Widescreen</PresentationFormat>
  <Paragraphs>218</Paragraphs>
  <Slides>13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Consolas</vt:lpstr>
      <vt:lpstr>Courier New</vt:lpstr>
      <vt:lpstr>Krana Fat B</vt:lpstr>
      <vt:lpstr>Lucida Console</vt:lpstr>
      <vt:lpstr>Montserrat</vt:lpstr>
      <vt:lpstr>Wingdings</vt:lpstr>
      <vt:lpstr>Master</vt:lpstr>
      <vt:lpstr>Events</vt:lpstr>
      <vt:lpstr>PowerPoint Presentation</vt:lpstr>
      <vt:lpstr>PowerPoint Presentation</vt:lpstr>
      <vt:lpstr>Validation (1)</vt:lpstr>
      <vt:lpstr>Validation code</vt:lpstr>
      <vt:lpstr>Alternative Code – Coding for div, chechBox and radio</vt:lpstr>
      <vt:lpstr>Using List controls – value or selectedIndex attributes</vt:lpstr>
      <vt:lpstr>PowerPoint Presentation</vt:lpstr>
      <vt:lpstr>PowerPoint Presentation</vt:lpstr>
      <vt:lpstr>Auto-Detecting JavaScript (1)</vt:lpstr>
      <vt:lpstr>Auto-Detecting JavaScript (2)</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162</cp:revision>
  <cp:lastPrinted>2019-07-03T09:46:41Z</cp:lastPrinted>
  <dcterms:created xsi:type="dcterms:W3CDTF">2019-09-05T08:17:12Z</dcterms:created>
  <dcterms:modified xsi:type="dcterms:W3CDTF">2024-02-07T23:37:21Z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0x010100F0967B7CEE8D417F966757887D9466FB005CB7CECC996A5B448C70C3215DE65491</vt:lpwstr>
  </property>
  <property fmtid="{D5CDD505-2E9C-101B-9397-08002B2CF9AE}" pid="3" name="BookType">
    <vt:lpwstr>4</vt:lpwstr>
  </property>
</Properties>
</file>