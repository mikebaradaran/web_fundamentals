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3" r:id="rId5"/>
    <p:sldId id="489" r:id="rId6"/>
    <p:sldId id="490" r:id="rId7"/>
    <p:sldId id="448" r:id="rId8"/>
    <p:sldId id="449" r:id="rId9"/>
    <p:sldId id="482" r:id="rId10"/>
    <p:sldId id="538" r:id="rId11"/>
    <p:sldId id="478" r:id="rId12"/>
    <p:sldId id="540" r:id="rId13"/>
    <p:sldId id="1560" r:id="rId14"/>
    <p:sldId id="539" r:id="rId15"/>
    <p:sldId id="536" r:id="rId16"/>
    <p:sldId id="537" r:id="rId17"/>
  </p:sldIdLst>
  <p:sldSz cx="12192000" cy="6858000"/>
  <p:notesSz cx="6645275" cy="9775825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CFF9"/>
    <a:srgbClr val="09EDB8"/>
    <a:srgbClr val="004050"/>
    <a:srgbClr val="F91258"/>
    <a:srgbClr val="7E007C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2" autoAdjust="0"/>
    <p:restoredTop sz="86632" autoAdjust="0"/>
  </p:normalViewPr>
  <p:slideViewPr>
    <p:cSldViewPr snapToGrid="0" snapToObjects="1" showGuides="1">
      <p:cViewPr varScale="1">
        <p:scale>
          <a:sx n="72" d="100"/>
          <a:sy n="72" d="100"/>
        </p:scale>
        <p:origin x="1210" y="67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31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F53754-5E0C-404E-AF50-4390CF2FB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598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36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7A166F-9788-4143-942B-ED9A2F1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60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9A286-CB05-40FC-943F-560058556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68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26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115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79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691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715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385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7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94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6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77211B-6296-434C-AC0A-7398B4F708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sz="2000" dirty="0"/>
              <a:t>JavaScript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Web Development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Making </a:t>
            </a:r>
            <a:r>
              <a:rPr lang="en-GB" dirty="0"/>
              <a:t>decisions</a:t>
            </a:r>
          </a:p>
        </p:txBody>
      </p:sp>
    </p:spTree>
    <p:extLst>
      <p:ext uri="{BB962C8B-B14F-4D97-AF65-F5344CB8AC3E}">
        <p14:creationId xmlns:p14="http://schemas.microsoft.com/office/powerpoint/2010/main" val="82871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04CA8-F816-4768-AF7F-4E2148B3C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9A4B7B-1517-4DE6-9DAA-1C5285CFEB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5737699" cy="459361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you'll learn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522900" lvl="1" indent="-342900"/>
            <a:r>
              <a:rPr lang="en-GB" dirty="0"/>
              <a:t>how to create variables to store values </a:t>
            </a:r>
          </a:p>
          <a:p>
            <a:pPr marL="522900" lvl="1" indent="-342900"/>
            <a:endParaRPr lang="en-GB" dirty="0"/>
          </a:p>
          <a:p>
            <a:pPr marL="522900" lvl="1" indent="-342900"/>
            <a:r>
              <a:rPr lang="en-GB" dirty="0"/>
              <a:t>how to use JavaScript constructs to make decisions in code</a:t>
            </a:r>
          </a:p>
          <a:p>
            <a:pPr marL="1332000" lvl="5" indent="-342900" defTabSz="396000"/>
            <a:r>
              <a:rPr lang="en-GB" b="1" dirty="0"/>
              <a:t>If</a:t>
            </a:r>
          </a:p>
          <a:p>
            <a:pPr marL="1332000" lvl="5" indent="-342900" defTabSz="396000"/>
            <a:r>
              <a:rPr lang="en-GB" b="1" dirty="0"/>
              <a:t>else if</a:t>
            </a:r>
          </a:p>
          <a:p>
            <a:pPr marL="1332000" lvl="5" indent="-342900" defTabSz="396000"/>
            <a:r>
              <a:rPr lang="en-GB" b="1" dirty="0"/>
              <a:t>Switch</a:t>
            </a:r>
          </a:p>
          <a:p>
            <a:pPr marL="1332000" lvl="5" indent="-342900" defTabSz="396000"/>
            <a:r>
              <a:rPr lang="en-GB" b="1" dirty="0"/>
              <a:t>&amp;&amp;</a:t>
            </a:r>
          </a:p>
          <a:p>
            <a:pPr marL="1332000" lvl="5" indent="-342900" defTabSz="396000"/>
            <a:r>
              <a:rPr lang="en-GB" b="1" dirty="0"/>
              <a:t>||</a:t>
            </a:r>
          </a:p>
          <a:p>
            <a:pPr marL="522900" lvl="1" indent="-342900" defTabSz="396000"/>
            <a:endParaRPr lang="en-GB" dirty="0"/>
          </a:p>
          <a:p>
            <a:pPr marL="522900" lvl="1" indent="-342900" defTabSz="396000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99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Types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41271" y="1368255"/>
            <a:ext cx="11516517" cy="5145667"/>
          </a:xfrm>
        </p:spPr>
        <p:txBody>
          <a:bodyPr/>
          <a:lstStyle/>
          <a:p>
            <a:pPr marL="342900" indent="-342900">
              <a:spcAft>
                <a:spcPts val="550"/>
              </a:spcAft>
            </a:pPr>
            <a:r>
              <a:rPr lang="en-US" b="1" dirty="0"/>
              <a:t>JavaScript is loosely-typed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No variable type when it is declared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A variable may contain different types at different times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spcAft>
                <a:spcPts val="550"/>
              </a:spcAft>
            </a:pPr>
            <a:r>
              <a:rPr lang="en-US" b="1" dirty="0"/>
              <a:t>Variable is aware of the type it contains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Numbers</a:t>
            </a:r>
            <a:r>
              <a:rPr lang="en-US" dirty="0"/>
              <a:t>	Includes </a:t>
            </a:r>
            <a:r>
              <a:rPr lang="en-US" i="1" dirty="0"/>
              <a:t>integers </a:t>
            </a:r>
            <a:r>
              <a:rPr lang="en-US" dirty="0"/>
              <a:t>or </a:t>
            </a:r>
            <a:r>
              <a:rPr lang="en-US" i="1" dirty="0"/>
              <a:t>float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Boolean</a:t>
            </a:r>
            <a:r>
              <a:rPr lang="en-US" dirty="0"/>
              <a:t>	true or false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Strings</a:t>
            </a:r>
            <a:r>
              <a:rPr lang="en-US" dirty="0"/>
              <a:t>	Text or characters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Object</a:t>
            </a:r>
            <a:r>
              <a:rPr lang="en-US" dirty="0"/>
              <a:t>	Reference to an object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undefined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D4E87-0CA1-46B5-BE44-070C4CF61C18}"/>
              </a:ext>
            </a:extLst>
          </p:cNvPr>
          <p:cNvSpPr/>
          <p:nvPr/>
        </p:nvSpPr>
        <p:spPr>
          <a:xfrm>
            <a:off x="6850024" y="3852262"/>
            <a:ext cx="417195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'Sure?'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ounded Rectangular Callout 3"/>
          <p:cNvSpPr/>
          <p:nvPr/>
        </p:nvSpPr>
        <p:spPr>
          <a:xfrm>
            <a:off x="8451744" y="3323303"/>
            <a:ext cx="2185738" cy="629046"/>
          </a:xfrm>
          <a:prstGeom prst="wedgeRoundRectCallout">
            <a:avLst>
              <a:gd name="adj1" fmla="val -36875"/>
              <a:gd name="adj2" fmla="val 71417"/>
              <a:gd name="adj3" fmla="val 16667"/>
            </a:avLst>
          </a:prstGeom>
          <a:solidFill>
            <a:srgbClr val="28CF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Declaration could </a:t>
            </a:r>
          </a:p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be missed out!</a:t>
            </a:r>
          </a:p>
        </p:txBody>
      </p:sp>
    </p:spTree>
    <p:extLst>
      <p:ext uri="{BB962C8B-B14F-4D97-AF65-F5344CB8AC3E}">
        <p14:creationId xmlns:p14="http://schemas.microsoft.com/office/powerpoint/2010/main" val="11533926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4689475" y="6248400"/>
            <a:ext cx="281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2227263" y="6248400"/>
            <a:ext cx="1898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4689475" y="6248400"/>
            <a:ext cx="281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defTabSz="739775">
              <a:spcBef>
                <a:spcPct val="0"/>
              </a:spcBef>
            </a:pPr>
            <a:endParaRPr lang="en-US" b="1"/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JavaScript Variables</a:t>
            </a:r>
          </a:p>
        </p:txBody>
      </p:sp>
      <p:sp>
        <p:nvSpPr>
          <p:cNvPr id="1032" name="Rectangle 7"/>
          <p:cNvSpPr>
            <a:spLocks noGrp="1" noChangeArrowheads="1"/>
          </p:cNvSpPr>
          <p:nvPr>
            <p:ph idx="1"/>
          </p:nvPr>
        </p:nvSpPr>
        <p:spPr>
          <a:xfrm>
            <a:off x="341271" y="1368256"/>
            <a:ext cx="10054585" cy="5337344"/>
          </a:xfrm>
        </p:spPr>
        <p:txBody>
          <a:bodyPr>
            <a:noAutofit/>
          </a:bodyPr>
          <a:lstStyle/>
          <a:p>
            <a:pPr marL="342000" indent="-342000">
              <a:spcAft>
                <a:spcPts val="500"/>
              </a:spcAft>
            </a:pPr>
            <a:r>
              <a:rPr lang="en-US" sz="1800" b="1" dirty="0"/>
              <a:t>Declaring variables: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Implicit / Explicit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With/without assignment</a:t>
            </a:r>
          </a:p>
          <a:p>
            <a:pPr marL="342000" indent="-342000">
              <a:spcAft>
                <a:spcPts val="500"/>
              </a:spcAft>
            </a:pPr>
            <a:endParaRPr lang="en-US" sz="1800" b="1" dirty="0"/>
          </a:p>
          <a:p>
            <a:pPr marL="342000" indent="-342000">
              <a:spcAft>
                <a:spcPts val="500"/>
              </a:spcAft>
            </a:pPr>
            <a:r>
              <a:rPr lang="en-US" sz="1800" b="1" dirty="0"/>
              <a:t>Variable names: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Start with a letter, "</a:t>
            </a:r>
            <a:r>
              <a:rPr lang="en-US" b="1" dirty="0"/>
              <a:t>_</a:t>
            </a:r>
            <a:r>
              <a:rPr lang="en-US" dirty="0"/>
              <a:t>"  or </a:t>
            </a:r>
            <a:r>
              <a:rPr lang="en-US" b="1" dirty="0"/>
              <a:t>$</a:t>
            </a:r>
            <a:r>
              <a:rPr lang="en-US" dirty="0"/>
              <a:t>   	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b="1" dirty="0"/>
              <a:t> $wage;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May include digits at the end	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b="1" dirty="0"/>
              <a:t> joe90;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Are case sensitive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No reserved keywords		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else</a:t>
            </a:r>
            <a:r>
              <a:rPr lang="en-US" sz="1800" b="1" dirty="0">
                <a:latin typeface="Courier New" pitchFamily="49" charset="0"/>
              </a:rPr>
              <a:t>…</a:t>
            </a:r>
          </a:p>
          <a:p>
            <a:pPr>
              <a:spcAft>
                <a:spcPts val="500"/>
              </a:spcAft>
            </a:pPr>
            <a:endParaRPr lang="en-US" sz="1800" dirty="0"/>
          </a:p>
          <a:p>
            <a:pPr marL="342000" indent="-342000">
              <a:spcAft>
                <a:spcPts val="500"/>
              </a:spcAft>
            </a:pPr>
            <a:r>
              <a:rPr lang="en-US" sz="1800" b="1" dirty="0"/>
              <a:t>Avoid implicit declarations!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Omitting the var keyword will create a global variable</a:t>
            </a:r>
          </a:p>
          <a:p>
            <a:pPr marL="347472" lvl="1" indent="-342900">
              <a:spcAft>
                <a:spcPts val="550"/>
              </a:spcAft>
              <a:buSzPct val="115000"/>
              <a:buFont typeface="Arial" panose="020B0604020202020204" pitchFamily="34" charset="0"/>
              <a:buChar char="•"/>
            </a:pPr>
            <a:r>
              <a:rPr lang="en-US" dirty="0"/>
              <a:t>Always use the </a:t>
            </a:r>
            <a:r>
              <a:rPr lang="en-US" b="1" dirty="0"/>
              <a:t>var/let </a:t>
            </a:r>
            <a:r>
              <a:rPr lang="en-US" dirty="0"/>
              <a:t>to create a local variable (to a function)</a:t>
            </a:r>
            <a:br>
              <a:rPr lang="en-US" dirty="0"/>
            </a:br>
            <a:r>
              <a:rPr lang="en-US" i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We will investigate the difference later.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2476" y="3252098"/>
            <a:ext cx="417195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'Sure?'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55B45-476F-43C3-A500-3E5374EE2608}"/>
              </a:ext>
            </a:extLst>
          </p:cNvPr>
          <p:cNvSpPr txBox="1"/>
          <p:nvPr/>
        </p:nvSpPr>
        <p:spPr>
          <a:xfrm>
            <a:off x="5368927" y="1298462"/>
            <a:ext cx="109086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y = 1;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A4ACA-0A14-471F-8435-0171CF880865}"/>
              </a:ext>
            </a:extLst>
          </p:cNvPr>
          <p:cNvSpPr txBox="1"/>
          <p:nvPr/>
        </p:nvSpPr>
        <p:spPr>
          <a:xfrm>
            <a:off x="9235665" y="1298462"/>
            <a:ext cx="157314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k = 3;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1125C4-9E09-4ECC-AEAD-AF4A71038460}"/>
              </a:ext>
            </a:extLst>
          </p:cNvPr>
          <p:cNvSpPr txBox="1"/>
          <p:nvPr/>
        </p:nvSpPr>
        <p:spPr>
          <a:xfrm>
            <a:off x="9235665" y="1918797"/>
            <a:ext cx="240573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VAT = 0.2;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6F9B85-F502-410C-AB23-F2251276C2D2}"/>
              </a:ext>
            </a:extLst>
          </p:cNvPr>
          <p:cNvSpPr txBox="1"/>
          <p:nvPr/>
        </p:nvSpPr>
        <p:spPr>
          <a:xfrm>
            <a:off x="6921924" y="1293031"/>
            <a:ext cx="1812295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x = 2;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4" name="Graphic 3" descr="Badge Cross with solid fill">
            <a:extLst>
              <a:ext uri="{FF2B5EF4-FFF2-40B4-BE49-F238E27FC236}">
                <a16:creationId xmlns:a16="http://schemas.microsoft.com/office/drawing/2014/main" id="{E6B99C94-9BF3-40D6-BA32-F7EAEE687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1638" y="424016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415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A2F2CB-26F4-4D2B-A89D-AEE9650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 – Simple if statement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650639" y="1378800"/>
            <a:ext cx="5383161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answer;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answer = confirm(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'Are you sure?'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'OK pressed'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4FB359-23E8-44CC-8B0D-2A11FFA3307A}"/>
              </a:ext>
            </a:extLst>
          </p:cNvPr>
          <p:cNvSpPr/>
          <p:nvPr/>
        </p:nvSpPr>
        <p:spPr>
          <a:xfrm>
            <a:off x="436208" y="4853358"/>
            <a:ext cx="11319583" cy="1251684"/>
          </a:xfrm>
          <a:prstGeom prst="roundRect">
            <a:avLst>
              <a:gd name="adj" fmla="val 8038"/>
            </a:avLst>
          </a:prstGeom>
          <a:solidFill>
            <a:schemeClr val="bg1"/>
          </a:solidFill>
          <a:ln w="25400">
            <a:solidFill>
              <a:srgbClr val="28C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string literals can be surrounded with either single quotes ‘like this’ or double quotes “like this”.</a:t>
            </a:r>
          </a:p>
          <a:p>
            <a:endParaRPr lang="en-GB" sz="1600" dirty="0">
              <a:solidFill>
                <a:schemeClr val="tx1"/>
              </a:solidFill>
              <a:ea typeface="Arial" charset="0"/>
              <a:cs typeface="Arial" charset="0"/>
            </a:endParaRPr>
          </a:p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There is no difference; however, you can include single quotes inside a string with double quotes and vice versa. E.g.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html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color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='red'"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424235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Strict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13377" y="1379338"/>
            <a:ext cx="9067850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answer = confirm(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'Are you sure?'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 0) </a:t>
            </a:r>
            <a:r>
              <a:rPr lang="en-GB" b="1" dirty="0">
                <a:solidFill>
                  <a:srgbClr val="008000"/>
                </a:solidFill>
                <a:latin typeface="Consolas" panose="020B0609020204030204" pitchFamily="49" charset="0"/>
              </a:rPr>
              <a:t>// 0 and false are equivalent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(answer === 0) </a:t>
            </a:r>
            <a:r>
              <a:rPr lang="en-GB" b="1" dirty="0">
                <a:solidFill>
                  <a:srgbClr val="008000"/>
                </a:solidFill>
                <a:latin typeface="Consolas" panose="020B0609020204030204" pitchFamily="49" charset="0"/>
              </a:rPr>
              <a:t>// Strict comparison – compare data types first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'Cancel pressed'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59C1D-5A04-4517-BE95-FFFC8BCCF1E8}"/>
              </a:ext>
            </a:extLst>
          </p:cNvPr>
          <p:cNvSpPr/>
          <p:nvPr/>
        </p:nvSpPr>
        <p:spPr>
          <a:xfrm>
            <a:off x="910242" y="4897707"/>
            <a:ext cx="10502825" cy="1486800"/>
          </a:xfrm>
          <a:prstGeom prst="roundRect">
            <a:avLst>
              <a:gd name="adj" fmla="val 8038"/>
            </a:avLst>
          </a:prstGeom>
          <a:solidFill>
            <a:schemeClr val="bg1"/>
          </a:solidFill>
          <a:ln w="25400">
            <a:solidFill>
              <a:srgbClr val="28C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0" rtlCol="0" anchor="ctr"/>
          <a:lstStyle/>
          <a:p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JavaScript attempts to convert values of different data types to something it can compare.</a:t>
            </a:r>
          </a:p>
          <a:p>
            <a:endParaRPr lang="en-GB" sz="1600" dirty="0">
              <a:solidFill>
                <a:schemeClr val="tx1"/>
              </a:solidFill>
              <a:ea typeface="Arial" charset="0"/>
              <a:cs typeface="Arial" charset="0"/>
            </a:endParaRPr>
          </a:p>
          <a:p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If this is not what you want, use the strict comparison operators,</a:t>
            </a:r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0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05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600" b="1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and </a:t>
            </a:r>
            <a:r>
              <a:rPr lang="en-GB" sz="16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!=</a:t>
            </a:r>
            <a:r>
              <a:rPr lang="en-GB" sz="10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Lucida Console" panose="020B0609040504020204" pitchFamily="49" charset="0"/>
                <a:ea typeface="Arial" charset="0"/>
                <a:cs typeface="Arial" charset="0"/>
              </a:rPr>
              <a:t>=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</a:br>
            <a:r>
              <a:rPr lang="en-GB" sz="1600" b="1" dirty="0">
                <a:solidFill>
                  <a:schemeClr val="accent1">
                    <a:lumMod val="90000"/>
                    <a:lumOff val="10000"/>
                  </a:schemeClr>
                </a:solidFill>
                <a:ea typeface="Arial" charset="0"/>
                <a:cs typeface="Arial" charset="0"/>
              </a:rPr>
              <a:t>They will compare data types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, and only go on to compare values if the </a:t>
            </a:r>
            <a:r>
              <a:rPr lang="en-GB" sz="1600" b="1" dirty="0">
                <a:solidFill>
                  <a:schemeClr val="accent1">
                    <a:lumMod val="90000"/>
                    <a:lumOff val="10000"/>
                  </a:schemeClr>
                </a:solidFill>
                <a:ea typeface="Arial" charset="0"/>
                <a:cs typeface="Arial" charset="0"/>
              </a:rPr>
              <a:t>data types are the same</a:t>
            </a:r>
            <a:r>
              <a:rPr lang="en-GB" sz="1600" dirty="0">
                <a:solidFill>
                  <a:schemeClr val="tx1"/>
                </a:solidFill>
                <a:ea typeface="Arial" charset="0"/>
                <a:cs typeface="Arial" charset="0"/>
              </a:rPr>
              <a:t>.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9314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1AC95-1566-408F-B7F9-57926B8C6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00" y="1910627"/>
            <a:ext cx="3243319" cy="2307411"/>
          </a:xfrm>
        </p:spPr>
        <p:txBody>
          <a:bodyPr/>
          <a:lstStyle/>
          <a:p>
            <a:r>
              <a:rPr lang="en-GB" dirty="0"/>
              <a:t>Using the </a:t>
            </a:r>
            <a:br>
              <a:rPr lang="en-GB" dirty="0"/>
            </a:br>
            <a:r>
              <a:rPr lang="en-GB" dirty="0"/>
              <a:t>else clause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0" y="1124965"/>
            <a:ext cx="5604388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Math.random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* 2;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=== 1)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'They are the same'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smaller'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is bigger'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54949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1AC95-1566-408F-B7F9-57926B8C6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300" y="1910627"/>
            <a:ext cx="3243319" cy="2307411"/>
          </a:xfrm>
        </p:spPr>
        <p:txBody>
          <a:bodyPr/>
          <a:lstStyle/>
          <a:p>
            <a:r>
              <a:rPr lang="en-GB" dirty="0"/>
              <a:t>Logical And, Or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0" y="3115119"/>
            <a:ext cx="5317067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a-DK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da-DK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= Math.random() * 100;</a:t>
            </a:r>
          </a:p>
          <a:p>
            <a:endParaRPr lang="da-DK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(x &gt;= 10 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&amp;&amp;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&lt;= 20)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x is between 10 and 20 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(x &lt; 10 </a:t>
            </a:r>
            <a:r>
              <a:rPr lang="en-GB" sz="20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||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&gt; 20)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x is NOT between 10 and 20 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848DFE-F038-480E-936C-19EF2E3974E8}"/>
              </a:ext>
            </a:extLst>
          </p:cNvPr>
          <p:cNvSpPr txBox="1"/>
          <p:nvPr/>
        </p:nvSpPr>
        <p:spPr>
          <a:xfrm>
            <a:off x="6096000" y="2147079"/>
            <a:ext cx="3243318" cy="714654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pPr algn="l"/>
            <a:r>
              <a:rPr lang="en-GB" b="1" dirty="0"/>
              <a:t>Use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&amp;&amp;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dirty="0"/>
              <a:t>for a logical 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AND</a:t>
            </a:r>
          </a:p>
          <a:p>
            <a:pPr algn="l"/>
            <a:r>
              <a:rPr lang="en-GB" b="1" dirty="0"/>
              <a:t>Use </a:t>
            </a:r>
            <a:r>
              <a:rPr lang="en-GB" b="1" dirty="0">
                <a:solidFill>
                  <a:schemeClr val="accent4">
                    <a:lumMod val="75000"/>
                  </a:schemeClr>
                </a:solidFill>
              </a:rPr>
              <a:t>|| </a:t>
            </a:r>
            <a:r>
              <a:rPr lang="en-GB" b="1" dirty="0"/>
              <a:t>for logical </a:t>
            </a:r>
            <a:r>
              <a:rPr lang="en-GB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11133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500" dirty="0"/>
              <a:t>The ternary Conditional Operator ( ? :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747623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Produces less code for simple if statements resulting in a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These two examples produce the same result.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</p:txBody>
      </p:sp>
      <p:sp>
        <p:nvSpPr>
          <p:cNvPr id="13" name="Rectangle 12"/>
          <p:cNvSpPr/>
          <p:nvPr/>
        </p:nvSpPr>
        <p:spPr>
          <a:xfrm>
            <a:off x="6829195" y="2609839"/>
            <a:ext cx="4164866" cy="2862322"/>
          </a:xfrm>
          <a:prstGeom prst="rect">
            <a:avLst/>
          </a:prstGeom>
          <a:solidFill>
            <a:schemeClr val="bg1"/>
          </a:solidFill>
          <a:ln w="19050">
            <a:solidFill>
              <a:srgbClr val="004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=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rate;</a:t>
            </a:r>
            <a:b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(salary &lt; 21000) 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rate = 0.2;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rate = 0.4;</a:t>
            </a: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6120" y="2609839"/>
            <a:ext cx="5819954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salary =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rate = (salary &lt; 21000) ? 0.2 : 0.4;</a:t>
            </a:r>
          </a:p>
        </p:txBody>
      </p:sp>
    </p:spTree>
    <p:extLst>
      <p:ext uri="{BB962C8B-B14F-4D97-AF65-F5344CB8AC3E}">
        <p14:creationId xmlns:p14="http://schemas.microsoft.com/office/powerpoint/2010/main" val="210636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079DE-0A8A-42EB-B75C-45A56A82D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Switch statement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5819871" y="321734"/>
            <a:ext cx="4881995" cy="6001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0: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'Sunday'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1: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'Monday'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2: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'Tuesday'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3: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'Wednesday'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4: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'Thursday'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5: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'Friday'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6: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'Saturday'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day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en-GB" sz="1600" b="1" dirty="0"/>
          </a:p>
        </p:txBody>
      </p:sp>
      <p:sp>
        <p:nvSpPr>
          <p:cNvPr id="5" name="Oval Callout 4"/>
          <p:cNvSpPr/>
          <p:nvPr/>
        </p:nvSpPr>
        <p:spPr>
          <a:xfrm>
            <a:off x="5977786" y="5373210"/>
            <a:ext cx="1095271" cy="651313"/>
          </a:xfrm>
          <a:prstGeom prst="wedgeEllipseCallout">
            <a:avLst>
              <a:gd name="adj1" fmla="val 58701"/>
              <a:gd name="adj2" fmla="val 9127"/>
            </a:avLst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cs typeface="Arial" pitchFamily="34" charset="0"/>
              </a:rPr>
              <a:t>Anything else</a:t>
            </a:r>
          </a:p>
        </p:txBody>
      </p:sp>
    </p:spTree>
    <p:extLst>
      <p:ext uri="{BB962C8B-B14F-4D97-AF65-F5344CB8AC3E}">
        <p14:creationId xmlns:p14="http://schemas.microsoft.com/office/powerpoint/2010/main" val="368250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FFA89-123E-4959-8DA5-6852ED066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4325DE-C4AD-423F-8149-381CB19EFE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8147" y="579549"/>
            <a:ext cx="5439430" cy="5899039"/>
          </a:xfrm>
        </p:spPr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 this chapter you learned how to make decisions in code using the if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You also learned how to use variables to store values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73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0007EA-C2A1-44CC-B0B8-333FB4D78E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42F905-0263-419C-B85A-535704C28A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Do the lab "Making decisions"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Duration 15 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874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30C19B-A57D-4D5E-A756-3632AC4FC9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BB72C3-8B21-429F-B006-D27771A27CCA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3.xml><?xml version="1.0" encoding="utf-8"?>
<ds:datastoreItem xmlns:ds="http://schemas.openxmlformats.org/officeDocument/2006/customXml" ds:itemID="{87F1ED48-DB45-42C9-80F1-A864209231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2163</TotalTime>
  <Words>828</Words>
  <Application>Microsoft Office PowerPoint</Application>
  <PresentationFormat>Widescreen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Consolas</vt:lpstr>
      <vt:lpstr>Courier New</vt:lpstr>
      <vt:lpstr>Krana Fat B</vt:lpstr>
      <vt:lpstr>Lucida Console</vt:lpstr>
      <vt:lpstr>Montserrat</vt:lpstr>
      <vt:lpstr>Master</vt:lpstr>
      <vt:lpstr>Web Development</vt:lpstr>
      <vt:lpstr>Making decisions</vt:lpstr>
      <vt:lpstr>PowerPoint Presentation</vt:lpstr>
      <vt:lpstr>JavaScript Types</vt:lpstr>
      <vt:lpstr>Declaring JavaScript Variables</vt:lpstr>
      <vt:lpstr>Basics – Simple if statement </vt:lpstr>
      <vt:lpstr>Strict Comparison</vt:lpstr>
      <vt:lpstr>PowerPoint Presentation</vt:lpstr>
      <vt:lpstr>PowerPoint Presentation</vt:lpstr>
      <vt:lpstr>The ternary Conditional Operator ( ? : )</vt:lpstr>
      <vt:lpstr>PowerPoint Presentation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168</cp:revision>
  <cp:lastPrinted>2019-07-03T09:46:41Z</cp:lastPrinted>
  <dcterms:created xsi:type="dcterms:W3CDTF">2019-09-05T08:17:12Z</dcterms:created>
  <dcterms:modified xsi:type="dcterms:W3CDTF">2022-09-08T08:11:34Z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